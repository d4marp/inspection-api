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Pembukaan. ALOKASI: 3 menit.</a:t>
            </a:r>
          </a:p>
          <a:p/>
          <a:p>
            <a:r>
              <a:t>TUJUAN: Menyepakati target Hari 3.</a:t>
            </a:r>
          </a:p>
          <a:p/>
          <a:p>
            <a:r>
              <a:t>ARAHAN TRAINER: Hari 3 membawa keputusan Hari 2 menuju bukti kualitas dan artefak release.</a:t>
            </a:r>
          </a:p>
          <a:p/>
          <a:p>
            <a:r>
              <a:t>PERTANYAAN DISKUSI: Apa yang membuat build layak disebut release candidate?</a:t>
            </a:r>
          </a:p>
          <a:p/>
          <a:p>
            <a:r>
              <a:t>RUJUKAN: Modul dan PRD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08.30–08.40. ALOKASI: 10 menit.</a:t>
            </a:r>
          </a:p>
          <a:p/>
          <a:p>
            <a:r>
              <a:t>TUJUAN: Menjelaskan Definition of Done Hari 3.</a:t>
            </a:r>
          </a:p>
          <a:p/>
          <a:p>
            <a:r>
              <a:t>ARAHAN TRAINER: Minta peserta menentukan evidence untuk tiap outcome.</a:t>
            </a:r>
          </a:p>
          <a:p/>
          <a:p>
            <a:r>
              <a:t>PERTANYAAN DISKUSI: Apa beda test lulus dengan release siap?</a:t>
            </a:r>
          </a:p>
          <a:p/>
          <a:p>
            <a:r>
              <a:t>RUJUKAN: PRD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08.40–08.45. ALOKASI: 5 menit.</a:t>
            </a:r>
          </a:p>
          <a:p/>
          <a:p>
            <a:r>
              <a:t>TUJUAN: Menjelaskan roadmap Hari 3.</a:t>
            </a:r>
          </a:p>
          <a:p/>
          <a:p>
            <a:r>
              <a:t>ARAHAN TRAINER: Tunjukkan kapan sesi praktik dan kapan bukti diperiksa.</a:t>
            </a:r>
          </a:p>
          <a:p/>
          <a:p>
            <a:r>
              <a:t>PERTANYAAN DISKUSI: Bagian mana memerlukan physical device?</a:t>
            </a:r>
          </a:p>
          <a:p/>
          <a:p>
            <a:r>
              <a:t>RUJUKAN: Silabus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08.45–08.55. ALOKASI: 10 menit.</a:t>
            </a:r>
          </a:p>
          <a:p/>
          <a:p>
            <a:r>
              <a:t>TUJUAN: Memastikan baseline Hari 2 siap.</a:t>
            </a:r>
          </a:p>
          <a:p/>
          <a:p>
            <a:r>
              <a:t>ARAHAN TRAINER: Jalankan smoke login/list/create singkat sebelum plugin dipasang.</a:t>
            </a:r>
          </a:p>
          <a:p/>
          <a:p>
            <a:r>
              <a:t>PERTANYAAN DISKUSI: Apa blocker yang harus dihentikan sebelum menambah native feature?</a:t>
            </a:r>
          </a:p>
          <a:p/>
          <a:p>
            <a:r>
              <a:t>RUJUKAN: Checkpoint day-2.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08.55–08.57. ALOKASI: 2 menit.</a:t>
            </a:r>
          </a:p>
          <a:p/>
          <a:p>
            <a:r>
              <a:t>TUJUAN: Membuka sesi native feature.</a:t>
            </a:r>
          </a:p>
          <a:p/>
          <a:p>
            <a:r>
              <a:t>ARAHAN TRAINER: Scope tetap satu fitur foto lokal sesuai buku.</a:t>
            </a:r>
          </a:p>
          <a:p/>
          <a:p>
            <a:r>
              <a:t>PERTANYAAN DISKUSI: Apa yang membuat plugin berbeda dari widget biasa?</a:t>
            </a:r>
          </a:p>
          <a:p/>
          <a:p>
            <a:r>
              <a:t>RUJUKAN: Modul Hari 3: image_picker.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08.57–09.10. ALOKASI: 13 menit.</a:t>
            </a:r>
          </a:p>
          <a:p/>
          <a:p>
            <a:r>
              <a:t>TUJUAN: Menempatkan plugin pada boundary infrastructure.</a:t>
            </a:r>
          </a:p>
          <a:p/>
          <a:p>
            <a:r>
              <a:t>ARAHAN TRAINER: Jelaskan jalur UI ke native tanpa masuk terlalu dalam ke MethodChannel.</a:t>
            </a:r>
          </a:p>
          <a:p/>
          <a:p>
            <a:r>
              <a:t>PERTANYAAN DISKUSI: Bagaimana widget test berjalan tanpa membuka kamera?</a:t>
            </a:r>
          </a:p>
          <a:p/>
          <a:p>
            <a:r>
              <a:t>RUJUKAN: Modul Hari 3: plugin vs MethodChannel.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09.10–09.25. ALOKASI: 15 menit.</a:t>
            </a:r>
          </a:p>
          <a:p/>
          <a:p>
            <a:r>
              <a:t>TUJUAN: Memodelkan alur foto secara eksplisit.</a:t>
            </a:r>
          </a:p>
          <a:p/>
          <a:p>
            <a:r>
              <a:t>ARAHAN TRAINER: Trace success, cancel, permission error, dan lost-data recovery.</a:t>
            </a:r>
          </a:p>
          <a:p/>
          <a:p>
            <a:r>
              <a:t>PERTANYAAN DISKUSI: Apakah cancel harus ditampilkan sebagai error?</a:t>
            </a:r>
          </a:p>
          <a:p/>
          <a:p>
            <a:r>
              <a:t>RUJUKAN: PhotoPanel dan modul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09.25–09.42. ALOKASI: 17 menit.</a:t>
            </a:r>
          </a:p>
          <a:p/>
          <a:p>
            <a:r>
              <a:t>TUJUAN: Menjaga foto tidak menempel ke record salah.</a:t>
            </a:r>
          </a:p>
          <a:p/>
          <a:p>
            <a:r>
              <a:t>ARAHAN TRAINER: Gunakan source PhotoPanel sebagai demo. Tekankan recovery Android.</a:t>
            </a:r>
          </a:p>
          <a:p/>
          <a:p>
            <a:r>
              <a:t>PERTANYAAN DISKUSI: Mengapa inspectionId harus disimpan sebelum membuka picker?</a:t>
            </a:r>
          </a:p>
          <a:p/>
          <a:p>
            <a:r>
              <a:t>RUJUKAN: image_picker lost data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09.42–09.55. ALOKASI: 13 menit.</a:t>
            </a:r>
          </a:p>
          <a:p/>
          <a:p>
            <a:r>
              <a:t>TUJUAN: Membedakan preview, persistence, dan upload.</a:t>
            </a:r>
          </a:p>
          <a:p/>
          <a:p>
            <a:r>
              <a:t>ARAHAN TRAINER: Jangan menjanjikan persistence dari sekadar Image.file.</a:t>
            </a:r>
          </a:p>
          <a:p/>
          <a:p>
            <a:r>
              <a:t>PERTANYAAN DISKUSI: Apa konsekuensi privacy saat foto di-upload?</a:t>
            </a:r>
          </a:p>
          <a:p/>
          <a:p>
            <a:r>
              <a:t>RUJUKAN: Modul Hari 3: batas fitur foto.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09.55–10.00. ALOKASI: 5 menit.</a:t>
            </a:r>
          </a:p>
          <a:p/>
          <a:p>
            <a:r>
              <a:t>TUJUAN: Briefing praktik photo boundary.</a:t>
            </a:r>
          </a:p>
          <a:p/>
          <a:p>
            <a:r>
              <a:t>ARAHAN TRAINER: Gunakan perangkat fisik untuk acceptance kamera jika tersedia.</a:t>
            </a:r>
          </a:p>
          <a:p/>
          <a:p>
            <a:r>
              <a:t>PERTANYAAN DISKUSI: Skenario mana tidak dapat dibuktikan oleh simulator?</a:t>
            </a:r>
          </a:p>
          <a:p/>
          <a:p>
            <a:r>
              <a:t>RUJUKAN: PRD Hari 3 AC foto.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10.15–10.17. ALOKASI: 2 menit.</a:t>
            </a:r>
          </a:p>
          <a:p/>
          <a:p>
            <a:r>
              <a:t>TUJUAN: Membuka sesi testing.</a:t>
            </a:r>
          </a:p>
          <a:p/>
          <a:p>
            <a:r>
              <a:t>ARAHAN TRAINER: Tegaskan tiap test menjawab pertanyaan berbeda.</a:t>
            </a:r>
          </a:p>
          <a:p/>
          <a:p>
            <a:r>
              <a:t>PERTANYAAN DISKUSI: Apa yang tidak bisa dibuktikan unit test?</a:t>
            </a:r>
          </a:p>
          <a:p/>
          <a:p>
            <a:r>
              <a:t>RUJUKAN: Flutter testing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10.17–10.30. ALOKASI: 13 menit.</a:t>
            </a:r>
          </a:p>
          <a:p/>
          <a:p>
            <a:r>
              <a:t>TUJUAN: Memilih level test sesuai risiko.</a:t>
            </a:r>
          </a:p>
          <a:p/>
          <a:p>
            <a:r>
              <a:t>ARAHAN TRAINER: Jangan menjadikan pyramid sebagai target persentase; gunakan confidence.</a:t>
            </a:r>
          </a:p>
          <a:p/>
          <a:p>
            <a:r>
              <a:t>PERTANYAAN DISKUSI: Di level mana permission kamera dibuktikan?</a:t>
            </a:r>
          </a:p>
          <a:p/>
          <a:p>
            <a:r>
              <a:t>RUJUKAN: Flutter testing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10.30–10.43. ALOKASI: 13 menit.</a:t>
            </a:r>
          </a:p>
          <a:p/>
          <a:p>
            <a:r>
              <a:t>TUJUAN: Menulis test pada boundary JSON/domain.</a:t>
            </a:r>
          </a:p>
          <a:p/>
          <a:p>
            <a:r>
              <a:t>ARAHAN TRAINER: Sengaja rusak parser lalu lihat test gagal; pulihkan.</a:t>
            </a:r>
          </a:p>
          <a:p/>
          <a:p>
            <a:r>
              <a:t>PERTANYAAN DISKUSI: Bug apa yang tidak tertangkap oleh round-trip test saja?</a:t>
            </a:r>
          </a:p>
          <a:p/>
          <a:p>
            <a:r>
              <a:t>RUJUKAN: Model Inspection dan module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10.43–10.58. ALOKASI: 15 menit.</a:t>
            </a:r>
          </a:p>
          <a:p/>
          <a:p>
            <a:r>
              <a:t>TUJUAN: Menguji controller tanpa HTTP/plugin.</a:t>
            </a:r>
          </a:p>
          <a:p/>
          <a:p>
            <a:r>
              <a:t>ARAHAN TRAINER: Tunjukkan dependency seam Hari 2 menjadi payoff Hari 3.</a:t>
            </a:r>
          </a:p>
          <a:p/>
          <a:p>
            <a:r>
              <a:t>PERTANYAAN DISKUSI: Mengapa mock framework tidak wajib?</a:t>
            </a:r>
          </a:p>
          <a:p/>
          <a:p>
            <a:r>
              <a:t>RUJUKAN: Modul Hari 3: fake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10.58–11.10. ALOKASI: 12 menit.</a:t>
            </a:r>
          </a:p>
          <a:p/>
          <a:p>
            <a:r>
              <a:t>TUJUAN: Mencegah regression pada ApiClient.</a:t>
            </a:r>
          </a:p>
          <a:p/>
          <a:p>
            <a:r>
              <a:t>ARAHAN TRAINER: Gunakan JSON fixture dan MockClient agar test cepat serta deterministik.</a:t>
            </a:r>
          </a:p>
          <a:p/>
          <a:p>
            <a:r>
              <a:t>PERTANYAAN DISKUSI: Breaking response apa yang harus membuat test gagal?</a:t>
            </a:r>
          </a:p>
          <a:p/>
          <a:p>
            <a:r>
              <a:t>RUJUKAN: Modul Hari 2/3 dan package:http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11.10–11.25. ALOKASI: 15 menit.</a:t>
            </a:r>
          </a:p>
          <a:p/>
          <a:p>
            <a:r>
              <a:t>TUJUAN: Menguji UI state dan interaksi.</a:t>
            </a:r>
          </a:p>
          <a:p/>
          <a:p>
            <a:r>
              <a:t>ARAHAN TRAINER: Gunakan key untuk save/retry. Jelaskan batas widget test.</a:t>
            </a:r>
          </a:p>
          <a:p/>
          <a:p>
            <a:r>
              <a:t>PERTANYAAN DISKUSI: Apa yang masih memerlukan device test?</a:t>
            </a:r>
          </a:p>
          <a:p/>
          <a:p>
            <a:r>
              <a:t>RUJUKAN: Modul Hari 3: widget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11.25–11.38. ALOKASI: 13 menit.</a:t>
            </a:r>
          </a:p>
          <a:p/>
          <a:p>
            <a:r>
              <a:t>TUJUAN: Memisahkan tujuan mode test.</a:t>
            </a:r>
          </a:p>
          <a:p/>
          <a:p>
            <a:r>
              <a:t>ARAHAN TRAINER: Tunjukkan matrix device/mode dan pilih subset realistis.</a:t>
            </a:r>
          </a:p>
          <a:p/>
          <a:p>
            <a:r>
              <a:t>PERTANYAAN DISKUSI: Mengapa debug success tidak menjamin release success?</a:t>
            </a:r>
          </a:p>
          <a:p/>
          <a:p>
            <a:r>
              <a:t>RUJUKAN: PRD Hari 3 release acceptance.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11.38–11.50. ALOKASI: 12 menit.</a:t>
            </a:r>
          </a:p>
          <a:p/>
          <a:p>
            <a:r>
              <a:t>TUJUAN: Menyusun gate otomatis dan evidence manual.</a:t>
            </a:r>
          </a:p>
          <a:p/>
          <a:p>
            <a:r>
              <a:t>ARAHAN TRAINER: Jalankan format/analyze/test sebelum profiling.</a:t>
            </a:r>
          </a:p>
          <a:p/>
          <a:p>
            <a:r>
              <a:t>PERTANYAAN DISKUSI: Evidence apa yang tidak dihasilkan command ini?</a:t>
            </a:r>
          </a:p>
          <a:p/>
          <a:p>
            <a:r>
              <a:t>RUJUKAN: Modul Hari 3 quality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11.50–12.00. ALOKASI: 10 menit.</a:t>
            </a:r>
          </a:p>
          <a:p/>
          <a:p>
            <a:r>
              <a:t>TUJUAN: Menjalankan regression exercise.</a:t>
            </a:r>
          </a:p>
          <a:p/>
          <a:p>
            <a:r>
              <a:t>ARAHAN TRAINER: Peserta menunjukkan test merah lalu hijau, bukan hanya final output.</a:t>
            </a:r>
          </a:p>
          <a:p/>
          <a:p>
            <a:r>
              <a:t>PERTANYAAN DISKUSI: Apakah test benar-benar menangkap bug yang dimaksud?</a:t>
            </a:r>
          </a:p>
          <a:p/>
          <a:p>
            <a:r>
              <a:t>RUJUKAN: Modul Hari 3 latihan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13.00–13.02. ALOKASI: 2 menit.</a:t>
            </a:r>
          </a:p>
          <a:p/>
          <a:p>
            <a:r>
              <a:t>TUJUAN: Membuka sesi performance.</a:t>
            </a:r>
          </a:p>
          <a:p/>
          <a:p>
            <a:r>
              <a:t>ARAHAN TRAINER: Gunakan physical device dan profile mode.</a:t>
            </a:r>
          </a:p>
          <a:p/>
          <a:p>
            <a:r>
              <a:t>PERTANYAAN DISKUSI: Apa baseline yang perlu dicatat?</a:t>
            </a:r>
          </a:p>
          <a:p/>
          <a:p>
            <a:r>
              <a:t>RUJUKAN: Flutter DevTools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13.02–13.15. ALOKASI: 13 menit.</a:t>
            </a:r>
          </a:p>
          <a:p/>
          <a:p>
            <a:r>
              <a:t>TUJUAN: Menetapkan eksperimen performance.</a:t>
            </a:r>
          </a:p>
          <a:p/>
          <a:p>
            <a:r>
              <a:t>ARAHAN TRAINER: Pilih satu scenario yang realistis dan singkat.</a:t>
            </a:r>
          </a:p>
          <a:p/>
          <a:p>
            <a:r>
              <a:t>PERTANYAAN DISKUSI: Apa yang membuat before/after tidak dapat dibandingkan?</a:t>
            </a:r>
          </a:p>
          <a:p/>
          <a:p>
            <a:r>
              <a:t>RUJUKAN: Modul Hari 3: profiling.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13.15–13.28. ALOKASI: 13 menit.</a:t>
            </a:r>
          </a:p>
          <a:p/>
          <a:p>
            <a:r>
              <a:t>TUJUAN: Menghubungkan symptom ke tool dan perbaikan.</a:t>
            </a:r>
          </a:p>
          <a:p/>
          <a:p>
            <a:r>
              <a:t>ARAHAN TRAINER: Buka DevTools view yang relevan, jangan semua sekaligus.</a:t>
            </a:r>
          </a:p>
          <a:p/>
          <a:p>
            <a:r>
              <a:t>PERTANYAAN DISKUSI: Bagaimana membedakan server lambat dari render lambat?</a:t>
            </a:r>
          </a:p>
          <a:p/>
          <a:p>
            <a:r>
              <a:t>RUJUKAN: DevTools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13.28–13.43. ALOKASI: 15 menit.</a:t>
            </a:r>
          </a:p>
          <a:p/>
          <a:p>
            <a:r>
              <a:t>TUJUAN: Mengurangi work yang tidak perlu.</a:t>
            </a:r>
          </a:p>
          <a:p/>
          <a:p>
            <a:r>
              <a:t>ARAHAN TRAINER: Gunakan Inspector/rebuild stats untuk menunjuk scope.</a:t>
            </a:r>
          </a:p>
          <a:p/>
          <a:p>
            <a:r>
              <a:t>PERTANYAAN DISKUSI: Apakah banyak widget kecil selalu lebih cepat?</a:t>
            </a:r>
          </a:p>
          <a:p/>
          <a:p>
            <a:r>
              <a:t>RUJUKAN: Modul Hari 3 performance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13.43–13.56. ALOKASI: 13 menit.</a:t>
            </a:r>
          </a:p>
          <a:p/>
          <a:p>
            <a:r>
              <a:t>TUJUAN: Menjaga image dan resource lifecycle.</a:t>
            </a:r>
          </a:p>
          <a:p/>
          <a:p>
            <a:r>
              <a:t>ARAHAN TRAINER: Pilih foto besar lalu amati memory. Jangan membuat klaim leak dari satu spike.</a:t>
            </a:r>
          </a:p>
          <a:p/>
          <a:p>
            <a:r>
              <a:t>PERTANYAAN DISKUSI: Apa perbedaan resource leak dan temporary allocation?</a:t>
            </a:r>
          </a:p>
          <a:p/>
          <a:p>
            <a:r>
              <a:t>RUJUKAN: Modul Hari 3: gambar/memory.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13.56–14.10. ALOKASI: 14 menit.</a:t>
            </a:r>
          </a:p>
          <a:p/>
          <a:p>
            <a:r>
              <a:t>TUJUAN: Melakukan micro-experiment performance.</a:t>
            </a:r>
          </a:p>
          <a:p/>
          <a:p>
            <a:r>
              <a:t>ARAHAN TRAINER: Trainer membantu memilih satu perubahan kecil.</a:t>
            </a:r>
          </a:p>
          <a:p/>
          <a:p>
            <a:r>
              <a:t>PERTANYAAN DISKUSI: Apakah hasil dapat diulang oleh reviewer?</a:t>
            </a:r>
          </a:p>
          <a:p/>
          <a:p>
            <a:r>
              <a:t>RUJUKAN: Modul Hari 3: pengukuran.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14.10–14.25. ALOKASI: 15 menit.</a:t>
            </a:r>
          </a:p>
          <a:p/>
          <a:p>
            <a:r>
              <a:t>TUJUAN: Menutup gap end-to-end.</a:t>
            </a:r>
          </a:p>
          <a:p/>
          <a:p>
            <a:r>
              <a:t>ARAHAN TRAINER: Gunakan tabel sebagai regression checklist sebelum build.</a:t>
            </a:r>
          </a:p>
          <a:p/>
          <a:p>
            <a:r>
              <a:t>PERTANYAAN DISKUSI: Flow mana masih berbeda antara debug dan release?</a:t>
            </a:r>
          </a:p>
          <a:p/>
          <a:p>
            <a:r>
              <a:t>RUJUKAN: Modul Hari 3: polishing.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14.10–14.30. ALOKASI: 20 menit.</a:t>
            </a:r>
          </a:p>
          <a:p/>
          <a:p>
            <a:r>
              <a:t>TUJUAN: Memberi gambaran iOS tanpa menggeser fokus Android.</a:t>
            </a:r>
          </a:p>
          <a:p/>
          <a:p>
            <a:r>
              <a:t>ARAHAN TRAINER: Gunakan overview, tidak perlu instalasi/console walkthrough.</a:t>
            </a:r>
          </a:p>
          <a:p/>
          <a:p>
            <a:r>
              <a:t>PERTANYAAN DISKUSI: Fitur apa yang masih butuh physical iPhone?</a:t>
            </a:r>
          </a:p>
          <a:p/>
          <a:p>
            <a:r>
              <a:t>RUJUKAN: Modul Hari 3: iOS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14.45–14.47. ALOKASI: 2 menit.</a:t>
            </a:r>
          </a:p>
          <a:p/>
          <a:p>
            <a:r>
              <a:t>TUJUAN: Membuka sesi Android release.</a:t>
            </a:r>
          </a:p>
          <a:p/>
          <a:p>
            <a:r>
              <a:t>ARAHAN TRAINER: Gunakan key/app ID latihan, bukan production.</a:t>
            </a:r>
          </a:p>
          <a:p/>
          <a:p>
            <a:r>
              <a:t>PERTANYAAN DISKUSI: Apa yang perlu dibuktikan selain build sukses?</a:t>
            </a:r>
          </a:p>
          <a:p/>
          <a:p>
            <a:r>
              <a:t>RUJUKAN: Android app signing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14.47–15.00. ALOKASI: 13 menit.</a:t>
            </a:r>
          </a:p>
          <a:p/>
          <a:p>
            <a:r>
              <a:t>TUJUAN: Menentukan identitas release candidate.</a:t>
            </a:r>
          </a:p>
          <a:p/>
          <a:p>
            <a:r>
              <a:t>ARAHAN TRAINER: Catat nilai sebelum build. Pastikan key.properties dan *.jks ignored.</a:t>
            </a:r>
          </a:p>
          <a:p/>
          <a:p>
            <a:r>
              <a:t>PERTANYAAN DISKUSI: Bagaimana menghubungkan APK dengan commit source?</a:t>
            </a:r>
          </a:p>
          <a:p/>
          <a:p>
            <a:r>
              <a:t>RUJUKAN: Modul Hari 3: Android 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15.00–15.15. ALOKASI: 15 menit.</a:t>
            </a:r>
          </a:p>
          <a:p/>
          <a:p>
            <a:r>
              <a:t>TUJUAN: Menjelaskan upload key vs app signing key.</a:t>
            </a:r>
          </a:p>
          <a:p/>
          <a:p>
            <a:r>
              <a:t>ARAHAN TRAINER: Jalankan keytool dengan key latihan; jangan tampilkan password.</a:t>
            </a:r>
          </a:p>
          <a:p/>
          <a:p>
            <a:r>
              <a:t>PERTANYAAN DISKUSI: Siapa pemegang key production dan bagaimana recovery-nya?</a:t>
            </a:r>
          </a:p>
          <a:p/>
          <a:p>
            <a:r>
              <a:t>RUJUKAN: Android app signing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15.15–15.28. ALOKASI: 13 menit.</a:t>
            </a:r>
          </a:p>
          <a:p/>
          <a:p>
            <a:r>
              <a:t>TUJUAN: Menyusun pipeline manual yang repeatable.</a:t>
            </a:r>
          </a:p>
          <a:p/>
          <a:p>
            <a:r>
              <a:t>ARAHAN TRAINER: Jangan menganggap CI/CD wajib dalam kelas; flow ini dapat diotomasi nanti.</a:t>
            </a:r>
          </a:p>
          <a:p/>
          <a:p>
            <a:r>
              <a:t>PERTANYAAN DISKUSI: Pada tahap mana artefak yang salah harus ditolak?</a:t>
            </a:r>
          </a:p>
          <a:p/>
          <a:p>
            <a:r>
              <a:t>RUJUKAN: Modul Hari 3 build/handover.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15.28–15.43. ALOKASI: 15 menit.</a:t>
            </a:r>
          </a:p>
          <a:p/>
          <a:p>
            <a:r>
              <a:t>TUJUAN: Membangun dan memverifikasi APK/AAB.</a:t>
            </a:r>
          </a:p>
          <a:p/>
          <a:p>
            <a:r>
              <a:t>ARAHAN TRAINER: Ganti placeholder URL. Bandingkan fingerprint dengan keytool.</a:t>
            </a:r>
          </a:p>
          <a:p/>
          <a:p>
            <a:r>
              <a:t>PERTANYAAN DISKUSI: Mengapa release label tidak cukup membuktikan signer?</a:t>
            </a:r>
          </a:p>
          <a:p/>
          <a:p>
            <a:r>
              <a:t>RUJUKAN: Flutter Android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15.43–15.55. ALOKASI: 12 menit.</a:t>
            </a:r>
          </a:p>
          <a:p/>
          <a:p>
            <a:r>
              <a:t>TUJUAN: Menjalankan smoke test berbasis risiko.</a:t>
            </a:r>
          </a:p>
          <a:p/>
          <a:p>
            <a:r>
              <a:t>ARAHAN TRAINER: Gunakan APK release pada physical Android. Catat pass/fail/blocker.</a:t>
            </a:r>
          </a:p>
          <a:p/>
          <a:p>
            <a:r>
              <a:t>PERTANYAAN DISKUSI: Flow apa yang paling mungkin berbeda dari debug?</a:t>
            </a:r>
          </a:p>
          <a:p/>
          <a:p>
            <a:r>
              <a:t>RUJUKAN: PRD Hari 3 acceptance.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15.55–16.00. ALOKASI: 5 menit.</a:t>
            </a:r>
          </a:p>
          <a:p/>
          <a:p>
            <a:r>
              <a:t>TUJUAN: Mendokumentasikan release secara jujur.</a:t>
            </a:r>
          </a:p>
          <a:p/>
          <a:p>
            <a:r>
              <a:t>ARAHAN TRAINER: Pastikan cache/foto limitation masuk notes.</a:t>
            </a:r>
          </a:p>
          <a:p/>
          <a:p>
            <a:r>
              <a:t>PERTANYAAN DISKUSI: Apa trigger rollback yang dapat diamati?</a:t>
            </a:r>
          </a:p>
          <a:p/>
          <a:p>
            <a:r>
              <a:t>RUJUKAN: Modul Hari 3 handover.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16.00–16.10. ALOKASI: 10 menit.</a:t>
            </a:r>
          </a:p>
          <a:p/>
          <a:p>
            <a:r>
              <a:t>TUJUAN: Menilai acceptance akhir.</a:t>
            </a:r>
          </a:p>
          <a:p/>
          <a:p>
            <a:r>
              <a:t>ARAHAN TRAINER: Gunakan status Lulus/Perlu perbaikan/Terhalang prasyarat.</a:t>
            </a:r>
          </a:p>
          <a:p/>
          <a:p>
            <a:r>
              <a:t>PERTANYAAN DISKUSI: Bukti mana masih bergantung akun/perangkat eksternal?</a:t>
            </a:r>
          </a:p>
          <a:p/>
          <a:p>
            <a:r>
              <a:t>RUJUKAN: PRD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16.10–16.20. ALOKASI: 10 menit.</a:t>
            </a:r>
          </a:p>
          <a:p/>
          <a:p>
            <a:r>
              <a:t>TUJUAN: Menjalankan demo end-to-end.</a:t>
            </a:r>
          </a:p>
          <a:p/>
          <a:p>
            <a:r>
              <a:t>ARAHAN TRAINER: Batasi demo pada jalur inti. Jangan improvisasi fitur belum diuji.</a:t>
            </a:r>
          </a:p>
          <a:p/>
          <a:p>
            <a:r>
              <a:t>PERTANYAAN DISKUSI: Apakah demo membuktikan release artifact atau hanya debug app?</a:t>
            </a:r>
          </a:p>
          <a:p/>
          <a:p>
            <a:r>
              <a:t>RUJUKAN: Review akhir silabus.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16.20–16.27. ALOKASI: 7 menit.</a:t>
            </a:r>
          </a:p>
          <a:p/>
          <a:p>
            <a:r>
              <a:t>TUJUAN: Menyusun paket handover.</a:t>
            </a:r>
          </a:p>
          <a:p/>
          <a:p>
            <a:r>
              <a:t>ARAHAN TRAINER: Minta satu pasangan mencoba README pasangan lain.</a:t>
            </a:r>
          </a:p>
          <a:p/>
          <a:p>
            <a:r>
              <a:t>PERTANYAAN DISKUSI: Apakah orang lain dapat reproduce hasil tanpa bantuan author?</a:t>
            </a:r>
          </a:p>
          <a:p/>
          <a:p>
            <a:r>
              <a:t>RUJUKAN: Modul Hari 3 handover.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16.27–16.30. ALOKASI: 3 menit.</a:t>
            </a:r>
          </a:p>
          <a:p/>
          <a:p>
            <a:r>
              <a:t>TUJUAN: Menutup training dengan checkpoint aman.</a:t>
            </a:r>
          </a:p>
          <a:p/>
          <a:p>
            <a:r>
              <a:t>ARAHAN TRAINER: Periksa staged files sebelum push.</a:t>
            </a:r>
          </a:p>
          <a:p/>
          <a:p>
            <a:r>
              <a:t>PERTANYAAN DISKUSI: Apakah repository dapat diklon dan dijalankan ulang?</a:t>
            </a:r>
          </a:p>
          <a:p/>
          <a:p>
            <a:r>
              <a:t>RUJUKAN: README paket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Cadangan. ALOKASI: 1 menit.</a:t>
            </a:r>
          </a:p>
          <a:p/>
          <a:p>
            <a:r>
              <a:t>TUJUAN: Memberi arah kelanjutan realistis.</a:t>
            </a:r>
          </a:p>
          <a:p/>
          <a:p>
            <a:r>
              <a:t>ARAHAN TRAINER: Pisahkan roadmap dari target training yang sudah dinilai.</a:t>
            </a:r>
          </a:p>
          <a:p/>
          <a:p>
            <a:r>
              <a:t>PERTANYAAN DISKUSI: Langkah berikut mana paling mengurangi risiko proyek?</a:t>
            </a:r>
          </a:p>
          <a:p/>
          <a:p>
            <a:r>
              <a:t>RUJUKAN: Dokumentasi resmi dan modul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-cover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94360"/>
            <a:ext cx="5138928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722376"/>
            <a:ext cx="2084831" cy="734903"/>
          </a:xfrm>
          <a:prstGeom prst="rect">
            <a:avLst/>
          </a:prstGeom>
        </p:spPr>
      </p:pic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667512"/>
            <a:ext cx="37161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618488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BE7F6"/>
                </a:solidFill>
                <a:latin typeface="Aptos"/>
              </a:rPr>
              <a:t>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623560" cy="1298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 Display"/>
              </a:rPr>
              <a:t>Flutter Quality, Native
&amp; Release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10128"/>
            <a:ext cx="53492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BFD7E9"/>
                </a:solidFill>
                <a:latin typeface="Aptos"/>
              </a:rPr>
              <a:t>Foto native, test strategy, performance evidence, signing, dan release yang dapat diaudit.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251960"/>
            <a:ext cx="105156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315968"/>
            <a:ext cx="10515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NATIVE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37944" y="4251960"/>
            <a:ext cx="115214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37944" y="4315968"/>
            <a:ext cx="115214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TESTING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18104" y="4251960"/>
            <a:ext cx="1261872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8104" y="4315968"/>
            <a:ext cx="1261872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DEVTOOLS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4251960"/>
            <a:ext cx="115214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4315968"/>
            <a:ext cx="115214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RELEASE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074920"/>
            <a:ext cx="5358384" cy="969264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6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03520"/>
            <a:ext cx="1828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TRAINER &amp; PENULIS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577840"/>
            <a:ext cx="44805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9648" y="6345936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01 / 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Hasil belajar yang dapat dibuktikan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2157984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1344168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Native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1856232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Plugin dibungkus adapter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Lifecycle/cancel/error jelas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43000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43000"/>
            <a:ext cx="73152" cy="2157984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4416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44168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Test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56232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Unit, state, widget, contract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Fake mengganti dependency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49039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49039"/>
            <a:ext cx="73152" cy="2157984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8952" y="3950207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023359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1016" y="3950207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Performance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462271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Skenario repeatable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Before/after tanpa klaim palsu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3749039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3749039"/>
            <a:ext cx="73152" cy="2157984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92240" y="3950207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023359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4304" y="3950207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Release confidence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462271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Signer diverifikasi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Smoke test + release notes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Roadmap pembelajaran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987552"/>
            <a:ext cx="7315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D6D82"/>
                </a:solidFill>
                <a:latin typeface="Aptos"/>
              </a:rPr>
              <a:t>Satu alur: contract → implementation →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36192"/>
            <a:ext cx="1024128" cy="62179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19072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08.30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7088" y="1536192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700784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Native photo boundary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33872" y="1536192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673352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Preview, cancel, lost-data, ownership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70432" y="2157984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" y="2414016"/>
            <a:ext cx="1024128" cy="62179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596896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10.15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47088" y="2414016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2578608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Test strategy &amp; quality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33872" y="2414016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71616" y="2551176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Unit/state/widget/contract lulus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70432" y="3035808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3291840"/>
            <a:ext cx="1024128" cy="62179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474720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13.00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47088" y="3291840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456432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Profiling &amp; clean-up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33872" y="3291840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71616" y="3429000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Satu perbaikan terukur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70432" y="3913632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58368" y="4169664"/>
            <a:ext cx="1024128" cy="62179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352544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14.45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47088" y="4169664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4334256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Android release engineering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33872" y="4169664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71616" y="4306824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Signed APK/AAB + verification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70432" y="4791456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58368" y="5047488"/>
            <a:ext cx="1024128" cy="62179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230368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16.00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47088" y="5047488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5212080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Demo &amp; handover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33872" y="5047488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71616" y="5184648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Smoke test, notes, tag day-3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Input dari day-2: quality starts upstream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52144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52144"/>
            <a:ext cx="73152" cy="455371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53312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26464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53312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API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65376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Model/schema stabil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Failure mapping jelas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ApiClient dapat diuji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52144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52144"/>
            <a:ext cx="73152" cy="4553712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53312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26464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53312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865376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Boundary dapat di-fake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Ownership lifecycle jelas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State deterministik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52144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52144"/>
            <a:ext cx="73152" cy="455371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53312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26464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53312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865376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secret in repo/log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Session clear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Release memakai HTTPS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71032"/>
            <a:ext cx="10332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84A4A"/>
                </a:solidFill>
                <a:latin typeface="Aptos"/>
              </a:rPr>
              <a:t>Jika day-2 belum stabil, Hari 3 menjadi debugging marathon—bukan quality engineering.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Native feature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Gunakan plugin untuk capability platform; bungkus agar UI dan test tetap bersih.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Mendesain adapter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Menangani lifecycle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Menjaga ownership 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3  •  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Plugin adalah infrastructure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PhotoPanel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render + intent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PhotoController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state machine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PhotoPicker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app abstraction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image_picker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plugin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Android / 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platform capability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21808" cy="2340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40864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0740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Mengapa adapter?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46320" cy="1472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Plugin dapat di-fake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Exception diterjemahkan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UI tidak bergantung XFile langsung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40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40864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Kapan MethodChannel?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72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Capability tidak tersedia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Perlu API native khusus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Tim siap memelihara dua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Photo picker sebagai state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600200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36192"/>
            <a:ext cx="1600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71D3B"/>
                </a:solidFill>
                <a:latin typeface="Aptos"/>
              </a:rPr>
              <a:t>idle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325880"/>
            <a:ext cx="1600200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536192"/>
            <a:ext cx="1600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picking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1325880"/>
            <a:ext cx="1600200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536192"/>
            <a:ext cx="1600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selected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3886200"/>
            <a:ext cx="1600200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4096512"/>
            <a:ext cx="1600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71D3B"/>
                </a:solidFill>
                <a:latin typeface="Aptos"/>
              </a:rPr>
              <a:t>cancelled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3886200"/>
            <a:ext cx="1600200" cy="713232"/>
          </a:xfrm>
          <a:prstGeom prst="round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4096512"/>
            <a:ext cx="1600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failure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1325880"/>
            <a:ext cx="1600200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1536192"/>
            <a:ext cx="1600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recovering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31720" y="1682496"/>
            <a:ext cx="457200" cy="0"/>
          </a:xfrm>
          <a:prstGeom prst="line">
            <a:avLst/>
          </a:prstGeom>
          <a:ln w="25400">
            <a:solidFill>
              <a:srgbClr val="5D6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34840" y="1682496"/>
            <a:ext cx="457200" cy="0"/>
          </a:xfrm>
          <a:prstGeom prst="line">
            <a:avLst/>
          </a:prstGeom>
          <a:ln w="25400">
            <a:solidFill>
              <a:srgbClr val="5D6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537960" y="1682496"/>
            <a:ext cx="457200" cy="0"/>
          </a:xfrm>
          <a:prstGeom prst="line">
            <a:avLst/>
          </a:prstGeom>
          <a:ln w="25400">
            <a:solidFill>
              <a:srgbClr val="5D6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39312" y="2057400"/>
            <a:ext cx="0" cy="1783080"/>
          </a:xfrm>
          <a:prstGeom prst="line">
            <a:avLst/>
          </a:prstGeom>
          <a:ln w="25400">
            <a:solidFill>
              <a:srgbClr val="5D6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45552" y="2057400"/>
            <a:ext cx="0" cy="1783080"/>
          </a:xfrm>
          <a:prstGeom prst="line">
            <a:avLst/>
          </a:prstGeom>
          <a:ln w="25400">
            <a:solidFill>
              <a:srgbClr val="5D6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41080" y="1682496"/>
            <a:ext cx="2194560" cy="0"/>
          </a:xfrm>
          <a:prstGeom prst="line">
            <a:avLst/>
          </a:prstGeom>
          <a:ln w="25400">
            <a:solidFill>
              <a:srgbClr val="5D6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62288" y="1115568"/>
            <a:ext cx="24231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62288" y="1115568"/>
            <a:ext cx="73152" cy="40690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18320" y="131673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138988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0384" y="1316736"/>
            <a:ext cx="1508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Invariant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1828800"/>
            <a:ext cx="1947672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pick aktif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Cancel bukan error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Selected terikat ID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Recovery tidak lintas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833872"/>
            <a:ext cx="8275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State machine mengurangi kombinasi _busy, _photo, _message yang ambigu.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Lifecycle, lost data, dan record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053328" cy="507492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650992" cy="4325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D9ECF5"/>
                </a:solidFill>
                <a:latin typeface="Cascadia Mono"/>
              </a:rPr>
              <a:t>Future&lt;void&gt; pick(PhotoSource source) async {
  if (state.isBusy) return;
  await pendingStore.save(inspectionId);
  emit(const Picking());
  try {
    final photo = await picker.pick(source);
    if (!_isCurrentInspection()) return;
    emit(photo == null ? const Cancelled() : Selected(photo));
  } on PhotoPermissionFailure {
    emit(const Failure('Periksa izin perangkat'));
  } finally {
    await pendingStore.clear();
  }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9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IDENTITY FIRST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85432" y="1143000"/>
            <a:ext cx="473659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85432" y="1143000"/>
            <a:ext cx="73152" cy="2212848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1344168"/>
            <a:ext cx="384048" cy="384048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41464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528" y="1344168"/>
            <a:ext cx="382219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Recovery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1856232"/>
            <a:ext cx="4261104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Simpan inspectionId sebelum picker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retrieveLostData saat init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hanya ke ID yang sama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85432" y="3602736"/>
            <a:ext cx="4736592" cy="2615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85432" y="3602736"/>
            <a:ext cx="73152" cy="2615184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41464" y="3803904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41464" y="3877056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3528" y="3803904"/>
            <a:ext cx="382219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Widget ownership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1464" y="4315968"/>
            <a:ext cx="4261104" cy="1746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ValueKey(item.id)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context after dispose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Busy disables action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Previous preview survives cancel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File sementara bukan attachment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70432"/>
            <a:ext cx="3456432" cy="4590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70432"/>
            <a:ext cx="73152" cy="459028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71600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Preview lokal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83664"/>
            <a:ext cx="2980944" cy="3721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Path dapat sementara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Belum tersinkron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lintas device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Boleh hilang setelah lifecycle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70432"/>
            <a:ext cx="3456432" cy="4590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70432"/>
            <a:ext cx="73152" cy="4590288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71600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Persist lokal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883664"/>
            <a:ext cx="2980944" cy="3721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Copy ke app storage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Metadata per inspection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Cleanup policy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Permission/privacy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70432"/>
            <a:ext cx="3456432" cy="4590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70432"/>
            <a:ext cx="73152" cy="459028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71600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Upload 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883664"/>
            <a:ext cx="2980944" cy="3721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Multipart/presigned URL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Progress + retry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Idempotency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Retention/security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80176"/>
            <a:ext cx="10332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84A4A"/>
                </a:solidFill>
                <a:latin typeface="Aptos"/>
              </a:rPr>
              <a:t>Scope kelas berhenti di preview lokal; batas ini wajib terlihat di UI dan release notes.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1 — photo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10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11696" cy="4974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74336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7972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Skenario wajib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36208" cy="4105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dari galeri → preview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Cancel → preview lama tetap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Permission/error → pesan actionable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Double tap → satu picker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Buka record lain → foto tidak berpindah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Android process recovery → ID sama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52944" y="1143000"/>
            <a:ext cx="4078224" cy="2258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52944" y="1143000"/>
            <a:ext cx="73152" cy="225856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08976" y="13441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8976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344168"/>
            <a:ext cx="316382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Device matrix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6" y="1856232"/>
            <a:ext cx="3602736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Simulator: gallery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Physical: camera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Widget test: fake picker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52944" y="3675887"/>
            <a:ext cx="4078224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52944" y="3675887"/>
            <a:ext cx="73152" cy="24414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08976" y="3877055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8976" y="3950207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877055"/>
            <a:ext cx="316382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Definition of 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8976" y="4389119"/>
            <a:ext cx="3602736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crash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cross-record state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Scope preview jelas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Test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Uji boundary berdasarkan risiko; gunakan fake untuk determinisme dan device untuk integrasi nyata.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Menyusun portfolio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Menguji contract/state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Menjalankan quality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3  •  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Portfolio test berdasarkan 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62272"/>
            <a:ext cx="10561320" cy="841248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626864"/>
            <a:ext cx="10287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71D3B"/>
                </a:solidFill>
                <a:latin typeface="Aptos"/>
              </a:rPr>
              <a:t>Unit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28616"/>
            <a:ext cx="102870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71D3B"/>
                </a:solidFill>
                <a:latin typeface="Aptos"/>
              </a:rPr>
              <a:t>cepat • banyak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3401568"/>
            <a:ext cx="8549640" cy="841248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3566160"/>
            <a:ext cx="82753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State / 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867912"/>
            <a:ext cx="82753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boundary • fake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2340864"/>
            <a:ext cx="6629400" cy="841248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2505456"/>
            <a:ext cx="6355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71D3B"/>
                </a:solidFill>
                <a:latin typeface="Aptos"/>
              </a:rPr>
              <a:t>Widget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807208"/>
            <a:ext cx="63550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071D3B"/>
                </a:solidFill>
                <a:latin typeface="Aptos"/>
              </a:rPr>
              <a:t>interaction • UI states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1280160"/>
            <a:ext cx="4709160" cy="841248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199" y="1444752"/>
            <a:ext cx="44348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Integration / smoke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199" y="1746504"/>
            <a:ext cx="44348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plugin • network • release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806440"/>
            <a:ext cx="96469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Semakin tinggi, semakin mahal—tetapi semakin dekat ke real environment.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Unit test: contract model dan rule bisnis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70432"/>
            <a:ext cx="6473952" cy="4974336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316736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80744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UNIT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92224"/>
            <a:ext cx="6071616" cy="42245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9ECF5"/>
                </a:solidFill>
                <a:latin typeface="Cascadia Mono"/>
              </a:rPr>
              <a:t>group('Inspection.fromJson', () {
  test('normalizes timestamp to UTC', () {
    final item = Inspection.fromJson(validPayload);
    expect(item.createdAt.isUtc, isTrue);
  });
  test('rejects unknown condition', () {
    expect(
      () =&gt; Inspection.fromJson({...validPayload, 'condition': 'x'}),
      throwsFormatException,
    );
  });
});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6912" y="1170432"/>
            <a:ext cx="432511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96912" y="1170432"/>
            <a:ext cx="73152" cy="22128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52944" y="1371600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52944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1371600"/>
            <a:ext cx="341071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Good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2944" y="1883664"/>
            <a:ext cx="3849624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Nama menjelaskan perilaku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Input mewakili risk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Assert outcome, bukan implementation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3657600"/>
            <a:ext cx="4325112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3657600"/>
            <a:ext cx="73152" cy="248716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52944" y="38587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2944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3858768"/>
            <a:ext cx="341071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Prioritas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2944" y="4370832"/>
            <a:ext cx="3849624" cy="1618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Required field missing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enum unknown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UTC normalization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validation boundaries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State test dengan fake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70432"/>
            <a:ext cx="6446520" cy="4992624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316736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80744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STATE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92224"/>
            <a:ext cx="6044184" cy="42428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D9ECF5"/>
                </a:solidFill>
                <a:latin typeface="Cascadia Mono"/>
              </a:rPr>
              <a:t>test('401 expires session and exposes safe failure', () async {
  final gateway = FakeGateway()
    ..listError = const UnauthorizedFailure();
  var expired = false;
  final controller = InspectionController(
    gateway, onSessionExpired: () =&gt; expired = true,
  );
  await controller.load();
  expect(expired, isTrue);
  expect(controller.state, isA&lt;Failure&gt;());
});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1" y="1325880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NO NETWORK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78624" y="1170432"/>
            <a:ext cx="434340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78624" y="1170432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34656" y="1371600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34656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371600"/>
            <a:ext cx="34290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Fake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6" y="1883664"/>
            <a:ext cx="3867912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success data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specific failure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delay/completion order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78624" y="3657600"/>
            <a:ext cx="4343400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78624" y="3657600"/>
            <a:ext cx="73152" cy="2505456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34656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6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858768"/>
            <a:ext cx="34290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Assert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4370832"/>
            <a:ext cx="3867912" cy="1636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state transition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side effect callback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submit guard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previous data policy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API client test menjaga mapping Flutter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80160"/>
            <a:ext cx="259689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245059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JSON fixture</a:t>
            </a:r>
          </a:p>
        </p:txBody>
      </p:sp>
      <p:sp>
        <p:nvSpPr>
          <p:cNvPr id="11" name="Chevron 10"/>
          <p:cNvSpPr/>
          <p:nvPr/>
        </p:nvSpPr>
        <p:spPr>
          <a:xfrm>
            <a:off x="3282696" y="150876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21408"/>
            <a:ext cx="259689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known payload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9856" y="1280160"/>
            <a:ext cx="259689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1481328"/>
            <a:ext cx="245059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MockClient</a:t>
            </a:r>
          </a:p>
        </p:txBody>
      </p:sp>
      <p:sp>
        <p:nvSpPr>
          <p:cNvPr id="15" name="Chevron 14"/>
          <p:cNvSpPr/>
          <p:nvPr/>
        </p:nvSpPr>
        <p:spPr>
          <a:xfrm>
            <a:off x="6044184" y="150876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9856" y="2121408"/>
            <a:ext cx="259689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status/headers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280160"/>
            <a:ext cx="259689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1481328"/>
            <a:ext cx="245059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DTO decode</a:t>
            </a:r>
          </a:p>
        </p:txBody>
      </p:sp>
      <p:sp>
        <p:nvSpPr>
          <p:cNvPr id="19" name="Chevron 18"/>
          <p:cNvSpPr/>
          <p:nvPr/>
        </p:nvSpPr>
        <p:spPr>
          <a:xfrm>
            <a:off x="8805672" y="150876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1344" y="2121408"/>
            <a:ext cx="259689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strict boundary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2832" y="1280160"/>
            <a:ext cx="259689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15984" y="1481328"/>
            <a:ext cx="245059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Domain assertions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2121408"/>
            <a:ext cx="259689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business meaning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10128"/>
            <a:ext cx="5257800" cy="2404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310128"/>
            <a:ext cx="73152" cy="240487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351129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6464" y="3511296"/>
            <a:ext cx="4343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Minimum contract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023360"/>
            <a:ext cx="4782312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Status sesuai operation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Required fields ada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Enum/date valid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body dapat dipetakan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54496" y="3310128"/>
            <a:ext cx="5285232" cy="2404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54496" y="3310128"/>
            <a:ext cx="73152" cy="240487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10528" y="3511296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3511296"/>
            <a:ext cx="43708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Test cases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023360"/>
            <a:ext cx="4809744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200 parse success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401 typed failure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422 field mapping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invalid JSON rejected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Widget test: render state + user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70432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70432"/>
            <a:ext cx="73152" cy="455371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71600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Arrange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83664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Fake controller/gateway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Known state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MaterialApp wrapper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Stable keys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70432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70432"/>
            <a:ext cx="73152" cy="4553712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71600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883664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Tap retry/save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Enter invalid input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Pump transition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Scroll/ensureVisible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70432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70432"/>
            <a:ext cx="73152" cy="455371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71600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Assert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883664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Correct state UI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Action invoked once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Navigation policy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hidden error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980176"/>
            <a:ext cx="9784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84A4A"/>
                </a:solidFill>
                <a:latin typeface="Aptos"/>
              </a:rPr>
              <a:t>Widget test tidak membuktikan permission, TLS, plugin registration, atau signer.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Integration &amp; smoke test: environment nyata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143000"/>
          <a:ext cx="11119104" cy="4882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1965960"/>
                <a:gridCol w="2240280"/>
                <a:gridCol w="3118104"/>
              </a:tblGrid>
              <a:tr h="61036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Debug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Profile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Release APK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6103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Login/API HTTPS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wajib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103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Create + timeout policy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opsional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wajib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103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Gallery/camera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wajib device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103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Permission denied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wajib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103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Offline/cache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wajib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103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Restart/logout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wajib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103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Performance scenario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wajib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sampling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" y="6053328"/>
            <a:ext cx="103327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5AA7"/>
                </a:solidFill>
                <a:latin typeface="Aptos"/>
              </a:rPr>
              <a:t>Release configuration adalah dependency—maka smoke test release tidak boleh dilewati.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Quality gate yang dapat dijalankan ulang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70432"/>
            <a:ext cx="6565392" cy="493776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316736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80744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QUALITY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92224"/>
            <a:ext cx="6163056" cy="41879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9ECF5"/>
                </a:solidFill>
                <a:latin typeface="Cascadia Mono"/>
              </a:rPr>
              <a:t>dart format --output=none --set-exit-if-changed lib test
flutter analyze
flutter test
# Setelah profile + smoke test:
flutter build apk --release \
  --dart-define=API_BASE_URL=https://api-staging.example
flutter build appbundle --release \
  --dart-define=API_BASE_URL=https://api-staging.example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8352" y="1170432"/>
            <a:ext cx="423367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2" y="1170432"/>
            <a:ext cx="73152" cy="2212848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44384" y="1371600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44384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1371600"/>
            <a:ext cx="3319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Gate gagal bila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4" y="1883664"/>
            <a:ext cx="3758184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format berubah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analyzer issue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 gagal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build gagal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352" y="3657600"/>
            <a:ext cx="4233672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3657600"/>
            <a:ext cx="73152" cy="245059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44384" y="38587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44384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3858768"/>
            <a:ext cx="3319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terpisah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4" y="4370832"/>
            <a:ext cx="3758184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DevTools trace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signer fingerprint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device smoke result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2 — regression safety 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11696" cy="4974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74336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7972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36208" cy="4105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Tambahkan parser boundary test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Tambahkan state success + failure test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Tambahkan widget test invalid form/retry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Jalankan dengan sengaja satu regression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Pulihkan dan jalankan quality gate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Catat test yang masih membutuhkan device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52944" y="1143000"/>
            <a:ext cx="4078224" cy="2258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52944" y="1143000"/>
            <a:ext cx="73152" cy="225856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08976" y="13441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8976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344168"/>
            <a:ext cx="316382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6" y="1856232"/>
            <a:ext cx="3602736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Deterministic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Behavior-focused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real secret/network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52944" y="3675887"/>
            <a:ext cx="4078224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52944" y="3675887"/>
            <a:ext cx="73152" cy="24414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08976" y="3877055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8976" y="3950207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877055"/>
            <a:ext cx="316382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8976" y="4389119"/>
            <a:ext cx="3602736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 gagal saat bug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 lulus setelah fix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Output bersih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Performance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Optimasi dimulai dari skenario yang dapat diulang—bukan dari tebakan atau slogan const.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Mendefinisikan scenario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Membaca DevTools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Membuktikan perubahan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3  •  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Measure → diagnose → change → re-measure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21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53312"/>
            <a:ext cx="2084832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19385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1" name="Chevron 10"/>
          <p:cNvSpPr/>
          <p:nvPr/>
        </p:nvSpPr>
        <p:spPr>
          <a:xfrm>
            <a:off x="2660904" y="1581912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208483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device + mode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8064" y="1353312"/>
            <a:ext cx="2084832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1216" y="1554480"/>
            <a:ext cx="19385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Baseline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0328" y="1581912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8064" y="2194560"/>
            <a:ext cx="208483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trace + symptom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7488" y="1353312"/>
            <a:ext cx="2084832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554480"/>
            <a:ext cx="19385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Hypothesis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9752" y="1581912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2194560"/>
            <a:ext cx="208483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likely cause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6912" y="1353312"/>
            <a:ext cx="2084832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1554480"/>
            <a:ext cx="19385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One change</a:t>
            </a:r>
          </a:p>
        </p:txBody>
      </p:sp>
      <p:sp>
        <p:nvSpPr>
          <p:cNvPr id="23" name="Chevron 22"/>
          <p:cNvSpPr/>
          <p:nvPr/>
        </p:nvSpPr>
        <p:spPr>
          <a:xfrm>
            <a:off x="9409176" y="1581912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912" y="2194560"/>
            <a:ext cx="208483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small + reviewable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46336" y="1353312"/>
            <a:ext cx="2084832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19488" y="1554480"/>
            <a:ext cx="19385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Compare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2194560"/>
            <a:ext cx="208483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same conditions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364992"/>
            <a:ext cx="5349240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364992"/>
            <a:ext cx="73152" cy="226771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4672" y="3566160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63931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16736" y="3566160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Skenario training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078224"/>
            <a:ext cx="4873752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Scroll list panjang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Search saat list tampil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Buka foto resolusi besar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64992"/>
            <a:ext cx="5394960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64992"/>
            <a:ext cx="73152" cy="226771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66160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63931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66160"/>
            <a:ext cx="44805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78224"/>
            <a:ext cx="4919472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Device + mode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Trace/screenshot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Before/after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Batas kesimpulan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5888736"/>
            <a:ext cx="6629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D84A4A"/>
                </a:solidFill>
                <a:latin typeface="Aptos"/>
              </a:rPr>
              <a:t>Jika kondisi berubah, perbandingan tidak valid.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Diagnosis berdasarkan symptom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133856"/>
          <a:ext cx="11119104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3547872"/>
                <a:gridCol w="4507992"/>
              </a:tblGrid>
              <a:tr h="68971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Symptom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Periksa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Perubahan kandidat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68971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Frame lambat saat scroll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build/layout/paint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lazy list, split widget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8971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Typing search tersendat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filter tiap build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memoize/debounce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8971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Memory naik setelah foto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decode + retained image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resize, release reference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8971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Refresh terasa lambat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network vs render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timing + loading UX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8971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Seluruh layar rebuild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listener scope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narrow observer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897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Jank pertama buka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shader/image decode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warmup/size evidence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286000" y="6035040"/>
            <a:ext cx="75895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Pisahkan latency backend dari work pada UI thread.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Rebuild scope dan derived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510528" cy="507492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108192" cy="4325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D9ECF5"/>
                </a:solidFill>
                <a:latin typeface="Cascadia Mono"/>
              </a:rPr>
              <a:t>class InspectionListView extends StatelessWidget {
  const InspectionListView({required this.items, super.key});
  @override
  Widget build(BuildContext context) =&gt; ListView.builder(
    itemCount: items.length,
    itemBuilder: (_, index) {
      final item = items[index];
      return InspectionTile(
        key: ValueKey(item.id),
        item: item,
      );
    },
  );
}
// Hitung visibleItems saat input/state berubah, bukan di tiap build besar.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2631" y="1143000"/>
            <a:ext cx="4279392" cy="2258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42631" y="1143000"/>
            <a:ext cx="73152" cy="225856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986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986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7" y="1344168"/>
            <a:ext cx="336499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Checklist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98663" y="1856232"/>
            <a:ext cx="3803904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ListView.builder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stable key by ID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listener scope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const where useful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42631" y="3657600"/>
            <a:ext cx="4279392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42631" y="3657600"/>
            <a:ext cx="73152" cy="256032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986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986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7" y="3858768"/>
            <a:ext cx="336499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Anti-myth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8663" y="4370832"/>
            <a:ext cx="380390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const bukan universal fix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pecah widget harus ada alasan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ukur impact pada scenario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Image memory dan resource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70432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70432"/>
            <a:ext cx="73152" cy="455371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71600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Decode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83664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maxWidth/imageQuality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thumbnail untuk list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hindari full-res preview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ukur memory peak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70432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70432"/>
            <a:ext cx="73152" cy="4553712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71600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Retain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883664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state punya owner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hapus reference lama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cache tanpa policy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cleanup temporary 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70432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70432"/>
            <a:ext cx="73152" cy="455371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71600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Dispose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883664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controller/listener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 client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stream/timer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plugin operation guard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980176"/>
            <a:ext cx="102412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Memory leak dan memory spike adalah masalah berbeda—buktikan dengan timeline.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3 — satu perbaikan, satu bukti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11696" cy="4974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74336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7972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Template eksperimen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36208" cy="4105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Device/mode/commit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Skenario dan dataset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Symptom + baseline trace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Hipotesis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perubahan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Re-run kondisi sama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Kesimpulan + limitasi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52944" y="1143000"/>
            <a:ext cx="4078224" cy="2258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52944" y="1143000"/>
            <a:ext cx="73152" cy="225856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08976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8976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344168"/>
            <a:ext cx="316382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Diterima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6" y="1856232"/>
            <a:ext cx="3602736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Reproducible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Evidence tersimpan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inflated % claim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52944" y="3675887"/>
            <a:ext cx="4078224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52944" y="3675887"/>
            <a:ext cx="73152" cy="2441448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08976" y="3877055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8976" y="3950207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877055"/>
            <a:ext cx="316382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Tidak diterima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8976" y="4389119"/>
            <a:ext cx="3602736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'Terasa lebih cepat'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Mode/device berubah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Banyak change sekaligus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Polishing end-to-end sebelum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133856"/>
          <a:ext cx="11119103" cy="4809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2944368"/>
                <a:gridCol w="3063240"/>
                <a:gridCol w="3236976"/>
              </a:tblGrid>
              <a:tr h="68710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Flow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Happy path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Failure path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UX evidence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68710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Session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login/restart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wrong/expired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actionable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8710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List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fresh data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empty/offline/500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state distinct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8710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Create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201 once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422/timeout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guard + recovery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8710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Photo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select/replace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cancel/denied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record-bound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8710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Logout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clear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during async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safe transition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871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Responsive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normal content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keyboard/long text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no overflow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880360" y="6035040"/>
            <a:ext cx="6400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Tambahkan fitur hanya setelah jalur inti stabil.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iOS overview — 20 menit, scope terkontrol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Bundle ID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identity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Team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account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Certificate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signing trust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Provisioning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device/app rights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Archive / TestFlight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distribution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0096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5915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256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Dibahas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64608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Mac + Xcode requirement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Simulator vs physical device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Permission string plugin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5915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Ditunda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Archive production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App Store Connect upload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Review App Store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Release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Artefak release harus reproducible, signed, verified, smoke-tested, dan dapat di-roll 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Memisahkan environment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Memverifikasi signer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Menyusun handover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3  •  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Build identity: environment, version, signer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70432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70432"/>
            <a:ext cx="73152" cy="455371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71600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83664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 staging HTTPS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debug cleartext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localhost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Feature flags known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70432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70432"/>
            <a:ext cx="73152" cy="4553712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71600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883664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versionName semantic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versionCode increases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commit/tag trace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release notes match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70432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70432"/>
            <a:ext cx="73152" cy="455371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71600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Signer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883664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training upload key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fingerprint known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key not in Git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verify artifact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5971032"/>
            <a:ext cx="821131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84A4A"/>
                </a:solidFill>
                <a:latin typeface="Aptos"/>
              </a:rPr>
              <a:t>Nama file bukan bukti environment, version, atau signer.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Signing chain dan custody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30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98448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99616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27048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39696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trusted commit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298448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499616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Build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27048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39696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controlled env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298448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499616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Upload key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27048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39696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team custody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298448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499616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Play signing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27048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39696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store custody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298448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499616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Installed APK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39696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verified cert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273552"/>
            <a:ext cx="5340096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273552"/>
            <a:ext cx="73152" cy="248716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474720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4787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474720"/>
            <a:ext cx="44256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Training key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3986784"/>
            <a:ext cx="4864608" cy="1618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Khusus app latihan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Password tidak dicetak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mengganti key app operasional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Fingerprint boleh dicatat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273552"/>
            <a:ext cx="5376672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273552"/>
            <a:ext cx="73152" cy="248716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474720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4787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474720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Repository hygiene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986784"/>
            <a:ext cx="4901184" cy="1618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key.properties ignored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*.jks ignored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absolute secret path in docs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Check staged files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Pipeline release candidate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31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280160"/>
            <a:ext cx="1734312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Quality gate</a:t>
            </a:r>
          </a:p>
        </p:txBody>
      </p:sp>
      <p:sp>
        <p:nvSpPr>
          <p:cNvPr id="11" name="Chevron 10"/>
          <p:cNvSpPr/>
          <p:nvPr/>
        </p:nvSpPr>
        <p:spPr>
          <a:xfrm>
            <a:off x="2237232" y="150876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12140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format/analyze/test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4392" y="1280160"/>
            <a:ext cx="1734312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47544" y="148132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Build APK/AAB</a:t>
            </a:r>
          </a:p>
        </p:txBody>
      </p:sp>
      <p:sp>
        <p:nvSpPr>
          <p:cNvPr id="15" name="Chevron 14"/>
          <p:cNvSpPr/>
          <p:nvPr/>
        </p:nvSpPr>
        <p:spPr>
          <a:xfrm>
            <a:off x="4136136" y="150876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4392" y="212140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staging env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3296" y="1280160"/>
            <a:ext cx="1734312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6448" y="148132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Verify</a:t>
            </a:r>
          </a:p>
        </p:txBody>
      </p:sp>
      <p:sp>
        <p:nvSpPr>
          <p:cNvPr id="19" name="Chevron 18"/>
          <p:cNvSpPr/>
          <p:nvPr/>
        </p:nvSpPr>
        <p:spPr>
          <a:xfrm>
            <a:off x="6035040" y="150876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3296" y="212140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signer + hash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280160"/>
            <a:ext cx="1734312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148132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Install</a:t>
            </a:r>
          </a:p>
        </p:txBody>
      </p:sp>
      <p:sp>
        <p:nvSpPr>
          <p:cNvPr id="23" name="Chevron 22"/>
          <p:cNvSpPr/>
          <p:nvPr/>
        </p:nvSpPr>
        <p:spPr>
          <a:xfrm>
            <a:off x="7933944" y="150876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12140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physical device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1104" y="1280160"/>
            <a:ext cx="1734312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4256" y="148132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Smoke</a:t>
            </a:r>
          </a:p>
        </p:txBody>
      </p:sp>
      <p:sp>
        <p:nvSpPr>
          <p:cNvPr id="27" name="Chevron 26"/>
          <p:cNvSpPr/>
          <p:nvPr/>
        </p:nvSpPr>
        <p:spPr>
          <a:xfrm>
            <a:off x="9832848" y="150876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71104" y="212140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core flows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70008" y="1280160"/>
            <a:ext cx="1734312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3160" y="148132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Tag + notes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70008" y="212140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handover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337560"/>
            <a:ext cx="3456432" cy="2322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3337560"/>
            <a:ext cx="73152" cy="2322576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2960" y="353872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61188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5024" y="353872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Fail fast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050792"/>
            <a:ext cx="2980944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Stop on first gate failure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Fix root cause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Rebuild from clean state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70832" y="3337560"/>
            <a:ext cx="3456432" cy="2322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70832" y="3337560"/>
            <a:ext cx="73152" cy="2322576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626864" y="353872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26864" y="361188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38928" y="353872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Trace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26864" y="4050792"/>
            <a:ext cx="2980944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Commit/tag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toolchain versions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artifact checksum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74736" y="3337560"/>
            <a:ext cx="3456432" cy="2322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74736" y="3337560"/>
            <a:ext cx="73152" cy="2322576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30768" y="353872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30768" y="361188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42832" y="353872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Approve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30768" y="4050792"/>
            <a:ext cx="2980944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Named reviewer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Evidence complete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Known limits accepted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Build dan verifikasi artefak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15568"/>
            <a:ext cx="6748272" cy="512064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61872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25880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RELEASE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37360"/>
            <a:ext cx="6345936" cy="4370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D9ECF5"/>
                </a:solidFill>
                <a:latin typeface="Cascadia Mono"/>
              </a:rPr>
              <a:t>flutter build apk --release \
+  --dart-define=API_BASE_URL=https://api-staging.example
flutter build appbundle --release \
+  --dart-define=API_BASE_URL=https://api-staging.example
apksigner verify --verbose --print-certs \
+  build/app/outputs/flutter-apk/app-release.apk
jarsigner -verify -verbose -certs \
+  build/app/outputs/bundle/release/app.aab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2393" y="1271016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VERIFY, DON'T ASSUME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71231" y="1115568"/>
            <a:ext cx="4050791" cy="2249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71231" y="1115568"/>
            <a:ext cx="73152" cy="2249424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27263" y="131673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27263" y="138988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APK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1316736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APK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3" y="1828800"/>
            <a:ext cx="3575303" cy="1380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Install ke device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Smoke test langsung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Verify signer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71231" y="3621024"/>
            <a:ext cx="4050791" cy="2615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71231" y="3621024"/>
            <a:ext cx="73152" cy="2615184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27263" y="3822192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27263" y="3895344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822192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27263" y="4334256"/>
            <a:ext cx="3575303" cy="1746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Untuk store distribution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di-adb install langsung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Verify archive signature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Track processing separately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Smoke test release: risk-based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115568"/>
          <a:ext cx="1111910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246120"/>
                <a:gridCol w="3337560"/>
                <a:gridCol w="3118104"/>
              </a:tblGrid>
              <a:tr h="6286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Config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launch + API HTTPS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no debug-only dependency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device/log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Auth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login + 401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session correct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screen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Data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list/create/offline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policy correct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record + banner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Native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gallery/camera/denied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no crash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photo/device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Lifecycle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background/restart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state safe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steps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Security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inspect logs/repo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no secrets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review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Identity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version + cert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matches plan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fingerprint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Release notes, rollback, dan known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70432"/>
            <a:ext cx="3456432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70432"/>
            <a:ext cx="73152" cy="461772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71600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Release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83664"/>
            <a:ext cx="2980944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Version + commit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Perubahan user-visible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Environment/API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Migration/permission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Known limitations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70432"/>
            <a:ext cx="3456432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70432"/>
            <a:ext cx="73152" cy="461772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71600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Rollback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883664"/>
            <a:ext cx="2980944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Previous artifact/version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Data compatibility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Owner + trigger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Store/internal path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Communication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70432"/>
            <a:ext cx="3456432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70432"/>
            <a:ext cx="73152" cy="461772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71600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Batas wajib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883664"/>
            <a:ext cx="2980944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Cache read-only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Foto lokal sementara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Camera physical device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Hosted API dependency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production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989320"/>
            <a:ext cx="996696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Known limit yang jelas lebih profesional daripada janji yang tidak diuji.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Definition of Done — 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115568"/>
          <a:ext cx="11119103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5349240"/>
                <a:gridCol w="3895344"/>
              </a:tblGrid>
              <a:tr h="62636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Area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Wajib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Bukti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6263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Native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foto benar + lifecycle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device matrix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Tests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unit/state/widget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green output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263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API client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schema/status mapping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test evidence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Performance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1 experiment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before/after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263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Release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signed APK/AAB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cert + paths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Smoke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core flows release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pass/fail record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263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Handover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notes + blocker + tag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day-3 package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Demo akhir: satu cerita, bukan daftar fitur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325880"/>
            <a:ext cx="1734312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2704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Login</a:t>
            </a:r>
          </a:p>
        </p:txBody>
      </p:sp>
      <p:sp>
        <p:nvSpPr>
          <p:cNvPr id="11" name="Chevron 10"/>
          <p:cNvSpPr/>
          <p:nvPr/>
        </p:nvSpPr>
        <p:spPr>
          <a:xfrm>
            <a:off x="2237232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16712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wrong + right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4392" y="1325880"/>
            <a:ext cx="1734312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47544" y="152704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List</a:t>
            </a:r>
          </a:p>
        </p:txBody>
      </p:sp>
      <p:sp>
        <p:nvSpPr>
          <p:cNvPr id="15" name="Chevron 14"/>
          <p:cNvSpPr/>
          <p:nvPr/>
        </p:nvSpPr>
        <p:spPr>
          <a:xfrm>
            <a:off x="413613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4392" y="216712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fresh + retry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3296" y="1325880"/>
            <a:ext cx="1734312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6448" y="152704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Create</a:t>
            </a:r>
          </a:p>
        </p:txBody>
      </p:sp>
      <p:sp>
        <p:nvSpPr>
          <p:cNvPr id="19" name="Chevron 18"/>
          <p:cNvSpPr/>
          <p:nvPr/>
        </p:nvSpPr>
        <p:spPr>
          <a:xfrm>
            <a:off x="6035040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3296" y="216712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invalid + valid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325880"/>
            <a:ext cx="1734312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152704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Offline</a:t>
            </a:r>
          </a:p>
        </p:txBody>
      </p:sp>
      <p:sp>
        <p:nvSpPr>
          <p:cNvPr id="23" name="Chevron 22"/>
          <p:cNvSpPr/>
          <p:nvPr/>
        </p:nvSpPr>
        <p:spPr>
          <a:xfrm>
            <a:off x="793394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16712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cache banner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1104" y="1325880"/>
            <a:ext cx="1734312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4256" y="152704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Photo</a:t>
            </a:r>
          </a:p>
        </p:txBody>
      </p:sp>
      <p:sp>
        <p:nvSpPr>
          <p:cNvPr id="27" name="Chevron 26"/>
          <p:cNvSpPr/>
          <p:nvPr/>
        </p:nvSpPr>
        <p:spPr>
          <a:xfrm>
            <a:off x="9832848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71104" y="216712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select + cancel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70008" y="1325880"/>
            <a:ext cx="1734312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3160" y="1527048"/>
            <a:ext cx="15880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Release 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70008" y="2167128"/>
            <a:ext cx="173431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version + signer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401568"/>
            <a:ext cx="5340096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3401568"/>
            <a:ext cx="73152" cy="230428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2960" y="360273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67588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5024" y="3602736"/>
            <a:ext cx="44256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Presenter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114800"/>
            <a:ext cx="4864608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Sebut expected result sebelum aksi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Tunjukkan evidence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Jelaskan known limit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6208" y="340156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36208" y="3401568"/>
            <a:ext cx="73152" cy="230428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92240" y="3602736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367588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04304" y="360273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Reviewer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11480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Catat mismatch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Minta repro steps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Pisahkan blocker eksternal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Handover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33856"/>
            <a:ext cx="3456432" cy="4681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33856"/>
            <a:ext cx="73152" cy="468172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35024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08176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35024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47088"/>
            <a:ext cx="2980944" cy="3813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day-3 tag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pubspec.lock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README run/test/build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secret/build cache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33856"/>
            <a:ext cx="3456432" cy="4681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33856"/>
            <a:ext cx="73152" cy="4681728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35024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08176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35024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847088"/>
            <a:ext cx="2980944" cy="3813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 output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DevTools trace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APK/AAB path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signer fingerprint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smoke result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33856"/>
            <a:ext cx="3456432" cy="4681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33856"/>
            <a:ext cx="73152" cy="468172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35024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08176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35024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Operational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847088"/>
            <a:ext cx="2980944" cy="3813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 URL/version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release notes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known limits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blocker + PIC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next action/date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035040"/>
            <a:ext cx="10515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5AA7"/>
                </a:solidFill>
                <a:latin typeface="Aptos"/>
              </a:rPr>
              <a:t>Handover selesai ketika orang lain dapat menjalankan, menilai, dan melanjutkan.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Checkpoint Git — release candidate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15568"/>
            <a:ext cx="384048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16C6E7"/>
                </a:solidFill>
                <a:latin typeface="Aptos Display"/>
              </a:rPr>
              <a:t>day-3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56816"/>
            <a:ext cx="56692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Quality is evidence, not confidence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15184"/>
            <a:ext cx="5577840" cy="2944368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0392" y="2761488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825496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FINAL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236976"/>
            <a:ext cx="5175504" cy="2194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40" b="0">
                <a:solidFill>
                  <a:srgbClr val="D9ECF5"/>
                </a:solidFill>
                <a:latin typeface="Cascadia Mono"/>
              </a:rPr>
              <a:t>dart format --output=none --set-exit-if-changed lib test
flutter analyze
flutter test
git add .
git commit -m "Complete day-3 release checkpoint"
git tag day-3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1968" y="1115568"/>
            <a:ext cx="4919472" cy="4443984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01968" y="1115568"/>
            <a:ext cx="73152" cy="4443984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131673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38988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0064" y="1316736"/>
            <a:ext cx="40050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Sebelum push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828800"/>
            <a:ext cx="4443984" cy="3575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No token/password/key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No build/ or .dart_tool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PPTX dapat dibuka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README menunjuk hosted API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Known blocker tercatat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25328" y="6291072"/>
            <a:ext cx="868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Referensi dan roadmap lanjutan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15568"/>
            <a:ext cx="5358384" cy="5047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15568"/>
            <a:ext cx="73152" cy="504748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1673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8988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16736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Rujukan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28800"/>
            <a:ext cx="4882896" cy="4178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docs.flutter.dev/testing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docs.flutter.dev/tools/devtools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pub.dev/packages/image_picker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docs.flutter.dev/deployment/android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developer.android.com app signing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Modul + PRD Hari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15568"/>
            <a:ext cx="5394960" cy="5047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15568"/>
            <a:ext cx="73152" cy="504748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16736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38988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16736"/>
            <a:ext cx="44805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Roadmap setelah kelas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28800"/>
            <a:ext cx="4919472" cy="4178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Upload attachment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Offline write queue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Integration test automation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Contract test CI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Flavor + secrets management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Play Internal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
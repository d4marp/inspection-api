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08.30–08.35. ALOKASI: 5 menit.</a:t>
            </a:r>
          </a:p>
          <a:p/>
          <a:p>
            <a:r>
              <a:t>TUJUAN: Menyepakati target Hari 2.</a:t>
            </a:r>
          </a:p>
          <a:p/>
          <a:p>
            <a:r>
              <a:t>ARAHAN TRAINER: Tunjukkan tiga tab dan banner simulasi JSONPlaceholder.</a:t>
            </a:r>
          </a:p>
          <a:p/>
          <a:p>
            <a:r>
              <a:t>PERTANYAAN DISKUSI: Apa beda response sukses dan persistence?</a:t>
            </a:r>
          </a:p>
          <a:p/>
          <a:p>
            <a:r>
              <a:t>RUJUKAN: Project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08.35–08.45. ALOKASI: 10 menit.</a:t>
            </a:r>
          </a:p>
          <a:p/>
          <a:p>
            <a:r>
              <a:t>TUJUAN: Menentukan evidence.</a:t>
            </a:r>
          </a:p>
          <a:p/>
          <a:p>
            <a:r>
              <a:t>ARAHAN TRAINER: Minta peserta membedakan UI demo, network evidence, dan secret hygiene.</a:t>
            </a:r>
          </a:p>
          <a:p/>
          <a:p>
            <a:r>
              <a:t>PERTANYAAN DISKUSI: Mana yang perlu device test?</a:t>
            </a:r>
          </a:p>
          <a:p/>
          <a:p>
            <a:r>
              <a:t>RUJUKAN: PRD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08.45–08.50. ALOKASI: 5 menit.</a:t>
            </a:r>
          </a:p>
          <a:p/>
          <a:p>
            <a:r>
              <a:t>TUJUAN: Menjelaskan alokasi 6,5 jam.</a:t>
            </a:r>
          </a:p>
          <a:p/>
          <a:p>
            <a:r>
              <a:t>ARAHAN TRAINER: Tandai empat lab dan waktu challenge.</a:t>
            </a:r>
          </a:p>
          <a:p/>
          <a:p>
            <a:r>
              <a:t>PERTANYAAN DISKUSI: Checkpoint mana tidak boleh dilewati?</a:t>
            </a:r>
          </a:p>
          <a:p/>
          <a:p>
            <a:r>
              <a:t>RUJUKAN: Rundown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08.50–09.00. ALOKASI: 10 menit.</a:t>
            </a:r>
          </a:p>
          <a:p/>
          <a:p>
            <a:r>
              <a:t>TUJUAN: Memastikan baseline Hari 1.</a:t>
            </a:r>
          </a:p>
          <a:p/>
          <a:p>
            <a:r>
              <a:t>ARAHAN TRAINER: Jalankan smoke list/detail/form lokal sebelum refactor.</a:t>
            </a:r>
          </a:p>
          <a:p/>
          <a:p>
            <a:r>
              <a:t>PERTANYAAN DISKUSI: Bagian mana harus tetap bekerja?</a:t>
            </a:r>
          </a:p>
          <a:p/>
          <a:p>
            <a:r>
              <a:t>RUJUKAN: Checkpoint day-1.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09.00–09.02. ALOKASI: 2 menit.</a:t>
            </a:r>
          </a:p>
          <a:p/>
          <a:p>
            <a:r>
              <a:t>TUJUAN: Membuka UI foundations.</a:t>
            </a:r>
          </a:p>
          <a:p/>
          <a:p>
            <a:r>
              <a:t>ARAHAN TRAINER: Gunakan source aktif, bukan widget terpisah yang tidak dipakai.</a:t>
            </a:r>
          </a:p>
          <a:p/>
          <a:p>
            <a:r>
              <a:t>PERTANYAAN DISKUSI: Siapa pemilik state form?</a:t>
            </a:r>
          </a:p>
          <a:p/>
          <a:p>
            <a:r>
              <a:t>RUJUKAN: Flutter widget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09.02–09.15. ALOKASI: 13 menit.</a:t>
            </a:r>
          </a:p>
          <a:p/>
          <a:p>
            <a:r>
              <a:t>TUJUAN: Memahami struktur halaman.</a:t>
            </a:r>
          </a:p>
          <a:p/>
          <a:p>
            <a:r>
              <a:t>ARAHAN TRAINER: Trace HomeScreen dari MaterialApp hingga FAB.</a:t>
            </a:r>
          </a:p>
          <a:p/>
          <a:p>
            <a:r>
              <a:t>PERTANYAAN DISKUSI: Kapan nested Scaffold masuk akal?</a:t>
            </a:r>
          </a:p>
          <a:p/>
          <a:p>
            <a:r>
              <a:t>RUJUKAN: HomeScreen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09.15–09.28. ALOKASI: 13 menit.</a:t>
            </a:r>
          </a:p>
          <a:p/>
          <a:p>
            <a:r>
              <a:t>TUJUAN: Mendesain AppBar yang jelas.</a:t>
            </a:r>
          </a:p>
          <a:p/>
          <a:p>
            <a:r>
              <a:t>ARAHAN TRAINER: Bandingkan action yang berubah sesuai tab aktif.</a:t>
            </a:r>
          </a:p>
          <a:p/>
          <a:p>
            <a:r>
              <a:t>PERTANYAAN DISKUSI: Mengapa refresh tidak muncul di AI Setup?</a:t>
            </a:r>
          </a:p>
          <a:p/>
          <a:p>
            <a:r>
              <a:t>RUJUKAN: Material AppBar.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09.28–09.43. ALOKASI: 15 menit.</a:t>
            </a:r>
          </a:p>
          <a:p/>
          <a:p>
            <a:r>
              <a:t>TUJUAN: Mencegah overflow.</a:t>
            </a:r>
          </a:p>
          <a:p/>
          <a:p>
            <a:r>
              <a:t>ARAHAN TRAINER: Gunakan tiga concept card dan kecilkan viewport.</a:t>
            </a:r>
          </a:p>
          <a:p/>
          <a:p>
            <a:r>
              <a:t>PERTANYAAN DISKUSI: Mengapa Row di dalam ListView masih bisa overflow?</a:t>
            </a:r>
          </a:p>
          <a:p/>
          <a:p>
            <a:r>
              <a:t>RUJUKAN: Flutter layout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09.43–10.00. ALOKASI: 17 menit.</a:t>
            </a:r>
          </a:p>
          <a:p/>
          <a:p>
            <a:r>
              <a:t>TUJUAN: Membuat form deterministik.</a:t>
            </a:r>
          </a:p>
          <a:p/>
          <a:p>
            <a:r>
              <a:t>ARAHAN TRAINER: Demo submit kosong, valid, dan double tap.</a:t>
            </a:r>
          </a:p>
          <a:p/>
          <a:p>
            <a:r>
              <a:t>PERTANYAAN DISKUSI: Mengapa client validation tidak menggantikan server?</a:t>
            </a:r>
          </a:p>
          <a:p/>
          <a:p>
            <a:r>
              <a:t>RUJUKAN: InspectionFormScreen.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10.15–11.15. ALOKASI: 60 menit.</a:t>
            </a:r>
          </a:p>
          <a:p/>
          <a:p>
            <a:r>
              <a:t>TUJUAN: Menyusun UI foundation.</a:t>
            </a:r>
          </a:p>
          <a:p/>
          <a:p>
            <a:r>
              <a:t>ARAHAN TRAINER: Pair work dengan review constraints pada menit 30.</a:t>
            </a:r>
          </a:p>
          <a:p/>
          <a:p>
            <a:r>
              <a:t>PERTANYAAN DISKUSI: Widget mana memiliki scroll?</a:t>
            </a:r>
          </a:p>
          <a:p/>
          <a:p>
            <a:r>
              <a:t>RUJUKAN: UiFoundationScreen.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11.15–11.17. ALOKASI: 2 menit.</a:t>
            </a:r>
          </a:p>
          <a:p/>
          <a:p>
            <a:r>
              <a:t>TUJUAN: Membuka sesi API.</a:t>
            </a:r>
          </a:p>
          <a:p/>
          <a:p>
            <a:r>
              <a:t>ARAHAN TRAINER: Buka endpoint /posts dan source JSONPlaceholder.</a:t>
            </a:r>
          </a:p>
          <a:p/>
          <a:p>
            <a:r>
              <a:t>PERTANYAAN DISKUSI: Apa beda simulated write dan persistence?</a:t>
            </a:r>
          </a:p>
          <a:p/>
          <a:p>
            <a:r>
              <a:t>RUJUKAN: jsonplaceholder.typicode.com.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11.17–11.30. ALOKASI: 13 menit.</a:t>
            </a:r>
          </a:p>
          <a:p/>
          <a:p>
            <a:r>
              <a:t>TUJUAN: Mengenali public API.</a:t>
            </a:r>
          </a:p>
          <a:p/>
          <a:p>
            <a:r>
              <a:t>ARAHAN TRAINER: Baca guide dan source MIT JSONPlaceholder.</a:t>
            </a:r>
          </a:p>
          <a:p/>
          <a:p>
            <a:r>
              <a:t>PERTANYAAN DISKUSI: Mengapa banner simulasi wajib?</a:t>
            </a:r>
          </a:p>
          <a:p/>
          <a:p>
            <a:r>
              <a:t>RUJUKAN: JSONPlaceholder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11.30–11.43. ALOKASI: 13 menit.</a:t>
            </a:r>
          </a:p>
          <a:p/>
          <a:p>
            <a:r>
              <a:t>TUJUAN: Memverifikasi API publik.</a:t>
            </a:r>
          </a:p>
          <a:p/>
          <a:p>
            <a:r>
              <a:t>ARAHAN TRAINER: Jalankan curl dan simpan status, bukan credential.</a:t>
            </a:r>
          </a:p>
          <a:p/>
          <a:p>
            <a:r>
              <a:t>PERTANYAAN DISKUSI: Apa fallback automated test?</a:t>
            </a:r>
          </a:p>
          <a:p/>
          <a:p>
            <a:r>
              <a:t>RUJUKAN: Per-file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11.43–11.55. ALOKASI: 12 menit.</a:t>
            </a:r>
          </a:p>
          <a:p/>
          <a:p>
            <a:r>
              <a:t>TUJUAN: Mengenalkan struktur CRUD modular.</a:t>
            </a:r>
          </a:p>
          <a:p/>
          <a:p>
            <a:r>
              <a:t>ARAHAN TRAINER: Buka empat file secara berurutan; jangan tampilkan seluruh project sekaligus.</a:t>
            </a:r>
          </a:p>
          <a:p/>
          <a:p>
            <a:r>
              <a:t>PERTANYAAN DISKUSI: Apa yang layak menjadi helper bersama?</a:t>
            </a:r>
          </a:p>
          <a:p/>
          <a:p>
            <a:r>
              <a:t>RUJUKAN: data/crud + per-file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11.55–12.08. ALOKASI: 13 menit.</a:t>
            </a:r>
          </a:p>
          <a:p/>
          <a:p>
            <a:r>
              <a:t>TUJUAN: Membedah operasi Read.</a:t>
            </a:r>
          </a:p>
          <a:p/>
          <a:p>
            <a:r>
              <a:t>ARAHAN TRAINER: Buka hanya read_inspections.dart, lalu jalankan test GET.</a:t>
            </a:r>
          </a:p>
          <a:p/>
          <a:p>
            <a:r>
              <a:t>PERTANYAAN DISKUSI: Failure mana boleh memakai cache?</a:t>
            </a:r>
          </a:p>
          <a:p/>
          <a:p>
            <a:r>
              <a:t>RUJUKAN: data/crud/read_inspections.dart.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13.00–13.13. ALOKASI: 13 menit.</a:t>
            </a:r>
          </a:p>
          <a:p/>
          <a:p>
            <a:r>
              <a:t>TUJUAN: Membedah operasi Create.</a:t>
            </a:r>
          </a:p>
          <a:p/>
          <a:p>
            <a:r>
              <a:t>ARAHAN TRAINER: Buka create_inspection.dart, inspect payload, lalu refresh untuk membuktikan simulasi.</a:t>
            </a:r>
          </a:p>
          <a:p/>
          <a:p>
            <a:r>
              <a:t>PERTANYAAN DISKUSI: Apa evidence persistence nyata?</a:t>
            </a:r>
          </a:p>
          <a:p/>
          <a:p>
            <a:r>
              <a:t>RUJUKAN: data/crud/create_inspection.dart.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13.13–13.26. ALOKASI: 13 menit.</a:t>
            </a:r>
          </a:p>
          <a:p/>
          <a:p>
            <a:r>
              <a:t>TUJUAN: Membedah operasi Update.</a:t>
            </a:r>
          </a:p>
          <a:p/>
          <a:p>
            <a:r>
              <a:t>ARAHAN TRAINER: Buka update_inspection.dart dan cocokkan ID path dengan payload.</a:t>
            </a:r>
          </a:p>
          <a:p/>
          <a:p>
            <a:r>
              <a:t>PERTANYAAN DISKUSI: Mengapa response server mengganti model lokal?</a:t>
            </a:r>
          </a:p>
          <a:p/>
          <a:p>
            <a:r>
              <a:t>RUJUKAN: data/crud/update_inspection.dart.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13.26–13.39. ALOKASI: 13 menit.</a:t>
            </a:r>
          </a:p>
          <a:p/>
          <a:p>
            <a:r>
              <a:t>TUJUAN: Membedah operasi Delete.</a:t>
            </a:r>
          </a:p>
          <a:p/>
          <a:p>
            <a:r>
              <a:t>ARAHAN TRAINER: Buka delete_inspection.dart; confirmation tetap concern UI.</a:t>
            </a:r>
          </a:p>
          <a:p/>
          <a:p>
            <a:r>
              <a:t>PERTANYAAN DISKUSI: Kapan optimistic delete layak?</a:t>
            </a:r>
          </a:p>
          <a:p/>
          <a:p>
            <a:r>
              <a:t>RUJUKAN: data/crud/delete_inspection.dart.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13.39–13.52. ALOKASI: 13 menit.</a:t>
            </a:r>
          </a:p>
          <a:p/>
          <a:p>
            <a:r>
              <a:t>TUJUAN: Menjelaskan facade.</a:t>
            </a:r>
          </a:p>
          <a:p/>
          <a:p>
            <a:r>
              <a:t>ARAHAN TRAINER: Bandingkan pemanggilan repository dengan isi empat operation file.</a:t>
            </a:r>
          </a:p>
          <a:p/>
          <a:p>
            <a:r>
              <a:t>PERTANYAAN DISKUSI: Mengapa facade tidak menjadi god object?</a:t>
            </a:r>
          </a:p>
          <a:p/>
          <a:p>
            <a:r>
              <a:t>RUJUKAN: api_client.dart + data/crud.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13.52–14.05. ALOKASI: 13 menit.</a:t>
            </a:r>
          </a:p>
          <a:p/>
          <a:p>
            <a:r>
              <a:t>TUJUAN: Membedakan public API dan secret.</a:t>
            </a:r>
          </a:p>
          <a:p/>
          <a:p>
            <a:r>
              <a:t>ARAHAN TRAINER: Pastikan tidak ada fake login atau key di app.</a:t>
            </a:r>
          </a:p>
          <a:p/>
          <a:p>
            <a:r>
              <a:t>PERTANYAAN DISKUSI: Mengapa APK tidak dapat menyimpan secret?</a:t>
            </a:r>
          </a:p>
          <a:p/>
          <a:p>
            <a:r>
              <a:t>RUJUKAN: Security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14.05–14.18. ALOKASI: 13 menit.</a:t>
            </a:r>
          </a:p>
          <a:p/>
          <a:p>
            <a:r>
              <a:t>TUJUAN: Memetakan UI state ke operasi.</a:t>
            </a:r>
          </a:p>
          <a:p/>
          <a:p>
            <a:r>
              <a:t>ARAHAN TRAINER: Fake 500, timeout, dan invalid JSON melalui MockClient.</a:t>
            </a:r>
          </a:p>
          <a:p/>
          <a:p>
            <a:r>
              <a:t>PERTANYAAN DISKUSI: Apa yang terjadi pada write setelah refresh?</a:t>
            </a:r>
          </a:p>
          <a:p/>
          <a:p>
            <a:r>
              <a:t>RUJUKAN: InspectionController.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14.18–15.48. ALOKASI: 90 menit.</a:t>
            </a:r>
          </a:p>
          <a:p/>
          <a:p>
            <a:r>
              <a:t>TUJUAN: Menyelesaikan CRUD simulasi.</a:t>
            </a:r>
          </a:p>
          <a:p/>
          <a:p>
            <a:r>
              <a:t>ARAHAN TRAINER: Checkpoint per file: mapper, client, repository, controller, UI.</a:t>
            </a:r>
          </a:p>
          <a:p/>
          <a:p>
            <a:r>
              <a:t>PERTANYAAN DISKUSI: Di mana persistence berhenti?</a:t>
            </a:r>
          </a:p>
          <a:p/>
          <a:p>
            <a:r>
              <a:t>RUJUKAN: JSONPLACEHOLDER_PER_FILE.md.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2 menit.</a:t>
            </a:r>
          </a:p>
          <a:p/>
          <a:p>
            <a:r>
              <a:t>TUJUAN: Membuka sesi picker.</a:t>
            </a:r>
          </a:p>
          <a:p/>
          <a:p>
            <a:r>
              <a:t>ARAHAN TRAINER: Bedakan gambar dan file generik serta batas upload.</a:t>
            </a:r>
          </a:p>
          <a:p/>
          <a:p>
            <a:r>
              <a:t>PERTANYAAN DISKUSI: Apa yang pengguna kira terjadi setelah memilih file?</a:t>
            </a:r>
          </a:p>
          <a:p/>
          <a:p>
            <a:r>
              <a:t>RUJUKAN: image_picker/file_picker.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Memilih picker sesuai kebutuhan.</a:t>
            </a:r>
          </a:p>
          <a:p/>
          <a:p>
            <a:r>
              <a:t>ARAHAN TRAINER: Minta peserta mengklasifikasikan foto inspeksi dan PDF sertifikat.</a:t>
            </a:r>
          </a:p>
          <a:p/>
          <a:p>
            <a:r>
              <a:t>PERTANYAAN DISKUSI: Kapan satu form memerlukan keduanya?</a:t>
            </a:r>
          </a:p>
          <a:p/>
          <a:p>
            <a:r>
              <a:t>RUJUKAN: pubspec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13 menit.</a:t>
            </a:r>
          </a:p>
          <a:p/>
          <a:p>
            <a:r>
              <a:t>TUJUAN: Menggunakan image_picker.</a:t>
            </a:r>
          </a:p>
          <a:p/>
          <a:p>
            <a:r>
              <a:t>ARAHAN TRAINER: Demo gallery, cancel, dan clear.</a:t>
            </a:r>
          </a:p>
          <a:p/>
          <a:p>
            <a:r>
              <a:t>PERTANYAAN DISKUSI: Mengapa cancel tidak perlu snackbar merah?</a:t>
            </a:r>
          </a:p>
          <a:p/>
          <a:p>
            <a:r>
              <a:t>RUJUKAN: InspectionFormScreen.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13 menit.</a:t>
            </a:r>
          </a:p>
          <a:p/>
          <a:p>
            <a:r>
              <a:t>TUJUAN: Menggunakan file_picker terbaru.</a:t>
            </a:r>
          </a:p>
          <a:p/>
          <a:p>
            <a:r>
              <a:t>ARAHAN TRAINER: Tekankan perubahan API menjadi static pickFile dan lengthSync nullable.</a:t>
            </a:r>
          </a:p>
          <a:p/>
          <a:p>
            <a:r>
              <a:t>PERTANYAAN DISKUSI: Mengapa path tidak selalu tersedia?</a:t>
            </a:r>
          </a:p>
          <a:p/>
          <a:p>
            <a:r>
              <a:t>RUJUKAN: file_picker installed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Menjaga ekspektasi data.</a:t>
            </a:r>
          </a:p>
          <a:p/>
          <a:p>
            <a:r>
              <a:t>ARAHAN TRAINER: Minta peserta menulis label status lampiran.</a:t>
            </a:r>
          </a:p>
          <a:p/>
          <a:p>
            <a:r>
              <a:t>PERTANYAAN DISKUSI: Bukti apa yang menunjukkan upload berhasil?</a:t>
            </a:r>
          </a:p>
          <a:p/>
          <a:p>
            <a:r>
              <a:t>RUJUKAN: Picker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12 menit.</a:t>
            </a:r>
          </a:p>
          <a:p/>
          <a:p>
            <a:r>
              <a:t>TUJUAN: Menangani risiko plugin.</a:t>
            </a:r>
          </a:p>
          <a:p/>
          <a:p>
            <a:r>
              <a:t>ARAHAN TRAINER: Uji cancel dan pilih file besar secara terkontrol.</a:t>
            </a:r>
          </a:p>
          <a:p/>
          <a:p>
            <a:r>
              <a:t>PERTANYAAN DISKUSI: Apa yang masih perlu physical device?</a:t>
            </a:r>
          </a:p>
          <a:p/>
          <a:p>
            <a:r>
              <a:t>RUJUKAN: Plugin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Picker. ALOKASI: 60 menit.</a:t>
            </a:r>
          </a:p>
          <a:p/>
          <a:p>
            <a:r>
              <a:t>TUJUAN: Mengintegrasikan picker.</a:t>
            </a:r>
          </a:p>
          <a:p/>
          <a:p>
            <a:r>
              <a:t>ARAHAN TRAINER: Gunakan form create/update yang sama.</a:t>
            </a:r>
          </a:p>
          <a:p/>
          <a:p>
            <a:r>
              <a:t>PERTANYAAN DISKUSI: State apa yang bertahan setelah kembali dari picker?</a:t>
            </a:r>
          </a:p>
          <a:p/>
          <a:p>
            <a:r>
              <a:t>RUJUKAN: Form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2 menit.</a:t>
            </a:r>
          </a:p>
          <a:p/>
          <a:p>
            <a:r>
              <a:t>TUJUAN: Membuka sesi OpenCode.</a:t>
            </a:r>
          </a:p>
          <a:p/>
          <a:p>
            <a:r>
              <a:t>ARAHAN TRAINER: Tegaskan OpenCode adalah tool developer, bukan fitur Flutter.</a:t>
            </a:r>
          </a:p>
          <a:p/>
          <a:p>
            <a:r>
              <a:t>PERTANYAAN DISKUSI: Di mana API key seharusnya berada?</a:t>
            </a:r>
          </a:p>
          <a:p/>
          <a:p>
            <a:r>
              <a:t>RUJUKAN: OpenCode official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Memasang OpenCode reproducibly.</a:t>
            </a:r>
          </a:p>
          <a:p/>
          <a:p>
            <a:r>
              <a:t>ARAHAN TRAINER: Pilih satu installer yang disetujui organisasi.</a:t>
            </a:r>
          </a:p>
          <a:p/>
          <a:p>
            <a:r>
              <a:t>PERTANYAAN DISKUSI: Mengapa major version perlu dipin?</a:t>
            </a:r>
          </a:p>
          <a:p/>
          <a:p>
            <a:r>
              <a:t>RUJUKAN: opencode.ai/docs.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Menghubungkan provider.</a:t>
            </a:r>
          </a:p>
          <a:p/>
          <a:p>
            <a:r>
              <a:t>ARAHAN TRAINER: Peserta tidak menampilkan key pada projector.</a:t>
            </a:r>
          </a:p>
          <a:p/>
          <a:p>
            <a:r>
              <a:t>PERTANYAAN DISKUSI: Siapa owner key training?</a:t>
            </a:r>
          </a:p>
          <a:p/>
          <a:p>
            <a:r>
              <a:t>RUJUKAN: OpenCode providers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Menetapkan secret boundary.</a:t>
            </a:r>
          </a:p>
          <a:p/>
          <a:p>
            <a:r>
              <a:t>ARAHAN TRAINER: Minta peserta menemukan lokasi key yang salah dari contoh.</a:t>
            </a:r>
          </a:p>
          <a:p/>
          <a:p>
            <a:r>
              <a:t>PERTANYAAN DISKUSI: Apa yang dilakukan bila key ter-commit?</a:t>
            </a:r>
          </a:p>
          <a:p/>
          <a:p>
            <a:r>
              <a:t>RUJUKAN: AI setup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15 menit.</a:t>
            </a:r>
          </a:p>
          <a:p/>
          <a:p>
            <a:r>
              <a:t>TUJUAN: Memakai agent secara bertahap.</a:t>
            </a:r>
          </a:p>
          <a:p/>
          <a:p>
            <a:r>
              <a:t>ARAHAN TRAINER: Mulai prompt read-only lalu lihat git diff.</a:t>
            </a:r>
          </a:p>
          <a:p/>
          <a:p>
            <a:r>
              <a:t>PERTANYAAN DISKUSI: Mengapa summary diperiksa sebelum patch?</a:t>
            </a:r>
          </a:p>
          <a:p/>
          <a:p>
            <a:r>
              <a:t>RUJUKAN: OpenCode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13 menit.</a:t>
            </a:r>
          </a:p>
          <a:p/>
          <a:p>
            <a:r>
              <a:t>TUJUAN: Menulis prompt berkualitas.</a:t>
            </a:r>
          </a:p>
          <a:p/>
          <a:p>
            <a:r>
              <a:t>ARAHAN TRAINER: Minta agent menambahkan test untuk satu CRUD failure.</a:t>
            </a:r>
          </a:p>
          <a:p/>
          <a:p>
            <a:r>
              <a:t>PERTANYAAN DISKUSI: Constraint mana mencegah scope creep?</a:t>
            </a:r>
          </a:p>
          <a:p/>
          <a:p>
            <a:r>
              <a:t>RUJUKAN: Prompt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AI. ALOKASI: 45 menit.</a:t>
            </a:r>
          </a:p>
          <a:p/>
          <a:p>
            <a:r>
              <a:t>TUJUAN: Mengaktifkan AI workflow aman.</a:t>
            </a:r>
          </a:p>
          <a:p/>
          <a:p>
            <a:r>
              <a:t>ARAHAN TRAINER: Trainer memeriksa AGENTS.md, secret hygiene, dan git diff.</a:t>
            </a:r>
          </a:p>
          <a:p/>
          <a:p>
            <a:r>
              <a:t>PERTANYAAN DISKUSI: Apakah agent mengarang endpoint?</a:t>
            </a:r>
          </a:p>
          <a:p/>
          <a:p>
            <a:r>
              <a:t>RUJUKAN: OPENCODE_AI_SETUP.md.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Gate. ALOKASI: 15 menit.</a:t>
            </a:r>
          </a:p>
          <a:p/>
          <a:p>
            <a:r>
              <a:t>TUJUAN: Menjalankan gate lintas layer.</a:t>
            </a:r>
          </a:p>
          <a:p/>
          <a:p>
            <a:r>
              <a:t>ARAHAN TRAINER: Bedakan automated dan manual evidence.</a:t>
            </a:r>
          </a:p>
          <a:p/>
          <a:p>
            <a:r>
              <a:t>PERTANYAAN DISKUSI: Apa yang belum dibuktikan test?</a:t>
            </a:r>
          </a:p>
          <a:p/>
          <a:p>
            <a:r>
              <a:t>RUJUKAN: Project READMEs.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Demo. ALOKASI: 30 menit.</a:t>
            </a:r>
          </a:p>
          <a:p/>
          <a:p>
            <a:r>
              <a:t>TUJUAN: Menilai hasil Hari 2.</a:t>
            </a:r>
          </a:p>
          <a:p/>
          <a:p>
            <a:r>
              <a:t>ARAHAN TRAINER: Naik challenge hanya setelah Core lulus.</a:t>
            </a:r>
          </a:p>
          <a:p/>
          <a:p>
            <a:r>
              <a:t>PERTANYAAN DISKUSI: Bagian mana belum punya evidence?</a:t>
            </a:r>
          </a:p>
          <a:p/>
          <a:p>
            <a:r>
              <a:t>RUJUKAN: Day2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Closing. ALOKASI: 5 menit.</a:t>
            </a:r>
          </a:p>
          <a:p/>
          <a:p>
            <a:r>
              <a:t>TUJUAN: Menutup dengan checkpoint.</a:t>
            </a:r>
          </a:p>
          <a:p/>
          <a:p>
            <a:r>
              <a:t>ARAHAN TRAINER: Minta peserta menyebut satu contract dan satu secret boundary.</a:t>
            </a:r>
          </a:p>
          <a:p/>
          <a:p>
            <a:r>
              <a:t>PERTANYAAN DISKUSI: Apa fondasi yang dipakai untuk migrasi Hari 3?</a:t>
            </a:r>
          </a:p>
          <a:p/>
          <a:p>
            <a:r>
              <a:t>RUJUKAN: Flutter/OpenCode official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138928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22376"/>
            <a:ext cx="2084831" cy="73490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67512"/>
            <a:ext cx="37161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1848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BE7F6"/>
                </a:solidFill>
                <a:latin typeface="Aptos"/>
              </a:rPr>
              <a:t>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623560" cy="129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Flutter UI, CRUD &amp; AI
Developer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53492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7E9"/>
                </a:solidFill>
                <a:latin typeface="Aptos"/>
              </a:rPr>
              <a:t>Scaffold sampai Form, CRUD end-to-end, image/file picker, dan setup OpenCode yang aman.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7944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7944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CRUD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PICKER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97096" y="4251960"/>
            <a:ext cx="1261872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97096" y="4315968"/>
            <a:ext cx="126187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OPENCODE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358384" cy="96926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TRAINER &amp; PENULIS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40"/>
            <a:ext cx="4480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63459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Outcome yang harus dapat didemokan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2157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UI foundations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Scaffold/AppBar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Row/Column/Form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73152" cy="2157984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4416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Public CRUD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GET/POST/PUT/DELETE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Mapper + tests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73152" cy="21579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Picker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Image preview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 metadata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749039"/>
            <a:ext cx="73152" cy="215798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50207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AI 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OpenCode connected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 in Flutter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Roadmap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7315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82"/>
                </a:solidFill>
                <a:latin typeface="Aptos"/>
              </a:rPr>
              <a:t>Satu alur: contract → implementation →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1024128" cy="62179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08.30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536192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700784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UI composition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1536192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673352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Scaffold, AppBar, Row, Column, Form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157984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2414016"/>
            <a:ext cx="1024128" cy="62179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10.15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2414016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578608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Public CRUD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2414016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551176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JSONPlaceholder, mapper, GET/POST/PUT/DELETE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3035808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291840"/>
            <a:ext cx="1024128" cy="62179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13.00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088" y="3291840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56432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Image &amp; file picker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3291840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29000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Preview, metadata, lifecycle, scope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70432" y="3913632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169664"/>
            <a:ext cx="1024128" cy="62179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352544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14.45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169664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334256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OpenCode &amp; API 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4169664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4306824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Install, connect, model, secret boundary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0432" y="4791456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047488"/>
            <a:ext cx="1024128" cy="62179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30368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16.00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5047488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212080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Challenge &amp; gate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33872" y="5047488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5184648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Tests, demo rubric, handover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Input Hari 1 → target Hari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Sudah 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 Dart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List/detail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Local form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Ditambahkan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Layered API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Full CRUD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 picker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AI developer tool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Tetap dijaga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Reproducible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Hari 2 menghubungkan UI ke contract nyata tanpa mencampur secret atau infrastructure ke widget.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Flutter UI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Pahami ownership layout dan form sebelum menghubungkannya ke network atau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Bangun page shell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Atur constraints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Validasi 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Scaffold adalah shell satu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MaterialApp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theme +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Scaffold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page ownership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AppBar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title/actions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Body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main content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FAB / NavBar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primary/nav intent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Scaffold mengelola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App 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Body/safe area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Snackbar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FAB/bottom navigation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Jangan lakukan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Scaffold bertumpuk tanpa alasan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Request dari build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Global BuildContext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Business rule di widget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AppBar: konteks dan aksi yang konsisten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Judul screen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Subtitle modul/hari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 navigation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Public demo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Refresh hanya di CRUD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login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Tooltip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Disabled saat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AppBar tidak menjadi tempat menaruh semua action aplikasi.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Row dan Column bekerja di dalam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98448"/>
          <a:ext cx="10881359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57400"/>
                <a:gridCol w="3154680"/>
                <a:gridCol w="3749039"/>
              </a:tblGrid>
              <a:tr h="8503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Widget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Main axis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Risiko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Countermeasure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Row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horizontal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overflow teks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Expanded/Flexible/Wrap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Column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vertical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tinggi tak terbatas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scroll/Expanded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vertical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nested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satu owner scroll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Wrap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flow baris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urutan visual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spacing/runSpacing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Layout Flutter adalah negosiasi constraints: parent memberi batas, child memilih ukuran.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Form mengumpulkan, memvalidasi, lalu mengirim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053328" cy="502920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650992" cy="42793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final formKey = GlobalKey&lt;FormState&gt;();
Form(
  key: formKey,
  child: Column(children: [
    TextFormField(
      controller: assetController,
      validator: validateAsset,
    ),
    FilledButton(
      onPressed: submitting ? null : save,
      child: const Text('Create'),
    ),
  ]),
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VALIDATE BEFORE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1143000"/>
            <a:ext cx="474573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7628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4384" y="1344168"/>
            <a:ext cx="383133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Ownership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856232"/>
            <a:ext cx="427024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dibuat/dispose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 key lokal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guard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76288" y="3611880"/>
            <a:ext cx="4745736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76288" y="3611880"/>
            <a:ext cx="73152" cy="25603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3813048"/>
            <a:ext cx="383133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325112"/>
            <a:ext cx="4270248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Client untuk UX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Server tetap authoritative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Field error dipetakan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 dipertahankan saat gagal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1 — compose UI yang responsive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Scaffold + AppBar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Row untuk tiga summary card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Column di dalam Card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Form + validator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Uji viewport sempit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controller di-dispose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overflow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form terlihat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valid mengubah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Ubah Row menjadi Wrap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keyboard-safe scroll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JSONPlaceholder public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Gunakan API publik open-source dan pisahkan schema eksternal melalui mapper yang dapat diuji.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Verifikasi endpoint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Buat mapper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Jelaskan simulasi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JSONPlaceholder: publik, open-source, tanpa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public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account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API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/posts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GET/POST/PUT/DELETE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Known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Write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persistence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on refresh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Response sukses cukup untuk latihan state—tetapi bukan bukti data tersimpan.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Verifikasi public API sebelum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BASE=https://jsonplaceholder.typicode.com
curl "$BASE/posts?_limit=2"
curl -X POST "$BASE/posts" \
  -H 'Content-Type: application/json' \
  -d '{"title":"PMP-900",
       "body":"Simulasi",
       "userId":1}'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201 + id 101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reachable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Default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local server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API key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Internet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Empat operasi, empat file yang bisa dibedah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06984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06984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SOURCE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9ECF5"/>
                </a:solidFill>
                <a:latin typeface="Cascadia Mono"/>
              </a:rPr>
              <a:t>lib/src/data/crud/
├── read_inspections.dart
├── create_inspection.dart
├── update_inspection.dart
└── delete_inspection.dart
api_client.dart  // facade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INTENT • ONE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Urutan bedah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  Read + mapper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  Create + payload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3  Update + stable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  Delete + confirmation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Shared helper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ApiException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JsonResponseDecoder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10-second timeout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MockClient seam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01 • ReadInspections — GET dan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6537960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170992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170992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READ_INSPECTIONS.DART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6135624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D9ECF5"/>
                </a:solidFill>
                <a:latin typeface="Cascadia Mono"/>
              </a:rPr>
              <a:t>Future&lt;List&lt;Inspection&gt;&gt; call() async {
  final response = await client.get(
    Uri.parse(
      '$baseUrl/posts?_limit=20',
    ),
  );
  final posts = JsonResponseDecoder.list(
    response, expectedStatus: 200,
  );
  return posts
      .map(JsonPlaceholderMapper.fromPost)
      .toList();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GET → LIST → DOMAIN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Bedah 3 titik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URL + query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Expected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→ Inspection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Timeout di boundary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Invalid JSON typed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boleh fallback cache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02 • CreateInspection — POST dan 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78992"/>
            <a:ext cx="6537960" cy="512064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25296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89304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CREATE_INSPECTION.DART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00784"/>
            <a:ext cx="6135624" cy="437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D9ECF5"/>
                </a:solidFill>
                <a:latin typeface="Cascadia Mono"/>
              </a:rPr>
              <a:t>Future&lt;Inspection&gt; call(fields) async {
  final response = await client.post(
    Uri.parse('$baseUrl/posts'),
    headers: const {
      'Content-Type': 'application/json',
    },
    body: jsonEncode(
      JsonPlaceholderMapper.toPost(fields),
    ),
  );
  final post = JsonResponseDecoder.object(
    response, expectedStatus: 201,
  );
  return JsonPlaceholderMapper.fromPost(post);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34440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POST → 201 • SIMULATED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Before request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 valid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double submit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 contract exact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After 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response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Insert local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Show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removes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03 • UpdateInspection — PUT dengan stable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24128"/>
            <a:ext cx="6537960" cy="5175504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170432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34440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UPDATE_INSPECTION.DART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645920"/>
            <a:ext cx="6135624" cy="44256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90" b="0">
                <a:solidFill>
                  <a:srgbClr val="D9ECF5"/>
                </a:solidFill>
                <a:latin typeface="Cascadia Mono"/>
              </a:rPr>
              <a:t>Future&lt;Inspection&gt; call(
  String id, Map&lt;String, dynamic&gt; fields,
) async {
  final response = await client.put(
    Uri.parse('$baseUrl/posts/$id'),
    headers: const {
      'Content-Type': 'application/json',
    },
    body: jsonEncode(
      JsonPlaceholderMapper.toPost(fields, id: id),
    ),
  );
  final post = JsonResponseDecoder.object(
    response, expectedStatus: 200,
  );
  return JsonPlaceholderMapper.fromPost(post);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179576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PATH ID = PAYLOAD 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Before 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Prefill form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Validate full body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Keep stable 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After 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server result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Replace same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Preserve list order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04 • DeleteInspection — DELETE tanpa model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53796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DELETE_INSPECTION.DART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13562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D9ECF5"/>
                </a:solidFill>
                <a:latin typeface="Cascadia Mono"/>
              </a:rPr>
              <a:t>Future&lt;void&gt; call(String id) async {
  final response = await client.delete(
    Uri.parse('$baseUrl/posts/$id'),
  );
  JsonResponseDecoder.empty(
    response,
    expectedStatuses: const {200, 204},
  );
}
// Controller removes the local item
// only after this Future succeeds.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DELETE → 200 / 204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Protect user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 target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default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Disable while request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Handle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200 accepted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Remove local item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Banner remains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restores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FACADE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ApiClient menjaga pemanggilan tetap sederhana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32588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32588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API_CLIENT.DART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ECF5"/>
                </a:solidFill>
                <a:latin typeface="Cascadia Mono"/>
              </a:rPr>
              <a:t>Future&lt;List&lt;Inspection&gt;&gt; fetchInspections()
  =&gt; read();
Future&lt;Inspection&gt; createInspection(fields)
  =&gt; create(fields);
Future&lt;Inspection&gt; updateInspection(id, fields)
  =&gt; update(id, fields);
Future&lt;void&gt; deleteInspection(id)
  =&gt; delete(id);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FACADE → 4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Aplikasi memanggil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→ facade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intent jelas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tidak tahu HTTP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Trainer dapat membuka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operation file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MockClient test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failure scenario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Public API bukan tempat menaruh API key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JSONPlaceholder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Public demo 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AI provider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Milik tool/backend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pernah di Flutter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Quota + rotation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Redact dari log/prompt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Endpoint publik dan provider credential mempunyai threat model yang berbeda.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CRUD perlu state dan failure yang eksplisit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loading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data/empty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error/retry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confirm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deleting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200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local removal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Satu bool global tidak cukup menjelaskan semua operasi bersamaan.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2 — CRUD simulasi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Curl public /posts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 + mapper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simulated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PUT record terpilih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DELETE + confirmation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Reset membuktikan no persistence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Empat method berhasil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Banner terlihat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MockClient tests hijau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badge SIMULATED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/todos tanpa ubah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90 MENIT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Image &amp; file picker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Plugin mengakses capability platform; UI harus menjelaskan apakah file hanya preview atau benar-benar di-upload.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Pilih plugin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Kelola lifecycle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Jaga scope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picker atau file picker?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298448"/>
          <a:ext cx="108813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880360"/>
                <a:gridCol w="4343400"/>
              </a:tblGrid>
              <a:tr h="8503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Kebutuhan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Gunakan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 latihan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Galeri/camera image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image_picker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XFile + preview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PDF/dokumen/file umum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file_picker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PlatformFile + metadata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Upload server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 multipart/storage SDK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out of scope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Persist local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app documents directory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out of scope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Pilih plugin berdasarkan capability dan contract—bukan popularitas package.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Image picker: cancel bukan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144768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742432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final selected = await ImagePicker().pickImage(
  source: ImageSource.gallery,
  maxWidth: 1600,
  imageQuality: 82,
);
if (!mounted || selected == null) return;
setState(() {
  image = selected;
  file = null;
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XFILE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iOS usage description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Android plugin setup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Physical device for camera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keeps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Preview bounded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Clear action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is actionable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File picker: API versi terbaru dan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144768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742432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final selected = await FilePicker.pickFile();
if (!mounted || selected == null) return;
setState(() {
  file = selected;
  image = null;
});
final name = selected.name;
final bytes = selected.lengthSync();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9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FILE_PICKER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1143000"/>
            <a:ext cx="4654296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67728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35824" y="134416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Perhatikan versi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56232"/>
            <a:ext cx="4178808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Baca installed package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dapat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Lockfile disimpan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11880"/>
            <a:ext cx="4654296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67728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23760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813048"/>
            <a:ext cx="3739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Metadata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325112"/>
            <a:ext cx="4178808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URI/path mungkin null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Size mungkin unknown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Jangan baca file besar sekaligus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Selected ≠ persisted ≠ uploaded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Selected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lokal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Preview/name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Dapat hilang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Belum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Persisted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Copy storage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Metadata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Cleanup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Privacy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Uploaded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Multipart/presigned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Progress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Retry/idempotency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UI Hari 2 secara eksplisit menyatakan lampiran belum di-upload.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Picker failure, privacy, dan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mounted check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single active pick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safe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dispose 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Privacy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minimum access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production photo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logging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clear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Resize image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bounded preview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stream large file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bytes in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Plugin success di simulator belum membuktikan permission dan device behavior.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3 — image &amp; file picker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Pasang dua package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iOS usage description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image + preview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file + metadata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 dan clear aman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Label 'belum di-upload' terlihat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crash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ada file bytes di API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Analyzer/test hijau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Batasi extension/size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adapter picker yang dapat di-fake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OpenCode &amp; API key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AI coding agent membantu membaca dan mengubah repository; secret dan keputusan engineering tetap dikendalikan manusia.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Install &amp; connect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Protect API key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Review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INSTALL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Install OpenCode—pin jalur major untuk kelas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# OpenCode 1 stable
curl -fsSL https://opencode.ai/install | bash
# atau macOS/Linux Homebrew
brew install anomalyco/tap/opencode
# atau Node.js
npm install -g opencode-ai
# verify
opencode --version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CHECK OFFICIAL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Sebelum kelas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major version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Dry-run installer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version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WSL recommended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Work in project folder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Verify terminal access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admin improvisation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Hubungkan provider, model, lalu init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opencode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project root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/connect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enter key privately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/models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approved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/init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review AGENTS.md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Read-only 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inspect 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Checkpoint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Version printed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Provider connected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Model selectable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AGENTS.md reviewed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account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Quota/budget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Retention policy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Revoke procedure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 key tidak boleh masuk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920240"/>
                <a:gridCol w="601675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Lokasi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Aman?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Alasan / alternatif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Dart constant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Mudah diekstrak dari app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--dart-define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 untuk secret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Nilai masuk build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Asset/.env bundled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Tidak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Terkirim ke pengguna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OpenCode /connect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Tool credential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Untuk developer workstation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Backend secret manager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Ya untuk runtime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Proxy + auth + quota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84A4A"/>
                </a:solidFill>
                <a:latin typeface="Aptos"/>
              </a:rPr>
              <a:t>Obfuscation menyulitkan pembacaan; tidak mengubah client menjadi secret store.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Gunakan agent untuk memahami repo sebelum 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goal + scope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Inspect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source + contract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Plan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small steps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Patch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reviewable diff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format/test/diff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Prompt awal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Ringkas lib/src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Temukan CRUD boundaries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Jangan edit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Daftar unknown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Human checkpoint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Summary benar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disetujui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Diff dibaca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Tests benar-benar lulus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Prompt yang membantu, bukan mengambil alih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Berikan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Goal dan scope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Files/context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Acceptance criteria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Commands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Output format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Larangan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invented API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rewrite massal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silent dependency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test 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Agent mempercepat pekerjaan; contract dan keputusan tetap milik tim.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4 — OpenCode setup &amp; read-only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Install dan cek version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/connect tanpa menampilkan 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model melalui /models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/init; review AGENTS.md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ringkasan + peta CRUD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tidak ada edit/secret lain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Provider connected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AGENTS.md direview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Summary benar; no secret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test plan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satu patch kecil dengan approval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Semua layer harus hijau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10" b="0">
                <a:solidFill>
                  <a:srgbClr val="D9ECF5"/>
                </a:solidFill>
                <a:latin typeface="Cascadia Mono"/>
              </a:rPr>
              <a:t># Flutter
fvm dart format --output=none \
  --set-exit-if-changed lib test
fvm flutter analyze
fvm flutter test
fvm flutter build apk --debug
# Public API smoke
curl 'https://jsonplaceholder.typicode.com/posts?_limit=1'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APP + PUBLIC CONTRACT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8 Flutter tests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 HTTP status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Simulated CRUD demo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Manual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Picker cancel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permission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 in diff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key not in app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Tantangan dan rubrik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486400"/>
                <a:gridCol w="373075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Challenge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Core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UI + full CRUD + picker + AI setup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demo + tests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Bronze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Search/filter dan empty/error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evidence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Silver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Picker adapter + fake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unit/widget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Gold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Attachment upload PRD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 + threat model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Platinum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Agent review skill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SKILL.md + peer review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Demo 7 menit: UI 1 • CRUD 3 • picker 1 • AI security 1 • evidence 1.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Build the UI. Respect the contract. Protect the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38404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6C6E7"/>
                </a:solidFill>
                <a:latin typeface="Aptos Display"/>
              </a:rPr>
              <a:t>day-2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64008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UI → CRUD → Picker → AI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78608"/>
            <a:ext cx="5623560" cy="2852928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2724912"/>
            <a:ext cx="138988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788920"/>
            <a:ext cx="138988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FINAL CHECKPOINT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00400"/>
            <a:ext cx="5221224" cy="2103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fvm flutter analyze
fvm flutter test
fvm flutter build apk --debug
git diff --check
git commit -m "Use JSONPlaceholder CRUD simulation"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051560"/>
            <a:ext cx="4919472" cy="4379976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1051560"/>
            <a:ext cx="73152" cy="437997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5432" y="125272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1325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252728"/>
            <a:ext cx="4005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Bawa ke Hari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1764792"/>
            <a:ext cx="4443984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Flutter UI structure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CRUD contract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Picker boundary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OpenCode connected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Secret discipline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61888"/>
            <a:ext cx="10835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BE7F6"/>
                </a:solidFill>
                <a:latin typeface="Aptos"/>
              </a:rPr>
              <a:t>Rujukan: docs.flutter.dev • jsonplaceholder.typicode.com • opencode.ai/docs • pub.dev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6309360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
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Pembukaan. ALOKASI: 3 menit.</a:t>
            </a:r>
          </a:p>
          <a:p/>
          <a:p>
            <a:r>
              <a:t>TUJUAN: Menyepakati target Hari 3.</a:t>
            </a:r>
          </a:p>
          <a:p/>
          <a:p>
            <a:r>
              <a:t>ARAHAN TRAINER: Hari 3 membawa keputusan Hari 2 menuju bukti kualitas dan artefak release.</a:t>
            </a:r>
          </a:p>
          <a:p/>
          <a:p>
            <a:r>
              <a:t>PERTANYAAN DISKUSI: Apa yang membuat build layak disebut release candidate?</a:t>
            </a:r>
          </a:p>
          <a:p/>
          <a:p>
            <a:r>
              <a:t>RUJUKAN: Modul dan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08.30–08.40. ALOKASI: 10 menit.</a:t>
            </a:r>
          </a:p>
          <a:p/>
          <a:p>
            <a:r>
              <a:t>TUJUAN: Menjelaskan Definition of Done Hari 3.</a:t>
            </a:r>
          </a:p>
          <a:p/>
          <a:p>
            <a:r>
              <a:t>ARAHAN TRAINER: Minta peserta menentukan evidence untuk tiap outcome.</a:t>
            </a:r>
          </a:p>
          <a:p/>
          <a:p>
            <a:r>
              <a:t>PERTANYAAN DISKUSI: Apa beda test lulus dengan release siap?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08.40–08.45. ALOKASI: 5 menit.</a:t>
            </a:r>
          </a:p>
          <a:p/>
          <a:p>
            <a:r>
              <a:t>TUJUAN: Menjelaskan roadmap Hari 3.</a:t>
            </a:r>
          </a:p>
          <a:p/>
          <a:p>
            <a:r>
              <a:t>ARAHAN TRAINER: Tunjukkan kapan sesi praktik dan kapan bukti diperiksa.</a:t>
            </a:r>
          </a:p>
          <a:p/>
          <a:p>
            <a:r>
              <a:t>PERTANYAAN DISKUSI: Bagian mana memerlukan physical device?</a:t>
            </a:r>
          </a:p>
          <a:p/>
          <a:p>
            <a:r>
              <a:t>RUJUKAN: Silabus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08.45–08.55. ALOKASI: 10 menit.</a:t>
            </a:r>
          </a:p>
          <a:p/>
          <a:p>
            <a:r>
              <a:t>TUJUAN: Memastikan baseline Hari 2 siap.</a:t>
            </a:r>
          </a:p>
          <a:p/>
          <a:p>
            <a:r>
              <a:t>ARAHAN TRAINER: Jalankan smoke login/list/create singkat sebelum plugin dipasang.</a:t>
            </a:r>
          </a:p>
          <a:p/>
          <a:p>
            <a:r>
              <a:t>PERTANYAAN DISKUSI: Apa blocker yang harus dihentikan sebelum menambah native feature?</a:t>
            </a:r>
          </a:p>
          <a:p/>
          <a:p>
            <a:r>
              <a:t>RUJUKAN: Checkpoint day-2.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08.55–08.57. ALOKASI: 2 menit.</a:t>
            </a:r>
          </a:p>
          <a:p/>
          <a:p>
            <a:r>
              <a:t>TUJUAN: Membuka sesi native feature.</a:t>
            </a:r>
          </a:p>
          <a:p/>
          <a:p>
            <a:r>
              <a:t>ARAHAN TRAINER: Scope tetap satu fitur foto lokal sesuai buku.</a:t>
            </a:r>
          </a:p>
          <a:p/>
          <a:p>
            <a:r>
              <a:t>PERTANYAAN DISKUSI: Apa yang membuat plugin berbeda dari widget biasa?</a:t>
            </a:r>
          </a:p>
          <a:p/>
          <a:p>
            <a:r>
              <a:t>RUJUKAN: Modul Hari 3: image_picker.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08.57–09.10. ALOKASI: 13 menit.</a:t>
            </a:r>
          </a:p>
          <a:p/>
          <a:p>
            <a:r>
              <a:t>TUJUAN: Menempatkan plugin pada boundary infrastructure.</a:t>
            </a:r>
          </a:p>
          <a:p/>
          <a:p>
            <a:r>
              <a:t>ARAHAN TRAINER: Jelaskan jalur UI ke native tanpa masuk terlalu dalam ke MethodChannel.</a:t>
            </a:r>
          </a:p>
          <a:p/>
          <a:p>
            <a:r>
              <a:t>PERTANYAAN DISKUSI: Bagaimana widget test berjalan tanpa membuka kamera?</a:t>
            </a:r>
          </a:p>
          <a:p/>
          <a:p>
            <a:r>
              <a:t>RUJUKAN: Modul Hari 3: plugin vs MethodChannel.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09.10–09.25. ALOKASI: 15 menit.</a:t>
            </a:r>
          </a:p>
          <a:p/>
          <a:p>
            <a:r>
              <a:t>TUJUAN: Memodelkan alur foto secara eksplisit.</a:t>
            </a:r>
          </a:p>
          <a:p/>
          <a:p>
            <a:r>
              <a:t>ARAHAN TRAINER: Trace success, cancel, permission error, dan lost-data recovery.</a:t>
            </a:r>
          </a:p>
          <a:p/>
          <a:p>
            <a:r>
              <a:t>PERTANYAAN DISKUSI: Apakah cancel harus ditampilkan sebagai error?</a:t>
            </a:r>
          </a:p>
          <a:p/>
          <a:p>
            <a:r>
              <a:t>RUJUKAN: PhotoPanel dan modul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09.25–09.42. ALOKASI: 17 menit.</a:t>
            </a:r>
          </a:p>
          <a:p/>
          <a:p>
            <a:r>
              <a:t>TUJUAN: Menjaga foto tidak menempel ke record salah.</a:t>
            </a:r>
          </a:p>
          <a:p/>
          <a:p>
            <a:r>
              <a:t>ARAHAN TRAINER: Gunakan source PhotoPanel sebagai demo. Tekankan recovery Android.</a:t>
            </a:r>
          </a:p>
          <a:p/>
          <a:p>
            <a:r>
              <a:t>PERTANYAAN DISKUSI: Mengapa inspectionId harus disimpan sebelum membuka picker?</a:t>
            </a:r>
          </a:p>
          <a:p/>
          <a:p>
            <a:r>
              <a:t>RUJUKAN: image_picker lost data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09.42–09.55. ALOKASI: 13 menit.</a:t>
            </a:r>
          </a:p>
          <a:p/>
          <a:p>
            <a:r>
              <a:t>TUJUAN: Membedakan preview, persistence, dan upload.</a:t>
            </a:r>
          </a:p>
          <a:p/>
          <a:p>
            <a:r>
              <a:t>ARAHAN TRAINER: Jangan menjanjikan persistence dari sekadar Image.file.</a:t>
            </a:r>
          </a:p>
          <a:p/>
          <a:p>
            <a:r>
              <a:t>PERTANYAAN DISKUSI: Apa konsekuensi privacy saat foto di-upload?</a:t>
            </a:r>
          </a:p>
          <a:p/>
          <a:p>
            <a:r>
              <a:t>RUJUKAN: Modul Hari 3: batas fitur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09.55–10.00. ALOKASI: 5 menit.</a:t>
            </a:r>
          </a:p>
          <a:p/>
          <a:p>
            <a:r>
              <a:t>TUJUAN: Briefing praktik photo boundary.</a:t>
            </a:r>
          </a:p>
          <a:p/>
          <a:p>
            <a:r>
              <a:t>ARAHAN TRAINER: Gunakan perangkat fisik untuk acceptance kamera jika tersedia.</a:t>
            </a:r>
          </a:p>
          <a:p/>
          <a:p>
            <a:r>
              <a:t>PERTANYAAN DISKUSI: Skenario mana tidak dapat dibuktikan oleh simulator?</a:t>
            </a:r>
          </a:p>
          <a:p/>
          <a:p>
            <a:r>
              <a:t>RUJUKAN: PRD Hari 3 AC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10.15–10.17. ALOKASI: 2 menit.</a:t>
            </a:r>
          </a:p>
          <a:p/>
          <a:p>
            <a:r>
              <a:t>TUJUAN: Membuka sesi testing.</a:t>
            </a:r>
          </a:p>
          <a:p/>
          <a:p>
            <a:r>
              <a:t>ARAHAN TRAINER: Tegaskan tiap test menjawab pertanyaan berbeda.</a:t>
            </a:r>
          </a:p>
          <a:p/>
          <a:p>
            <a:r>
              <a:t>PERTANYAAN DISKUSI: Apa yang tidak bisa dibuktikan unit test?</a:t>
            </a:r>
          </a:p>
          <a:p/>
          <a:p>
            <a:r>
              <a:t>RUJUKAN: Flutter testing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10.17–10.30. ALOKASI: 13 menit.</a:t>
            </a:r>
          </a:p>
          <a:p/>
          <a:p>
            <a:r>
              <a:t>TUJUAN: Memilih level test sesuai risiko.</a:t>
            </a:r>
          </a:p>
          <a:p/>
          <a:p>
            <a:r>
              <a:t>ARAHAN TRAINER: Jangan menjadikan pyramid sebagai target persentase; gunakan confidence.</a:t>
            </a:r>
          </a:p>
          <a:p/>
          <a:p>
            <a:r>
              <a:t>PERTANYAAN DISKUSI: Di level mana permission kamera dibuktikan?</a:t>
            </a:r>
          </a:p>
          <a:p/>
          <a:p>
            <a:r>
              <a:t>RUJUKAN: Flutter testing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10.30–10.43. ALOKASI: 13 menit.</a:t>
            </a:r>
          </a:p>
          <a:p/>
          <a:p>
            <a:r>
              <a:t>TUJUAN: Menulis test pada boundary JSON/domain.</a:t>
            </a:r>
          </a:p>
          <a:p/>
          <a:p>
            <a:r>
              <a:t>ARAHAN TRAINER: Sengaja rusak parser lalu lihat test gagal; pulihkan.</a:t>
            </a:r>
          </a:p>
          <a:p/>
          <a:p>
            <a:r>
              <a:t>PERTANYAAN DISKUSI: Bug apa yang tidak tertangkap oleh round-trip test saja?</a:t>
            </a:r>
          </a:p>
          <a:p/>
          <a:p>
            <a:r>
              <a:t>RUJUKAN: Model Inspection dan module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10.43–10.58. ALOKASI: 15 menit.</a:t>
            </a:r>
          </a:p>
          <a:p/>
          <a:p>
            <a:r>
              <a:t>TUJUAN: Menguji controller tanpa HTTP/plugin.</a:t>
            </a:r>
          </a:p>
          <a:p/>
          <a:p>
            <a:r>
              <a:t>ARAHAN TRAINER: Tunjukkan dependency seam Hari 2 menjadi payoff Hari 3.</a:t>
            </a:r>
          </a:p>
          <a:p/>
          <a:p>
            <a:r>
              <a:t>PERTANYAAN DISKUSI: Mengapa mock framework tidak wajib?</a:t>
            </a:r>
          </a:p>
          <a:p/>
          <a:p>
            <a:r>
              <a:t>RUJUKAN: Modul Hari 3: fake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10.58–11.10. ALOKASI: 12 menit.</a:t>
            </a:r>
          </a:p>
          <a:p/>
          <a:p>
            <a:r>
              <a:t>TUJUAN: Mencegah contract drift.</a:t>
            </a:r>
          </a:p>
          <a:p/>
          <a:p>
            <a:r>
              <a:t>ARAHAN TRAINER: Bandingkan payload nyata dengan example Swagger. CI penuh adalah pengayaan.</a:t>
            </a:r>
          </a:p>
          <a:p/>
          <a:p>
            <a:r>
              <a:t>PERTANYAAN DISKUSI: Apa breaking change yang paling mudah lolos manual testing?</a:t>
            </a:r>
          </a:p>
          <a:p/>
          <a:p>
            <a:r>
              <a:t>RUJUKAN: OpenAPI handoff dan module Hari 2/3.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11.10–11.25. ALOKASI: 15 menit.</a:t>
            </a:r>
          </a:p>
          <a:p/>
          <a:p>
            <a:r>
              <a:t>TUJUAN: Menguji UI state dan interaksi.</a:t>
            </a:r>
          </a:p>
          <a:p/>
          <a:p>
            <a:r>
              <a:t>ARAHAN TRAINER: Gunakan key untuk save/retry. Jelaskan batas widget test.</a:t>
            </a:r>
          </a:p>
          <a:p/>
          <a:p>
            <a:r>
              <a:t>PERTANYAAN DISKUSI: Apa yang masih memerlukan device test?</a:t>
            </a:r>
          </a:p>
          <a:p/>
          <a:p>
            <a:r>
              <a:t>RUJUKAN: Modul Hari 3: widget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11.25–11.38. ALOKASI: 13 menit.</a:t>
            </a:r>
          </a:p>
          <a:p/>
          <a:p>
            <a:r>
              <a:t>TUJUAN: Memisahkan tujuan mode test.</a:t>
            </a:r>
          </a:p>
          <a:p/>
          <a:p>
            <a:r>
              <a:t>ARAHAN TRAINER: Tunjukkan matrix device/mode dan pilih subset realistis.</a:t>
            </a:r>
          </a:p>
          <a:p/>
          <a:p>
            <a:r>
              <a:t>PERTANYAAN DISKUSI: Mengapa debug success tidak menjamin release success?</a:t>
            </a:r>
          </a:p>
          <a:p/>
          <a:p>
            <a:r>
              <a:t>RUJUKAN: PRD Hari 3 release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11.38–11.50. ALOKASI: 12 menit.</a:t>
            </a:r>
          </a:p>
          <a:p/>
          <a:p>
            <a:r>
              <a:t>TUJUAN: Menyusun gate otomatis dan evidence manual.</a:t>
            </a:r>
          </a:p>
          <a:p/>
          <a:p>
            <a:r>
              <a:t>ARAHAN TRAINER: Jalankan format/analyze/test sebelum profiling.</a:t>
            </a:r>
          </a:p>
          <a:p/>
          <a:p>
            <a:r>
              <a:t>PERTANYAAN DISKUSI: Evidence apa yang tidak dihasilkan command ini?</a:t>
            </a:r>
          </a:p>
          <a:p/>
          <a:p>
            <a:r>
              <a:t>RUJUKAN: Modul Hari 3 quality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11.50–12.00. ALOKASI: 10 menit.</a:t>
            </a:r>
          </a:p>
          <a:p/>
          <a:p>
            <a:r>
              <a:t>TUJUAN: Menjalankan regression exercise.</a:t>
            </a:r>
          </a:p>
          <a:p/>
          <a:p>
            <a:r>
              <a:t>ARAHAN TRAINER: Peserta menunjukkan test merah lalu hijau, bukan hanya final output.</a:t>
            </a:r>
          </a:p>
          <a:p/>
          <a:p>
            <a:r>
              <a:t>PERTANYAAN DISKUSI: Apakah test benar-benar menangkap bug yang dimaksud?</a:t>
            </a:r>
          </a:p>
          <a:p/>
          <a:p>
            <a:r>
              <a:t>RUJUKAN: Modul Hari 3 latihan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13.00–13.02. ALOKASI: 2 menit.</a:t>
            </a:r>
          </a:p>
          <a:p/>
          <a:p>
            <a:r>
              <a:t>TUJUAN: Membuka sesi performance.</a:t>
            </a:r>
          </a:p>
          <a:p/>
          <a:p>
            <a:r>
              <a:t>ARAHAN TRAINER: Gunakan physical device dan profile mode.</a:t>
            </a:r>
          </a:p>
          <a:p/>
          <a:p>
            <a:r>
              <a:t>PERTANYAAN DISKUSI: Apa baseline yang perlu dicatat?</a:t>
            </a:r>
          </a:p>
          <a:p/>
          <a:p>
            <a:r>
              <a:t>RUJUKAN: Flutter DevTools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13.02–13.15. ALOKASI: 13 menit.</a:t>
            </a:r>
          </a:p>
          <a:p/>
          <a:p>
            <a:r>
              <a:t>TUJUAN: Menetapkan eksperimen performance.</a:t>
            </a:r>
          </a:p>
          <a:p/>
          <a:p>
            <a:r>
              <a:t>ARAHAN TRAINER: Pilih satu scenario yang realistis dan singkat.</a:t>
            </a:r>
          </a:p>
          <a:p/>
          <a:p>
            <a:r>
              <a:t>PERTANYAAN DISKUSI: Apa yang membuat before/after tidak dapat dibandingkan?</a:t>
            </a:r>
          </a:p>
          <a:p/>
          <a:p>
            <a:r>
              <a:t>RUJUKAN: Modul Hari 3: profiling.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13.15–13.28. ALOKASI: 13 menit.</a:t>
            </a:r>
          </a:p>
          <a:p/>
          <a:p>
            <a:r>
              <a:t>TUJUAN: Menghubungkan symptom ke tool dan perbaikan.</a:t>
            </a:r>
          </a:p>
          <a:p/>
          <a:p>
            <a:r>
              <a:t>ARAHAN TRAINER: Buka DevTools view yang relevan, jangan semua sekaligus.</a:t>
            </a:r>
          </a:p>
          <a:p/>
          <a:p>
            <a:r>
              <a:t>PERTANYAAN DISKUSI: Bagaimana membedakan server lambat dari render lambat?</a:t>
            </a:r>
          </a:p>
          <a:p/>
          <a:p>
            <a:r>
              <a:t>RUJUKAN: DevTools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13.28–13.43. ALOKASI: 15 menit.</a:t>
            </a:r>
          </a:p>
          <a:p/>
          <a:p>
            <a:r>
              <a:t>TUJUAN: Mengurangi work yang tidak perlu.</a:t>
            </a:r>
          </a:p>
          <a:p/>
          <a:p>
            <a:r>
              <a:t>ARAHAN TRAINER: Gunakan Inspector/rebuild stats untuk menunjuk scope.</a:t>
            </a:r>
          </a:p>
          <a:p/>
          <a:p>
            <a:r>
              <a:t>PERTANYAAN DISKUSI: Apakah banyak widget kecil selalu lebih cepat?</a:t>
            </a:r>
          </a:p>
          <a:p/>
          <a:p>
            <a:r>
              <a:t>RUJUKAN: Modul Hari 3 performance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13.43–13.56. ALOKASI: 13 menit.</a:t>
            </a:r>
          </a:p>
          <a:p/>
          <a:p>
            <a:r>
              <a:t>TUJUAN: Menjaga image dan resource lifecycle.</a:t>
            </a:r>
          </a:p>
          <a:p/>
          <a:p>
            <a:r>
              <a:t>ARAHAN TRAINER: Pilih foto besar lalu amati memory. Jangan membuat klaim leak dari satu spike.</a:t>
            </a:r>
          </a:p>
          <a:p/>
          <a:p>
            <a:r>
              <a:t>PERTANYAAN DISKUSI: Apa perbedaan resource leak dan temporary allocation?</a:t>
            </a:r>
          </a:p>
          <a:p/>
          <a:p>
            <a:r>
              <a:t>RUJUKAN: Modul Hari 3: gambar/memory.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13.56–14.10. ALOKASI: 14 menit.</a:t>
            </a:r>
          </a:p>
          <a:p/>
          <a:p>
            <a:r>
              <a:t>TUJUAN: Melakukan micro-experiment performance.</a:t>
            </a:r>
          </a:p>
          <a:p/>
          <a:p>
            <a:r>
              <a:t>ARAHAN TRAINER: Trainer membantu memilih satu perubahan kecil.</a:t>
            </a:r>
          </a:p>
          <a:p/>
          <a:p>
            <a:r>
              <a:t>PERTANYAAN DISKUSI: Apakah hasil dapat diulang oleh reviewer?</a:t>
            </a:r>
          </a:p>
          <a:p/>
          <a:p>
            <a:r>
              <a:t>RUJUKAN: Modul Hari 3: pengukuran.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14.10–14.25. ALOKASI: 15 menit.</a:t>
            </a:r>
          </a:p>
          <a:p/>
          <a:p>
            <a:r>
              <a:t>TUJUAN: Menutup gap end-to-end.</a:t>
            </a:r>
          </a:p>
          <a:p/>
          <a:p>
            <a:r>
              <a:t>ARAHAN TRAINER: Gunakan tabel sebagai regression checklist sebelum build.</a:t>
            </a:r>
          </a:p>
          <a:p/>
          <a:p>
            <a:r>
              <a:t>PERTANYAAN DISKUSI: Flow mana masih berbeda antara debug dan release?</a:t>
            </a:r>
          </a:p>
          <a:p/>
          <a:p>
            <a:r>
              <a:t>RUJUKAN: Modul Hari 3: polishing.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14.10–14.30. ALOKASI: 20 menit.</a:t>
            </a:r>
          </a:p>
          <a:p/>
          <a:p>
            <a:r>
              <a:t>TUJUAN: Memberi gambaran iOS tanpa menggeser fokus Android.</a:t>
            </a:r>
          </a:p>
          <a:p/>
          <a:p>
            <a:r>
              <a:t>ARAHAN TRAINER: Gunakan overview, tidak perlu instalasi/console walkthrough.</a:t>
            </a:r>
          </a:p>
          <a:p/>
          <a:p>
            <a:r>
              <a:t>PERTANYAAN DISKUSI: Fitur apa yang masih butuh physical iPhone?</a:t>
            </a:r>
          </a:p>
          <a:p/>
          <a:p>
            <a:r>
              <a:t>RUJUKAN: Modul Hari 3: iOS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14.45–14.47. ALOKASI: 2 menit.</a:t>
            </a:r>
          </a:p>
          <a:p/>
          <a:p>
            <a:r>
              <a:t>TUJUAN: Membuka sesi Android release.</a:t>
            </a:r>
          </a:p>
          <a:p/>
          <a:p>
            <a:r>
              <a:t>ARAHAN TRAINER: Gunakan key/app ID latihan, bukan production.</a:t>
            </a:r>
          </a:p>
          <a:p/>
          <a:p>
            <a:r>
              <a:t>PERTANYAAN DISKUSI: Apa yang perlu dibuktikan selain build sukses?</a:t>
            </a:r>
          </a:p>
          <a:p/>
          <a:p>
            <a:r>
              <a:t>RUJUKAN: Android app signing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14.47–15.00. ALOKASI: 13 menit.</a:t>
            </a:r>
          </a:p>
          <a:p/>
          <a:p>
            <a:r>
              <a:t>TUJUAN: Menentukan identitas release candidate.</a:t>
            </a:r>
          </a:p>
          <a:p/>
          <a:p>
            <a:r>
              <a:t>ARAHAN TRAINER: Catat nilai sebelum build. Pastikan key.properties dan *.jks ignored.</a:t>
            </a:r>
          </a:p>
          <a:p/>
          <a:p>
            <a:r>
              <a:t>PERTANYAAN DISKUSI: Bagaimana menghubungkan APK dengan commit source?</a:t>
            </a:r>
          </a:p>
          <a:p/>
          <a:p>
            <a:r>
              <a:t>RUJUKAN: Modul Hari 3: Android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15.00–15.15. ALOKASI: 15 menit.</a:t>
            </a:r>
          </a:p>
          <a:p/>
          <a:p>
            <a:r>
              <a:t>TUJUAN: Menjelaskan upload key vs app signing key.</a:t>
            </a:r>
          </a:p>
          <a:p/>
          <a:p>
            <a:r>
              <a:t>ARAHAN TRAINER: Jalankan keytool dengan key latihan; jangan tampilkan password.</a:t>
            </a:r>
          </a:p>
          <a:p/>
          <a:p>
            <a:r>
              <a:t>PERTANYAAN DISKUSI: Siapa pemegang key production dan bagaimana recovery-nya?</a:t>
            </a:r>
          </a:p>
          <a:p/>
          <a:p>
            <a:r>
              <a:t>RUJUKAN: Android app signing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15.15–15.28. ALOKASI: 13 menit.</a:t>
            </a:r>
          </a:p>
          <a:p/>
          <a:p>
            <a:r>
              <a:t>TUJUAN: Menyusun pipeline manual yang repeatable.</a:t>
            </a:r>
          </a:p>
          <a:p/>
          <a:p>
            <a:r>
              <a:t>ARAHAN TRAINER: Jangan menganggap CI/CD wajib dalam kelas; flow ini dapat diotomasi nanti.</a:t>
            </a:r>
          </a:p>
          <a:p/>
          <a:p>
            <a:r>
              <a:t>PERTANYAAN DISKUSI: Pada tahap mana artefak yang salah harus ditolak?</a:t>
            </a:r>
          </a:p>
          <a:p/>
          <a:p>
            <a:r>
              <a:t>RUJUKAN: Modul Hari 3 build/handover.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15.28–15.43. ALOKASI: 15 menit.</a:t>
            </a:r>
          </a:p>
          <a:p/>
          <a:p>
            <a:r>
              <a:t>TUJUAN: Membangun dan memverifikasi APK/AAB.</a:t>
            </a:r>
          </a:p>
          <a:p/>
          <a:p>
            <a:r>
              <a:t>ARAHAN TRAINER: Ganti placeholder URL. Bandingkan fingerprint dengan keytool.</a:t>
            </a:r>
          </a:p>
          <a:p/>
          <a:p>
            <a:r>
              <a:t>PERTANYAAN DISKUSI: Mengapa release label tidak cukup membuktikan signer?</a:t>
            </a:r>
          </a:p>
          <a:p/>
          <a:p>
            <a:r>
              <a:t>RUJUKAN: Flutter Android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15.43–15.55. ALOKASI: 12 menit.</a:t>
            </a:r>
          </a:p>
          <a:p/>
          <a:p>
            <a:r>
              <a:t>TUJUAN: Menjalankan smoke test berbasis risiko.</a:t>
            </a:r>
          </a:p>
          <a:p/>
          <a:p>
            <a:r>
              <a:t>ARAHAN TRAINER: Gunakan APK release pada physical Android. Catat pass/fail/blocker.</a:t>
            </a:r>
          </a:p>
          <a:p/>
          <a:p>
            <a:r>
              <a:t>PERTANYAAN DISKUSI: Flow apa yang paling mungkin berbeda dari debug?</a:t>
            </a:r>
          </a:p>
          <a:p/>
          <a:p>
            <a:r>
              <a:t>RUJUKAN: PRD Hari 3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15.55–16.00. ALOKASI: 5 menit.</a:t>
            </a:r>
          </a:p>
          <a:p/>
          <a:p>
            <a:r>
              <a:t>TUJUAN: Mendokumentasikan release secara jujur.</a:t>
            </a:r>
          </a:p>
          <a:p/>
          <a:p>
            <a:r>
              <a:t>ARAHAN TRAINER: Pastikan cache/foto limitation masuk notes.</a:t>
            </a:r>
          </a:p>
          <a:p/>
          <a:p>
            <a:r>
              <a:t>PERTANYAAN DISKUSI: Apa trigger rollback yang dapat diamati?</a:t>
            </a:r>
          </a:p>
          <a:p/>
          <a:p>
            <a:r>
              <a:t>RUJUKAN: Modul Hari 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16.00–16.10. ALOKASI: 10 menit.</a:t>
            </a:r>
          </a:p>
          <a:p/>
          <a:p>
            <a:r>
              <a:t>TUJUAN: Menilai acceptance akhir.</a:t>
            </a:r>
          </a:p>
          <a:p/>
          <a:p>
            <a:r>
              <a:t>ARAHAN TRAINER: Gunakan status Lulus/Perlu perbaikan/Terhalang prasyarat.</a:t>
            </a:r>
          </a:p>
          <a:p/>
          <a:p>
            <a:r>
              <a:t>PERTANYAAN DISKUSI: Bukti mana masih bergantung akun/perangkat eksternal?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16.10–16.20. ALOKASI: 10 menit.</a:t>
            </a:r>
          </a:p>
          <a:p/>
          <a:p>
            <a:r>
              <a:t>TUJUAN: Menjalankan demo end-to-end.</a:t>
            </a:r>
          </a:p>
          <a:p/>
          <a:p>
            <a:r>
              <a:t>ARAHAN TRAINER: Batasi demo pada jalur inti. Jangan improvisasi fitur belum diuji.</a:t>
            </a:r>
          </a:p>
          <a:p/>
          <a:p>
            <a:r>
              <a:t>PERTANYAAN DISKUSI: Apakah demo membuktikan release artifact atau hanya debug app?</a:t>
            </a:r>
          </a:p>
          <a:p/>
          <a:p>
            <a:r>
              <a:t>RUJUKAN: Review akhir silabus.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16.20–16.27. ALOKASI: 7 menit.</a:t>
            </a:r>
          </a:p>
          <a:p/>
          <a:p>
            <a:r>
              <a:t>TUJUAN: Menyusun paket handover.</a:t>
            </a:r>
          </a:p>
          <a:p/>
          <a:p>
            <a:r>
              <a:t>ARAHAN TRAINER: Minta satu pasangan mencoba README pasangan lain.</a:t>
            </a:r>
          </a:p>
          <a:p/>
          <a:p>
            <a:r>
              <a:t>PERTANYAAN DISKUSI: Apakah orang lain dapat reproduce hasil tanpa bantuan author?</a:t>
            </a:r>
          </a:p>
          <a:p/>
          <a:p>
            <a:r>
              <a:t>RUJUKAN: Modul Hari 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16.27–16.30. ALOKASI: 3 menit.</a:t>
            </a:r>
          </a:p>
          <a:p/>
          <a:p>
            <a:r>
              <a:t>TUJUAN: Menutup training dengan checkpoint aman.</a:t>
            </a:r>
          </a:p>
          <a:p/>
          <a:p>
            <a:r>
              <a:t>ARAHAN TRAINER: Periksa staged files sebelum push.</a:t>
            </a:r>
          </a:p>
          <a:p/>
          <a:p>
            <a:r>
              <a:t>PERTANYAAN DISKUSI: Apakah repository dapat diklon dan dijalankan ulang?</a:t>
            </a:r>
          </a:p>
          <a:p/>
          <a:p>
            <a:r>
              <a:t>RUJUKAN: README paket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Cadangan. ALOKASI: 1 menit.</a:t>
            </a:r>
          </a:p>
          <a:p/>
          <a:p>
            <a:r>
              <a:t>TUJUAN: Memberi arah kelanjutan realistis.</a:t>
            </a:r>
          </a:p>
          <a:p/>
          <a:p>
            <a:r>
              <a:t>ARAHAN TRAINER: Pisahkan roadmap dari target training yang sudah dinilai.</a:t>
            </a:r>
          </a:p>
          <a:p/>
          <a:p>
            <a:r>
              <a:t>PERTANYAAN DISKUSI: Langkah berikut mana paling mengurangi risiko proyek?</a:t>
            </a:r>
          </a:p>
          <a:p/>
          <a:p>
            <a:r>
              <a:t>RUJUKAN: Dokumentasi resmi dan modul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Quality, Native
&amp; Release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Foto native, test strategy, performance evidence, signing, dan release yang dapat diaudit.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8104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DEVTOOLS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Hasil belajar yang dapat dibuktikan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Native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dibungkus adapter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Lifecycle/cancel/error jelas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Test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Unit, state, widget, contract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mengganti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Skenario repeatable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Before/after tanpa klaim palsu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Release 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diverifikasi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test + release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Native photo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cancel, lost-data, ownership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Test strategy &amp; quality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Unit/state/widget/contract lulus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Profiling &amp; clean-up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Satu perbaikan terukur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Android release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Signed APK/AAB + verification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Demo &amp; handover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Smoke test, notes, tag day-3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dari day-2: quality starts upstream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52144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53312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Swagger/schema stabil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mapping jelas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Hosted + mock parity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52144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53312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Boundary dapat di-fake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Ownership lifecycle jelas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deterministik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52144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53312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repo/log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Session clear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memakai 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710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Jika day-2 belum stabil, Hari 3 menjadi debugging marathon—bukan quality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Native feature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plugin untuk capability platform; bungkus agar UI dan test tetap bersih.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Mendesain adapter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Menangani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Menjaga ownership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Plugin adalah infrastructure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PhotoPanel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render +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PhotoController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state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PhotoPicker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 abstraction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image_picker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plugin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Android / 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platform capability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21808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4086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074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Mengapa adapter?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46320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dapat di-fake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Exception diterjemahkan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bergantung XFile langsung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4086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Kapan MethodChannel?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Capability tidak tersedia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Perlu API native khusus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 siap memelihara dua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Photo picker sebagai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600200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71D3B"/>
                </a:solidFill>
                <a:latin typeface="Aptos"/>
              </a:rPr>
              <a:t>idle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325880"/>
            <a:ext cx="1600200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picking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25880"/>
            <a:ext cx="1600200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selected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886200"/>
            <a:ext cx="1600200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09651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71D3B"/>
                </a:solidFill>
                <a:latin typeface="Aptos"/>
              </a:rPr>
              <a:t>cancelled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886200"/>
            <a:ext cx="1600200" cy="713232"/>
          </a:xfrm>
          <a:prstGeom prst="round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09651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failure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325880"/>
            <a:ext cx="1600200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recovering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3796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39312" y="2057400"/>
            <a:ext cx="0" cy="178308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45552" y="2057400"/>
            <a:ext cx="0" cy="178308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80" y="1682496"/>
            <a:ext cx="219456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62288" y="1115568"/>
            <a:ext cx="2423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62288" y="1115568"/>
            <a:ext cx="73152" cy="40690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1316736"/>
            <a:ext cx="1508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Invariant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828800"/>
            <a:ext cx="1947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pick aktif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bukan error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Selected terikat ID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Recovery tidak lintas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33872"/>
            <a:ext cx="8275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State machine mengurangi kombinasi _busy, _photo, _message yang ambigu.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Lifecycle, lost data, dan record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D9ECF5"/>
                </a:solidFill>
                <a:latin typeface="Cascadia Mono"/>
              </a:rPr>
              <a:t>Future&lt;void&gt; pick(PhotoSource source) async {
  if (state.isBusy) return;
  await pendingStore.save(inspectionId);
  emit(const Picking());
  try {
    final photo = await picker.pick(source);
    if (!_isCurrentInspection()) return;
    emit(photo == null ? const Cancelled() : Selected(photo));
  } on PhotoPermissionFailure {
    emit(const Failure('Periksa izin perangkat'));
  } finally {
    await pendingStore.clear();
  }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IDENTITY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5432" y="1143000"/>
            <a:ext cx="473659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85432" y="1143000"/>
            <a:ext cx="73152" cy="2212848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1344168"/>
            <a:ext cx="384048" cy="384048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1344168"/>
            <a:ext cx="38221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Recovery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856232"/>
            <a:ext cx="426110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Simpan inspectionId sebelum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retrieveLostData saat init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hanya ke ID yang 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2" y="3602736"/>
            <a:ext cx="473659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5432" y="3602736"/>
            <a:ext cx="73152" cy="26151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41464" y="3803904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387705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3803904"/>
            <a:ext cx="38221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Widget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4315968"/>
            <a:ext cx="426110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ValueKey(item.id)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context after 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Busy disables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preview survives cancel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sementara bukan attachment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90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Preview lokal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 dapat sementara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tersinkron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lintas device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Boleh hilang setelah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90288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 lokal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ke app storage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 per inspection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Permission/privacy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90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 URL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 + retry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Idempotency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Retention/security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0176"/>
            <a:ext cx="10332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Scope kelas berhenti di preview lokal; batas ini wajib terlihat di UI dan release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photo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Skenario wajib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dari galeri → preview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→ preview lama tetap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Permission/error → pesan actionable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Double tap → satu picker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Buka record lain → foto tidak berpindah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process recovery → ID 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Device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Simulator: gallery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Physical: camera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Widget test: fake picker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Definition of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cross-record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preview jelas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Test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Uji boundary berdasarkan risiko; gunakan fake untuk determinisme dan device untuk integrasi nyata.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Menyusun portfolio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Menguji contract/state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Menjalankan quality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Portfolio test berdasarkan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62272"/>
            <a:ext cx="10561320" cy="841248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26864"/>
            <a:ext cx="10287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1D3B"/>
                </a:solidFill>
                <a:latin typeface="Aptos"/>
              </a:rPr>
              <a:t>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28616"/>
            <a:ext cx="102870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71D3B"/>
                </a:solidFill>
                <a:latin typeface="Aptos"/>
              </a:rPr>
              <a:t>cepat • banyak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401568"/>
            <a:ext cx="8549640" cy="841248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3566160"/>
            <a:ext cx="8275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State /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867912"/>
            <a:ext cx="8275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boundary • fake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340864"/>
            <a:ext cx="6629400" cy="841248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505456"/>
            <a:ext cx="6355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1D3B"/>
                </a:solidFill>
                <a:latin typeface="Aptos"/>
              </a:rPr>
              <a:t>Widget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07208"/>
            <a:ext cx="6355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71D3B"/>
                </a:solidFill>
                <a:latin typeface="Aptos"/>
              </a:rPr>
              <a:t>interaction • UI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280160"/>
            <a:ext cx="4709160" cy="841248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199" y="1444752"/>
            <a:ext cx="4434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Integration / smoke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199" y="1746504"/>
            <a:ext cx="4434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plugin • network •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06440"/>
            <a:ext cx="9646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Semakin tinggi, semakin mahal—tetapi semakin dekat ke real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Unit test: contract model dan rule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473952" cy="4974336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UNIT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071616" cy="422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group('Inspection.fromJson', () {
  test('normalizes timestamp to UTC', () {
    final item = Inspection.fromJson(validPayload);
    expect(item.createdAt.isUtc, isTrue);
  });
  test('rejects unknown condition', () {
    expect(
      () =&gt; Inspection.fromJson({...validPayload, 'condition': 'x'}),
      throwsFormatException,
    );
  });
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170432"/>
            <a:ext cx="432511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96912" y="1170432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52944" y="137160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1371600"/>
            <a:ext cx="341071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Good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1883664"/>
            <a:ext cx="384962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menjelaskan perilaku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mewakili risk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Assert outcome, bukan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3657600"/>
            <a:ext cx="432511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3657600"/>
            <a:ext cx="73152" cy="248716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52944" y="38587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858768"/>
            <a:ext cx="341071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Prioritas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4370832"/>
            <a:ext cx="3849624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Required field missing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enum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UTC normalization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 boundaries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State test dengan fake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446520" cy="499262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STATE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044184" cy="42428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test('401 expires session and exposes safe failure', () async {
  final gateway = FakeGateway()
    ..listError = const UnauthorizedFailure();
  var expired = false;
  final controller = InspectionController(
    gateway, onSessionExpired: () =&gt; expired = true,
  );
  await controller.load();
  expect(expired, isTrue);
  expect(controller.state, isA&lt;Failure&gt;());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32588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NO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1170432"/>
            <a:ext cx="4343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78624" y="1170432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6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371600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Fake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1883664"/>
            <a:ext cx="386791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 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specific failure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delay/completion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3657600"/>
            <a:ext cx="434340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8624" y="3657600"/>
            <a:ext cx="73152" cy="2505456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34656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58768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Assert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4370832"/>
            <a:ext cx="3867912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transition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side effect callback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data policy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Contract test menjaga Flutter ↔ OpenAPI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259689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OpenAPI example</a:t>
            </a:r>
          </a:p>
        </p:txBody>
      </p:sp>
      <p:sp>
        <p:nvSpPr>
          <p:cNvPr id="11" name="Chevron 10"/>
          <p:cNvSpPr/>
          <p:nvPr/>
        </p:nvSpPr>
        <p:spPr>
          <a:xfrm>
            <a:off x="3282696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expected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280160"/>
            <a:ext cx="259689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HTTP response</a:t>
            </a:r>
          </a:p>
        </p:txBody>
      </p:sp>
      <p:sp>
        <p:nvSpPr>
          <p:cNvPr id="15" name="Chevron 14"/>
          <p:cNvSpPr/>
          <p:nvPr/>
        </p:nvSpPr>
        <p:spPr>
          <a:xfrm>
            <a:off x="6044184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hosted/mock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280160"/>
            <a:ext cx="259689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DTO decode</a:t>
            </a:r>
          </a:p>
        </p:txBody>
      </p:sp>
      <p:sp>
        <p:nvSpPr>
          <p:cNvPr id="19" name="Chevron 18"/>
          <p:cNvSpPr/>
          <p:nvPr/>
        </p:nvSpPr>
        <p:spPr>
          <a:xfrm>
            <a:off x="8805672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strict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280160"/>
            <a:ext cx="259689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Domain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business meaning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5257800" cy="2404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10128"/>
            <a:ext cx="73152" cy="240487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3511296"/>
            <a:ext cx="4343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Minimum contract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4782312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sesuai operation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Required fields ada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Enum/date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body dapat dipetakan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310128"/>
            <a:ext cx="5285232" cy="2404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310128"/>
            <a:ext cx="73152" cy="240487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10528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511296"/>
            <a:ext cx="43708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CI evolution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023360"/>
            <a:ext cx="4809744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Export openapi.json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Validate examples/schema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Run against Docker image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 on breaking change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Widget test: render state + user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controller/gateway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MaterialApp wrapper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Tap retry/save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Enter invalid input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Pump transition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Scroll/ensureVisible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Assert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Correct state UI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Action invoked once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hidden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80176"/>
            <a:ext cx="9784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Widget test tidak membuktikan permission, TLS, plugin registration, atau signer.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Integration &amp; smoke test: environment nyata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43000"/>
          <a:ext cx="11119104" cy="48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965960"/>
                <a:gridCol w="2240280"/>
                <a:gridCol w="3118104"/>
              </a:tblGrid>
              <a:tr h="61036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Debug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Profile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Release APK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Login/API HTTPS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Create + timeout policy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opsional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Gallery/camera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 device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Permission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Offline/cache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Restart/logout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Performance scenario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sampling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605332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5AA7"/>
                </a:solidFill>
                <a:latin typeface="Aptos"/>
              </a:rPr>
              <a:t>Release configuration adalah dependency—maka smoke test release tidak boleh dilewati.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Quality gate yang dapat dijalankan ulang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565392" cy="493776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163056" cy="41879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dart format --output=none --set-exit-if-changed lib test
flutter analyze
flutter test
# Setelah profile + smoke test:
flutter build apk --release \
  --dart-define=API_BASE_URL=https://api-staging.example
flutter build appbundle --release \
  --dart-define=API_BASE_URL=https://api-staging.example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170432"/>
            <a:ext cx="4233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2" y="1170432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44384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371600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Gate gagal bila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883664"/>
            <a:ext cx="375818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 issue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gagal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build gagal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3657600"/>
            <a:ext cx="423367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657600"/>
            <a:ext cx="73152" cy="24505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44384" y="38587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4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858768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terpisah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4370832"/>
            <a:ext cx="375818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DevTools trace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fingerprint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smoke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regression safety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parser boundary test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state success + failure test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widget test invalid form/retry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dengan sengaja satu regression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Pulihkan dan jalankan quality gate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test yang masih membutuhkan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Deterministic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Behavior-focused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real secret/network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gagal saat bug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lulus setelah fix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bersih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Performance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Optimasi dimulai dari skenario yang dapat diulang—bukan dari tebakan atau slogan const.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Mendefinisikan scenario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Membaca DevTools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Membuktikan perubahan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Measure → diagnose → change → re-measure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53312"/>
            <a:ext cx="208483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1" name="Chevron 10"/>
          <p:cNvSpPr/>
          <p:nvPr/>
        </p:nvSpPr>
        <p:spPr>
          <a:xfrm>
            <a:off x="2660904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device +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353312"/>
            <a:ext cx="208483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Baseline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0328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trace + symptom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1353312"/>
            <a:ext cx="208483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Hypothesis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9752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likely cause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1353312"/>
            <a:ext cx="208483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One change</a:t>
            </a:r>
          </a:p>
        </p:txBody>
      </p:sp>
      <p:sp>
        <p:nvSpPr>
          <p:cNvPr id="23" name="Chevron 22"/>
          <p:cNvSpPr/>
          <p:nvPr/>
        </p:nvSpPr>
        <p:spPr>
          <a:xfrm>
            <a:off x="9409176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+ reviewable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1353312"/>
            <a:ext cx="208483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same conditions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64992"/>
            <a:ext cx="534924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64992"/>
            <a:ext cx="73152" cy="2267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2" y="356616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63931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3566160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Skenario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078224"/>
            <a:ext cx="487375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Scroll list panjang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Search saat list tampil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Buka foto resolusi besar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64992"/>
            <a:ext cx="539496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64992"/>
            <a:ext cx="73152" cy="2267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6616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3931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6616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78224"/>
            <a:ext cx="491947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+ mode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Trace/screenshot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Before/after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 kesimpulan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888736"/>
            <a:ext cx="6629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D84A4A"/>
                </a:solidFill>
                <a:latin typeface="Aptos"/>
              </a:rPr>
              <a:t>Jika kondisi berubah, perbandingan tidak valid.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Diagnosis berdasarkan 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33856"/>
          <a:ext cx="11119104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547872"/>
                <a:gridCol w="4507992"/>
              </a:tblGrid>
              <a:tr h="68971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Symptom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Periksa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Perubahan kandidat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Frame lambat saat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build/layout/paint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lazy list, split widget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Typing search tersendat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filter tiap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memoize/debounce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Memory naik setelah foto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decode + retained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resize, release reference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Refresh terasa lambat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network vs render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timing + loading UX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Seluruh layar rebuild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listener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narrow observer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Jank pertama buka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shader/image decode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warmup/size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6000" y="6035040"/>
            <a:ext cx="7589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Pisahkan latency backend dari work pada UI thread.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Rebuild scope dan derived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10528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08192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class InspectionListView extends StatelessWidget {
  const InspectionListView({required this.items, super.key});
  @override
  Widget build(BuildContext context) =&gt; ListView.builder(
    itemCount: items.length,
    itemBuilder: (_, index) {
      final item = items[index];
      return InspectionTile(
        key: ValueKey(item.id),
        item: item,
      );
    },
  );
}
// Hitung visibleItems saat input/state berubah, bukan di tiap build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1143000"/>
            <a:ext cx="4279392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42631" y="1143000"/>
            <a:ext cx="73152" cy="225856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986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1344168"/>
            <a:ext cx="33649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3" y="1856232"/>
            <a:ext cx="380390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ListView.builder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key by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listener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 where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3657600"/>
            <a:ext cx="427939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42631" y="365760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986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858768"/>
            <a:ext cx="33649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Anti-myth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4370832"/>
            <a:ext cx="38039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 bukan universal fix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pecah widget harus ada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ukur impact pada scenario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memory dan resource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maxWidth/imageQuality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thumbnail untuk list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hindari full-res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ukur memory peak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punya owner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hapus reference lama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cache tanpa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 temporary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Dispose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controller/listener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 client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stream/timer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operation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80176"/>
            <a:ext cx="10241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Memory leak dan memory spike adalah masalah berbeda—buktikan dengan timeline.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satu perbaikan, satu bukti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Template eksperimen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Device/mode/commit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Skenario dan dataset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Symptom + baseline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Hipotesis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perubahan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Re-run kondisi sama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Kesimpulan + limitasi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Diterima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 tersimpan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inflated % claim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Tidak diterima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'Terasa lebih cepat'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Mode/device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Banyak change sekaligus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Polishing end-to-end sebelum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33856"/>
          <a:ext cx="11119103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944368"/>
                <a:gridCol w="3063240"/>
                <a:gridCol w="3236976"/>
              </a:tblGrid>
              <a:tr h="68710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Flow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Happy path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Failure path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UX 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login/restart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wrong/expired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actionable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fresh 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empty/offline/500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distinct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Create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201 once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422/timeout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guard + recovery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Photo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select/replace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cancel/denied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record-bound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clear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during async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safe transition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Responsive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normal content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keyboard/long text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overflow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360" y="6035040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Tambahkan fitur hanya setelah jalur inti stabil.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iOS overview — 20 menit, scope terkontrol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Bundle ID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Team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Certificate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signing trust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Provisioning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device/app rights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Archive / TestFlight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distribution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0096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5915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Dibahas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64608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Mac + Xcode requirement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Simulator vs physical device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 string plugin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5915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Ditunda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Archive production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Store Connect upload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App Store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Release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Artefak release harus reproducible, signed, verified, smoke-tested, dan dapat di-roll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Memisahkan environment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Memverifikasi signer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Menyusun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identity: environment, version, 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staging HTTPS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debug cleartext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localhost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Feature flags 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versionName semantic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versionCode increases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commit/tag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notes 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upload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fingerprint known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 not in Git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971032"/>
            <a:ext cx="8211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Nama file bukan bukti environment, version, atau signer.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Signing chain dan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trusted commit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298448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Build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controlled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298448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Upload key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team custody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298448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Play signing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store custody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298448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Installed APK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verified cert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73552"/>
            <a:ext cx="53400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73552"/>
            <a:ext cx="73152" cy="24871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478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474720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Training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986784"/>
            <a:ext cx="4864608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Khusus app latihan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Password tidak dicetak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mengganti key app operasional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Fingerprint boleh dicatat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273552"/>
            <a:ext cx="537667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273552"/>
            <a:ext cx="73152" cy="248716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47472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478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474720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Repository hygiene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86784"/>
            <a:ext cx="4901184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key.properties ignored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*.jks ignored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absolute secret path in docs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Check staged files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Pipeline release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28016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Quality gate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237232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format/analyze/test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4392" y="1280160"/>
            <a:ext cx="173431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7544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Build APK/AAB</a:t>
            </a:r>
          </a:p>
        </p:txBody>
      </p:sp>
      <p:sp>
        <p:nvSpPr>
          <p:cNvPr id="15" name="Chevron 14"/>
          <p:cNvSpPr/>
          <p:nvPr/>
        </p:nvSpPr>
        <p:spPr>
          <a:xfrm>
            <a:off x="4136136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92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staging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3296" y="1280160"/>
            <a:ext cx="173431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6448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Verify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3296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signer + 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280160"/>
            <a:ext cx="173431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</a:t>
            </a:r>
          </a:p>
        </p:txBody>
      </p:sp>
      <p:sp>
        <p:nvSpPr>
          <p:cNvPr id="23" name="Chevron 22"/>
          <p:cNvSpPr/>
          <p:nvPr/>
        </p:nvSpPr>
        <p:spPr>
          <a:xfrm>
            <a:off x="7933944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physical device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1104" y="1280160"/>
            <a:ext cx="173431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4256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Smoke</a:t>
            </a:r>
          </a:p>
        </p:txBody>
      </p:sp>
      <p:sp>
        <p:nvSpPr>
          <p:cNvPr id="27" name="Chevron 26"/>
          <p:cNvSpPr/>
          <p:nvPr/>
        </p:nvSpPr>
        <p:spPr>
          <a:xfrm>
            <a:off x="9832848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1104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core 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0008" y="128016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Tag +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0008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handover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337560"/>
            <a:ext cx="73152" cy="2322576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 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Stop on first gate failure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Fix root cause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Rebuild from clean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70832" y="3337560"/>
            <a:ext cx="73152" cy="23225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26864" y="3538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6864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Commit/tag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toolchain versions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artifact checksum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4736" y="3337560"/>
            <a:ext cx="73152" cy="2322576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30768" y="353872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Named reviewer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 complete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limits accepted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dan verifikasi artefak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15568"/>
            <a:ext cx="6748272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61872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37360"/>
            <a:ext cx="6345936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9ECF5"/>
                </a:solidFill>
                <a:latin typeface="Cascadia Mono"/>
              </a:rPr>
              <a:t>flutter build apk --release \
+  --dart-define=API_BASE_URL=https://api-staging.example
flutter build appbundle --release \
+  --dart-define=API_BASE_URL=https://api-staging.example
apksigner verify --verbose --print-certs \
+  build/app/outputs/flutter-apk/app-release.apk
jarsigner -verify -verbose -certs \
+  build/app/outputs/bundle/release/app.aab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3" y="127101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VERIFY, DON'T ASSUME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115568"/>
            <a:ext cx="4050791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1115568"/>
            <a:ext cx="73152" cy="224942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27263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3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316736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1828800"/>
            <a:ext cx="3575303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ke device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test langsung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3621024"/>
            <a:ext cx="4050791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71231" y="3621024"/>
            <a:ext cx="73152" cy="26151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3" y="3822192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3" y="389534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822192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3" y="4334256"/>
            <a:ext cx="3575303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Untuk store distribution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di-adb install langsung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archive signature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Track processing separately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Smoke test release: risk-based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246120"/>
                <a:gridCol w="3337560"/>
                <a:gridCol w="3118104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Config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launch + API HTTPS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debug-only dependency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device/log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Auth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 + 401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 correct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list/create/offline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policy correct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record + banner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Native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gallery/camera/denied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crash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photo/device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background/restart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safe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steps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inspect logs/repo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secrets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review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Identity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version + cert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matches plan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fingerprint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Release notes, rollback, dan known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61772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Release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+ commit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Perubahan user-visible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Environment/API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Migration/permission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61772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artifact/version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 compatibility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 + trigger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Store/internal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Communication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6177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Batas wajib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 read-only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Foto lokal sementara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Camera physical device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Hosted API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99669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Known limit yang jelas lebih profesional daripada janji yang tidak diuji.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Definition of Done —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49240"/>
                <a:gridCol w="3895344"/>
              </a:tblGrid>
              <a:tr h="6263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Bukti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Native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foto benar + 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 matrix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Tests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unit/state/widget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green output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OpenAPI parity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schema/status evidence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 experiment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before/after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Release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signed APK/AAB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cert + paths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Smoke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 flows release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pass/fail record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Handover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notes + blocker + tag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day-3 package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Demo akhir: satu cerita, bukan daftar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32588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11" name="Chevron 10"/>
          <p:cNvSpPr/>
          <p:nvPr/>
        </p:nvSpPr>
        <p:spPr>
          <a:xfrm>
            <a:off x="2237232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wrong + right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4392" y="1325880"/>
            <a:ext cx="173431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7544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List</a:t>
            </a:r>
          </a:p>
        </p:txBody>
      </p:sp>
      <p:sp>
        <p:nvSpPr>
          <p:cNvPr id="15" name="Chevron 14"/>
          <p:cNvSpPr/>
          <p:nvPr/>
        </p:nvSpPr>
        <p:spPr>
          <a:xfrm>
            <a:off x="413613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92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fresh +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3296" y="1325880"/>
            <a:ext cx="173431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6448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Create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3296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invalid + 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325880"/>
            <a:ext cx="173431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Offline</a:t>
            </a:r>
          </a:p>
        </p:txBody>
      </p:sp>
      <p:sp>
        <p:nvSpPr>
          <p:cNvPr id="23" name="Chevron 22"/>
          <p:cNvSpPr/>
          <p:nvPr/>
        </p:nvSpPr>
        <p:spPr>
          <a:xfrm>
            <a:off x="793394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cache banner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1104" y="1325880"/>
            <a:ext cx="173431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4256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27" name="Chevron 26"/>
          <p:cNvSpPr/>
          <p:nvPr/>
        </p:nvSpPr>
        <p:spPr>
          <a:xfrm>
            <a:off x="9832848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1104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select + cancel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0008" y="132588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Release 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0008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version + signer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401568"/>
            <a:ext cx="5340096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40156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3602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75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602736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14800"/>
            <a:ext cx="4864608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Sebut expected result sebelum aksi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Tunjukkan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Jelaskan known limit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340156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340156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0" y="360273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75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360273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Reviewer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1480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mismatch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repro steps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Pisahkan blocker eksternal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Handover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33856"/>
            <a:ext cx="73152" cy="468172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35024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day-3 tag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pubspec.lock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README run/test/build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secret/build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33856"/>
            <a:ext cx="73152" cy="4681728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35024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output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DevTools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APK/AAB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fingerprint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33856"/>
            <a:ext cx="73152" cy="468172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35024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URL/version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notes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blocker + PIC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next action/date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1051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5AA7"/>
                </a:solidFill>
                <a:latin typeface="Aptos"/>
              </a:rPr>
              <a:t>Handover selesai ketika orang lain dapat menjalankan, menilai, dan melanjutkan.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Checkpoint Git — release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5669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Quality is evidence, not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5577840" cy="294436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61488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25496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36976"/>
            <a:ext cx="5175504" cy="2194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D9ECF5"/>
                </a:solidFill>
                <a:latin typeface="Cascadia Mono"/>
              </a:rPr>
              <a:t>dart format --output=none --set-exit-if-changed lib test
flutter analyze
flutter test
git add .
git commit -m "Complete day-3 release checkpoint"
git tag day-3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1115568"/>
            <a:ext cx="4919472" cy="444398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1968" y="1115568"/>
            <a:ext cx="73152" cy="4443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1316736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Sebelum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443984" cy="3575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No token/password/key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No build/ or .dart_tool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PPTX dapat dibuka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README menunjuk hosted API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Known blocker tercatat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5328" y="6291072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Referensi dan roadmap lanjutan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15568"/>
            <a:ext cx="5358384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15568"/>
            <a:ext cx="73152" cy="50474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16736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Rujukan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28800"/>
            <a:ext cx="4882896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docs.flutter.dev/testing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docs.flutter.dev/tools/devtools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pub.dev/packages/image_picker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docs.flutter.dev/deployment/android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developer.android.com app signing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Modul + PRD Hari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15568"/>
            <a:ext cx="5394960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15568"/>
            <a:ext cx="73152" cy="50474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1673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16736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Roadmap setelah kelas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919472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Upload attachment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Offline write queue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Integration test automation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test CI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Flavor + secrets management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Play Internal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
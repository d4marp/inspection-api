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e90e2367ae48db" /><Relationship Type="http://schemas.openxmlformats.org/officeDocument/2006/relationships/extended-properties" Target="/docProps/app.xml" Id="R906cee12631143f9" /><Relationship Type="http://schemas.openxmlformats.org/officeDocument/2006/relationships/officeDocument" Target="/ppt/presentation.xml" Id="R946a3fc226e543f1" /></Relationships>
</file>

<file path=ppt/presentation.xml><?xml version="1.0" encoding="utf-8"?>
<p:presentation xmlns:p="http://schemas.openxmlformats.org/presentationml/2006/main">
  <p:sldMasterIdLst>
    <p:sldMasterId xmlns:r="http://schemas.openxmlformats.org/officeDocument/2006/relationships" id="2147483648" r:id="R0c227917db0c4bf8"/>
  </p:sldMasterIdLst>
  <p:notesMasterIdLst>
    <p:notesMasterId xmlns:r="http://schemas.openxmlformats.org/officeDocument/2006/relationships" r:id="Rdb9ef83a1f8b4fb0"/>
  </p:notesMasterIdLst>
  <p:sldIdLst>
    <p:sldId xmlns:r="http://schemas.openxmlformats.org/officeDocument/2006/relationships" id="256" r:id="R8521d24fd3964760"/>
    <p:sldId xmlns:r="http://schemas.openxmlformats.org/officeDocument/2006/relationships" id="257" r:id="Rf522c0bfe9fb4fdf"/>
    <p:sldId xmlns:r="http://schemas.openxmlformats.org/officeDocument/2006/relationships" id="258" r:id="R6b21c20fe0454042"/>
    <p:sldId xmlns:r="http://schemas.openxmlformats.org/officeDocument/2006/relationships" id="259" r:id="Re3ce6518022c4c43"/>
    <p:sldId xmlns:r="http://schemas.openxmlformats.org/officeDocument/2006/relationships" id="260" r:id="R8cc53bb3166f4497"/>
    <p:sldId xmlns:r="http://schemas.openxmlformats.org/officeDocument/2006/relationships" id="261" r:id="Rfcb9c625248d4470"/>
    <p:sldId xmlns:r="http://schemas.openxmlformats.org/officeDocument/2006/relationships" id="262" r:id="Rb2373510c7e94c2e"/>
    <p:sldId xmlns:r="http://schemas.openxmlformats.org/officeDocument/2006/relationships" id="263" r:id="R0b23a2bac4cc42a5"/>
    <p:sldId xmlns:r="http://schemas.openxmlformats.org/officeDocument/2006/relationships" id="264" r:id="R509b8cb527034a37"/>
    <p:sldId xmlns:r="http://schemas.openxmlformats.org/officeDocument/2006/relationships" id="265" r:id="Re0226123c05e4f87"/>
    <p:sldId xmlns:r="http://schemas.openxmlformats.org/officeDocument/2006/relationships" id="266" r:id="Rdaede2473c5d4d1d"/>
    <p:sldId xmlns:r="http://schemas.openxmlformats.org/officeDocument/2006/relationships" id="267" r:id="R9b460d50771c4f6a"/>
    <p:sldId xmlns:r="http://schemas.openxmlformats.org/officeDocument/2006/relationships" id="268" r:id="R6a02e5b7d6fc49c6"/>
    <p:sldId xmlns:r="http://schemas.openxmlformats.org/officeDocument/2006/relationships" id="269" r:id="R930e775c40a34978"/>
    <p:sldId xmlns:r="http://schemas.openxmlformats.org/officeDocument/2006/relationships" id="270" r:id="R2b5d09e8388c4efb"/>
    <p:sldId xmlns:r="http://schemas.openxmlformats.org/officeDocument/2006/relationships" id="271" r:id="R81175be85d6d40a3"/>
    <p:sldId xmlns:r="http://schemas.openxmlformats.org/officeDocument/2006/relationships" id="272" r:id="R205d91246a3a4ff4"/>
    <p:sldId xmlns:r="http://schemas.openxmlformats.org/officeDocument/2006/relationships" id="273" r:id="R712f4cb70d884b0d"/>
    <p:sldId xmlns:r="http://schemas.openxmlformats.org/officeDocument/2006/relationships" id="274" r:id="R69cd4387a52f4378"/>
    <p:sldId xmlns:r="http://schemas.openxmlformats.org/officeDocument/2006/relationships" id="275" r:id="Rc27c757c9bbf4901"/>
    <p:sldId xmlns:r="http://schemas.openxmlformats.org/officeDocument/2006/relationships" id="276" r:id="R61f2ace8fadf4a73"/>
    <p:sldId xmlns:r="http://schemas.openxmlformats.org/officeDocument/2006/relationships" id="277" r:id="Rf7071616718c47b5"/>
    <p:sldId xmlns:r="http://schemas.openxmlformats.org/officeDocument/2006/relationships" id="278" r:id="R3d79cbaf7dee4f76"/>
    <p:sldId xmlns:r="http://schemas.openxmlformats.org/officeDocument/2006/relationships" id="279" r:id="Rbfb4606196244dea"/>
    <p:sldId xmlns:r="http://schemas.openxmlformats.org/officeDocument/2006/relationships" id="280" r:id="R5c69a04099494ad5"/>
    <p:sldId xmlns:r="http://schemas.openxmlformats.org/officeDocument/2006/relationships" id="281" r:id="R42358f2f79bc4097"/>
    <p:sldId xmlns:r="http://schemas.openxmlformats.org/officeDocument/2006/relationships" id="282" r:id="Re7011d5cb45645bd"/>
    <p:sldId xmlns:r="http://schemas.openxmlformats.org/officeDocument/2006/relationships" id="283" r:id="Rfe7bd28b5dde45c5"/>
    <p:sldId xmlns:r="http://schemas.openxmlformats.org/officeDocument/2006/relationships" id="284" r:id="Rec8f0453c8f14ed8"/>
    <p:sldId xmlns:r="http://schemas.openxmlformats.org/officeDocument/2006/relationships" id="285" r:id="Rfe8a769430084ad5"/>
    <p:sldId xmlns:r="http://schemas.openxmlformats.org/officeDocument/2006/relationships" id="286" r:id="Rcf411246e0d84a6d"/>
    <p:sldId xmlns:r="http://schemas.openxmlformats.org/officeDocument/2006/relationships" id="287" r:id="R4f4c8c944f4c4074"/>
    <p:sldId xmlns:r="http://schemas.openxmlformats.org/officeDocument/2006/relationships" id="288" r:id="Rd36d570cd0c2491c"/>
    <p:sldId xmlns:r="http://schemas.openxmlformats.org/officeDocument/2006/relationships" id="289" r:id="R5091bb698ada45ad"/>
    <p:sldId xmlns:r="http://schemas.openxmlformats.org/officeDocument/2006/relationships" id="290" r:id="R231f4a225b104f12"/>
    <p:sldId xmlns:r="http://schemas.openxmlformats.org/officeDocument/2006/relationships" id="291" r:id="R1b8ba61221814463"/>
    <p:sldId xmlns:r="http://schemas.openxmlformats.org/officeDocument/2006/relationships" id="292" r:id="R87c18fbf611a49a6"/>
    <p:sldId xmlns:r="http://schemas.openxmlformats.org/officeDocument/2006/relationships" id="293" r:id="Rf2d27865f3de42ec"/>
    <p:sldId xmlns:r="http://schemas.openxmlformats.org/officeDocument/2006/relationships" id="294" r:id="R91be8f10a0c1418a"/>
    <p:sldId xmlns:r="http://schemas.openxmlformats.org/officeDocument/2006/relationships" id="295" r:id="R9cc08b86f5584f8c"/>
    <p:sldId xmlns:r="http://schemas.openxmlformats.org/officeDocument/2006/relationships" id="296" r:id="Rc4065156c7e3483a"/>
    <p:sldId xmlns:r="http://schemas.openxmlformats.org/officeDocument/2006/relationships" id="297" r:id="Rf15874c964884931"/>
    <p:sldId xmlns:r="http://schemas.openxmlformats.org/officeDocument/2006/relationships" id="298" r:id="R64ee21d23e644bb8"/>
    <p:sldId xmlns:r="http://schemas.openxmlformats.org/officeDocument/2006/relationships" id="299" r:id="R9510811f21794d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33d33756554377" /><Relationship Type="http://schemas.openxmlformats.org/officeDocument/2006/relationships/slideMaster" Target="/ppt/slideMasters/slideMaster1.xml" Id="R0c227917db0c4bf8" /><Relationship Type="http://schemas.openxmlformats.org/officeDocument/2006/relationships/notesMaster" Target="/ppt/notesMasters/notesMaster1.xml" Id="Rdb9ef83a1f8b4fb0" /><Relationship Type="http://schemas.openxmlformats.org/officeDocument/2006/relationships/presProps" Target="/ppt/presProps.xml" Id="R7a49a4c50d77472b" /><Relationship Type="http://schemas.openxmlformats.org/officeDocument/2006/relationships/tableStyles" Target="/ppt/tableStyles.xml" Id="R892c705dc4b74026" /><Relationship Type="http://schemas.openxmlformats.org/officeDocument/2006/relationships/slide" Target="/ppt/slides/slide1.xml" Id="R8521d24fd3964760" /><Relationship Type="http://schemas.openxmlformats.org/officeDocument/2006/relationships/slide" Target="/ppt/slides/slide2.xml" Id="Rf522c0bfe9fb4fdf" /><Relationship Type="http://schemas.openxmlformats.org/officeDocument/2006/relationships/slide" Target="/ppt/slides/slide3.xml" Id="R6b21c20fe0454042" /><Relationship Type="http://schemas.openxmlformats.org/officeDocument/2006/relationships/slide" Target="/ppt/slides/slide4.xml" Id="Re3ce6518022c4c43" /><Relationship Type="http://schemas.openxmlformats.org/officeDocument/2006/relationships/slide" Target="/ppt/slides/slide5.xml" Id="R8cc53bb3166f4497" /><Relationship Type="http://schemas.openxmlformats.org/officeDocument/2006/relationships/slide" Target="/ppt/slides/slide6.xml" Id="Rfcb9c625248d4470" /><Relationship Type="http://schemas.openxmlformats.org/officeDocument/2006/relationships/slide" Target="/ppt/slides/slide7.xml" Id="Rb2373510c7e94c2e" /><Relationship Type="http://schemas.openxmlformats.org/officeDocument/2006/relationships/slide" Target="/ppt/slides/slide8.xml" Id="R0b23a2bac4cc42a5" /><Relationship Type="http://schemas.openxmlformats.org/officeDocument/2006/relationships/slide" Target="/ppt/slides/slide9.xml" Id="R509b8cb527034a37" /><Relationship Type="http://schemas.openxmlformats.org/officeDocument/2006/relationships/slide" Target="/ppt/slides/slide10.xml" Id="Re0226123c05e4f87" /><Relationship Type="http://schemas.openxmlformats.org/officeDocument/2006/relationships/slide" Target="/ppt/slides/slide11.xml" Id="Rdaede2473c5d4d1d" /><Relationship Type="http://schemas.openxmlformats.org/officeDocument/2006/relationships/slide" Target="/ppt/slides/slide12.xml" Id="R9b460d50771c4f6a" /><Relationship Type="http://schemas.openxmlformats.org/officeDocument/2006/relationships/slide" Target="/ppt/slides/slide13.xml" Id="R6a02e5b7d6fc49c6" /><Relationship Type="http://schemas.openxmlformats.org/officeDocument/2006/relationships/slide" Target="/ppt/slides/slide14.xml" Id="R930e775c40a34978" /><Relationship Type="http://schemas.openxmlformats.org/officeDocument/2006/relationships/slide" Target="/ppt/slides/slide15.xml" Id="R2b5d09e8388c4efb" /><Relationship Type="http://schemas.openxmlformats.org/officeDocument/2006/relationships/slide" Target="/ppt/slides/slide16.xml" Id="R81175be85d6d40a3" /><Relationship Type="http://schemas.openxmlformats.org/officeDocument/2006/relationships/slide" Target="/ppt/slides/slide17.xml" Id="R205d91246a3a4ff4" /><Relationship Type="http://schemas.openxmlformats.org/officeDocument/2006/relationships/slide" Target="/ppt/slides/slide18.xml" Id="R712f4cb70d884b0d" /><Relationship Type="http://schemas.openxmlformats.org/officeDocument/2006/relationships/slide" Target="/ppt/slides/slide19.xml" Id="R69cd4387a52f4378" /><Relationship Type="http://schemas.openxmlformats.org/officeDocument/2006/relationships/slide" Target="/ppt/slides/slide20.xml" Id="Rc27c757c9bbf4901" /><Relationship Type="http://schemas.openxmlformats.org/officeDocument/2006/relationships/slide" Target="/ppt/slides/slide21.xml" Id="R61f2ace8fadf4a73" /><Relationship Type="http://schemas.openxmlformats.org/officeDocument/2006/relationships/slide" Target="/ppt/slides/slide22.xml" Id="Rf7071616718c47b5" /><Relationship Type="http://schemas.openxmlformats.org/officeDocument/2006/relationships/slide" Target="/ppt/slides/slide23.xml" Id="R3d79cbaf7dee4f76" /><Relationship Type="http://schemas.openxmlformats.org/officeDocument/2006/relationships/slide" Target="/ppt/slides/slide24.xml" Id="Rbfb4606196244dea" /><Relationship Type="http://schemas.openxmlformats.org/officeDocument/2006/relationships/slide" Target="/ppt/slides/slide25.xml" Id="R5c69a04099494ad5" /><Relationship Type="http://schemas.openxmlformats.org/officeDocument/2006/relationships/slide" Target="/ppt/slides/slide26.xml" Id="R42358f2f79bc4097" /><Relationship Type="http://schemas.openxmlformats.org/officeDocument/2006/relationships/slide" Target="/ppt/slides/slide27.xml" Id="Re7011d5cb45645bd" /><Relationship Type="http://schemas.openxmlformats.org/officeDocument/2006/relationships/slide" Target="/ppt/slides/slide28.xml" Id="Rfe7bd28b5dde45c5" /><Relationship Type="http://schemas.openxmlformats.org/officeDocument/2006/relationships/slide" Target="/ppt/slides/slide29.xml" Id="Rec8f0453c8f14ed8" /><Relationship Type="http://schemas.openxmlformats.org/officeDocument/2006/relationships/slide" Target="/ppt/slides/slide30.xml" Id="Rfe8a769430084ad5" /><Relationship Type="http://schemas.openxmlformats.org/officeDocument/2006/relationships/slide" Target="/ppt/slides/slide31.xml" Id="Rcf411246e0d84a6d" /><Relationship Type="http://schemas.openxmlformats.org/officeDocument/2006/relationships/slide" Target="/ppt/slides/slide32.xml" Id="R4f4c8c944f4c4074" /><Relationship Type="http://schemas.openxmlformats.org/officeDocument/2006/relationships/slide" Target="/ppt/slides/slide33.xml" Id="Rd36d570cd0c2491c" /><Relationship Type="http://schemas.openxmlformats.org/officeDocument/2006/relationships/slide" Target="/ppt/slides/slide34.xml" Id="R5091bb698ada45ad" /><Relationship Type="http://schemas.openxmlformats.org/officeDocument/2006/relationships/slide" Target="/ppt/slides/slide35.xml" Id="R231f4a225b104f12" /><Relationship Type="http://schemas.openxmlformats.org/officeDocument/2006/relationships/slide" Target="/ppt/slides/slide36.xml" Id="R1b8ba61221814463" /><Relationship Type="http://schemas.openxmlformats.org/officeDocument/2006/relationships/slide" Target="/ppt/slides/slide37.xml" Id="R87c18fbf611a49a6" /><Relationship Type="http://schemas.openxmlformats.org/officeDocument/2006/relationships/slide" Target="/ppt/slides/slide38.xml" Id="Rf2d27865f3de42ec" /><Relationship Type="http://schemas.openxmlformats.org/officeDocument/2006/relationships/slide" Target="/ppt/slides/slide39.xml" Id="R91be8f10a0c1418a" /><Relationship Type="http://schemas.openxmlformats.org/officeDocument/2006/relationships/slide" Target="/ppt/slides/slide40.xml" Id="R9cc08b86f5584f8c" /><Relationship Type="http://schemas.openxmlformats.org/officeDocument/2006/relationships/slide" Target="/ppt/slides/slide41.xml" Id="Rc4065156c7e3483a" /><Relationship Type="http://schemas.openxmlformats.org/officeDocument/2006/relationships/slide" Target="/ppt/slides/slide42.xml" Id="Rf15874c964884931" /><Relationship Type="http://schemas.openxmlformats.org/officeDocument/2006/relationships/slide" Target="/ppt/slides/slide43.xml" Id="R64ee21d23e644bb8" /><Relationship Type="http://schemas.openxmlformats.org/officeDocument/2006/relationships/slide" Target="/ppt/slides/slide44.xml" Id="R9510811f21794d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9fdda11fef43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3e5ef1d1e645f8" /><Relationship Type="http://schemas.openxmlformats.org/officeDocument/2006/relationships/notesMaster" Target="/ppt/notesMasters/notesMaster1.xml" Id="R5aed1da6654443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00440a67254712" /><Relationship Type="http://schemas.openxmlformats.org/officeDocument/2006/relationships/notesMaster" Target="/ppt/notesMasters/notesMaster1.xml" Id="R871e30a2116d4f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f8c243c9b04292" /><Relationship Type="http://schemas.openxmlformats.org/officeDocument/2006/relationships/notesMaster" Target="/ppt/notesMasters/notesMaster1.xml" Id="R4a7df31127fb40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a9402cc59542f2" /><Relationship Type="http://schemas.openxmlformats.org/officeDocument/2006/relationships/notesMaster" Target="/ppt/notesMasters/notesMaster1.xml" Id="R127fd058a4e947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e4da05dc0d420d" /><Relationship Type="http://schemas.openxmlformats.org/officeDocument/2006/relationships/notesMaster" Target="/ppt/notesMasters/notesMaster1.xml" Id="Ra6edd863ad0944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6036bcedd74519" /><Relationship Type="http://schemas.openxmlformats.org/officeDocument/2006/relationships/notesMaster" Target="/ppt/notesMasters/notesMaster1.xml" Id="Rd900988a2b0c42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acecdabd4645ac" /><Relationship Type="http://schemas.openxmlformats.org/officeDocument/2006/relationships/notesMaster" Target="/ppt/notesMasters/notesMaster1.xml" Id="R62fa16a13cf54e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9c4e962b574525" /><Relationship Type="http://schemas.openxmlformats.org/officeDocument/2006/relationships/notesMaster" Target="/ppt/notesMasters/notesMaster1.xml" Id="R2c92f7d6780442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b946ff876f4cf7" /><Relationship Type="http://schemas.openxmlformats.org/officeDocument/2006/relationships/notesMaster" Target="/ppt/notesMasters/notesMaster1.xml" Id="Rb919654f8d2b41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a5c47bb07b4ba8" /><Relationship Type="http://schemas.openxmlformats.org/officeDocument/2006/relationships/notesMaster" Target="/ppt/notesMasters/notesMaster1.xml" Id="Reab6a7eda3194c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73e44d81ee46fe" /><Relationship Type="http://schemas.openxmlformats.org/officeDocument/2006/relationships/notesMaster" Target="/ppt/notesMasters/notesMaster1.xml" Id="R376534d5516644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f3ad62f529416c" /><Relationship Type="http://schemas.openxmlformats.org/officeDocument/2006/relationships/notesMaster" Target="/ppt/notesMasters/notesMaster1.xml" Id="R52d1811880fe4b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cda58d28d64d96" /><Relationship Type="http://schemas.openxmlformats.org/officeDocument/2006/relationships/notesMaster" Target="/ppt/notesMasters/notesMaster1.xml" Id="Rfd7f93783cab44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c58a802506414d" /><Relationship Type="http://schemas.openxmlformats.org/officeDocument/2006/relationships/notesMaster" Target="/ppt/notesMasters/notesMaster1.xml" Id="Re3df6a89c57f4e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92f9e1095a48ad" /><Relationship Type="http://schemas.openxmlformats.org/officeDocument/2006/relationships/notesMaster" Target="/ppt/notesMasters/notesMaster1.xml" Id="R18070b9b66ff49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2b1102b8bf437f" /><Relationship Type="http://schemas.openxmlformats.org/officeDocument/2006/relationships/notesMaster" Target="/ppt/notesMasters/notesMaster1.xml" Id="Rb1767d5e12f1413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292cc1dc634bea" /><Relationship Type="http://schemas.openxmlformats.org/officeDocument/2006/relationships/notesMaster" Target="/ppt/notesMasters/notesMaster1.xml" Id="R8082baba64a343a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a0df6a21944e06" /><Relationship Type="http://schemas.openxmlformats.org/officeDocument/2006/relationships/notesMaster" Target="/ppt/notesMasters/notesMaster1.xml" Id="Rcb87321447e74b7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2b17b033cc14e99" /><Relationship Type="http://schemas.openxmlformats.org/officeDocument/2006/relationships/notesMaster" Target="/ppt/notesMasters/notesMaster1.xml" Id="R0b771aca8452410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6bd4f60bdbe4bcc" /><Relationship Type="http://schemas.openxmlformats.org/officeDocument/2006/relationships/notesMaster" Target="/ppt/notesMasters/notesMaster1.xml" Id="Rda23c5601bc74bf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40bf2d4c8c14ee5" /><Relationship Type="http://schemas.openxmlformats.org/officeDocument/2006/relationships/notesMaster" Target="/ppt/notesMasters/notesMaster1.xml" Id="R97d5d91e27634d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adcfe17826b41e2" /><Relationship Type="http://schemas.openxmlformats.org/officeDocument/2006/relationships/notesMaster" Target="/ppt/notesMasters/notesMaster1.xml" Id="Re282cf7e25e2481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592c3a047094c60" /><Relationship Type="http://schemas.openxmlformats.org/officeDocument/2006/relationships/notesMaster" Target="/ppt/notesMasters/notesMaster1.xml" Id="R93252bfc32464db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f5b0cdd8de54321" /><Relationship Type="http://schemas.openxmlformats.org/officeDocument/2006/relationships/notesMaster" Target="/ppt/notesMasters/notesMaster1.xml" Id="R25d80babe1f44e6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0902339b3f8488c" /><Relationship Type="http://schemas.openxmlformats.org/officeDocument/2006/relationships/notesMaster" Target="/ppt/notesMasters/notesMaster1.xml" Id="R7dd322dbb9994d4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316705abe01462d" /><Relationship Type="http://schemas.openxmlformats.org/officeDocument/2006/relationships/notesMaster" Target="/ppt/notesMasters/notesMaster1.xml" Id="R0c7bfb3e7b32438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fa6587b7ae74bfd" /><Relationship Type="http://schemas.openxmlformats.org/officeDocument/2006/relationships/notesMaster" Target="/ppt/notesMasters/notesMaster1.xml" Id="R8ec3254581224a7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0a9797f5cad4574" /><Relationship Type="http://schemas.openxmlformats.org/officeDocument/2006/relationships/notesMaster" Target="/ppt/notesMasters/notesMaster1.xml" Id="R2150fa44f5c745b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4c164f1813f4f4f" /><Relationship Type="http://schemas.openxmlformats.org/officeDocument/2006/relationships/notesMaster" Target="/ppt/notesMasters/notesMaster1.xml" Id="Ra8815278f0fc469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fb7d692d73a475b" /><Relationship Type="http://schemas.openxmlformats.org/officeDocument/2006/relationships/notesMaster" Target="/ppt/notesMasters/notesMaster1.xml" Id="R4e81752e8ee94f8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7121081113544b2" /><Relationship Type="http://schemas.openxmlformats.org/officeDocument/2006/relationships/notesMaster" Target="/ppt/notesMasters/notesMaster1.xml" Id="Rb961c147d8a844e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c8fe35b5f314941" /><Relationship Type="http://schemas.openxmlformats.org/officeDocument/2006/relationships/notesMaster" Target="/ppt/notesMasters/notesMaster1.xml" Id="R66f4ab6636cf43a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d3c4a69847840e1" /><Relationship Type="http://schemas.openxmlformats.org/officeDocument/2006/relationships/notesMaster" Target="/ppt/notesMasters/notesMaster1.xml" Id="Rc900588e7084468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8d13e17aefa4bf3" /><Relationship Type="http://schemas.openxmlformats.org/officeDocument/2006/relationships/notesMaster" Target="/ppt/notesMasters/notesMaster1.xml" Id="Rb1c3716c6e5343f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ac98585b2f045a2" /><Relationship Type="http://schemas.openxmlformats.org/officeDocument/2006/relationships/notesMaster" Target="/ppt/notesMasters/notesMaster1.xml" Id="Rb41b0c3d55574ec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0e9b917818247b5" /><Relationship Type="http://schemas.openxmlformats.org/officeDocument/2006/relationships/notesMaster" Target="/ppt/notesMasters/notesMaster1.xml" Id="R6661bd303d7641d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a1463b7c93d4ab3" /><Relationship Type="http://schemas.openxmlformats.org/officeDocument/2006/relationships/notesMaster" Target="/ppt/notesMasters/notesMaster1.xml" Id="R68bc6dd833ab4ed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6f1dcbc78e14bd5" /><Relationship Type="http://schemas.openxmlformats.org/officeDocument/2006/relationships/notesMaster" Target="/ppt/notesMasters/notesMaster1.xml" Id="R25aadcb14441481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5a4c05d05024bf8" /><Relationship Type="http://schemas.openxmlformats.org/officeDocument/2006/relationships/notesMaster" Target="/ppt/notesMasters/notesMaster1.xml" Id="Rf207c7f5a15742e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e2140642a4d4b8b" /><Relationship Type="http://schemas.openxmlformats.org/officeDocument/2006/relationships/notesMaster" Target="/ppt/notesMasters/notesMaster1.xml" Id="Rcca3aec46aa841e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0fcd61a581b47eb" /><Relationship Type="http://schemas.openxmlformats.org/officeDocument/2006/relationships/notesMaster" Target="/ppt/notesMasters/notesMaster1.xml" Id="R62ab68838f0f432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05d3c62bdea48b9" /><Relationship Type="http://schemas.openxmlformats.org/officeDocument/2006/relationships/notesMaster" Target="/ppt/notesMasters/notesMaster1.xml" Id="Raa5607fb4fa64e4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90f22952f3f42e2" /><Relationship Type="http://schemas.openxmlformats.org/officeDocument/2006/relationships/notesMaster" Target="/ppt/notesMasters/notesMaster1.xml" Id="R4ae979b0a0d942e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a695c1f549b49cc" /><Relationship Type="http://schemas.openxmlformats.org/officeDocument/2006/relationships/notesMaster" Target="/ppt/notesMasters/notesMaster1.xml" Id="Rc63cf6b473bc46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1 menit.</a:t>
            </a:r>
          </a:p>
          <a:p xmlns:a="http://schemas.openxmlformats.org/drawingml/2006/main">
            <a:r>
              <a:t/>
            </a:r>
          </a:p>
          <a:p xmlns:a="http://schemas.openxmlformats.org/drawingml/2006/main">
            <a:r>
              <a:t>TUJUAN: Dart dan Flutter UI.</a:t>
            </a:r>
          </a:p>
          <a:p xmlns:a="http://schemas.openxmlformats.org/drawingml/2006/main">
            <a:r>
              <a:t/>
            </a:r>
          </a:p>
          <a:p xmlns:a="http://schemas.openxmlformats.org/drawingml/2006/main">
            <a:r>
              <a:t>Buka kelas dengan menunjukkan alur aplikasi yang akan dibangun. Peserta sudah mengenal Kotlin sehingga dasar algoritma hanya diulas jika diperlukan. Gunakan data dummy dan jelaskan bahwa proyek inspeksi adalah contoh training. Peserta tidak memerlukan Mac.</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4 menit.</a:t>
            </a:r>
          </a:p>
          <a:p xmlns:a="http://schemas.openxmlformats.org/drawingml/2006/main">
            <a:r>
              <a:t/>
            </a:r>
          </a:p>
          <a:p xmlns:a="http://schemas.openxmlformats.org/drawingml/2006/main">
            <a:r>
              <a:t>TUJUAN: Hasil belajar hari pertama.</a:t>
            </a:r>
          </a:p>
          <a:p xmlns:a="http://schemas.openxmlformats.org/drawingml/2006/main">
            <a:r>
              <a:t/>
            </a:r>
          </a:p>
          <a:p xmlns:a="http://schemas.openxmlformats.org/drawingml/2006/main">
            <a:r>
              <a:t>Tunjukkan PRD Hari 1. Minta peserta menghubungkan setiap hasil belajar dengan bukti yang dapat ditampilkan pada aplikasi. Hari ini data berada dalam memori dan dapat hilang ketika app ditutup. Persistence dimulai pada hari kedua.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6 menit.</a:t>
            </a:r>
          </a:p>
          <a:p xmlns:a="http://schemas.openxmlformats.org/drawingml/2006/main">
            <a:r>
              <a:t/>
            </a:r>
          </a:p>
          <a:p xmlns:a="http://schemas.openxmlformats.org/drawingml/2006/main">
            <a:r>
              <a:t>TUJUAN: Agenda hari pertama.</a:t>
            </a:r>
          </a:p>
          <a:p xmlns:a="http://schemas.openxmlformats.org/drawingml/2006/main">
            <a:r>
              <a:t/>
            </a:r>
          </a:p>
          <a:p xmlns:a="http://schemas.openxmlformats.org/drawingml/2006/main">
            <a:r>
              <a:t>Istirahat pada 10.00-10.15, 12.00-13.00, dan 14.30-14.45. Total waktu belajar 390 menit. Beri tahu peserta bahwa sesi praktik mempunyai hasil wajib sehingga trainer akan menghentikan penambahan scope bila checkpoint belum stabil.</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6 menit.</a:t>
            </a:r>
          </a:p>
          <a:p xmlns:a="http://schemas.openxmlformats.org/drawingml/2006/main">
            <a:r>
              <a:t/>
            </a:r>
          </a:p>
          <a:p xmlns:a="http://schemas.openxmlformats.org/drawingml/2006/main">
            <a:r>
              <a:t>TUJUAN: Kontrak proyek latihan.</a:t>
            </a:r>
          </a:p>
          <a:p xmlns:a="http://schemas.openxmlformats.org/drawingml/2006/main">
            <a:r>
              <a:t/>
            </a:r>
          </a:p>
          <a:p xmlns:a="http://schemas.openxmlformats.org/drawingml/2006/main">
            <a:r>
              <a:t>ID unik merupakan field sistem dan tidak diedit pengguna. Batas karakter ini merupakan kontrak latihan. Sebelum menjadi aplikasi DPL nyata, master aset, SOP, akses pengguna dan approval harus disepakati bersama pemilik bisnis. Demo data good dan needs_action untuk memperjelas perbedaan.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4 menit.</a:t>
            </a:r>
          </a:p>
          <a:p xmlns:a="http://schemas.openxmlformats.org/drawingml/2006/main">
            <a:r>
              <a:t/>
            </a:r>
          </a:p>
          <a:p xmlns:a="http://schemas.openxmlformats.org/drawingml/2006/main">
            <a:r>
              <a:t>TUJUAN: Flutter dan pengalaman Kotlin.</a:t>
            </a:r>
          </a:p>
          <a:p xmlns:a="http://schemas.openxmlformats.org/drawingml/2006/main">
            <a:r>
              <a:t/>
            </a:r>
          </a:p>
          <a:p xmlns:a="http://schemas.openxmlformats.org/drawingml/2006/main">
            <a:r>
              <a:t>Pemetaan ke Kotlin hanya sebagai jembatan mental. Jangan menganggap Future sama persis dengan coroutine atau lifecycle Flutter sama dengan Activity. Tunjukkan cara sebuah data menjadi konfigurasi widget. Jelaskan bahwa Flutter app tetap mempunyai project Android native.</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7 menit.</a:t>
            </a:r>
          </a:p>
          <a:p xmlns:a="http://schemas.openxmlformats.org/drawingml/2006/main">
            <a:r>
              <a:t/>
            </a:r>
          </a:p>
          <a:p xmlns:a="http://schemas.openxmlformats.org/drawingml/2006/main">
            <a:r>
              <a:t>TUJUAN: Pemeriksaan toolchain Android.</a:t>
            </a:r>
          </a:p>
          <a:p xmlns:a="http://schemas.openxmlformats.org/drawingml/2006/main">
            <a:r>
              <a:t/>
            </a:r>
          </a:p>
          <a:p xmlns:a="http://schemas.openxmlformats.org/drawingml/2006/main">
            <a:r>
              <a:t>Trainer mengharapkan instalasi selesai sebelum kelas. Periksa warning doctor yang relevan untuk Android, bukan semua platform. Catat versi dan device di README. Bila SDK peserta bermasalah, gunakan checkpoint template dan lanjutkan konsep sambil PIC menangani toolchain.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https://docs.flutter.dev/install</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6 menit.</a:t>
            </a:r>
          </a:p>
          <a:p xmlns:a="http://schemas.openxmlformats.org/drawingml/2006/main">
            <a:r>
              <a:t/>
            </a:r>
          </a:p>
          <a:p xmlns:a="http://schemas.openxmlformats.org/drawingml/2006/main">
            <a:r>
              <a:t>TUJUAN: Struktur proyek Flutter.</a:t>
            </a:r>
          </a:p>
          <a:p xmlns:a="http://schemas.openxmlformats.org/drawingml/2006/main">
            <a:r>
              <a:t/>
            </a:r>
          </a:p>
          <a:p xmlns:a="http://schemas.openxmlformats.org/drawingml/2006/main">
            <a:r>
              <a:t>Buka explorer project. Tunjukkan main.dart dan titik masuk main. Folder lib akan dipisahkan lebih lanjut pada hari kedua. pubspec.lock masuk Git untuk aplikasi agar versi dependency dapat direproduksi. SDK dan signing tidak boleh diganti sembarangan saat memperbaiki error.</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4 menit.</a:t>
            </a:r>
          </a:p>
          <a:p xmlns:a="http://schemas.openxmlformats.org/drawingml/2006/main">
            <a:r>
              <a:t/>
            </a:r>
          </a:p>
          <a:p xmlns:a="http://schemas.openxmlformats.org/drawingml/2006/main">
            <a:r>
              <a:t>TUJUAN: Hot reload dan hot restart.</a:t>
            </a:r>
          </a:p>
          <a:p xmlns:a="http://schemas.openxmlformats.org/drawingml/2006/main">
            <a:r>
              <a:t/>
            </a:r>
          </a:p>
          <a:p xmlns:a="http://schemas.openxmlformats.org/drawingml/2006/main">
            <a:r>
              <a:t>Demo mengubah judul lalu hot reload. Berikutnya ubah nilai awal State dan jelaskan mengapa hot reload dapat mempertahankan nilai lama. Setelah plugin dipasang, hentikan aplikasi dan jalankan kembali. Hindari kebiasaan flutter clean untuk setiap masalah sebelum sebab dibaca.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https://docs.flutter.dev/tools/hot-reload</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7 menit.</a:t>
            </a:r>
          </a:p>
          <a:p xmlns:a="http://schemas.openxmlformats.org/drawingml/2006/main">
            <a:r>
              <a:t/>
            </a:r>
          </a:p>
          <a:p xmlns:a="http://schemas.openxmlformats.org/drawingml/2006/main">
            <a:r>
              <a:t>TUJUAN: Nilai, tipe dan null safety Dart.</a:t>
            </a:r>
          </a:p>
          <a:p xmlns:a="http://schemas.openxmlformats.org/drawingml/2006/main">
            <a:r>
              <a:t/>
            </a:r>
          </a:p>
          <a:p xmlns:a="http://schemas.openxmlformats.org/drawingml/2006/main">
            <a:r>
              <a:t>Minta peserta membandingkan final dan const. Jelaskan bahwa final List masih dapat dimutasi kecuali object/list juga immutable. note nullable tidak membuat semua field model harus nullable. Operator ! memindahkan risiko ke runtime dan dipakai hanya bila invariant benar-benar diketahui.</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https://dart.dev/null-safety</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7 menit.</a:t>
            </a:r>
          </a:p>
          <a:p xmlns:a="http://schemas.openxmlformats.org/drawingml/2006/main">
            <a:r>
              <a:t/>
            </a:r>
          </a:p>
          <a:p xmlns:a="http://schemas.openxmlformats.org/drawingml/2006/main">
            <a:r>
              <a:t>TUJUAN: Model Inspection dengan named parameter.</a:t>
            </a:r>
          </a:p>
          <a:p xmlns:a="http://schemas.openxmlformats.org/drawingml/2006/main">
            <a:r>
              <a:t/>
            </a:r>
          </a:p>
          <a:p xmlns:a="http://schemas.openxmlformats.org/drawingml/2006/main">
            <a:r>
              <a:t>Tunjukkan model lengkap di file praktik/hari_1/lib/inspection.dart. Model memisahkan data dari widget sehingga hari kedua dapat menambahkan parsing JSON tanpa mengubah semua layar. Nilai required harus diberikan ketika constructor dipanggil. createdAt disimpan dalam UTC dan ditampilkan sebagai waktu lokal.</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7 menit.</a:t>
            </a:r>
          </a:p>
          <a:p xmlns:a="http://schemas.openxmlformats.org/drawingml/2006/main">
            <a:r>
              <a:t/>
            </a:r>
          </a:p>
          <a:p xmlns:a="http://schemas.openxmlformats.org/drawingml/2006/main">
            <a:r>
              <a:t>TUJUAN: Collection dan pemilihan data.</a:t>
            </a:r>
          </a:p>
          <a:p xmlns:a="http://schemas.openxmlformats.org/drawingml/2006/main">
            <a:r>
              <a:t/>
            </a:r>
          </a:p>
          <a:p xmlns:a="http://schemas.openxmlformats.org/drawingml/2006/main">
            <a:r>
              <a:t>items pada contoh adalah List&lt;Inspection&gt;. Jelaskan perbedaan where yang memilih record dan map yang mengubah representasi. toList membuat hasil iterable menjadi list. Pertanyaan: kapan filter ini hanya mencakup sebagian data? Jawabannya ketika items hanya memuat satu halaman dari API, yang dibahas pada hari kedua.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6 menit.</a:t>
            </a:r>
          </a:p>
          <a:p xmlns:a="http://schemas.openxmlformats.org/drawingml/2006/main">
            <a:r>
              <a:t/>
            </a:r>
          </a:p>
          <a:p xmlns:a="http://schemas.openxmlformats.org/drawingml/2006/main">
            <a:r>
              <a:t>TUJUAN: Future dan async await.</a:t>
            </a:r>
          </a:p>
          <a:p xmlns:a="http://schemas.openxmlformats.org/drawingml/2006/main">
            <a:r>
              <a:t/>
            </a:r>
          </a:p>
          <a:p xmlns:a="http://schemas.openxmlformats.org/drawingml/2006/main">
            <a:r>
              <a:t>Pisahkan fungsi async dari UI. Hasil pemanggilan tanpa await adalah Future, bukan List. await tidak berarti thread UI diblokir selama network/delay. Fungsi yang memakai await harus async. seed mengembalikan data dummy dari starter. Error asynchronous harus ditangani pada caller yang mengatur state.</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https://dart.dev/language/async</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08.30-10.00: Flutter workflow dan Dart. ALOKASI 25 menit.</a:t>
            </a:r>
          </a:p>
          <a:p xmlns:a="http://schemas.openxmlformats.org/drawingml/2006/main">
            <a:r>
              <a:t/>
            </a:r>
          </a:p>
          <a:p xmlns:a="http://schemas.openxmlformats.org/drawingml/2006/main">
            <a:r>
              <a:t>TUJUAN: Praktik 1 model dan data lokal.</a:t>
            </a:r>
          </a:p>
          <a:p xmlns:a="http://schemas.openxmlformats.org/drawingml/2006/main">
            <a:r>
              <a:t/>
            </a:r>
          </a:p>
          <a:p xmlns:a="http://schemas.openxmlformats.org/drawingml/2006/main">
            <a:r>
              <a:t>Peserta bekerja berpasangan. Reviewer memeriksa UTC, required field dan penggunaan nullable. Trainer meminta peserta menjelaskan mengapa Future berbeda dari hasilnya. Jika selesai cepat, ubah data dummy dan buktikan count berubah. Struktur inheritance yang tidak diperlukan belum menjadi tugas.</a:t>
            </a:r>
          </a:p>
          <a:p xmlns:a="http://schemas.openxmlformats.org/drawingml/2006/main">
            <a:r>
              <a:t/>
            </a:r>
          </a:p>
          <a:p xmlns:a="http://schemas.openxmlformats.org/drawingml/2006/main">
            <a:r>
              <a:t>PRAKTIK: Jalankan starter pada Android dan catat versi SDK Buat tiga Inspection dengan kondisi berbeda Hitung record needs_action dengan where Buat fungsi Future yang mengembalikan daftar</a:t>
            </a:r>
          </a:p>
          <a:p xmlns:a="http://schemas.openxmlformats.org/drawingml/2006/main">
            <a:r>
              <a:t>BUKTI: App berjalan, model bertipe, dan hasil filter benar.</a:t>
            </a:r>
          </a:p>
          <a:p xmlns:a="http://schemas.openxmlformats.org/drawingml/2006/main">
            <a:r>
              <a:t>REVIEW: minta peserta mendemonstrasikan hasil sebelum melanjutkan.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7 menit.</a:t>
            </a:r>
          </a:p>
          <a:p xmlns:a="http://schemas.openxmlformats.org/drawingml/2006/main">
            <a:r>
              <a:t/>
            </a:r>
          </a:p>
          <a:p xmlns:a="http://schemas.openxmlformats.org/drawingml/2006/main">
            <a:r>
              <a:t>TUJUAN: Widget tree pada layar daftar.</a:t>
            </a:r>
          </a:p>
          <a:p xmlns:a="http://schemas.openxmlformats.org/drawingml/2006/main">
            <a:r>
              <a:t/>
            </a:r>
          </a:p>
          <a:p xmlns:a="http://schemas.openxmlformats.org/drawingml/2006/main">
            <a:r>
              <a:t>Tunjukkan hubungan parent-child, bukan urutan eksekusi. Scaffold mempunyai AppBar dan body. Body mengandung Column dengan header dan area Expanded untuk list. ListView mendapat tinggi yang terbatas dari parent. Buka Widget Inspector dan bandingkan tree dengan implementasi peserta.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https://docs.flutter.dev/ui/layout/constraints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4 menit.</a:t>
            </a:r>
          </a:p>
          <a:p xmlns:a="http://schemas.openxmlformats.org/drawingml/2006/main">
            <a:r>
              <a:t/>
            </a:r>
          </a:p>
          <a:p xmlns:a="http://schemas.openxmlformats.org/drawingml/2006/main">
            <a:r>
              <a:t>TUJUAN: StatelessWidget dan StatefulWidget.</a:t>
            </a:r>
          </a:p>
          <a:p xmlns:a="http://schemas.openxmlformats.org/drawingml/2006/main">
            <a:r>
              <a:t/>
            </a:r>
          </a:p>
          <a:p xmlns:a="http://schemas.openxmlformats.org/drawingml/2006/main">
            <a:r>
              <a:t>StatelessWidget tetap dapat rebuild ketika parent berubah. StatefulWidget adalah konfigurasi immutable sementara object State menyimpan nilai yang berubah. Contoh detail yang hanya membaca item cocok stateless. Form dengan controller dan kondisi dipilih memerlukan state. Hindari menyimpan semua business data langsung pada widget.</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7 menit.</a:t>
            </a:r>
          </a:p>
          <a:p xmlns:a="http://schemas.openxmlformats.org/drawingml/2006/main">
            <a:r>
              <a:t/>
            </a:r>
          </a:p>
          <a:p xmlns:a="http://schemas.openxmlformats.org/drawingml/2006/main">
            <a:r>
              <a:t>TUJUAN: Scaffold dan struktur layar.</a:t>
            </a:r>
          </a:p>
          <a:p xmlns:a="http://schemas.openxmlformats.org/drawingml/2006/main">
            <a:r>
              <a:t/>
            </a:r>
          </a:p>
          <a:p xmlns:a="http://schemas.openxmlformats.org/drawingml/2006/main">
            <a:r>
              <a:t>Snippet berada dalam build layar dan membutuhkan buildBody serta openForm. Tunjukkan struktur tersebut pada starter. SafeArea membantu area konten menghindari inset sistem, tetapi tidak menggantikan penanganan keyboard dan scroll. AppBar menyediakan navigation affordance dan judul yang konsisten.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6 menit.</a:t>
            </a:r>
          </a:p>
          <a:p xmlns:a="http://schemas.openxmlformats.org/drawingml/2006/main">
            <a:r>
              <a:t/>
            </a:r>
          </a:p>
          <a:p xmlns:a="http://schemas.openxmlformats.org/drawingml/2006/main">
            <a:r>
              <a:t>TUJUAN: Constraint dan ukuran widget.</a:t>
            </a:r>
          </a:p>
          <a:p xmlns:a="http://schemas.openxmlformats.org/drawingml/2006/main">
            <a:r>
              <a:t/>
            </a:r>
          </a:p>
          <a:p xmlns:a="http://schemas.openxmlformats.org/drawingml/2006/main">
            <a:r>
              <a:t>Konsep constraint menjelaskan mengapa width yang diminta tidak selalu menjadi ukuran akhir. Gunakan contoh Column di body dan ListView tanpa Expanded. Minta peserta menunjukkan parent mana yang tidak membatasi tinggi. Diagram atau Inspector harus menghubungkan gejala dengan hubungan ukuran, bukan hanya mengganti angka.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https://docs.flutter.dev/ui/layout/constraints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4 menit.</a:t>
            </a:r>
          </a:p>
          <a:p xmlns:a="http://schemas.openxmlformats.org/drawingml/2006/main">
            <a:r>
              <a:t/>
            </a:r>
          </a:p>
          <a:p xmlns:a="http://schemas.openxmlformats.org/drawingml/2006/main">
            <a:r>
              <a:t>TUJUAN: Row, Column dan teks panjang.</a:t>
            </a:r>
          </a:p>
          <a:p xmlns:a="http://schemas.openxmlformats.org/drawingml/2006/main">
            <a:r>
              <a:t/>
            </a:r>
          </a:p>
          <a:p xmlns:a="http://schemas.openxmlformats.org/drawingml/2006/main">
            <a:r>
              <a:t>Demo Row berisi kode aset panjang dan status. Jika teks overflow, periksa child yang tidak fleksibel. Gunakan Flexible untuk text atau ubah komposisi menjadi Column jika lebih mudah dibaca. Jangan memperbaiki semua layar dengan fixed width yang cocok hanya pada satu device.</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https://docs.flutter.dev/ui/layout/constraints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6 menit.</a:t>
            </a:r>
          </a:p>
          <a:p xmlns:a="http://schemas.openxmlformats.org/drawingml/2006/main">
            <a:r>
              <a:t/>
            </a:r>
          </a:p>
          <a:p xmlns:a="http://schemas.openxmlformats.org/drawingml/2006/main">
            <a:r>
              <a:t>TUJUAN: Expanded dan Flexible.</a:t>
            </a:r>
          </a:p>
          <a:p xmlns:a="http://schemas.openxmlformats.org/drawingml/2006/main">
            <a:r>
              <a:t/>
            </a:r>
          </a:p>
          <a:p xmlns:a="http://schemas.openxmlformats.org/drawingml/2006/main">
            <a:r>
              <a:t>Expanded dan Flexible perlu parent Flex yang sesuai seperti Row atau Column. Arah tanpa batas, misalnya Column dalam scroll vertikal, membutuhkan perhatian. Mengaktifkan shrinkWrap pada setiap list dapat membuat pekerjaan layout bertambah. Gunakan solusi yang menjelaskan constraint.</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https://docs.flutter.dev/ui/layout/constraints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7 menit.</a:t>
            </a:r>
          </a:p>
          <a:p xmlns:a="http://schemas.openxmlformats.org/drawingml/2006/main">
            <a:r>
              <a:t/>
            </a:r>
          </a:p>
          <a:p xmlns:a="http://schemas.openxmlformats.org/drawingml/2006/main">
            <a:r>
              <a:t>TUJUAN: ListView builder dan ID item.</a:t>
            </a:r>
          </a:p>
          <a:p xmlns:a="http://schemas.openxmlformats.org/drawingml/2006/main">
            <a:r>
              <a:t/>
            </a:r>
          </a:p>
          <a:p xmlns:a="http://schemas.openxmlformats.org/drawingml/2006/main">
            <a:r>
              <a:t>ListView.builder membuat widget item sesuai kebutuhan viewport. ID stabil menjaga identitas saat record baru masuk atau list difilter. index tidak mewakili identitas record ketika urutan berubah. openDetail menerima object yang dipilih sehingga detail tidak membaca index dari daftar yang sudah berubah.</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4 menit.</a:t>
            </a:r>
          </a:p>
          <a:p xmlns:a="http://schemas.openxmlformats.org/drawingml/2006/main">
            <a:r>
              <a:t/>
            </a:r>
          </a:p>
          <a:p xmlns:a="http://schemas.openxmlformats.org/drawingml/2006/main">
            <a:r>
              <a:t>TUJUAN: Komponen reusable.</a:t>
            </a:r>
          </a:p>
          <a:p xmlns:a="http://schemas.openxmlformats.org/drawingml/2006/main">
            <a:r>
              <a:t/>
            </a:r>
          </a:p>
          <a:p xmlns:a="http://schemas.openxmlformats.org/drawingml/2006/main">
            <a:r>
              <a:t>Buat komponen saat tanggung jawab jelas, bukan untuk memecah setiap Container menjadi file. Komponen status menggunakan teks selain warna agar kondisi tetap dapat dikenali. Tanyakan input dan output komponen. Kode reusable yang mempunyai terlalu banyak boolean perlu dievaluasi kembali.</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7 menit.</a:t>
            </a:r>
          </a:p>
          <a:p xmlns:a="http://schemas.openxmlformats.org/drawingml/2006/main">
            <a:r>
              <a:t/>
            </a:r>
          </a:p>
          <a:p xmlns:a="http://schemas.openxmlformats.org/drawingml/2006/main">
            <a:r>
              <a:t>TUJUAN: Theme dan typography aplikasi.</a:t>
            </a:r>
          </a:p>
          <a:p xmlns:a="http://schemas.openxmlformats.org/drawingml/2006/main">
            <a:r>
              <a:t/>
            </a:r>
          </a:p>
          <a:p xmlns:a="http://schemas.openxmlformats.org/drawingml/2006/main">
            <a:r>
              <a:t>Gunakan theme untuk styling konsisten. Peserta dapat mengambil textTheme melalui Theme.of(context). Hindari hardcode ukuran/warna yang bertentangan di setiap layar. Tampilkan contoh titleLarge pada detail dan label form. App latihan tidak memakai logo DPL atau identitas resmi yang belum diberikan.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4 menit.</a:t>
            </a:r>
          </a:p>
          <a:p xmlns:a="http://schemas.openxmlformats.org/drawingml/2006/main">
            <a:r>
              <a:t/>
            </a:r>
          </a:p>
          <a:p xmlns:a="http://schemas.openxmlformats.org/drawingml/2006/main">
            <a:r>
              <a:t>TUJUAN: Responsive UI dan keyboard.</a:t>
            </a:r>
          </a:p>
          <a:p xmlns:a="http://schemas.openxmlformats.org/drawingml/2006/main">
            <a:r>
              <a:t/>
            </a:r>
          </a:p>
          <a:p xmlns:a="http://schemas.openxmlformats.org/drawingml/2006/main">
            <a:r>
              <a:t>LayoutBuilder mengamati constraint lokal, sedangkan MediaQuery menyediakan informasi perangkat/inset. Uji lebar 360 logical pixels dan landscape. Jangan menambahkan MediaQuery ke semua elemen jika layout normal sudah cukup. Aksesibilitas mencakup label, kontras, touch target dan urutan fokus.</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9 menit.</a:t>
            </a:r>
          </a:p>
          <a:p xmlns:a="http://schemas.openxmlformats.org/drawingml/2006/main">
            <a:r>
              <a:t/>
            </a:r>
          </a:p>
          <a:p xmlns:a="http://schemas.openxmlformats.org/drawingml/2006/main">
            <a:r>
              <a:t>TUJUAN: Asset lokal pada pubspec.</a:t>
            </a:r>
          </a:p>
          <a:p xmlns:a="http://schemas.openxmlformats.org/drawingml/2006/main">
            <a:r>
              <a:t/>
            </a:r>
          </a:p>
          <a:p xmlns:a="http://schemas.openxmlformats.org/drawingml/2006/main">
            <a:r>
              <a:t>Jelaskan indentation YAML. Peserta boleh menggunakan asset yang mereka miliki atau melewati demonstrasi gambar jika tidak ada file. Jangan menyatakan file equipment.png ada dalam starter. Lakukan pub get dan full restart jika asset belum terdeteksi. Hari ketiga membahas image picker dari perangkat.</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https://docs.flutter.dev/ui/assets/assets-and-images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10.15-12.00: Widget dan layout. ALOKASI 40 menit.</a:t>
            </a:r>
          </a:p>
          <a:p xmlns:a="http://schemas.openxmlformats.org/drawingml/2006/main">
            <a:r>
              <a:t/>
            </a:r>
          </a:p>
          <a:p xmlns:a="http://schemas.openxmlformats.org/drawingml/2006/main">
            <a:r>
              <a:t>TUJUAN: Praktik 2 daftar dan detail.</a:t>
            </a:r>
          </a:p>
          <a:p xmlns:a="http://schemas.openxmlformats.org/drawingml/2006/main">
            <a:r>
              <a:t/>
            </a:r>
          </a:p>
          <a:p xmlns:a="http://schemas.openxmlformats.org/drawingml/2006/main">
            <a:r>
              <a:t>Bagilah 40 menit menjadi 25 menit implementasi, 10 menit pengujian dan 5 menit review pasangan. Trainer memeriksa data detail cocok dengan record kedua, bukan selalu record pertama. Prioritaskan constraints dan alur dibanding dekorasi atau animasi. Jika starter dipakai, peserta tetap mengubah dan menjelaskan komponen sendiri.</a:t>
            </a:r>
          </a:p>
          <a:p xmlns:a="http://schemas.openxmlformats.org/drawingml/2006/main">
            <a:r>
              <a:t/>
            </a:r>
          </a:p>
          <a:p xmlns:a="http://schemas.openxmlformats.org/drawingml/2006/main">
            <a:r>
              <a:t>PRAKTIK: Bangun daftar dengan ListView.builder dan key ID Buka detail record yang dipilih Pisahkan satu komponen yang dipakai berulang Uji landscape, teks panjang dan constraint</a:t>
            </a:r>
          </a:p>
          <a:p xmlns:a="http://schemas.openxmlformats.org/drawingml/2006/main">
            <a:r>
              <a:t>BUKTI: Screenshot daftar dan detail tanpa overflow.</a:t>
            </a:r>
          </a:p>
          <a:p xmlns:a="http://schemas.openxmlformats.org/drawingml/2006/main">
            <a:r>
              <a:t>REVIEW: minta peserta mendemonstrasikan hasil sebelum melanjutkan.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6 menit.</a:t>
            </a:r>
          </a:p>
          <a:p xmlns:a="http://schemas.openxmlformats.org/drawingml/2006/main">
            <a:r>
              <a:t/>
            </a:r>
          </a:p>
          <a:p xmlns:a="http://schemas.openxmlformats.org/drawingml/2006/main">
            <a:r>
              <a:t>TUJUAN: Lifecycle State dan resource.</a:t>
            </a:r>
          </a:p>
          <a:p xmlns:a="http://schemas.openxmlformats.org/drawingml/2006/main">
            <a:r>
              <a:t/>
            </a:r>
          </a:p>
          <a:p xmlns:a="http://schemas.openxmlformats.org/drawingml/2006/main">
            <a:r>
              <a:t>build tidak menjadi tempat request atau controller baru. Lifecycle resource mengikuti pemilik resource. Jika service digunakan global, satu layar tidak boleh menutupnya sembarangan. Pada hari pertama controller teks dimiliki form dan dilepas ketika form ditutup.</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TextEditingController dan dispose.</a:t>
            </a:r>
          </a:p>
          <a:p xmlns:a="http://schemas.openxmlformats.org/drawingml/2006/main">
            <a:r>
              <a:t/>
            </a:r>
          </a:p>
          <a:p xmlns:a="http://schemas.openxmlformats.org/drawingml/2006/main">
            <a:r>
              <a:t>Tunjukkan gejala teks ter-reset bila controller dibuat dalam build. Lalu pindahkan controller ke field State. Setiap controller yang dibuat oleh form harus di-dispose oleh form. dispose bukan tempat melakukan setState atau navigasi baru.</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State pada daftar inspeksi.</a:t>
            </a:r>
          </a:p>
          <a:p xmlns:a="http://schemas.openxmlformats.org/drawingml/2006/main">
            <a:r>
              <a:t/>
            </a:r>
          </a:p>
          <a:p xmlns:a="http://schemas.openxmlformats.org/drawingml/2006/main">
            <a:r>
              <a:t>Loading menunjukkan proses berjalan. Success mempunyai items, sedangkan empty merupakan request valid dengan hasil kosong. Error mempunyai pesan dan retry. Gunakan state yang saling jelas supaya request gagal tidak tampak seperti belum ada data. Diagram ini menunjukkan pilihan hasil, bukan timing paralel.</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Async dan pemeriksaan mounted.</a:t>
            </a:r>
          </a:p>
          <a:p xmlns:a="http://schemas.openxmlformats.org/drawingml/2006/main">
            <a:r>
              <a:t/>
            </a:r>
          </a:p>
          <a:p xmlns:a="http://schemas.openxmlformats.org/drawingml/2006/main">
            <a:r>
              <a:t>Contoh berada pada State layar. Guard menolak load ganda dan error lama dibersihkan ketika retry dimulai. Callback setState tetap sinkron dan tidak menerima async. Uji menutup halaman saat delay masih berjalan untuk menjelaskan mengapa mounted diperlukan. Request cancellation merupakan langkah lanjutan sesuai kebutuhan aplikasi.</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https://dart.dev/language/async</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Navigator mengembalikan hasil form.</a:t>
            </a:r>
          </a:p>
          <a:p xmlns:a="http://schemas.openxmlformats.org/drawingml/2006/main">
            <a:r>
              <a:t/>
            </a:r>
          </a:p>
          <a:p xmlns:a="http://schemas.openxmlformats.org/drawingml/2006/main">
            <a:r>
              <a:t>Layar daftar menjadi pemilik mutation list. Form mengembalikan record, bukan ikut mengubah list global. Batal form menghasilkan null. Detail hanya menerima item sebagai input. Periksa mounted setelah await navigation karena layar asal mungkin sudah dilepas.</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https://docs.flutter.dev/cookbook/navigation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Form dan field wajib.</a:t>
            </a:r>
          </a:p>
          <a:p xmlns:a="http://schemas.openxmlformats.org/drawingml/2006/main">
            <a:r>
              <a:t/>
            </a:r>
          </a:p>
          <a:p xmlns:a="http://schemas.openxmlformats.org/drawingml/2006/main">
            <a:r>
              <a:t>Tempatkan TextFormField sebagai descendant Form yang mempunyai key. Validator mengembalikan pesan atau null. Validasi trim memastikan spasi saja tidak lolos. Error client membantu pengguna, tetapi backend tetap perlu validasi yang sama ketika API ditambahkan pada hari kedua.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https://docs.flutter.dev/cookbook/forms/validation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Aturan temuan sebagai fungsi murni.</a:t>
            </a:r>
          </a:p>
          <a:p xmlns:a="http://schemas.openxmlformats.org/drawingml/2006/main">
            <a:r>
              <a:t/>
            </a:r>
          </a:p>
          <a:p xmlns:a="http://schemas.openxmlformats.org/drawingml/2006/main">
            <a:r>
              <a:t>Fungsi ini tidak menerima BuildContext sehingga mudah dipakai kembali dan diuji. Demo nilai good dengan note kosong, needs_action dengan catatan pendek, dan needs_action dengan catatan valid. Validator di field note membaca kondisi form yang sedang dipilih. Hari ketiga akan menulis unit test aturan ini.</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7 menit.</a:t>
            </a:r>
          </a:p>
          <a:p xmlns:a="http://schemas.openxmlformats.org/drawingml/2006/main">
            <a:r>
              <a:t/>
            </a:r>
          </a:p>
          <a:p xmlns:a="http://schemas.openxmlformats.org/drawingml/2006/main">
            <a:r>
              <a:t>TUJUAN: Simpan form dan pembuatan record.</a:t>
            </a:r>
          </a:p>
          <a:p xmlns:a="http://schemas.openxmlformats.org/drawingml/2006/main">
            <a:r>
              <a:t/>
            </a:r>
          </a:p>
          <a:p xmlns:a="http://schemas.openxmlformats.org/drawingml/2006/main">
            <a:r>
              <a:t>currentState digunakan pada Form yang terpasang. ID timestamp merupakan strategi sederhana untuk latihan lokal, bukan jaminan ID global production. Saat API digunakan, server akan menghasilkan ID. Pastikan validator berjalan sebelum object dibuat. Tombol batal hanya pop tanpa record.</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https://docs.flutter.dev/cookbook/navigation</a:t>
            </a:r>
          </a:p>
          <a:p xmlns:a="http://schemas.openxmlformats.org/drawingml/2006/main">
            <a:r>
              <a:t>https://dart.dev/language</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13.00-14.30: State, navigation dan form. ALOKASI 35 menit.</a:t>
            </a:r>
          </a:p>
          <a:p xmlns:a="http://schemas.openxmlformats.org/drawingml/2006/main">
            <a:r>
              <a:t/>
            </a:r>
          </a:p>
          <a:p xmlns:a="http://schemas.openxmlformats.org/drawingml/2006/main">
            <a:r>
              <a:t>TUJUAN: Praktik 3 form dan navigation.</a:t>
            </a:r>
          </a:p>
          <a:p xmlns:a="http://schemas.openxmlformats.org/drawingml/2006/main">
            <a:r>
              <a:t/>
            </a:r>
          </a:p>
          <a:p xmlns:a="http://schemas.openxmlformats.org/drawingml/2006/main">
            <a:r>
              <a:t>Alokasikan 20 menit implementasi, 10 menit skenario uji dan 5 menit review. Peserta mengisi form dua kali dan membuktikan kedua ID berbeda. Trainer memilih skenario batal sesudah mengetik untuk memastikan form tidak menyimpan diam-diam. Simpan screenshot yang akan diperiksa dalam PRD.</a:t>
            </a:r>
          </a:p>
          <a:p xmlns:a="http://schemas.openxmlformats.org/drawingml/2006/main">
            <a:r>
              <a:t/>
            </a:r>
          </a:p>
          <a:p xmlns:a="http://schemas.openxmlformats.org/drawingml/2006/main">
            <a:r>
              <a:t>PRAKTIK: Tambahkan kode aset, lokasi, kondisi dan catatan Terapkan validasi wajib dan aturan temuan Kembalikan record ke daftar melalui Navigator Uji input spasi, catatan pendek, save dan cancel</a:t>
            </a:r>
          </a:p>
          <a:p xmlns:a="http://schemas.openxmlformats.org/drawingml/2006/main">
            <a:r>
              <a:t>BUKTI: Form invalid tetap terbuka, record valid muncul sekali.</a:t>
            </a:r>
          </a:p>
          <a:p xmlns:a="http://schemas.openxmlformats.org/drawingml/2006/main">
            <a:r>
              <a:t>REVIEW: minta peserta mendemonstrasikan hasil sebelum melanjutkan.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8 menit.</a:t>
            </a:r>
          </a:p>
          <a:p xmlns:a="http://schemas.openxmlformats.org/drawingml/2006/main">
            <a:r>
              <a:t/>
            </a:r>
          </a:p>
          <a:p xmlns:a="http://schemas.openxmlformats.org/drawingml/2006/main">
            <a:r>
              <a:t>TUJUAN: Debugging dengan Inspector dan breakpoint.</a:t>
            </a:r>
          </a:p>
          <a:p xmlns:a="http://schemas.openxmlformats.org/drawingml/2006/main">
            <a:r>
              <a:t/>
            </a:r>
          </a:p>
          <a:p xmlns:a="http://schemas.openxmlformats.org/drawingml/2006/main">
            <a:r>
              <a:t>Demo membaca error pertama yang menjelaskan penyebab. Gunakan Inspector untuk constraint dan debugger untuk alur logic. Log tidak boleh menjadi dump semua object ketika aplikasi nanti berisi token. Minta peserta menemukan satu bug tanpa trainer langsung memberikan perubahan kode.</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https://docs.flutter.dev/tools/devtools/inspector</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10 menit.</a:t>
            </a:r>
          </a:p>
          <a:p xmlns:a="http://schemas.openxmlformats.org/drawingml/2006/main">
            <a:r>
              <a:t/>
            </a:r>
          </a:p>
          <a:p xmlns:a="http://schemas.openxmlformats.org/drawingml/2006/main">
            <a:r>
              <a:t>TUJUAN: Gejala layout dan penyebab.</a:t>
            </a:r>
          </a:p>
          <a:p xmlns:a="http://schemas.openxmlformats.org/drawingml/2006/main">
            <a:r>
              <a:t/>
            </a:r>
          </a:p>
          <a:p xmlns:a="http://schemas.openxmlformats.org/drawingml/2006/main">
            <a:r>
              <a:t>Tampilkan error yang sengaja dibuat pada proyek latihan. Minta peserta menyebut sebab sebelum mencoba solusi. shrinkWrap atau ukuran tetap dapat membantu dalam konteks tertentu, tetapi tidak dijadikan perubahan universal. Bentuk layout harus tetap dapat dijelaskan.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https://docs.flutter.dev/ui/layout/constraints</a:t>
            </a:r>
          </a:p>
          <a:p xmlns:a="http://schemas.openxmlformats.org/drawingml/2006/main">
            <a:r>
              <a:t>https://docs.flutter.dev/testing/common-errors</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8 menit.</a:t>
            </a:r>
          </a:p>
          <a:p xmlns:a="http://schemas.openxmlformats.org/drawingml/2006/main">
            <a:r>
              <a:t/>
            </a:r>
          </a:p>
          <a:p xmlns:a="http://schemas.openxmlformats.org/drawingml/2006/main">
            <a:r>
              <a:t>TUJUAN: Keterbacaan dan akses input.</a:t>
            </a:r>
          </a:p>
          <a:p xmlns:a="http://schemas.openxmlformats.org/drawingml/2006/main">
            <a:r>
              <a:t/>
            </a:r>
          </a:p>
          <a:p xmlns:a="http://schemas.openxmlformats.org/drawingml/2006/main">
            <a:r>
              <a:t>Uji ukuran font perangkat yang lebih besar dan orientasi landscape. Periksa field terakhir, pesan error dan tombol save. Jangan memasukkan istilah internal seperti controller atau endpoint ke user flow. Accessibility berlanjut pada tahap production, tetapi kebiasaan dasar dipraktikkan mulai hari pertama.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https://docs.flutter.dev/ui</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8 menit.</a:t>
            </a:r>
          </a:p>
          <a:p xmlns:a="http://schemas.openxmlformats.org/drawingml/2006/main">
            <a:r>
              <a:t/>
            </a:r>
          </a:p>
          <a:p xmlns:a="http://schemas.openxmlformats.org/drawingml/2006/main">
            <a:r>
              <a:t>TUJUAN: Review pemilik state.</a:t>
            </a:r>
          </a:p>
          <a:p xmlns:a="http://schemas.openxmlformats.org/drawingml/2006/main">
            <a:r>
              <a:t/>
            </a:r>
          </a:p>
          <a:p xmlns:a="http://schemas.openxmlformats.org/drawingml/2006/main">
            <a:r>
              <a:t>Reviewer menelusuri satu aksi save dari callback sampai daftar berubah. Bila perubahan terjadi pada dua tempat, risiko duplikasi naik. Gunakan review ini untuk mempersiapkan pemisahan controller/repository pada hari kedua. Hindari refactor besar ketika acceptance UI belum lulus.</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30 menit.</a:t>
            </a:r>
          </a:p>
          <a:p xmlns:a="http://schemas.openxmlformats.org/drawingml/2006/main">
            <a:r>
              <a:t/>
            </a:r>
          </a:p>
          <a:p xmlns:a="http://schemas.openxmlformats.org/drawingml/2006/main">
            <a:r>
              <a:t>TUJUAN: Praktik 4 error, empty dan UI.</a:t>
            </a:r>
          </a:p>
          <a:p xmlns:a="http://schemas.openxmlformats.org/drawingml/2006/main">
            <a:r>
              <a:t/>
            </a:r>
          </a:p>
          <a:p xmlns:a="http://schemas.openxmlformats.org/drawingml/2006/main">
            <a:r>
              <a:t>Starter mempunyai menu Demo kosong dan Demo error. Peserta boleh memakai menu tersebut lalu menjelaskan state. Jangan menimpa item baru secara tak sengaja ketika reload seed. Sisa waktu dipakai untuk memperbaiki bug prioritas sebelum checkpoint Git.</a:t>
            </a:r>
          </a:p>
          <a:p xmlns:a="http://schemas.openxmlformats.org/drawingml/2006/main">
            <a:r>
              <a:t/>
            </a:r>
          </a:p>
          <a:p xmlns:a="http://schemas.openxmlformats.org/drawingml/2006/main">
            <a:r>
              <a:t>PRAKTIK: Tambahkan simulasi loading dan error sekali Tampilkan empty state dengan aksi tambah Pastikan retry memulihkan daftar Perbaiki satu masalah layout atau lifecycle</a:t>
            </a:r>
          </a:p>
          <a:p xmlns:a="http://schemas.openxmlformats.org/drawingml/2006/main">
            <a:r>
              <a:t>BUKTI: Demo loading, empty, error/retry dan form dengan keyboard.</a:t>
            </a:r>
          </a:p>
          <a:p xmlns:a="http://schemas.openxmlformats.org/drawingml/2006/main">
            <a:r>
              <a:t>REVIEW: minta peserta mendemonstrasikan hasil sebelum melanjutkan.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14.45-16.00: Debugging dan penyempurnaan UI. ALOKASI 11 menit.</a:t>
            </a:r>
          </a:p>
          <a:p xmlns:a="http://schemas.openxmlformats.org/drawingml/2006/main">
            <a:r>
              <a:t/>
            </a:r>
          </a:p>
          <a:p xmlns:a="http://schemas.openxmlformats.org/drawingml/2006/main">
            <a:r>
              <a:t>TUJUAN: Checkpoint Git hari pertama.</a:t>
            </a:r>
          </a:p>
          <a:p xmlns:a="http://schemas.openxmlformats.org/drawingml/2006/main">
            <a:r>
              <a:t/>
            </a:r>
          </a:p>
          <a:p xmlns:a="http://schemas.openxmlformats.org/drawingml/2006/main">
            <a:r>
              <a:t>Periksa file yang staged sebelum commit. Project template menyediakan .gitignore untuk banyak artefak build, tetapi peserta tetap membaca hasil git status. Tag day-1 menyimpan titik lanjut yang jelas. Jangan menambahkan credential atau file hasil build besar tanpa kebutuhan.</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16.00-16.30: Review dan checkpoint. ALOKASI 10 menit.</a:t>
            </a:r>
          </a:p>
          <a:p xmlns:a="http://schemas.openxmlformats.org/drawingml/2006/main">
            <a:r>
              <a:t/>
            </a:r>
          </a:p>
          <a:p xmlns:a="http://schemas.openxmlformats.org/drawingml/2006/main">
            <a:r>
              <a:t>TUJUAN: Evaluasi pemahaman hari pertama.</a:t>
            </a:r>
          </a:p>
          <a:p xmlns:a="http://schemas.openxmlformats.org/drawingml/2006/main">
            <a:r>
              <a:t/>
            </a:r>
          </a:p>
          <a:p xmlns:a="http://schemas.openxmlformats.org/drawingml/2006/main">
            <a:r>
              <a:t>Minta peserta menjawab tanpa membaca source. Gunakan contoh konkret dari latihan. Jika jawaban salah, minta mereka menunjuk bagian kode yang menyebabkan gejala. Jawaban ada pada notes untuk trainer.</a:t>
            </a:r>
          </a:p>
          <a:p xmlns:a="http://schemas.openxmlformats.org/drawingml/2006/main">
            <a:r>
              <a:t/>
            </a:r>
          </a:p>
          <a:p xmlns:a="http://schemas.openxmlformats.org/drawingml/2006/main">
            <a:r>
              <a:t>KUNCI EVALUASI:</a:t>
            </a:r>
          </a:p>
          <a:p xmlns:a="http://schemas.openxmlformats.org/drawingml/2006/main">
            <a:r>
              <a:t>build dapat dipanggil berulang dan memicu side effect/request berulang.</a:t>
            </a:r>
          </a:p>
          <a:p xmlns:a="http://schemas.openxmlformats.org/drawingml/2006/main">
            <a:r>
              <a:t>Empty adalah hasil valid tanpa item. Error berarti proses gagal.</a:t>
            </a:r>
          </a:p>
          <a:p xmlns:a="http://schemas.openxmlformats.org/drawingml/2006/main">
            <a:r>
              <a:t>Layar daftar atau pemilik state daftar. Form mengembalikan record.</a:t>
            </a:r>
          </a:p>
          <a:p xmlns:a="http://schemas.openxmlformats.org/drawingml/2006/main">
            <a:r>
              <a:t>Async dapat selesai setelah State dilepas sehingga UI tidak lagi boleh diubah.</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16.00-16.30: Review dan checkpoint. ALOKASI 8 menit.</a:t>
            </a:r>
          </a:p>
          <a:p xmlns:a="http://schemas.openxmlformats.org/drawingml/2006/main">
            <a:r>
              <a:t/>
            </a:r>
          </a:p>
          <a:p xmlns:a="http://schemas.openxmlformats.org/drawingml/2006/main">
            <a:r>
              <a:t>TUJUAN: Acceptance checkpoint day-1.</a:t>
            </a:r>
          </a:p>
          <a:p xmlns:a="http://schemas.openxmlformats.org/drawingml/2006/main">
            <a:r>
              <a:t/>
            </a:r>
          </a:p>
          <a:p xmlns:a="http://schemas.openxmlformats.org/drawingml/2006/main">
            <a:r>
              <a:t>Gunakan AC1-AC8 lengkap pada PRD Hari 1. Trainer memilih record kedua, input spasi dan catatan needs_action pendek sebagai spot check. Bukti menunjukkan perilaku, bukan hanya screenshot UI tanpa data. Semua kriteria inti harus stabil sebelum integrasi API.</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16.00-16.30: Review dan checkpoint. ALOKASI 8 menit.</a:t>
            </a:r>
          </a:p>
          <a:p xmlns:a="http://schemas.openxmlformats.org/drawingml/2006/main">
            <a:r>
              <a:t/>
            </a:r>
          </a:p>
          <a:p xmlns:a="http://schemas.openxmlformats.org/drawingml/2006/main">
            <a:r>
              <a:t>TUJUAN: Handover hari pertama.</a:t>
            </a:r>
          </a:p>
          <a:p xmlns:a="http://schemas.openxmlformats.org/drawingml/2006/main">
            <a:r>
              <a:t/>
            </a:r>
          </a:p>
          <a:p xmlns:a="http://schemas.openxmlformats.org/drawingml/2006/main">
            <a:r>
              <a:t>Peserta memberi demo pendek per pasangan dan menyerahkan bukti. Jika checkpoint belum lulus, tentukan bug yang harus diperbaiki sebelum hari kedua. Trainer boleh memberikan baseline yang dapat dijalankan, tetapi peserta tetap menjelaskan dan memperbaiki perubahan miliknya.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16.00-16.30: Review dan checkpoint. ALOKASI 4 menit.</a:t>
            </a:r>
          </a:p>
          <a:p xmlns:a="http://schemas.openxmlformats.org/drawingml/2006/main">
            <a:r>
              <a:t/>
            </a:r>
          </a:p>
          <a:p xmlns:a="http://schemas.openxmlformats.org/drawingml/2006/main">
            <a:r>
              <a:t>TUJUAN: Referensi dan persiapan hari kedua.</a:t>
            </a:r>
          </a:p>
          <a:p xmlns:a="http://schemas.openxmlformats.org/drawingml/2006/main">
            <a:r>
              <a:t/>
            </a:r>
          </a:p>
          <a:p xmlns:a="http://schemas.openxmlformats.org/drawingml/2006/main">
            <a:r>
              <a:t>Sumber utama: https://dart.dev/language</a:t>
            </a:r>
          </a:p>
          <a:p xmlns:a="http://schemas.openxmlformats.org/drawingml/2006/main">
            <a:r>
              <a:t>https://docs.flutter.dev/ui/layout/constraints</a:t>
            </a:r>
          </a:p>
          <a:p xmlns:a="http://schemas.openxmlformats.org/drawingml/2006/main">
            <a:r>
              <a:t>https://docs.flutter.dev/cookbook/navigation</a:t>
            </a:r>
          </a:p>
          <a:p xmlns:a="http://schemas.openxmlformats.org/drawingml/2006/main">
            <a:r>
              <a:t>https://docs.flutter.dev/cookbook/forms/validation. Contoh source memerlukan dry run pada SDK kelas. Kode slide berupa potongan untuk demonstrasi dan memakai context/variabel dari project latihan. File lengkap tersedia dalam paket praktik sebelumnya.</a:t>
            </a:r>
          </a:p>
          <a:p xmlns:a="http://schemas.openxmlformats.org/drawingml/2006/main">
            <a:r>
              <a:t/>
            </a:r>
          </a:p>
          <a:p xmlns:a="http://schemas.openxmlformats.org/drawingml/2006/main">
            <a:r>
              <a:t>PERTANYAAN DISKUSI: Bagian mana yang berubah pada proyek latihan, dan bagaimana Anda membuktikan hasilnya?</a:t>
            </a:r>
          </a:p>
          <a:p xmlns:a="http://schemas.openxmlformats.org/drawingml/2006/main">
            <a:r>
              <a:t/>
            </a:r>
          </a:p>
          <a:p xmlns:a="http://schemas.openxmlformats.org/drawingml/2006/main">
            <a:r>
              <a:t>RUJUKAN:</a:t>
            </a:r>
          </a:p>
          <a:p xmlns:a="http://schemas.openxmlformats.org/drawingml/2006/main">
            <a:r>
              <a:t>https://dart.dev/language</a:t>
            </a:r>
          </a:p>
          <a:p xmlns:a="http://schemas.openxmlformats.org/drawingml/2006/main">
            <a:r>
              <a:t>https://docs.flutter.dev/ui/layout/constraints</a:t>
            </a:r>
          </a:p>
          <a:p xmlns:a="http://schemas.openxmlformats.org/drawingml/2006/main">
            <a:r>
              <a:t>https://docs.flutter.dev/cookbook/navigation</a:t>
            </a:r>
          </a:p>
          <a:p xmlns:a="http://schemas.openxmlformats.org/drawingml/2006/main">
            <a:r>
              <a:t>Materi dan PRD Hari 1, paket Flutter DPL 3 Hari, 03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ec3a9a6be04bb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50a5eeda4247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1a46eb32674e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3cd45841834b2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5748eeae5142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ef9c7e474848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A8ADBB9-7089-40DB-876B-5A03590F8213}"/>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7899359-6648-41B3-9C67-0228F87FFE1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304D582-509D-42A2-8391-FF08B329339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76A61F3-CAC1-41DF-9CED-9A954B5F066B}"/>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7C95AC95-DAC5-4757-8058-5A1687E8A8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0E0DA17-720B-430B-9032-7C13A038D18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8BF440B-FDFB-46C3-8304-CDA7193079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E81E1343-C4F0-4CD8-A0BC-985874FFDB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3269339D-6B3D-4194-95D9-F1242D1ECAA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78DC948-D0EC-4F67-A0B4-F9DE47820B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96D8CC5-C87A-4287-9122-F2DF011590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E10E9B4-E2E6-4EED-908D-C20E315691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DA79764-A47B-4CAE-8FA4-07FC7639DD3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E220F81-B48B-42AC-944E-33009D454E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CFE0F69-0D13-434B-A87A-0E8A1D4DC2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bd26cd42c64ac6" /><Relationship Type="http://schemas.openxmlformats.org/officeDocument/2006/relationships/slideLayout" Target="/ppt/slideLayouts/slideLayout1.xml" Id="Ra70daf3cbb424987" /><Relationship Type="http://schemas.openxmlformats.org/officeDocument/2006/relationships/slideLayout" Target="/ppt/slideLayouts/slideLayout2.xml" Id="R3694ac198c1d4975" /><Relationship Type="http://schemas.openxmlformats.org/officeDocument/2006/relationships/slideLayout" Target="/ppt/slideLayouts/slideLayout3.xml" Id="R3d4519a65c3b4a2b" /><Relationship Type="http://schemas.openxmlformats.org/officeDocument/2006/relationships/slideLayout" Target="/ppt/slideLayouts/slideLayout4.xml" Id="R70d37bfd4c9e4256" /><Relationship Type="http://schemas.openxmlformats.org/officeDocument/2006/relationships/slideLayout" Target="/ppt/slideLayouts/slideLayout5.xml" Id="R5e6f85a87f7043f4" /><Relationship Type="http://schemas.openxmlformats.org/officeDocument/2006/relationships/slideLayout" Target="/ppt/slideLayouts/slideLayout6.xml" Id="R8b1a5425044e41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0daf3cbb424987"/>
    <p:sldLayoutId xmlns:r="http://schemas.openxmlformats.org/officeDocument/2006/relationships" id="2147483650" r:id="R3694ac198c1d4975"/>
    <p:sldLayoutId xmlns:r="http://schemas.openxmlformats.org/officeDocument/2006/relationships" id="2147483651" r:id="R3d4519a65c3b4a2b"/>
    <p:sldLayoutId xmlns:r="http://schemas.openxmlformats.org/officeDocument/2006/relationships" id="2147483652" r:id="R70d37bfd4c9e4256"/>
    <p:sldLayoutId xmlns:r="http://schemas.openxmlformats.org/officeDocument/2006/relationships" id="2147483653" r:id="R5e6f85a87f7043f4"/>
    <p:sldLayoutId xmlns:r="http://schemas.openxmlformats.org/officeDocument/2006/relationships" id="2147483654" r:id="R8b1a5425044e41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df9341981646fd" /><Relationship Type="http://schemas.openxmlformats.org/officeDocument/2006/relationships/notesSlide" Target="/ppt/notesSlides/notesSlide1.xml" Id="R0c9b7eaf11db4f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71533a965a4114" /><Relationship Type="http://schemas.openxmlformats.org/officeDocument/2006/relationships/notesSlide" Target="/ppt/notesSlides/notesSlide2.xml" Id="R025f53a90cfe4a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409783712fe48f6" /><Relationship Type="http://schemas.openxmlformats.org/officeDocument/2006/relationships/notesSlide" Target="/ppt/notesSlides/notesSlide3.xml" Id="R78732396186646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e87b84761874d33" /><Relationship Type="http://schemas.openxmlformats.org/officeDocument/2006/relationships/notesSlide" Target="/ppt/notesSlides/notesSlide4.xml" Id="R7a216920f7cf4a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ded4597620e4286" /><Relationship Type="http://schemas.openxmlformats.org/officeDocument/2006/relationships/notesSlide" Target="/ppt/notesSlides/notesSlide5.xml" Id="R0b5d731121d545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db7a86cc8a4606" /><Relationship Type="http://schemas.openxmlformats.org/officeDocument/2006/relationships/notesSlide" Target="/ppt/notesSlides/notesSlide6.xml" Id="R01460db8222842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a97b70c776049f7" /><Relationship Type="http://schemas.openxmlformats.org/officeDocument/2006/relationships/notesSlide" Target="/ppt/notesSlides/notesSlide7.xml" Id="Rb3b27d3b29c74b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7e34c3887df4b7a" /><Relationship Type="http://schemas.openxmlformats.org/officeDocument/2006/relationships/notesSlide" Target="/ppt/notesSlides/notesSlide8.xml" Id="R77b26997da8642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94f29a1e6074cf6" /><Relationship Type="http://schemas.openxmlformats.org/officeDocument/2006/relationships/notesSlide" Target="/ppt/notesSlides/notesSlide9.xml" Id="R7ad451ea9f8245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87fcd0a64fe4d69" /><Relationship Type="http://schemas.openxmlformats.org/officeDocument/2006/relationships/notesSlide" Target="/ppt/notesSlides/notesSlide10.xml" Id="R71190db7e81041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5b4c6eb544d4275" /><Relationship Type="http://schemas.openxmlformats.org/officeDocument/2006/relationships/notesSlide" Target="/ppt/notesSlides/notesSlide11.xml" Id="R093c994bfe2a42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88585b3a0c24474" /><Relationship Type="http://schemas.openxmlformats.org/officeDocument/2006/relationships/notesSlide" Target="/ppt/notesSlides/notesSlide12.xml" Id="Rda35e82f4b974a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0d61a28ce1a4114" /><Relationship Type="http://schemas.openxmlformats.org/officeDocument/2006/relationships/notesSlide" Target="/ppt/notesSlides/notesSlide13.xml" Id="Rc4a0cfa1be1b47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75acb36539459a" /><Relationship Type="http://schemas.openxmlformats.org/officeDocument/2006/relationships/notesSlide" Target="/ppt/notesSlides/notesSlide14.xml" Id="Ra301e2e1189548a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464ecde5e184541" /><Relationship Type="http://schemas.openxmlformats.org/officeDocument/2006/relationships/notesSlide" Target="/ppt/notesSlides/notesSlide15.xml" Id="R1ae4a43d8cd14e9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715a3c757cb4a11" /><Relationship Type="http://schemas.openxmlformats.org/officeDocument/2006/relationships/notesSlide" Target="/ppt/notesSlides/notesSlide16.xml" Id="R3476809a7dd942b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4392ab9e2284719" /><Relationship Type="http://schemas.openxmlformats.org/officeDocument/2006/relationships/notesSlide" Target="/ppt/notesSlides/notesSlide17.xml" Id="R8a9154c588864a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4a3dbb45a3f47b8" /><Relationship Type="http://schemas.openxmlformats.org/officeDocument/2006/relationships/notesSlide" Target="/ppt/notesSlides/notesSlide18.xml" Id="R9f51b548f5ce4d8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c6ce6f6b4fb44db" /><Relationship Type="http://schemas.openxmlformats.org/officeDocument/2006/relationships/notesSlide" Target="/ppt/notesSlides/notesSlide19.xml" Id="R7c707109ba9f420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076d0644d2e4c79" /><Relationship Type="http://schemas.openxmlformats.org/officeDocument/2006/relationships/notesSlide" Target="/ppt/notesSlides/notesSlide20.xml" Id="Rb97424759ed143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176d05cb3b7403a" /><Relationship Type="http://schemas.openxmlformats.org/officeDocument/2006/relationships/notesSlide" Target="/ppt/notesSlides/notesSlide21.xml" Id="R86de86bcbb60479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bd6320e77dc459f" /><Relationship Type="http://schemas.openxmlformats.org/officeDocument/2006/relationships/notesSlide" Target="/ppt/notesSlides/notesSlide22.xml" Id="R31118fe3d964492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7b07b708d874c18" /><Relationship Type="http://schemas.openxmlformats.org/officeDocument/2006/relationships/notesSlide" Target="/ppt/notesSlides/notesSlide23.xml" Id="Rbfa8f9e0ee0849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7cf17555fe84013" /><Relationship Type="http://schemas.openxmlformats.org/officeDocument/2006/relationships/notesSlide" Target="/ppt/notesSlides/notesSlide24.xml" Id="R9c0baeafa350443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ed5440a7b9f493d" /><Relationship Type="http://schemas.openxmlformats.org/officeDocument/2006/relationships/notesSlide" Target="/ppt/notesSlides/notesSlide25.xml" Id="R18690c14e25d459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bfe9ca4f2304337" /><Relationship Type="http://schemas.openxmlformats.org/officeDocument/2006/relationships/notesSlide" Target="/ppt/notesSlides/notesSlide26.xml" Id="Rc98c0abe3eba4c1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c377f419f24be1" /><Relationship Type="http://schemas.openxmlformats.org/officeDocument/2006/relationships/notesSlide" Target="/ppt/notesSlides/notesSlide27.xml" Id="Re0d7b5fcc101448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b67ad6d5e7e447a" /><Relationship Type="http://schemas.openxmlformats.org/officeDocument/2006/relationships/notesSlide" Target="/ppt/notesSlides/notesSlide28.xml" Id="Rb5b41eebe8fc4cd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41ff084cba94faf" /><Relationship Type="http://schemas.openxmlformats.org/officeDocument/2006/relationships/notesSlide" Target="/ppt/notesSlides/notesSlide29.xml" Id="R7b92843a6ac748f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c938d31d7834fd7" /><Relationship Type="http://schemas.openxmlformats.org/officeDocument/2006/relationships/notesSlide" Target="/ppt/notesSlides/notesSlide30.xml" Id="Rbb90147a43df4b8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3e89dc8fbed48cf" /><Relationship Type="http://schemas.openxmlformats.org/officeDocument/2006/relationships/notesSlide" Target="/ppt/notesSlides/notesSlide31.xml" Id="R33d2489a965648e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9a65fdbd20b4bd4" /><Relationship Type="http://schemas.openxmlformats.org/officeDocument/2006/relationships/notesSlide" Target="/ppt/notesSlides/notesSlide32.xml" Id="R031ca9eccaff496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3b983ab3a8440e9" /><Relationship Type="http://schemas.openxmlformats.org/officeDocument/2006/relationships/notesSlide" Target="/ppt/notesSlides/notesSlide33.xml" Id="Rff774a8eb1dd417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143e627ac2c42ab" /><Relationship Type="http://schemas.openxmlformats.org/officeDocument/2006/relationships/notesSlide" Target="/ppt/notesSlides/notesSlide34.xml" Id="R836ccae8746b454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a588790dc2243df" /><Relationship Type="http://schemas.openxmlformats.org/officeDocument/2006/relationships/notesSlide" Target="/ppt/notesSlides/notesSlide35.xml" Id="R8495b5623dcb4ad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1753b1f1cb84a2d" /><Relationship Type="http://schemas.openxmlformats.org/officeDocument/2006/relationships/notesSlide" Target="/ppt/notesSlides/notesSlide36.xml" Id="Rff09f54e900042c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eb9cb86a25340fc" /><Relationship Type="http://schemas.openxmlformats.org/officeDocument/2006/relationships/notesSlide" Target="/ppt/notesSlides/notesSlide37.xml" Id="Ra4416ee9e80d4ec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9c70deb38a54677" /><Relationship Type="http://schemas.openxmlformats.org/officeDocument/2006/relationships/notesSlide" Target="/ppt/notesSlides/notesSlide38.xml" Id="Rfd00dcf6fda2491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78c918f662f422c" /><Relationship Type="http://schemas.openxmlformats.org/officeDocument/2006/relationships/notesSlide" Target="/ppt/notesSlides/notesSlide39.xml" Id="R62b093208432461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85eeedfd5f04ca7" /><Relationship Type="http://schemas.openxmlformats.org/officeDocument/2006/relationships/notesSlide" Target="/ppt/notesSlides/notesSlide40.xml" Id="Rec894259326745c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4780a6386cc4e55" /><Relationship Type="http://schemas.openxmlformats.org/officeDocument/2006/relationships/notesSlide" Target="/ppt/notesSlides/notesSlide41.xml" Id="Rf4cb93499a6b44e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bf8462b1ca8466d" /><Relationship Type="http://schemas.openxmlformats.org/officeDocument/2006/relationships/notesSlide" Target="/ppt/notesSlides/notesSlide42.xml" Id="R25f14cea1dbf469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eef8ae5851fa45a8" /><Relationship Type="http://schemas.openxmlformats.org/officeDocument/2006/relationships/notesSlide" Target="/ppt/notesSlides/notesSlide43.xml" Id="R01d93210e161471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38bac03eb07d43a5" /><Relationship Type="http://schemas.openxmlformats.org/officeDocument/2006/relationships/notesSlide" Target="/ppt/notesSlides/notesSlide44.xml" Id="Rc32c458c90574328" /></Relationships>
</file>

<file path=ppt/slides/slide1.xml><?xml version="1.0" encoding="utf-8"?>
<p:sld xmlns:p="http://schemas.openxmlformats.org/presentationml/2006/main">
  <p:cSld>
    <p:bg>
      <p:bgPr>
        <a:solidFill xmlns:a="http://schemas.openxmlformats.org/drawingml/2006/main">
          <a:srgbClr val="102D40"/>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C3025CC8-092A-4816-A27C-FAC988BDFDBC}"/>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Dart dan Flutter UI</a:t>
            </a:r>
          </a:p>
        </p:txBody>
      </p:sp>
      <p:sp>
        <p:nvSpPr>
          <p:cNvPr id="2" name="text-1-674">
            <a:extLst xmlns:a="http://schemas.openxmlformats.org/drawingml/2006/main">
              <a:ext uri="{FF2B5EF4-FFF2-40B4-BE49-F238E27FC236}">
                <a16:creationId xmlns:a16="http://schemas.microsoft.com/office/drawing/2014/main" id="{AA9624A8-D5CC-4E83-A5A6-26CCE640D81D}"/>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C6E5E7"/>
                </a:solidFill>
                <a:latin typeface="DejaVu Sans"/>
                <a:ea typeface="DejaVu Sans"/>
                <a:cs typeface="DejaVu Sans"/>
              </a:defRPr>
            </a:pPr>
            <a:r>
              <a:rPr sz="1200" b="0">
                <a:solidFill>
                  <a:srgbClr val="C6E5E7"/>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FA0E34DC-487A-4F69-B284-3AE4CB94B7AB}"/>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C6E5E7"/>
                </a:solidFill>
                <a:latin typeface="DejaVu Sans"/>
                <a:ea typeface="DejaVu Sans"/>
                <a:cs typeface="DejaVu Sans"/>
              </a:defRPr>
            </a:pPr>
            <a:r>
              <a:rPr sz="1200" b="0">
                <a:solidFill>
                  <a:srgbClr val="C6E5E7"/>
                </a:solidFill>
                <a:latin typeface="DejaVu Sans"/>
                <a:ea typeface="DejaVu Sans"/>
                <a:cs typeface="DejaVu Sans"/>
              </a:rPr>
              <a:t>01</a:t>
            </a:r>
          </a:p>
        </p:txBody>
      </p:sp>
      <p:sp>
        <p:nvSpPr>
          <p:cNvPr id="4" name="text-3-100">
            <a:extLst xmlns:a="http://schemas.openxmlformats.org/drawingml/2006/main">
              <a:ext uri="{FF2B5EF4-FFF2-40B4-BE49-F238E27FC236}">
                <a16:creationId xmlns:a16="http://schemas.microsoft.com/office/drawing/2014/main" id="{7BF88787-E492-425E-AC84-469E8BA4C746}"/>
              </a:ext>
            </a:extLst>
          </p:cNvPr>
          <p:cNvSpPr>
            <a:spLocks xmlns:a="http://schemas.openxmlformats.org/drawingml/2006/main" noGrp="1"/>
          </p:cNvSpPr>
          <p:nvPr/>
        </p:nvSpPr>
        <p:spPr>
          <a:xfrm xmlns:a="http://schemas.openxmlformats.org/drawingml/2006/main">
            <a:off x="609600" y="952500"/>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BD9D4"/>
                </a:solidFill>
                <a:latin typeface="DejaVu Sans"/>
                <a:ea typeface="DejaVu Sans"/>
                <a:cs typeface="DejaVu Sans"/>
              </a:defRPr>
            </a:pPr>
            <a:r>
              <a:rPr sz="2100" b="1">
                <a:solidFill>
                  <a:srgbClr val="8BD9D4"/>
                </a:solidFill>
                <a:latin typeface="DejaVu Sans"/>
                <a:ea typeface="DejaVu Sans"/>
                <a:cs typeface="DejaVu Sans"/>
              </a:rPr>
              <a:t>HARI 1</a:t>
            </a:r>
          </a:p>
        </p:txBody>
      </p:sp>
      <p:sp>
        <p:nvSpPr>
          <p:cNvPr id="5" name="text-4-210">
            <a:extLst xmlns:a="http://schemas.openxmlformats.org/drawingml/2006/main">
              <a:ext uri="{FF2B5EF4-FFF2-40B4-BE49-F238E27FC236}">
                <a16:creationId xmlns:a16="http://schemas.microsoft.com/office/drawing/2014/main" id="{9226814A-C0D1-46C9-ACFF-1EAD8FECA912}"/>
              </a:ext>
            </a:extLst>
          </p:cNvPr>
          <p:cNvSpPr>
            <a:spLocks xmlns:a="http://schemas.openxmlformats.org/drawingml/2006/main" noGrp="1"/>
          </p:cNvSpPr>
          <p:nvPr/>
        </p:nvSpPr>
        <p:spPr>
          <a:xfrm xmlns:a="http://schemas.openxmlformats.org/drawingml/2006/main">
            <a:off x="609600" y="2000250"/>
            <a:ext cx="10382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4650" b="1">
                <a:solidFill>
                  <a:srgbClr val="FFFFFF"/>
                </a:solidFill>
                <a:latin typeface="DejaVu Sans"/>
                <a:ea typeface="DejaVu Sans"/>
                <a:cs typeface="DejaVu Sans"/>
              </a:defRPr>
            </a:pPr>
            <a:r>
              <a:rPr sz="4650" b="1">
                <a:solidFill>
                  <a:srgbClr val="FFFFFF"/>
                </a:solidFill>
                <a:latin typeface="DejaVu Sans"/>
                <a:ea typeface="DejaVu Sans"/>
                <a:cs typeface="DejaVu Sans"/>
              </a:rPr>
              <a:t>Dart dan Flutter UI</a:t>
            </a:r>
          </a:p>
        </p:txBody>
      </p:sp>
      <p:sp>
        <p:nvSpPr>
          <p:cNvPr id="6" name="text-5-435">
            <a:extLst xmlns:a="http://schemas.openxmlformats.org/drawingml/2006/main">
              <a:ext uri="{FF2B5EF4-FFF2-40B4-BE49-F238E27FC236}">
                <a16:creationId xmlns:a16="http://schemas.microsoft.com/office/drawing/2014/main" id="{5F24B5A0-CB65-4073-B953-386551C0C244}"/>
              </a:ext>
            </a:extLst>
          </p:cNvPr>
          <p:cNvSpPr>
            <a:spLocks xmlns:a="http://schemas.openxmlformats.org/drawingml/2006/main" noGrp="1"/>
          </p:cNvSpPr>
          <p:nvPr/>
        </p:nvSpPr>
        <p:spPr>
          <a:xfrm xmlns:a="http://schemas.openxmlformats.org/drawingml/2006/main">
            <a:off x="609600" y="4143375"/>
            <a:ext cx="952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250" b="0">
                <a:solidFill>
                  <a:srgbClr val="C6E5E7"/>
                </a:solidFill>
                <a:latin typeface="DejaVu Sans"/>
                <a:ea typeface="DejaVu Sans"/>
                <a:cs typeface="DejaVu Sans"/>
              </a:defRPr>
            </a:pPr>
            <a:r>
              <a:rPr sz="2250" b="0">
                <a:solidFill>
                  <a:srgbClr val="C6E5E7"/>
                </a:solidFill>
                <a:latin typeface="DejaVu Sans"/>
                <a:ea typeface="DejaVu Sans"/>
                <a:cs typeface="DejaVu Sans"/>
              </a:rPr>
              <a:t>Hari 1 training Flutter Android</a:t>
            </a:r>
          </a:p>
          <a:p xmlns:a="http://schemas.openxmlformats.org/drawingml/2006/main">
            <a:pPr>
              <a:lnSpc>
                <a:spcPct val="112000"/>
              </a:lnSpc>
              <a:buNone/>
              <a:defRPr sz="2250" b="0">
                <a:solidFill>
                  <a:srgbClr val="C6E5E7"/>
                </a:solidFill>
                <a:latin typeface="DejaVu Sans"/>
                <a:ea typeface="DejaVu Sans"/>
                <a:cs typeface="DejaVu Sans"/>
              </a:defRPr>
            </a:pPr>
            <a:r>
              <a:rPr sz="2250" b="0">
                <a:solidFill>
                  <a:srgbClr val="C6E5E7"/>
                </a:solidFill>
                <a:latin typeface="DejaVu Sans"/>
                <a:ea typeface="DejaVu Sans"/>
                <a:cs typeface="DejaVu Sans"/>
              </a:rPr>
              <a:t>Proyek latihan inspeksi peralatan</a:t>
            </a:r>
          </a:p>
        </p:txBody>
      </p:sp>
      <p:sp>
        <p:nvSpPr>
          <p:cNvPr id="7" name="text-6-610">
            <a:extLst xmlns:a="http://schemas.openxmlformats.org/drawingml/2006/main">
              <a:ext uri="{FF2B5EF4-FFF2-40B4-BE49-F238E27FC236}">
                <a16:creationId xmlns:a16="http://schemas.microsoft.com/office/drawing/2014/main" id="{9981DF0E-28A0-401F-BB29-66D69BC4F173}"/>
              </a:ext>
            </a:extLst>
          </p:cNvPr>
          <p:cNvSpPr>
            <a:spLocks xmlns:a="http://schemas.openxmlformats.org/drawingml/2006/main" noGrp="1"/>
          </p:cNvSpPr>
          <p:nvPr/>
        </p:nvSpPr>
        <p:spPr>
          <a:xfrm xmlns:a="http://schemas.openxmlformats.org/drawingml/2006/main">
            <a:off x="609600" y="58102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PT. Dok Pantai Lamongan</a:t>
            </a:r>
          </a:p>
        </p:txBody>
      </p:sp>
    </p:spTree>
    <p:extLst>
      <p:ext uri="{BB962C8B-B14F-4D97-AF65-F5344CB8AC3E}">
        <p14:creationId xmlns:p14="http://schemas.microsoft.com/office/powerpoint/2010/main" val="54909107"/>
      </p:ext>
    </p:extLst>
  </p:cSld>
</p:sld>
</file>

<file path=ppt/slides/slide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D6284FA3-B780-4269-8FDB-720D1D269366}"/>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Hasil belajar hari pertama</a:t>
            </a:r>
          </a:p>
        </p:txBody>
      </p:sp>
      <p:sp>
        <p:nvSpPr>
          <p:cNvPr id="2" name="text-1-674">
            <a:extLst xmlns:a="http://schemas.openxmlformats.org/drawingml/2006/main">
              <a:ext uri="{FF2B5EF4-FFF2-40B4-BE49-F238E27FC236}">
                <a16:creationId xmlns:a16="http://schemas.microsoft.com/office/drawing/2014/main" id="{E5A163A0-75EE-4DE6-A0B5-8885167BA3F7}"/>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E55946A9-123F-46BF-9B01-487C72044913}"/>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02</a:t>
            </a:r>
          </a:p>
        </p:txBody>
      </p:sp>
      <p:sp>
        <p:nvSpPr>
          <p:cNvPr id="4" name="text-3-180">
            <a:extLst xmlns:a="http://schemas.openxmlformats.org/drawingml/2006/main">
              <a:ext uri="{FF2B5EF4-FFF2-40B4-BE49-F238E27FC236}">
                <a16:creationId xmlns:a16="http://schemas.microsoft.com/office/drawing/2014/main" id="{2E85DECD-7704-4B04-AB05-F257E65962CF}"/>
              </a:ext>
            </a:extLst>
          </p:cNvPr>
          <p:cNvSpPr>
            <a:spLocks xmlns:a="http://schemas.openxmlformats.org/drawingml/2006/main" noGrp="1"/>
          </p:cNvSpPr>
          <p:nvPr/>
        </p:nvSpPr>
        <p:spPr>
          <a:xfrm xmlns:a="http://schemas.openxmlformats.org/drawingml/2006/main">
            <a:off x="609600" y="1714500"/>
            <a:ext cx="10763250"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Model Inspection mempunyai tipe dan aturan yang jelas</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Daftar dan detail bekerja dengan data lokal</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Form menolak input invalid dan mengembalikan record</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Loading, empty, error dan retry tampil dengan jelas</a:t>
            </a:r>
          </a:p>
        </p:txBody>
      </p:sp>
    </p:spTree>
    <p:extLst>
      <p:ext uri="{BB962C8B-B14F-4D97-AF65-F5344CB8AC3E}">
        <p14:creationId xmlns:p14="http://schemas.microsoft.com/office/powerpoint/2010/main" val="1939450596"/>
      </p:ext>
    </p:extLst>
  </p:cSld>
</p:sld>
</file>

<file path=ppt/slides/slide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56583DB3-ED2A-4B7A-B8D0-3945BA6C4572}"/>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Agenda hari pertama</a:t>
            </a:r>
          </a:p>
        </p:txBody>
      </p:sp>
      <p:sp>
        <p:nvSpPr>
          <p:cNvPr id="2" name="text-1-674">
            <a:extLst xmlns:a="http://schemas.openxmlformats.org/drawingml/2006/main">
              <a:ext uri="{FF2B5EF4-FFF2-40B4-BE49-F238E27FC236}">
                <a16:creationId xmlns:a16="http://schemas.microsoft.com/office/drawing/2014/main" id="{322E12A6-6F9E-42D3-8865-B83EDCA6F769}"/>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37C8646B-7E87-439B-A460-495283ECED9E}"/>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03</a:t>
            </a:r>
          </a:p>
        </p:txBody>
      </p:sp>
      <p:graphicFrame>
        <p:nvGraphicFramePr>
          <p:cNvPr id="8"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194560"/>
                <a:gridCol w="4389120"/>
                <a:gridCol w="4389120"/>
              </a:tblGrid>
              <a:tr h="685800">
                <a:tc>
                  <a:txBody>
                    <a:bodyPr lIns="123825" tIns="76200" rIns="123825" bIns="76200">
                      <a:noAutofit/>
                    </a:bodyPr>
                    <a:lstStyle/>
                    <a:p>
                      <a:r>
                        <a:rPr sz="1800" b="1">
                          <a:solidFill>
                            <a:srgbClr val="FFFFFF"/>
                          </a:solidFill>
                          <a:latin typeface="DejaVu Sans"/>
                          <a:ea typeface="DejaVu Sans"/>
                          <a:cs typeface="DejaVu Sans"/>
                        </a:rPr>
                        <a:t>Sesi</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Materi</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Checkpoint</a:t>
                      </a:r>
                    </a:p>
                  </a:txBody>
                  <a:tcPr marL="91440" marR="91440" marT="45720" marB="45720" anchor="ctr">
                    <a:solidFill>
                      <a:srgbClr val="102D40"/>
                    </a:solidFill>
                  </a:tcPr>
                </a:tc>
              </a:tr>
              <a:tr h="685800">
                <a:tc>
                  <a:txBody>
                    <a:bodyPr lIns="123825" tIns="76200" rIns="123825" bIns="76200">
                      <a:noAutofit/>
                    </a:bodyPr>
                    <a:lstStyle/>
                    <a:p>
                      <a:r>
                        <a:rPr sz="1800" b="0">
                          <a:solidFill>
                            <a:srgbClr val="193447"/>
                          </a:solidFill>
                          <a:latin typeface="DejaVu Sans"/>
                          <a:ea typeface="DejaVu Sans"/>
                          <a:cs typeface="DejaVu Sans"/>
                        </a:rPr>
                        <a:t>08.30-10.00</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Flutter dan Dart</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Model dan app berjalan</a:t>
                      </a:r>
                    </a:p>
                  </a:txBody>
                  <a:tcPr marL="91440" marR="91440" marT="45720" marB="45720" anchor="ctr">
                    <a:solidFill>
                      <a:srgbClr val="FFFFFF"/>
                    </a:solidFill>
                  </a:tcPr>
                </a:tc>
              </a:tr>
              <a:tr h="685800">
                <a:tc>
                  <a:txBody>
                    <a:bodyPr lIns="123825" tIns="76200" rIns="123825" bIns="76200">
                      <a:noAutofit/>
                    </a:bodyPr>
                    <a:lstStyle/>
                    <a:p>
                      <a:r>
                        <a:rPr sz="1800" b="0">
                          <a:solidFill>
                            <a:srgbClr val="193447"/>
                          </a:solidFill>
                          <a:latin typeface="DejaVu Sans"/>
                          <a:ea typeface="DejaVu Sans"/>
                          <a:cs typeface="DejaVu Sans"/>
                        </a:rPr>
                        <a:t>10.15-12.00</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Widget dan layout</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Daftar dan detail</a:t>
                      </a:r>
                    </a:p>
                  </a:txBody>
                  <a:tcPr marL="91440" marR="91440" marT="45720" marB="45720" anchor="ctr">
                    <a:solidFill>
                      <a:srgbClr val="EDF4F6"/>
                    </a:solidFill>
                  </a:tcPr>
                </a:tc>
              </a:tr>
              <a:tr h="685800">
                <a:tc>
                  <a:txBody>
                    <a:bodyPr lIns="123825" tIns="76200" rIns="123825" bIns="76200">
                      <a:noAutofit/>
                    </a:bodyPr>
                    <a:lstStyle/>
                    <a:p>
                      <a:r>
                        <a:rPr sz="1800" b="0">
                          <a:solidFill>
                            <a:srgbClr val="193447"/>
                          </a:solidFill>
                          <a:latin typeface="DejaVu Sans"/>
                          <a:ea typeface="DejaVu Sans"/>
                          <a:cs typeface="DejaVu Sans"/>
                        </a:rPr>
                        <a:t>13.00-14.30</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State, form, navigation</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Tambah record valid</a:t>
                      </a:r>
                    </a:p>
                  </a:txBody>
                  <a:tcPr marL="91440" marR="91440" marT="45720" marB="45720" anchor="ctr">
                    <a:solidFill>
                      <a:srgbClr val="FFFFFF"/>
                    </a:solidFill>
                  </a:tcPr>
                </a:tc>
              </a:tr>
              <a:tr h="685800">
                <a:tc>
                  <a:txBody>
                    <a:bodyPr lIns="123825" tIns="76200" rIns="123825" bIns="76200">
                      <a:noAutofit/>
                    </a:bodyPr>
                    <a:lstStyle/>
                    <a:p>
                      <a:r>
                        <a:rPr sz="1800" b="0">
                          <a:solidFill>
                            <a:srgbClr val="193447"/>
                          </a:solidFill>
                          <a:latin typeface="DejaVu Sans"/>
                          <a:ea typeface="DejaVu Sans"/>
                          <a:cs typeface="DejaVu Sans"/>
                        </a:rPr>
                        <a:t>14.45-16.00</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Debugging UI</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Error dan retry stabil</a:t>
                      </a:r>
                    </a:p>
                  </a:txBody>
                  <a:tcPr marL="91440" marR="91440" marT="45720" marB="45720" anchor="ctr">
                    <a:solidFill>
                      <a:srgbClr val="EDF4F6"/>
                    </a:solidFill>
                  </a:tcPr>
                </a:tc>
              </a:tr>
              <a:tr h="685800">
                <a:tc>
                  <a:txBody>
                    <a:bodyPr lIns="123825" tIns="76200" rIns="123825" bIns="76200">
                      <a:noAutofit/>
                    </a:bodyPr>
                    <a:lstStyle/>
                    <a:p>
                      <a:r>
                        <a:rPr sz="1800" b="0">
                          <a:solidFill>
                            <a:srgbClr val="193447"/>
                          </a:solidFill>
                          <a:latin typeface="DejaVu Sans"/>
                          <a:ea typeface="DejaVu Sans"/>
                          <a:cs typeface="DejaVu Sans"/>
                        </a:rPr>
                        <a:t>16.00-16.30</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Review</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Tag day-1</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023643547"/>
      </p:ext>
    </p:extLst>
  </p:cSld>
</p:sld>
</file>

<file path=ppt/slides/slide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B953B17B-7C04-4C10-8246-8B07DFE277F1}"/>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Kontrak proyek latihan</a:t>
            </a:r>
          </a:p>
        </p:txBody>
      </p:sp>
      <p:sp>
        <p:nvSpPr>
          <p:cNvPr id="2" name="text-1-674">
            <a:extLst xmlns:a="http://schemas.openxmlformats.org/drawingml/2006/main">
              <a:ext uri="{FF2B5EF4-FFF2-40B4-BE49-F238E27FC236}">
                <a16:creationId xmlns:a16="http://schemas.microsoft.com/office/drawing/2014/main" id="{6B2D5BA6-260B-456C-871B-06C03DF4DE06}"/>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40065F4E-3151-4A2E-BB73-5BB5B3B81596}"/>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04</a:t>
            </a:r>
          </a:p>
        </p:txBody>
      </p:sp>
      <p:graphicFrame>
        <p:nvGraphicFramePr>
          <p:cNvPr id="9"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194560"/>
                <a:gridCol w="4389120"/>
                <a:gridCol w="4389120"/>
              </a:tblGrid>
              <a:tr h="685800">
                <a:tc>
                  <a:txBody>
                    <a:bodyPr lIns="123825" tIns="76200" rIns="123825" bIns="76200">
                      <a:noAutofit/>
                    </a:bodyPr>
                    <a:lstStyle/>
                    <a:p>
                      <a:r>
                        <a:rPr sz="1800" b="1">
                          <a:solidFill>
                            <a:srgbClr val="FFFFFF"/>
                          </a:solidFill>
                          <a:latin typeface="DejaVu Sans"/>
                          <a:ea typeface="DejaVu Sans"/>
                          <a:cs typeface="DejaVu Sans"/>
                        </a:rPr>
                        <a:t>Field</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Aturan</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Contoh</a:t>
                      </a:r>
                    </a:p>
                  </a:txBody>
                  <a:tcPr marL="91440" marR="91440" marT="45720" marB="45720" anchor="ctr">
                    <a:solidFill>
                      <a:srgbClr val="102D40"/>
                    </a:solidFill>
                  </a:tcPr>
                </a:tc>
              </a:tr>
              <a:tr h="685800">
                <a:tc>
                  <a:txBody>
                    <a:bodyPr lIns="123825" tIns="76200" rIns="123825" bIns="76200">
                      <a:noAutofit/>
                    </a:bodyPr>
                    <a:lstStyle/>
                    <a:p>
                      <a:r>
                        <a:rPr sz="1800" b="0">
                          <a:solidFill>
                            <a:srgbClr val="193447"/>
                          </a:solidFill>
                          <a:latin typeface="DejaVu Sans"/>
                          <a:ea typeface="DejaVu Sans"/>
                          <a:cs typeface="DejaVu Sans"/>
                        </a:rPr>
                        <a:t>assetCode</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Wajib, trim, maksimal 30</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PMP-001</a:t>
                      </a:r>
                    </a:p>
                  </a:txBody>
                  <a:tcPr marL="91440" marR="91440" marT="45720" marB="45720" anchor="ctr">
                    <a:solidFill>
                      <a:srgbClr val="FFFFFF"/>
                    </a:solidFill>
                  </a:tcPr>
                </a:tc>
              </a:tr>
              <a:tr h="685800">
                <a:tc>
                  <a:txBody>
                    <a:bodyPr lIns="123825" tIns="76200" rIns="123825" bIns="76200">
                      <a:noAutofit/>
                    </a:bodyPr>
                    <a:lstStyle/>
                    <a:p>
                      <a:r>
                        <a:rPr sz="1800" b="0">
                          <a:solidFill>
                            <a:srgbClr val="193447"/>
                          </a:solidFill>
                          <a:latin typeface="DejaVu Sans"/>
                          <a:ea typeface="DejaVu Sans"/>
                          <a:cs typeface="DejaVu Sans"/>
                        </a:rPr>
                        <a:t>location</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Wajib, maksimal 80</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Workshop A</a:t>
                      </a:r>
                    </a:p>
                  </a:txBody>
                  <a:tcPr marL="91440" marR="91440" marT="45720" marB="45720" anchor="ctr">
                    <a:solidFill>
                      <a:srgbClr val="EDF4F6"/>
                    </a:solidFill>
                  </a:tcPr>
                </a:tc>
              </a:tr>
              <a:tr h="685800">
                <a:tc>
                  <a:txBody>
                    <a:bodyPr lIns="123825" tIns="76200" rIns="123825" bIns="76200">
                      <a:noAutofit/>
                    </a:bodyPr>
                    <a:lstStyle/>
                    <a:p>
                      <a:r>
                        <a:rPr sz="1800" b="0">
                          <a:solidFill>
                            <a:srgbClr val="193447"/>
                          </a:solidFill>
                          <a:latin typeface="DejaVu Sans"/>
                          <a:ea typeface="DejaVu Sans"/>
                          <a:cs typeface="DejaVu Sans"/>
                        </a:rPr>
                        <a:t>condition</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good atau needs_action</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Perlu tindak lanjut</a:t>
                      </a:r>
                    </a:p>
                  </a:txBody>
                  <a:tcPr marL="91440" marR="91440" marT="45720" marB="45720" anchor="ctr">
                    <a:solidFill>
                      <a:srgbClr val="FFFFFF"/>
                    </a:solidFill>
                  </a:tcPr>
                </a:tc>
              </a:tr>
              <a:tr h="685800">
                <a:tc>
                  <a:txBody>
                    <a:bodyPr lIns="123825" tIns="76200" rIns="123825" bIns="76200">
                      <a:noAutofit/>
                    </a:bodyPr>
                    <a:lstStyle/>
                    <a:p>
                      <a:r>
                        <a:rPr sz="1800" b="0">
                          <a:solidFill>
                            <a:srgbClr val="193447"/>
                          </a:solidFill>
                          <a:latin typeface="DejaVu Sans"/>
                          <a:ea typeface="DejaVu Sans"/>
                          <a:cs typeface="DejaVu Sans"/>
                        </a:rPr>
                        <a:t>note</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Maksimal 500 karakter</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Getaran motor tinggi</a:t>
                      </a:r>
                    </a:p>
                  </a:txBody>
                  <a:tcPr marL="91440" marR="91440" marT="45720" marB="45720" anchor="ctr">
                    <a:solidFill>
                      <a:srgbClr val="EDF4F6"/>
                    </a:solidFill>
                  </a:tcPr>
                </a:tc>
              </a:tr>
              <a:tr h="685800">
                <a:tc>
                  <a:txBody>
                    <a:bodyPr lIns="123825" tIns="76200" rIns="123825" bIns="76200">
                      <a:noAutofit/>
                    </a:bodyPr>
                    <a:lstStyle/>
                    <a:p>
                      <a:r>
                        <a:rPr sz="1800" b="0">
                          <a:solidFill>
                            <a:srgbClr val="193447"/>
                          </a:solidFill>
                          <a:latin typeface="DejaVu Sans"/>
                          <a:ea typeface="DejaVu Sans"/>
                          <a:cs typeface="DejaVu Sans"/>
                        </a:rPr>
                        <a:t>createdAt</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UTC, tampil waktu lokal</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Dibuat oleh sistem</a:t>
                      </a:r>
                    </a:p>
                  </a:txBody>
                  <a:tcPr marL="91440" marR="91440" marT="45720" marB="45720" anchor="ctr">
                    <a:solidFill>
                      <a:srgbClr val="FFFFFF"/>
                    </a:solidFill>
                  </a:tcPr>
                </a:tc>
              </a:tr>
            </a:tbl>
          </a:graphicData>
        </a:graphic>
      </p:graphicFrame>
      <p:sp>
        <p:nvSpPr>
          <p:cNvPr id="5" name="text-3-618">
            <a:extLst xmlns:a="http://schemas.openxmlformats.org/drawingml/2006/main">
              <a:ext uri="{FF2B5EF4-FFF2-40B4-BE49-F238E27FC236}">
                <a16:creationId xmlns:a16="http://schemas.microsoft.com/office/drawing/2014/main" id="{AC78E664-4D86-40AB-B8FD-0DDF0D7C0AEA}"/>
              </a:ext>
            </a:extLst>
          </p:cNvPr>
          <p:cNvSpPr>
            <a:spLocks xmlns:a="http://schemas.openxmlformats.org/drawingml/2006/main" noGrp="1"/>
          </p:cNvSpPr>
          <p:nvPr/>
        </p:nvSpPr>
        <p:spPr>
          <a:xfrm xmlns:a="http://schemas.openxmlformats.org/drawingml/2006/main">
            <a:off x="609600" y="58864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1">
                <a:solidFill>
                  <a:srgbClr val="007F85"/>
                </a:solidFill>
                <a:latin typeface="DejaVu Sans"/>
                <a:ea typeface="DejaVu Sans"/>
                <a:cs typeface="DejaVu Sans"/>
              </a:defRPr>
            </a:pPr>
            <a:r>
              <a:rPr sz="1725" b="1">
                <a:solidFill>
                  <a:srgbClr val="007F85"/>
                </a:solidFill>
                <a:latin typeface="DejaVu Sans"/>
                <a:ea typeface="DejaVu Sans"/>
                <a:cs typeface="DejaVu Sans"/>
              </a:rPr>
              <a:t>needs_action mewajibkan catatan minimal 10 karakter setelah trim</a:t>
            </a:r>
          </a:p>
        </p:txBody>
      </p:sp>
    </p:spTree>
    <p:extLst>
      <p:ext uri="{BB962C8B-B14F-4D97-AF65-F5344CB8AC3E}">
        <p14:creationId xmlns:p14="http://schemas.microsoft.com/office/powerpoint/2010/main" val="51787675"/>
      </p:ext>
    </p:extLst>
  </p:cSld>
</p:sld>
</file>

<file path=ppt/slides/slide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046FDA71-FF79-4501-B60F-1632A6611177}"/>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Flutter dan pengalaman Kotlin</a:t>
            </a:r>
          </a:p>
        </p:txBody>
      </p:sp>
      <p:sp>
        <p:nvSpPr>
          <p:cNvPr id="2" name="text-1-674">
            <a:extLst xmlns:a="http://schemas.openxmlformats.org/drawingml/2006/main">
              <a:ext uri="{FF2B5EF4-FFF2-40B4-BE49-F238E27FC236}">
                <a16:creationId xmlns:a16="http://schemas.microsoft.com/office/drawing/2014/main" id="{6FC770DD-ACE5-4FF9-84EB-C058D6E35C59}"/>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20839CE0-7DE6-496A-89B7-08E5ECD8540E}"/>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05</a:t>
            </a:r>
          </a:p>
        </p:txBody>
      </p:sp>
      <p:sp>
        <p:nvSpPr>
          <p:cNvPr id="4" name="text-3-180">
            <a:extLst xmlns:a="http://schemas.openxmlformats.org/drawingml/2006/main">
              <a:ext uri="{FF2B5EF4-FFF2-40B4-BE49-F238E27FC236}">
                <a16:creationId xmlns:a16="http://schemas.microsoft.com/office/drawing/2014/main" id="{CD58CC40-915C-412E-9F16-18E880539A20}"/>
              </a:ext>
            </a:extLst>
          </p:cNvPr>
          <p:cNvSpPr>
            <a:spLocks xmlns:a="http://schemas.openxmlformats.org/drawingml/2006/main" noGrp="1"/>
          </p:cNvSpPr>
          <p:nvPr/>
        </p:nvSpPr>
        <p:spPr>
          <a:xfrm xmlns:a="http://schemas.openxmlformats.org/drawingml/2006/main">
            <a:off x="609600" y="171450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Pengetahuan yang dapat dipakai</a:t>
            </a:r>
          </a:p>
        </p:txBody>
      </p:sp>
      <p:sp>
        <p:nvSpPr>
          <p:cNvPr id="5" name="text-4-180">
            <a:extLst xmlns:a="http://schemas.openxmlformats.org/drawingml/2006/main">
              <a:ext uri="{FF2B5EF4-FFF2-40B4-BE49-F238E27FC236}">
                <a16:creationId xmlns:a16="http://schemas.microsoft.com/office/drawing/2014/main" id="{EC44CE10-19BB-43D5-98B2-E9F31BEB5C7F}"/>
              </a:ext>
            </a:extLst>
          </p:cNvPr>
          <p:cNvSpPr>
            <a:spLocks xmlns:a="http://schemas.openxmlformats.org/drawingml/2006/main" noGrp="1"/>
          </p:cNvSpPr>
          <p:nvPr/>
        </p:nvSpPr>
        <p:spPr>
          <a:xfrm xmlns:a="http://schemas.openxmlformats.org/drawingml/2006/main">
            <a:off x="6477000" y="1714500"/>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Konsep Flutter yang perlu dipelajari</a:t>
            </a:r>
          </a:p>
        </p:txBody>
      </p:sp>
      <p:sp>
        <p:nvSpPr>
          <p:cNvPr id="6" name="text-5-296">
            <a:extLst xmlns:a="http://schemas.openxmlformats.org/drawingml/2006/main">
              <a:ext uri="{FF2B5EF4-FFF2-40B4-BE49-F238E27FC236}">
                <a16:creationId xmlns:a16="http://schemas.microsoft.com/office/drawing/2014/main" id="{2A00F904-7344-4C62-ABC6-B6FF074FFAAE}"/>
              </a:ext>
            </a:extLst>
          </p:cNvPr>
          <p:cNvSpPr>
            <a:spLocks xmlns:a="http://schemas.openxmlformats.org/drawingml/2006/main" noGrp="1"/>
          </p:cNvSpPr>
          <p:nvPr/>
        </p:nvSpPr>
        <p:spPr>
          <a:xfrm xmlns:a="http://schemas.openxmlformats.org/drawingml/2006/main">
            <a:off x="6096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Class dan model data</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Null safety dan tipe</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Fungsi asinkron</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State UI deklaratif</a:t>
            </a:r>
          </a:p>
        </p:txBody>
      </p:sp>
      <p:sp>
        <p:nvSpPr>
          <p:cNvPr id="7" name="text-6-296">
            <a:extLst xmlns:a="http://schemas.openxmlformats.org/drawingml/2006/main">
              <a:ext uri="{FF2B5EF4-FFF2-40B4-BE49-F238E27FC236}">
                <a16:creationId xmlns:a16="http://schemas.microsoft.com/office/drawing/2014/main" id="{7615D8C3-6E0B-4E57-BCE7-F1A43AAAC7A9}"/>
              </a:ext>
            </a:extLst>
          </p:cNvPr>
          <p:cNvSpPr>
            <a:spLocks xmlns:a="http://schemas.openxmlformats.org/drawingml/2006/main" noGrp="1"/>
          </p:cNvSpPr>
          <p:nvPr/>
        </p:nvSpPr>
        <p:spPr>
          <a:xfrm xmlns:a="http://schemas.openxmlformats.org/drawingml/2006/main">
            <a:off x="64770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Widget tree dan constraint</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Lifecycle State</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Navigator dan hasil halaman</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Package serta konfigurasi Android</a:t>
            </a:r>
          </a:p>
        </p:txBody>
      </p:sp>
    </p:spTree>
    <p:extLst>
      <p:ext uri="{BB962C8B-B14F-4D97-AF65-F5344CB8AC3E}">
        <p14:creationId xmlns:p14="http://schemas.microsoft.com/office/powerpoint/2010/main" val="414266189"/>
      </p:ext>
    </p:extLst>
  </p:cSld>
</p:sld>
</file>

<file path=ppt/slides/slide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1A8D8B94-4B32-4D26-9372-5BBB6E6D9BFA}"/>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Pemeriksaan toolchain Android</a:t>
            </a:r>
          </a:p>
        </p:txBody>
      </p:sp>
      <p:sp>
        <p:nvSpPr>
          <p:cNvPr id="2" name="text-1-674">
            <a:extLst xmlns:a="http://schemas.openxmlformats.org/drawingml/2006/main">
              <a:ext uri="{FF2B5EF4-FFF2-40B4-BE49-F238E27FC236}">
                <a16:creationId xmlns:a16="http://schemas.microsoft.com/office/drawing/2014/main" id="{06DC25F5-406A-4141-97DA-2D7EB6A861F5}"/>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1A43D7F3-D792-4E3D-84BC-A3488F862053}"/>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06</a:t>
            </a:r>
          </a:p>
        </p:txBody>
      </p:sp>
      <p:sp>
        <p:nvSpPr>
          <p:cNvPr id="4" name="text-3-193">
            <a:extLst xmlns:a="http://schemas.openxmlformats.org/drawingml/2006/main">
              <a:ext uri="{FF2B5EF4-FFF2-40B4-BE49-F238E27FC236}">
                <a16:creationId xmlns:a16="http://schemas.microsoft.com/office/drawing/2014/main" id="{FFB028C8-3E8A-48D1-8339-BD27090A45BB}"/>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flutter --version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dart --version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flutter doctor -v</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flutter devices</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flutter create --platforms=android dpl_inspection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cd dpl_inspection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flutter run</a:t>
            </a:r>
          </a:p>
        </p:txBody>
      </p:sp>
      <p:sp>
        <p:nvSpPr>
          <p:cNvPr id="5" name="text-4-633">
            <a:extLst xmlns:a="http://schemas.openxmlformats.org/drawingml/2006/main">
              <a:ext uri="{FF2B5EF4-FFF2-40B4-BE49-F238E27FC236}">
                <a16:creationId xmlns:a16="http://schemas.microsoft.com/office/drawing/2014/main" id="{9AAF1F8C-7DAB-41F2-9F2E-2E03CD1B419D}"/>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1">
                <a:solidFill>
                  <a:srgbClr val="007F85"/>
                </a:solidFill>
                <a:latin typeface="DejaVu Sans"/>
                <a:ea typeface="DejaVu Sans"/>
                <a:cs typeface="DejaVu Sans"/>
              </a:defRPr>
            </a:pPr>
            <a:r>
              <a:rPr sz="1725" b="1">
                <a:solidFill>
                  <a:srgbClr val="007F85"/>
                </a:solidFill>
                <a:latin typeface="DejaVu Sans"/>
                <a:ea typeface="DejaVu Sans"/>
                <a:cs typeface="DejaVu Sans"/>
              </a:rPr>
              <a:t>Bukti awal: app template berjalan pada emulator atau device</a:t>
            </a:r>
          </a:p>
        </p:txBody>
      </p:sp>
    </p:spTree>
    <p:extLst>
      <p:ext uri="{BB962C8B-B14F-4D97-AF65-F5344CB8AC3E}">
        <p14:creationId xmlns:p14="http://schemas.microsoft.com/office/powerpoint/2010/main" val="562368116"/>
      </p:ext>
    </p:extLst>
  </p:cSld>
</p:sld>
</file>

<file path=ppt/slides/slide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EAF69EDC-4003-4ABE-ACE4-4AF74D9E53EE}"/>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Struktur proyek Flutter</a:t>
            </a:r>
          </a:p>
        </p:txBody>
      </p:sp>
      <p:sp>
        <p:nvSpPr>
          <p:cNvPr id="2" name="text-1-674">
            <a:extLst xmlns:a="http://schemas.openxmlformats.org/drawingml/2006/main">
              <a:ext uri="{FF2B5EF4-FFF2-40B4-BE49-F238E27FC236}">
                <a16:creationId xmlns:a16="http://schemas.microsoft.com/office/drawing/2014/main" id="{0D64F84C-9F40-4017-85AB-3A54DA9B717F}"/>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9A5CA6C8-AC83-4305-8713-78F41A1CE2BF}"/>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07</a:t>
            </a:r>
          </a:p>
        </p:txBody>
      </p:sp>
      <p:graphicFrame>
        <p:nvGraphicFramePr>
          <p:cNvPr id="8"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743200"/>
                <a:gridCol w="8229600"/>
              </a:tblGrid>
              <a:tr h="685800">
                <a:tc>
                  <a:txBody>
                    <a:bodyPr lIns="123825" tIns="76200" rIns="123825" bIns="76200">
                      <a:noAutofit/>
                    </a:bodyPr>
                    <a:lstStyle/>
                    <a:p>
                      <a:r>
                        <a:rPr sz="1800" b="1">
                          <a:solidFill>
                            <a:srgbClr val="FFFFFF"/>
                          </a:solidFill>
                          <a:latin typeface="DejaVu Sans"/>
                          <a:ea typeface="DejaVu Sans"/>
                          <a:cs typeface="DejaVu Sans"/>
                        </a:rPr>
                        <a:t>Lokasi</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Peran</a:t>
                      </a:r>
                    </a:p>
                  </a:txBody>
                  <a:tcPr marL="91440" marR="91440" marT="45720" marB="45720" anchor="ctr">
                    <a:solidFill>
                      <a:srgbClr val="102D40"/>
                    </a:solidFill>
                  </a:tcPr>
                </a:tc>
              </a:tr>
              <a:tr h="685800">
                <a:tc>
                  <a:txBody>
                    <a:bodyPr lIns="123825" tIns="76200" rIns="123825" bIns="76200">
                      <a:noAutofit/>
                    </a:bodyPr>
                    <a:lstStyle/>
                    <a:p>
                      <a:r>
                        <a:rPr sz="1800" b="0">
                          <a:solidFill>
                            <a:srgbClr val="193447"/>
                          </a:solidFill>
                          <a:latin typeface="DejaVu Sans"/>
                          <a:ea typeface="DejaVu Sans"/>
                          <a:cs typeface="DejaVu Sans"/>
                        </a:rPr>
                        <a:t>lib/</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Kode Dart aplikasi</a:t>
                      </a:r>
                    </a:p>
                  </a:txBody>
                  <a:tcPr marL="91440" marR="91440" marT="45720" marB="45720" anchor="ctr">
                    <a:solidFill>
                      <a:srgbClr val="FFFFFF"/>
                    </a:solidFill>
                  </a:tcPr>
                </a:tc>
              </a:tr>
              <a:tr h="685800">
                <a:tc>
                  <a:txBody>
                    <a:bodyPr lIns="123825" tIns="76200" rIns="123825" bIns="76200">
                      <a:noAutofit/>
                    </a:bodyPr>
                    <a:lstStyle/>
                    <a:p>
                      <a:r>
                        <a:rPr sz="1800" b="0">
                          <a:solidFill>
                            <a:srgbClr val="193447"/>
                          </a:solidFill>
                          <a:latin typeface="DejaVu Sans"/>
                          <a:ea typeface="DejaVu Sans"/>
                          <a:cs typeface="DejaVu Sans"/>
                        </a:rPr>
                        <a:t>test/</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Unit test dan widget test</a:t>
                      </a:r>
                    </a:p>
                  </a:txBody>
                  <a:tcPr marL="91440" marR="91440" marT="45720" marB="45720" anchor="ctr">
                    <a:solidFill>
                      <a:srgbClr val="EDF4F6"/>
                    </a:solidFill>
                  </a:tcPr>
                </a:tc>
              </a:tr>
              <a:tr h="685800">
                <a:tc>
                  <a:txBody>
                    <a:bodyPr lIns="123825" tIns="76200" rIns="123825" bIns="76200">
                      <a:noAutofit/>
                    </a:bodyPr>
                    <a:lstStyle/>
                    <a:p>
                      <a:r>
                        <a:rPr sz="1800" b="0">
                          <a:solidFill>
                            <a:srgbClr val="193447"/>
                          </a:solidFill>
                          <a:latin typeface="DejaVu Sans"/>
                          <a:ea typeface="DejaVu Sans"/>
                          <a:cs typeface="DejaVu Sans"/>
                        </a:rPr>
                        <a:t>android/</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Manifest, Gradle, native Android</a:t>
                      </a:r>
                    </a:p>
                  </a:txBody>
                  <a:tcPr marL="91440" marR="91440" marT="45720" marB="45720" anchor="ctr">
                    <a:solidFill>
                      <a:srgbClr val="FFFFFF"/>
                    </a:solidFill>
                  </a:tcPr>
                </a:tc>
              </a:tr>
              <a:tr h="685800">
                <a:tc>
                  <a:txBody>
                    <a:bodyPr lIns="123825" tIns="76200" rIns="123825" bIns="76200">
                      <a:noAutofit/>
                    </a:bodyPr>
                    <a:lstStyle/>
                    <a:p>
                      <a:r>
                        <a:rPr sz="1800" b="0">
                          <a:solidFill>
                            <a:srgbClr val="193447"/>
                          </a:solidFill>
                          <a:latin typeface="DejaVu Sans"/>
                          <a:ea typeface="DejaVu Sans"/>
                          <a:cs typeface="DejaVu Sans"/>
                        </a:rPr>
                        <a:t>pubspec.yaml</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Dependency, asset dan versi</a:t>
                      </a:r>
                    </a:p>
                  </a:txBody>
                  <a:tcPr marL="91440" marR="91440" marT="45720" marB="45720" anchor="ctr">
                    <a:solidFill>
                      <a:srgbClr val="EDF4F6"/>
                    </a:solidFill>
                  </a:tcPr>
                </a:tc>
              </a:tr>
              <a:tr h="685800">
                <a:tc>
                  <a:txBody>
                    <a:bodyPr lIns="123825" tIns="76200" rIns="123825" bIns="76200">
                      <a:noAutofit/>
                    </a:bodyPr>
                    <a:lstStyle/>
                    <a:p>
                      <a:r>
                        <a:rPr sz="1800" b="0">
                          <a:solidFill>
                            <a:srgbClr val="193447"/>
                          </a:solidFill>
                          <a:latin typeface="DejaVu Sans"/>
                          <a:ea typeface="DejaVu Sans"/>
                          <a:cs typeface="DejaVu Sans"/>
                        </a:rPr>
                        <a:t>pubspec.lock</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Versi dependency hasil resolver</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088409481"/>
      </p:ext>
    </p:extLst>
  </p:cSld>
</p:sld>
</file>

<file path=ppt/slides/slide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8AE005E4-451F-4508-B94F-D7EFECD1653B}"/>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Hot reload dan hot restart</a:t>
            </a:r>
          </a:p>
        </p:txBody>
      </p:sp>
      <p:sp>
        <p:nvSpPr>
          <p:cNvPr id="2" name="text-1-674">
            <a:extLst xmlns:a="http://schemas.openxmlformats.org/drawingml/2006/main">
              <a:ext uri="{FF2B5EF4-FFF2-40B4-BE49-F238E27FC236}">
                <a16:creationId xmlns:a16="http://schemas.microsoft.com/office/drawing/2014/main" id="{3530CE11-3535-463A-AD2F-595DEC6F3A13}"/>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E081277B-953A-41C9-B65A-CE1FFF11E505}"/>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08</a:t>
            </a:r>
          </a:p>
        </p:txBody>
      </p:sp>
      <p:sp>
        <p:nvSpPr>
          <p:cNvPr id="4" name="text-3-180">
            <a:extLst xmlns:a="http://schemas.openxmlformats.org/drawingml/2006/main">
              <a:ext uri="{FF2B5EF4-FFF2-40B4-BE49-F238E27FC236}">
                <a16:creationId xmlns:a16="http://schemas.microsoft.com/office/drawing/2014/main" id="{9AD2F16F-8A65-4AFA-9DA1-7F84AB7FAF5B}"/>
              </a:ext>
            </a:extLst>
          </p:cNvPr>
          <p:cNvSpPr>
            <a:spLocks xmlns:a="http://schemas.openxmlformats.org/drawingml/2006/main" noGrp="1"/>
          </p:cNvSpPr>
          <p:nvPr/>
        </p:nvSpPr>
        <p:spPr>
          <a:xfrm xmlns:a="http://schemas.openxmlformats.org/drawingml/2006/main">
            <a:off x="609600" y="171450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Hot reload</a:t>
            </a:r>
          </a:p>
        </p:txBody>
      </p:sp>
      <p:sp>
        <p:nvSpPr>
          <p:cNvPr id="5" name="text-4-180">
            <a:extLst xmlns:a="http://schemas.openxmlformats.org/drawingml/2006/main">
              <a:ext uri="{FF2B5EF4-FFF2-40B4-BE49-F238E27FC236}">
                <a16:creationId xmlns:a16="http://schemas.microsoft.com/office/drawing/2014/main" id="{B570A8E3-0BA1-4EF2-8EF2-8EAA1A30C051}"/>
              </a:ext>
            </a:extLst>
          </p:cNvPr>
          <p:cNvSpPr>
            <a:spLocks xmlns:a="http://schemas.openxmlformats.org/drawingml/2006/main" noGrp="1"/>
          </p:cNvSpPr>
          <p:nvPr/>
        </p:nvSpPr>
        <p:spPr>
          <a:xfrm xmlns:a="http://schemas.openxmlformats.org/drawingml/2006/main">
            <a:off x="6477000" y="1714500"/>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Hot restart dan full run</a:t>
            </a:r>
          </a:p>
        </p:txBody>
      </p:sp>
      <p:sp>
        <p:nvSpPr>
          <p:cNvPr id="6" name="text-5-296">
            <a:extLst xmlns:a="http://schemas.openxmlformats.org/drawingml/2006/main">
              <a:ext uri="{FF2B5EF4-FFF2-40B4-BE49-F238E27FC236}">
                <a16:creationId xmlns:a16="http://schemas.microsoft.com/office/drawing/2014/main" id="{255C6DF2-6603-418B-A870-E30032A5BCDB}"/>
              </a:ext>
            </a:extLst>
          </p:cNvPr>
          <p:cNvSpPr>
            <a:spLocks xmlns:a="http://schemas.openxmlformats.org/drawingml/2006/main" noGrp="1"/>
          </p:cNvSpPr>
          <p:nvPr/>
        </p:nvSpPr>
        <p:spPr>
          <a:xfrm xmlns:a="http://schemas.openxmlformats.org/drawingml/2006/main">
            <a:off x="6096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Menerapkan banyak perubahan Dart</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Umumnya mempertahankan State</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Membantu iterasi tampilan cepat</a:t>
            </a:r>
          </a:p>
        </p:txBody>
      </p:sp>
      <p:sp>
        <p:nvSpPr>
          <p:cNvPr id="7" name="text-6-296">
            <a:extLst xmlns:a="http://schemas.openxmlformats.org/drawingml/2006/main">
              <a:ext uri="{FF2B5EF4-FFF2-40B4-BE49-F238E27FC236}">
                <a16:creationId xmlns:a16="http://schemas.microsoft.com/office/drawing/2014/main" id="{463FBCA2-10CB-452C-845D-C7EBE7D98623}"/>
              </a:ext>
            </a:extLst>
          </p:cNvPr>
          <p:cNvSpPr>
            <a:spLocks xmlns:a="http://schemas.openxmlformats.org/drawingml/2006/main" noGrp="1"/>
          </p:cNvSpPr>
          <p:nvPr/>
        </p:nvSpPr>
        <p:spPr>
          <a:xfrm xmlns:a="http://schemas.openxmlformats.org/drawingml/2006/main">
            <a:off x="64770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Restart membuat ulang State Dart</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Perubahan initial setup memerlukan restart</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Plugin atau native config memerlukan full run</a:t>
            </a:r>
          </a:p>
        </p:txBody>
      </p:sp>
    </p:spTree>
    <p:extLst>
      <p:ext uri="{BB962C8B-B14F-4D97-AF65-F5344CB8AC3E}">
        <p14:creationId xmlns:p14="http://schemas.microsoft.com/office/powerpoint/2010/main" val="572461823"/>
      </p:ext>
    </p:extLst>
  </p:cSld>
</p:sld>
</file>

<file path=ppt/slides/slide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F65455E0-9BAE-4DE6-AFC7-798E519BB69A}"/>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Nilai, tipe dan null safety Dart</a:t>
            </a:r>
          </a:p>
        </p:txBody>
      </p:sp>
      <p:sp>
        <p:nvSpPr>
          <p:cNvPr id="2" name="text-1-674">
            <a:extLst xmlns:a="http://schemas.openxmlformats.org/drawingml/2006/main">
              <a:ext uri="{FF2B5EF4-FFF2-40B4-BE49-F238E27FC236}">
                <a16:creationId xmlns:a16="http://schemas.microsoft.com/office/drawing/2014/main" id="{DED5B783-506B-4F1C-BC95-8A561D6F01EB}"/>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33AAA034-01ED-4742-9438-DB0C0F26A077}"/>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09</a:t>
            </a:r>
          </a:p>
        </p:txBody>
      </p:sp>
      <p:sp>
        <p:nvSpPr>
          <p:cNvPr id="4" name="text-3-193">
            <a:extLst xmlns:a="http://schemas.openxmlformats.org/drawingml/2006/main">
              <a:ext uri="{FF2B5EF4-FFF2-40B4-BE49-F238E27FC236}">
                <a16:creationId xmlns:a16="http://schemas.microsoft.com/office/drawing/2014/main" id="{B7F4CDA4-8A08-49CA-9E9B-0DF29EFEE9B9}"/>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final assetCode = 'PMP-001';</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const maxNoteLength = 500;</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String? note;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final displayNote = note ?? '';</a:t>
            </a:r>
          </a:p>
          <a:p xmlns:a="http://schemas.openxmlformats.org/drawingml/2006/main">
            <a:r>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String location = 'Workshop A';</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List&lt;String&gt; conditions = ['good', 'needs_action'];</a:t>
            </a:r>
          </a:p>
          <a:p xmlns:a="http://schemas.openxmlformats.org/drawingml/2006/main">
            <a:r>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final: assignment satu kali</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const: nilai compile-time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 nilai boleh null</a:t>
            </a:r>
          </a:p>
        </p:txBody>
      </p:sp>
      <p:sp>
        <p:nvSpPr>
          <p:cNvPr id="5" name="text-4-633">
            <a:extLst xmlns:a="http://schemas.openxmlformats.org/drawingml/2006/main">
              <a:ext uri="{FF2B5EF4-FFF2-40B4-BE49-F238E27FC236}">
                <a16:creationId xmlns:a16="http://schemas.microsoft.com/office/drawing/2014/main" id="{4FBCAD98-1F6F-465F-9354-9BCABE72DB5E}"/>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1">
                <a:solidFill>
                  <a:srgbClr val="007F85"/>
                </a:solidFill>
                <a:latin typeface="DejaVu Sans"/>
                <a:ea typeface="DejaVu Sans"/>
                <a:cs typeface="DejaVu Sans"/>
              </a:defRPr>
            </a:pPr>
            <a:r>
              <a:rPr sz="1725" b="1">
                <a:solidFill>
                  <a:srgbClr val="007F85"/>
                </a:solidFill>
                <a:latin typeface="DejaVu Sans"/>
                <a:ea typeface="DejaVu Sans"/>
                <a:cs typeface="DejaVu Sans"/>
              </a:rPr>
              <a:t>Fallback harus sesuai makna field dalam kontrak data</a:t>
            </a:r>
          </a:p>
        </p:txBody>
      </p:sp>
    </p:spTree>
    <p:extLst>
      <p:ext uri="{BB962C8B-B14F-4D97-AF65-F5344CB8AC3E}">
        <p14:creationId xmlns:p14="http://schemas.microsoft.com/office/powerpoint/2010/main" val="1463297554"/>
      </p:ext>
    </p:extLst>
  </p:cSld>
</p:sld>
</file>

<file path=ppt/slides/slide1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32034128-8F2D-48E0-AED9-944FBA1A5305}"/>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Model Inspection dengan named parameter</a:t>
            </a:r>
          </a:p>
        </p:txBody>
      </p:sp>
      <p:sp>
        <p:nvSpPr>
          <p:cNvPr id="2" name="text-1-674">
            <a:extLst xmlns:a="http://schemas.openxmlformats.org/drawingml/2006/main">
              <a:ext uri="{FF2B5EF4-FFF2-40B4-BE49-F238E27FC236}">
                <a16:creationId xmlns:a16="http://schemas.microsoft.com/office/drawing/2014/main" id="{59E56C7F-E88F-447F-9B33-95B41E1DC00E}"/>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613A2110-1646-4848-9445-9EC37546ED99}"/>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10</a:t>
            </a:r>
          </a:p>
        </p:txBody>
      </p:sp>
      <p:sp>
        <p:nvSpPr>
          <p:cNvPr id="4" name="text-3-193">
            <a:extLst xmlns:a="http://schemas.openxmlformats.org/drawingml/2006/main">
              <a:ext uri="{FF2B5EF4-FFF2-40B4-BE49-F238E27FC236}">
                <a16:creationId xmlns:a16="http://schemas.microsoft.com/office/drawing/2014/main" id="{0E337F2C-FEF4-400C-BBFE-B608FE2E4043}"/>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class Inspection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final String id, assetCode, location;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final String condition, note;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final DateTime createdAt;</a:t>
            </a:r>
          </a:p>
          <a:p xmlns:a="http://schemas.openxmlformats.org/drawingml/2006/main">
            <a:r>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const Inspection({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required this.id, required this.assetCode,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required this.location, required this.condition,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required this.note, required this.createdAt,</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p:txBody>
      </p:sp>
    </p:spTree>
    <p:extLst>
      <p:ext uri="{BB962C8B-B14F-4D97-AF65-F5344CB8AC3E}">
        <p14:creationId xmlns:p14="http://schemas.microsoft.com/office/powerpoint/2010/main" val="432839129"/>
      </p:ext>
    </p:extLst>
  </p:cSld>
</p:sld>
</file>

<file path=ppt/slides/slide1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D96FC6C5-5ED6-4148-8030-6CEBBE857CD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Collection dan pemilihan data</a:t>
            </a:r>
          </a:p>
        </p:txBody>
      </p:sp>
      <p:sp>
        <p:nvSpPr>
          <p:cNvPr id="2" name="text-1-674">
            <a:extLst xmlns:a="http://schemas.openxmlformats.org/drawingml/2006/main">
              <a:ext uri="{FF2B5EF4-FFF2-40B4-BE49-F238E27FC236}">
                <a16:creationId xmlns:a16="http://schemas.microsoft.com/office/drawing/2014/main" id="{4F2C426E-230A-4C2C-942F-EF69D47B9940}"/>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4ABCD7F3-DE85-4D5E-86D4-95E3951A1A66}"/>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11</a:t>
            </a:r>
          </a:p>
        </p:txBody>
      </p:sp>
      <p:sp>
        <p:nvSpPr>
          <p:cNvPr id="4" name="text-3-193">
            <a:extLst xmlns:a="http://schemas.openxmlformats.org/drawingml/2006/main">
              <a:ext uri="{FF2B5EF4-FFF2-40B4-BE49-F238E27FC236}">
                <a16:creationId xmlns:a16="http://schemas.microsoft.com/office/drawing/2014/main" id="{01A75540-B84F-457C-BA4D-335283F878D6}"/>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final needsAction = items.where(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(item) =&gt; item.condition == 'needs_action',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).toList();</a:t>
            </a:r>
          </a:p>
          <a:p xmlns:a="http://schemas.openxmlformats.org/drawingml/2006/main">
            <a:r>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final codes = items.map(</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(item) =&gt; item.assetCode,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).toList();</a:t>
            </a:r>
          </a:p>
          <a:p xmlns:a="http://schemas.openxmlformats.org/drawingml/2006/main">
            <a:r>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final count = needsAction.length;</a:t>
            </a:r>
          </a:p>
        </p:txBody>
      </p:sp>
    </p:spTree>
    <p:extLst>
      <p:ext uri="{BB962C8B-B14F-4D97-AF65-F5344CB8AC3E}">
        <p14:creationId xmlns:p14="http://schemas.microsoft.com/office/powerpoint/2010/main" val="352441271"/>
      </p:ext>
    </p:extLst>
  </p:cSld>
</p:sld>
</file>

<file path=ppt/slides/slide1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D4C2DC89-AF1F-4BE3-A71C-0BA380E9C21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Future dan async await</a:t>
            </a:r>
          </a:p>
        </p:txBody>
      </p:sp>
      <p:sp>
        <p:nvSpPr>
          <p:cNvPr id="2" name="text-1-674">
            <a:extLst xmlns:a="http://schemas.openxmlformats.org/drawingml/2006/main">
              <a:ext uri="{FF2B5EF4-FFF2-40B4-BE49-F238E27FC236}">
                <a16:creationId xmlns:a16="http://schemas.microsoft.com/office/drawing/2014/main" id="{F967A735-7B4B-4DE4-BC7B-3E93D9830FF3}"/>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F2456044-D66E-4131-B777-0AA1B2E88ACE}"/>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12</a:t>
            </a:r>
          </a:p>
        </p:txBody>
      </p:sp>
      <p:sp>
        <p:nvSpPr>
          <p:cNvPr id="4" name="text-3-193">
            <a:extLst xmlns:a="http://schemas.openxmlformats.org/drawingml/2006/main">
              <a:ext uri="{FF2B5EF4-FFF2-40B4-BE49-F238E27FC236}">
                <a16:creationId xmlns:a16="http://schemas.microsoft.com/office/drawing/2014/main" id="{5C88235A-9E6C-45BA-B782-D587F739EB2E}"/>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Future&lt;List&lt;Inspection&gt;&gt; loadDemoItems() async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await Future&lt;void&gt;.delayed(</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const Duration(milliseconds: 600),</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return seed();</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a:p xmlns:a="http://schemas.openxmlformats.org/drawingml/2006/main">
            <a:r>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final result = await loadDemoItems();</a:t>
            </a:r>
          </a:p>
        </p:txBody>
      </p:sp>
    </p:spTree>
    <p:extLst>
      <p:ext uri="{BB962C8B-B14F-4D97-AF65-F5344CB8AC3E}">
        <p14:creationId xmlns:p14="http://schemas.microsoft.com/office/powerpoint/2010/main" val="1393142206"/>
      </p:ext>
    </p:extLst>
  </p:cSld>
</p:sld>
</file>

<file path=ppt/slides/slide1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470E4E3D-A785-4437-A08B-69125CFF56F1}"/>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Praktik 1 model dan data lokal</a:t>
            </a:r>
          </a:p>
        </p:txBody>
      </p:sp>
      <p:sp>
        <p:nvSpPr>
          <p:cNvPr id="2" name="text-1-674">
            <a:extLst xmlns:a="http://schemas.openxmlformats.org/drawingml/2006/main">
              <a:ext uri="{FF2B5EF4-FFF2-40B4-BE49-F238E27FC236}">
                <a16:creationId xmlns:a16="http://schemas.microsoft.com/office/drawing/2014/main" id="{6D9B38D7-3F34-4994-AA30-68DFB2DE8026}"/>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C503BB66-5534-419E-9A4D-4897311133FA}"/>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13</a:t>
            </a:r>
          </a:p>
        </p:txBody>
      </p:sp>
      <p:sp>
        <p:nvSpPr>
          <p:cNvPr id="4" name="text-3-174">
            <a:extLst xmlns:a="http://schemas.openxmlformats.org/drawingml/2006/main">
              <a:ext uri="{FF2B5EF4-FFF2-40B4-BE49-F238E27FC236}">
                <a16:creationId xmlns:a16="http://schemas.microsoft.com/office/drawing/2014/main" id="{FE58B540-0CA8-4EBE-ADD6-747D1C904843}"/>
              </a:ext>
            </a:extLst>
          </p:cNvPr>
          <p:cNvSpPr>
            <a:spLocks xmlns:a="http://schemas.openxmlformats.org/drawingml/2006/main" noGrp="1"/>
          </p:cNvSpPr>
          <p:nvPr/>
        </p:nvSpPr>
        <p:spPr>
          <a:xfrm xmlns:a="http://schemas.openxmlformats.org/drawingml/2006/main">
            <a:off x="609600" y="1657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400" b="1">
                <a:solidFill>
                  <a:srgbClr val="007F85"/>
                </a:solidFill>
                <a:latin typeface="DejaVu Sans"/>
                <a:ea typeface="DejaVu Sans"/>
                <a:cs typeface="DejaVu Sans"/>
              </a:defRPr>
            </a:pPr>
            <a:r>
              <a:rPr sz="2400" b="1">
                <a:solidFill>
                  <a:srgbClr val="007F85"/>
                </a:solidFill>
                <a:latin typeface="DejaVu Sans"/>
                <a:ea typeface="DejaVu Sans"/>
                <a:cs typeface="DejaVu Sans"/>
              </a:rPr>
              <a:t>Model dan tiga record dummy siap dipakai UI</a:t>
            </a:r>
          </a:p>
        </p:txBody>
      </p:sp>
      <p:sp>
        <p:nvSpPr>
          <p:cNvPr id="5" name="text-4-292">
            <a:extLst xmlns:a="http://schemas.openxmlformats.org/drawingml/2006/main">
              <a:ext uri="{FF2B5EF4-FFF2-40B4-BE49-F238E27FC236}">
                <a16:creationId xmlns:a16="http://schemas.microsoft.com/office/drawing/2014/main" id="{9F8B0CE8-A17C-4276-B4AD-7DB0D18DD9A4}"/>
              </a:ext>
            </a:extLst>
          </p:cNvPr>
          <p:cNvSpPr>
            <a:spLocks xmlns:a="http://schemas.openxmlformats.org/drawingml/2006/main" noGrp="1"/>
          </p:cNvSpPr>
          <p:nvPr/>
        </p:nvSpPr>
        <p:spPr>
          <a:xfrm xmlns:a="http://schemas.openxmlformats.org/drawingml/2006/main">
            <a:off x="609600" y="2781300"/>
            <a:ext cx="10572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Jalankan starter pada Android dan catat versi SDK</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Buat tiga Inspection dengan kondisi berbeda</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Hitung record needs_action dengan where</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Buat fungsi Future yang mengembalikan daftar</a:t>
            </a:r>
          </a:p>
        </p:txBody>
      </p:sp>
      <p:sp>
        <p:nvSpPr>
          <p:cNvPr id="6" name="text-5-604">
            <a:extLst xmlns:a="http://schemas.openxmlformats.org/drawingml/2006/main">
              <a:ext uri="{FF2B5EF4-FFF2-40B4-BE49-F238E27FC236}">
                <a16:creationId xmlns:a16="http://schemas.microsoft.com/office/drawing/2014/main" id="{C0277A24-95BD-474A-9522-D1C4069A9461}"/>
              </a:ext>
            </a:extLst>
          </p:cNvPr>
          <p:cNvSpPr>
            <a:spLocks xmlns:a="http://schemas.openxmlformats.org/drawingml/2006/main" noGrp="1"/>
          </p:cNvSpPr>
          <p:nvPr/>
        </p:nvSpPr>
        <p:spPr>
          <a:xfrm xmlns:a="http://schemas.openxmlformats.org/drawingml/2006/main">
            <a:off x="609600" y="57531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1">
                <a:solidFill>
                  <a:srgbClr val="102D40"/>
                </a:solidFill>
                <a:latin typeface="DejaVu Sans"/>
                <a:ea typeface="DejaVu Sans"/>
                <a:cs typeface="DejaVu Sans"/>
              </a:defRPr>
            </a:pPr>
            <a:r>
              <a:rPr sz="1800" b="1">
                <a:solidFill>
                  <a:srgbClr val="102D40"/>
                </a:solidFill>
                <a:latin typeface="DejaVu Sans"/>
                <a:ea typeface="DejaVu Sans"/>
                <a:cs typeface="DejaVu Sans"/>
              </a:rPr>
              <a:t>Bukti hasil</a:t>
            </a:r>
          </a:p>
        </p:txBody>
      </p:sp>
      <p:sp>
        <p:nvSpPr>
          <p:cNvPr id="7" name="text-6-604">
            <a:extLst xmlns:a="http://schemas.openxmlformats.org/drawingml/2006/main">
              <a:ext uri="{FF2B5EF4-FFF2-40B4-BE49-F238E27FC236}">
                <a16:creationId xmlns:a16="http://schemas.microsoft.com/office/drawing/2014/main" id="{A2F1F1A3-2C4F-4840-AEFE-349B51D9B648}"/>
              </a:ext>
            </a:extLst>
          </p:cNvPr>
          <p:cNvSpPr>
            <a:spLocks xmlns:a="http://schemas.openxmlformats.org/drawingml/2006/main" noGrp="1"/>
          </p:cNvSpPr>
          <p:nvPr/>
        </p:nvSpPr>
        <p:spPr>
          <a:xfrm xmlns:a="http://schemas.openxmlformats.org/drawingml/2006/main">
            <a:off x="2419350" y="5753100"/>
            <a:ext cx="9163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193447"/>
                </a:solidFill>
                <a:latin typeface="DejaVu Sans"/>
                <a:ea typeface="DejaVu Sans"/>
                <a:cs typeface="DejaVu Sans"/>
              </a:defRPr>
            </a:pPr>
            <a:r>
              <a:rPr sz="1800" b="0">
                <a:solidFill>
                  <a:srgbClr val="193447"/>
                </a:solidFill>
                <a:latin typeface="DejaVu Sans"/>
                <a:ea typeface="DejaVu Sans"/>
                <a:cs typeface="DejaVu Sans"/>
              </a:rPr>
              <a:t>App berjalan, model bertipe, dan hasil filter benar</a:t>
            </a:r>
          </a:p>
        </p:txBody>
      </p:sp>
    </p:spTree>
    <p:extLst>
      <p:ext uri="{BB962C8B-B14F-4D97-AF65-F5344CB8AC3E}">
        <p14:creationId xmlns:p14="http://schemas.microsoft.com/office/powerpoint/2010/main" val="427066558"/>
      </p:ext>
    </p:extLst>
  </p:cSld>
</p:sld>
</file>

<file path=ppt/slides/slide1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9" name="text-0-48">
            <a:extLst xmlns:a="http://schemas.openxmlformats.org/drawingml/2006/main">
              <a:ext uri="{FF2B5EF4-FFF2-40B4-BE49-F238E27FC236}">
                <a16:creationId xmlns:a16="http://schemas.microsoft.com/office/drawing/2014/main" id="{5AC81374-2AEA-4481-A0D4-DF428D12EDB4}"/>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Widget tree pada layar daftar</a:t>
            </a:r>
          </a:p>
        </p:txBody>
      </p:sp>
      <p:sp>
        <p:nvSpPr>
          <p:cNvPr id="2" name="text-1-674">
            <a:extLst xmlns:a="http://schemas.openxmlformats.org/drawingml/2006/main">
              <a:ext uri="{FF2B5EF4-FFF2-40B4-BE49-F238E27FC236}">
                <a16:creationId xmlns:a16="http://schemas.microsoft.com/office/drawing/2014/main" id="{9225A693-BB84-453D-A5BA-B9124FE787B9}"/>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68BF7E54-D6D3-48A4-9301-BE4CB384AA43}"/>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14</a:t>
            </a:r>
          </a:p>
        </p:txBody>
      </p:sp>
      <p:sp>
        <p:nvSpPr>
          <p:cNvPr id="4" name="">
            <a:extLst xmlns:a="http://schemas.openxmlformats.org/drawingml/2006/main">
              <a:ext uri="{FF2B5EF4-FFF2-40B4-BE49-F238E27FC236}">
                <a16:creationId xmlns:a16="http://schemas.microsoft.com/office/drawing/2014/main" id="{0E1B9C39-A9E9-43D2-B721-C41B0E076EF1}"/>
              </a:ext>
            </a:extLst>
          </p:cNvPr>
          <p:cNvSpPr>
            <a:spLocks xmlns:a="http://schemas.openxmlformats.org/drawingml/2006/main" noGrp="1"/>
          </p:cNvSpPr>
          <p:nvPr/>
        </p:nvSpPr>
        <p:spPr>
          <a:xfrm xmlns:a="http://schemas.openxmlformats.org/drawingml/2006/main">
            <a:off x="6000750" y="2286000"/>
            <a:ext cx="9525" cy="285750"/>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5" name="">
            <a:extLst xmlns:a="http://schemas.openxmlformats.org/drawingml/2006/main">
              <a:ext uri="{FF2B5EF4-FFF2-40B4-BE49-F238E27FC236}">
                <a16:creationId xmlns:a16="http://schemas.microsoft.com/office/drawing/2014/main" id="{6BBC04C5-2038-414A-8C18-A26F8EE36228}"/>
              </a:ext>
            </a:extLst>
          </p:cNvPr>
          <p:cNvSpPr>
            <a:spLocks xmlns:a="http://schemas.openxmlformats.org/drawingml/2006/main" noGrp="1"/>
          </p:cNvSpPr>
          <p:nvPr/>
        </p:nvSpPr>
        <p:spPr>
          <a:xfrm xmlns:a="http://schemas.openxmlformats.org/drawingml/2006/main">
            <a:off x="3000375" y="2571750"/>
            <a:ext cx="4762500" cy="9525"/>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6" name="">
            <a:extLst xmlns:a="http://schemas.openxmlformats.org/drawingml/2006/main">
              <a:ext uri="{FF2B5EF4-FFF2-40B4-BE49-F238E27FC236}">
                <a16:creationId xmlns:a16="http://schemas.microsoft.com/office/drawing/2014/main" id="{6D0F2B46-A082-42DE-9F30-8E7BC361B09E}"/>
              </a:ext>
            </a:extLst>
          </p:cNvPr>
          <p:cNvSpPr>
            <a:spLocks xmlns:a="http://schemas.openxmlformats.org/drawingml/2006/main" noGrp="1"/>
          </p:cNvSpPr>
          <p:nvPr/>
        </p:nvSpPr>
        <p:spPr>
          <a:xfrm xmlns:a="http://schemas.openxmlformats.org/drawingml/2006/main">
            <a:off x="3000375" y="2571750"/>
            <a:ext cx="9525" cy="285750"/>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7" name="">
            <a:extLst xmlns:a="http://schemas.openxmlformats.org/drawingml/2006/main">
              <a:ext uri="{FF2B5EF4-FFF2-40B4-BE49-F238E27FC236}">
                <a16:creationId xmlns:a16="http://schemas.microsoft.com/office/drawing/2014/main" id="{955ED01B-33D5-4141-B80F-5FCF39410FB5}"/>
              </a:ext>
            </a:extLst>
          </p:cNvPr>
          <p:cNvSpPr>
            <a:spLocks xmlns:a="http://schemas.openxmlformats.org/drawingml/2006/main" noGrp="1"/>
          </p:cNvSpPr>
          <p:nvPr/>
        </p:nvSpPr>
        <p:spPr>
          <a:xfrm xmlns:a="http://schemas.openxmlformats.org/drawingml/2006/main">
            <a:off x="7762875" y="2571750"/>
            <a:ext cx="9525" cy="285750"/>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8" name="">
            <a:extLst xmlns:a="http://schemas.openxmlformats.org/drawingml/2006/main">
              <a:ext uri="{FF2B5EF4-FFF2-40B4-BE49-F238E27FC236}">
                <a16:creationId xmlns:a16="http://schemas.microsoft.com/office/drawing/2014/main" id="{D1048ADD-1459-46A0-9BEE-6734F76118EC}"/>
              </a:ext>
            </a:extLst>
          </p:cNvPr>
          <p:cNvSpPr>
            <a:spLocks xmlns:a="http://schemas.openxmlformats.org/drawingml/2006/main" noGrp="1"/>
          </p:cNvSpPr>
          <p:nvPr/>
        </p:nvSpPr>
        <p:spPr>
          <a:xfrm xmlns:a="http://schemas.openxmlformats.org/drawingml/2006/main">
            <a:off x="7762875" y="3429000"/>
            <a:ext cx="9525" cy="476250"/>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9" name="">
            <a:extLst xmlns:a="http://schemas.openxmlformats.org/drawingml/2006/main">
              <a:ext uri="{FF2B5EF4-FFF2-40B4-BE49-F238E27FC236}">
                <a16:creationId xmlns:a16="http://schemas.microsoft.com/office/drawing/2014/main" id="{AE645E9F-58C3-459A-8D8D-D10998F4BDCD}"/>
              </a:ext>
            </a:extLst>
          </p:cNvPr>
          <p:cNvSpPr>
            <a:spLocks xmlns:a="http://schemas.openxmlformats.org/drawingml/2006/main" noGrp="1"/>
          </p:cNvSpPr>
          <p:nvPr/>
        </p:nvSpPr>
        <p:spPr>
          <a:xfrm xmlns:a="http://schemas.openxmlformats.org/drawingml/2006/main">
            <a:off x="7762875" y="4476750"/>
            <a:ext cx="9525" cy="381000"/>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10" name="">
            <a:extLst xmlns:a="http://schemas.openxmlformats.org/drawingml/2006/main">
              <a:ext uri="{FF2B5EF4-FFF2-40B4-BE49-F238E27FC236}">
                <a16:creationId xmlns:a16="http://schemas.microsoft.com/office/drawing/2014/main" id="{738470C3-25F5-49CB-9CAD-EC2DCA34DCA5}"/>
              </a:ext>
            </a:extLst>
          </p:cNvPr>
          <p:cNvSpPr>
            <a:spLocks xmlns:a="http://schemas.openxmlformats.org/drawingml/2006/main" noGrp="1"/>
          </p:cNvSpPr>
          <p:nvPr/>
        </p:nvSpPr>
        <p:spPr>
          <a:xfrm xmlns:a="http://schemas.openxmlformats.org/drawingml/2006/main">
            <a:off x="5857875" y="4857750"/>
            <a:ext cx="3952875" cy="9525"/>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11" name="">
            <a:extLst xmlns:a="http://schemas.openxmlformats.org/drawingml/2006/main">
              <a:ext uri="{FF2B5EF4-FFF2-40B4-BE49-F238E27FC236}">
                <a16:creationId xmlns:a16="http://schemas.microsoft.com/office/drawing/2014/main" id="{E0D64D10-C26B-4BA9-949B-3AC4AE022C23}"/>
              </a:ext>
            </a:extLst>
          </p:cNvPr>
          <p:cNvSpPr>
            <a:spLocks xmlns:a="http://schemas.openxmlformats.org/drawingml/2006/main" noGrp="1"/>
          </p:cNvSpPr>
          <p:nvPr/>
        </p:nvSpPr>
        <p:spPr>
          <a:xfrm xmlns:a="http://schemas.openxmlformats.org/drawingml/2006/main">
            <a:off x="5857875" y="4857750"/>
            <a:ext cx="9525" cy="285750"/>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12" name="">
            <a:extLst xmlns:a="http://schemas.openxmlformats.org/drawingml/2006/main">
              <a:ext uri="{FF2B5EF4-FFF2-40B4-BE49-F238E27FC236}">
                <a16:creationId xmlns:a16="http://schemas.microsoft.com/office/drawing/2014/main" id="{1560E1FF-B14E-49A5-9E36-DE5581CC8696}"/>
              </a:ext>
            </a:extLst>
          </p:cNvPr>
          <p:cNvSpPr>
            <a:spLocks xmlns:a="http://schemas.openxmlformats.org/drawingml/2006/main" noGrp="1"/>
          </p:cNvSpPr>
          <p:nvPr/>
        </p:nvSpPr>
        <p:spPr>
          <a:xfrm xmlns:a="http://schemas.openxmlformats.org/drawingml/2006/main">
            <a:off x="9810750" y="4857750"/>
            <a:ext cx="9525" cy="285750"/>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13" name="text-12-180">
            <a:extLst xmlns:a="http://schemas.openxmlformats.org/drawingml/2006/main">
              <a:ext uri="{FF2B5EF4-FFF2-40B4-BE49-F238E27FC236}">
                <a16:creationId xmlns:a16="http://schemas.microsoft.com/office/drawing/2014/main" id="{5C660819-A642-4AF8-97CE-04B2FDCCE4CF}"/>
              </a:ext>
            </a:extLst>
          </p:cNvPr>
          <p:cNvSpPr>
            <a:spLocks xmlns:a="http://schemas.openxmlformats.org/drawingml/2006/main" noGrp="1"/>
          </p:cNvSpPr>
          <p:nvPr/>
        </p:nvSpPr>
        <p:spPr>
          <a:xfrm xmlns:a="http://schemas.openxmlformats.org/drawingml/2006/main">
            <a:off x="4572000" y="1714500"/>
            <a:ext cx="2857500" cy="571500"/>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76200" tIns="76200" rIns="76200" bIns="76200" anchor="ctr">
            <a:noAutofit/>
          </a:bodyPr>
          <a:lstStyle xmlns:a="http://schemas.openxmlformats.org/drawingml/2006/main"/>
          <a:p xmlns:a="http://schemas.openxmlformats.org/drawingml/2006/main">
            <a:pPr algn="ctr">
              <a:lnSpc>
                <a:spcPct val="112000"/>
              </a:lnSpc>
              <a:buNone/>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Scaffold</a:t>
            </a:r>
          </a:p>
        </p:txBody>
      </p:sp>
      <p:sp>
        <p:nvSpPr>
          <p:cNvPr id="14" name="text-13-300">
            <a:extLst xmlns:a="http://schemas.openxmlformats.org/drawingml/2006/main">
              <a:ext uri="{FF2B5EF4-FFF2-40B4-BE49-F238E27FC236}">
                <a16:creationId xmlns:a16="http://schemas.microsoft.com/office/drawing/2014/main" id="{6B5087CC-B121-493D-967A-70DB7A74C626}"/>
              </a:ext>
            </a:extLst>
          </p:cNvPr>
          <p:cNvSpPr>
            <a:spLocks xmlns:a="http://schemas.openxmlformats.org/drawingml/2006/main" noGrp="1"/>
          </p:cNvSpPr>
          <p:nvPr/>
        </p:nvSpPr>
        <p:spPr>
          <a:xfrm xmlns:a="http://schemas.openxmlformats.org/drawingml/2006/main">
            <a:off x="1714500" y="2857500"/>
            <a:ext cx="2571750" cy="571500"/>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76200" tIns="76200" rIns="76200" bIns="76200" anchor="ctr">
            <a:noAutofit/>
          </a:bodyPr>
          <a:lstStyle xmlns:a="http://schemas.openxmlformats.org/drawingml/2006/main"/>
          <a:p xmlns:a="http://schemas.openxmlformats.org/drawingml/2006/main">
            <a:pPr algn="ctr">
              <a:lnSpc>
                <a:spcPct val="112000"/>
              </a:lnSpc>
              <a:buNone/>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AppBar</a:t>
            </a:r>
          </a:p>
        </p:txBody>
      </p:sp>
      <p:sp>
        <p:nvSpPr>
          <p:cNvPr id="15" name="text-14-300">
            <a:extLst xmlns:a="http://schemas.openxmlformats.org/drawingml/2006/main">
              <a:ext uri="{FF2B5EF4-FFF2-40B4-BE49-F238E27FC236}">
                <a16:creationId xmlns:a16="http://schemas.microsoft.com/office/drawing/2014/main" id="{E2388AFA-F1CD-446B-876D-6E5E2918DE88}"/>
              </a:ext>
            </a:extLst>
          </p:cNvPr>
          <p:cNvSpPr>
            <a:spLocks xmlns:a="http://schemas.openxmlformats.org/drawingml/2006/main" noGrp="1"/>
          </p:cNvSpPr>
          <p:nvPr/>
        </p:nvSpPr>
        <p:spPr>
          <a:xfrm xmlns:a="http://schemas.openxmlformats.org/drawingml/2006/main">
            <a:off x="6477000" y="2857500"/>
            <a:ext cx="2571750" cy="571500"/>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76200" tIns="76200" rIns="76200" bIns="76200" anchor="ctr">
            <a:noAutofit/>
          </a:bodyPr>
          <a:lstStyle xmlns:a="http://schemas.openxmlformats.org/drawingml/2006/main"/>
          <a:p xmlns:a="http://schemas.openxmlformats.org/drawingml/2006/main">
            <a:pPr algn="ctr">
              <a:lnSpc>
                <a:spcPct val="112000"/>
              </a:lnSpc>
              <a:buNone/>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Body</a:t>
            </a:r>
          </a:p>
        </p:txBody>
      </p:sp>
      <p:sp>
        <p:nvSpPr>
          <p:cNvPr id="16" name="text-15-410">
            <a:extLst xmlns:a="http://schemas.openxmlformats.org/drawingml/2006/main">
              <a:ext uri="{FF2B5EF4-FFF2-40B4-BE49-F238E27FC236}">
                <a16:creationId xmlns:a16="http://schemas.microsoft.com/office/drawing/2014/main" id="{30E0436D-71EC-4601-83FD-BD9CC3881236}"/>
              </a:ext>
            </a:extLst>
          </p:cNvPr>
          <p:cNvSpPr>
            <a:spLocks xmlns:a="http://schemas.openxmlformats.org/drawingml/2006/main" noGrp="1"/>
          </p:cNvSpPr>
          <p:nvPr/>
        </p:nvSpPr>
        <p:spPr>
          <a:xfrm xmlns:a="http://schemas.openxmlformats.org/drawingml/2006/main">
            <a:off x="6477000" y="3905250"/>
            <a:ext cx="2571750" cy="571500"/>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76200" tIns="76200" rIns="76200" bIns="76200" anchor="ctr">
            <a:noAutofit/>
          </a:bodyPr>
          <a:lstStyle xmlns:a="http://schemas.openxmlformats.org/drawingml/2006/main"/>
          <a:p xmlns:a="http://schemas.openxmlformats.org/drawingml/2006/main">
            <a:pPr algn="ctr">
              <a:lnSpc>
                <a:spcPct val="112000"/>
              </a:lnSpc>
              <a:buNone/>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Column</a:t>
            </a:r>
          </a:p>
        </p:txBody>
      </p:sp>
      <p:sp>
        <p:nvSpPr>
          <p:cNvPr id="17" name="text-16-540">
            <a:extLst xmlns:a="http://schemas.openxmlformats.org/drawingml/2006/main">
              <a:ext uri="{FF2B5EF4-FFF2-40B4-BE49-F238E27FC236}">
                <a16:creationId xmlns:a16="http://schemas.microsoft.com/office/drawing/2014/main" id="{3DCB450E-EDE2-430D-B127-B7CFF7F773F5}"/>
              </a:ext>
            </a:extLst>
          </p:cNvPr>
          <p:cNvSpPr>
            <a:spLocks xmlns:a="http://schemas.openxmlformats.org/drawingml/2006/main" noGrp="1"/>
          </p:cNvSpPr>
          <p:nvPr/>
        </p:nvSpPr>
        <p:spPr>
          <a:xfrm xmlns:a="http://schemas.openxmlformats.org/drawingml/2006/main">
            <a:off x="4572000" y="5143500"/>
            <a:ext cx="2571750" cy="571500"/>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76200" tIns="76200" rIns="76200" bIns="76200" anchor="ctr">
            <a:noAutofit/>
          </a:bodyPr>
          <a:lstStyle xmlns:a="http://schemas.openxmlformats.org/drawingml/2006/main"/>
          <a:p xmlns:a="http://schemas.openxmlformats.org/drawingml/2006/main">
            <a:pPr algn="ctr">
              <a:lnSpc>
                <a:spcPct val="112000"/>
              </a:lnSpc>
              <a:buNone/>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Text</a:t>
            </a:r>
          </a:p>
        </p:txBody>
      </p:sp>
      <p:sp>
        <p:nvSpPr>
          <p:cNvPr id="18" name="text-17-540">
            <a:extLst xmlns:a="http://schemas.openxmlformats.org/drawingml/2006/main">
              <a:ext uri="{FF2B5EF4-FFF2-40B4-BE49-F238E27FC236}">
                <a16:creationId xmlns:a16="http://schemas.microsoft.com/office/drawing/2014/main" id="{7EF70FCC-1EF9-4109-80EA-A7DEE48BF2CF}"/>
              </a:ext>
            </a:extLst>
          </p:cNvPr>
          <p:cNvSpPr>
            <a:spLocks xmlns:a="http://schemas.openxmlformats.org/drawingml/2006/main" noGrp="1"/>
          </p:cNvSpPr>
          <p:nvPr/>
        </p:nvSpPr>
        <p:spPr>
          <a:xfrm xmlns:a="http://schemas.openxmlformats.org/drawingml/2006/main">
            <a:off x="8191500" y="5143500"/>
            <a:ext cx="3238500" cy="571500"/>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76200" tIns="76200" rIns="76200" bIns="76200" anchor="ctr">
            <a:noAutofit/>
          </a:bodyPr>
          <a:lstStyle xmlns:a="http://schemas.openxmlformats.org/drawingml/2006/main"/>
          <a:p xmlns:a="http://schemas.openxmlformats.org/drawingml/2006/main">
            <a:pPr algn="ctr">
              <a:lnSpc>
                <a:spcPct val="112000"/>
              </a:lnSpc>
              <a:buNone/>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Expanded + ListView</a:t>
            </a:r>
          </a:p>
        </p:txBody>
      </p:sp>
    </p:spTree>
    <p:extLst>
      <p:ext uri="{BB962C8B-B14F-4D97-AF65-F5344CB8AC3E}">
        <p14:creationId xmlns:p14="http://schemas.microsoft.com/office/powerpoint/2010/main" val="578588367"/>
      </p:ext>
    </p:extLst>
  </p:cSld>
</p:sld>
</file>

<file path=ppt/slides/slide1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ADED3F6C-5FFD-4EEE-AC53-CE8EDB7D4FA5}"/>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StatelessWidget dan StatefulWidget</a:t>
            </a:r>
          </a:p>
        </p:txBody>
      </p:sp>
      <p:sp>
        <p:nvSpPr>
          <p:cNvPr id="2" name="text-1-674">
            <a:extLst xmlns:a="http://schemas.openxmlformats.org/drawingml/2006/main">
              <a:ext uri="{FF2B5EF4-FFF2-40B4-BE49-F238E27FC236}">
                <a16:creationId xmlns:a16="http://schemas.microsoft.com/office/drawing/2014/main" id="{592A5C15-114A-43C7-89E0-041742BD9BA0}"/>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E570390A-385A-4D4C-9E28-EFAB3935DBCB}"/>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15</a:t>
            </a:r>
          </a:p>
        </p:txBody>
      </p:sp>
      <p:sp>
        <p:nvSpPr>
          <p:cNvPr id="4" name="text-3-180">
            <a:extLst xmlns:a="http://schemas.openxmlformats.org/drawingml/2006/main">
              <a:ext uri="{FF2B5EF4-FFF2-40B4-BE49-F238E27FC236}">
                <a16:creationId xmlns:a16="http://schemas.microsoft.com/office/drawing/2014/main" id="{92F8C273-C034-485C-9626-A6EB57148DFF}"/>
              </a:ext>
            </a:extLst>
          </p:cNvPr>
          <p:cNvSpPr>
            <a:spLocks xmlns:a="http://schemas.openxmlformats.org/drawingml/2006/main" noGrp="1"/>
          </p:cNvSpPr>
          <p:nvPr/>
        </p:nvSpPr>
        <p:spPr>
          <a:xfrm xmlns:a="http://schemas.openxmlformats.org/drawingml/2006/main">
            <a:off x="609600" y="171450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StatelessWidget</a:t>
            </a:r>
          </a:p>
        </p:txBody>
      </p:sp>
      <p:sp>
        <p:nvSpPr>
          <p:cNvPr id="5" name="text-4-180">
            <a:extLst xmlns:a="http://schemas.openxmlformats.org/drawingml/2006/main">
              <a:ext uri="{FF2B5EF4-FFF2-40B4-BE49-F238E27FC236}">
                <a16:creationId xmlns:a16="http://schemas.microsoft.com/office/drawing/2014/main" id="{88E1F8FD-30B8-451E-99EB-99CAC202FD5D}"/>
              </a:ext>
            </a:extLst>
          </p:cNvPr>
          <p:cNvSpPr>
            <a:spLocks xmlns:a="http://schemas.openxmlformats.org/drawingml/2006/main" noGrp="1"/>
          </p:cNvSpPr>
          <p:nvPr/>
        </p:nvSpPr>
        <p:spPr>
          <a:xfrm xmlns:a="http://schemas.openxmlformats.org/drawingml/2006/main">
            <a:off x="6477000" y="1714500"/>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StatefulWidget</a:t>
            </a:r>
          </a:p>
        </p:txBody>
      </p:sp>
      <p:sp>
        <p:nvSpPr>
          <p:cNvPr id="6" name="text-5-296">
            <a:extLst xmlns:a="http://schemas.openxmlformats.org/drawingml/2006/main">
              <a:ext uri="{FF2B5EF4-FFF2-40B4-BE49-F238E27FC236}">
                <a16:creationId xmlns:a16="http://schemas.microsoft.com/office/drawing/2014/main" id="{88AD64AE-11FF-49A4-B461-FF3298A6E105}"/>
              </a:ext>
            </a:extLst>
          </p:cNvPr>
          <p:cNvSpPr>
            <a:spLocks xmlns:a="http://schemas.openxmlformats.org/drawingml/2006/main" noGrp="1"/>
          </p:cNvSpPr>
          <p:nvPr/>
        </p:nvSpPr>
        <p:spPr>
          <a:xfrm xmlns:a="http://schemas.openxmlformats.org/drawingml/2006/main">
            <a:off x="6096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Tampilan berasal dari input constructor</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Cocok untuk tile atau badge</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Perubahan input membangun konfigurasi baru</a:t>
            </a:r>
          </a:p>
        </p:txBody>
      </p:sp>
      <p:sp>
        <p:nvSpPr>
          <p:cNvPr id="7" name="text-6-296">
            <a:extLst xmlns:a="http://schemas.openxmlformats.org/drawingml/2006/main">
              <a:ext uri="{FF2B5EF4-FFF2-40B4-BE49-F238E27FC236}">
                <a16:creationId xmlns:a16="http://schemas.microsoft.com/office/drawing/2014/main" id="{C3083702-CCCA-4780-80FA-29E890C02387}"/>
              </a:ext>
            </a:extLst>
          </p:cNvPr>
          <p:cNvSpPr>
            <a:spLocks xmlns:a="http://schemas.openxmlformats.org/drawingml/2006/main" noGrp="1"/>
          </p:cNvSpPr>
          <p:nvPr/>
        </p:nvSpPr>
        <p:spPr>
          <a:xfrm xmlns:a="http://schemas.openxmlformats.org/drawingml/2006/main">
            <a:off x="64770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State berubah sepanjang hidup layar</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Memiliki controller atau selection</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Mengelola initState dan dispose</a:t>
            </a:r>
          </a:p>
        </p:txBody>
      </p:sp>
    </p:spTree>
    <p:extLst>
      <p:ext uri="{BB962C8B-B14F-4D97-AF65-F5344CB8AC3E}">
        <p14:creationId xmlns:p14="http://schemas.microsoft.com/office/powerpoint/2010/main" val="1293723115"/>
      </p:ext>
    </p:extLst>
  </p:cSld>
</p:sld>
</file>

<file path=ppt/slides/slide1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94BAD5B5-6695-4093-9756-01649DBA5712}"/>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Scaffold dan struktur layar</a:t>
            </a:r>
          </a:p>
        </p:txBody>
      </p:sp>
      <p:sp>
        <p:nvSpPr>
          <p:cNvPr id="2" name="text-1-674">
            <a:extLst xmlns:a="http://schemas.openxmlformats.org/drawingml/2006/main">
              <a:ext uri="{FF2B5EF4-FFF2-40B4-BE49-F238E27FC236}">
                <a16:creationId xmlns:a16="http://schemas.microsoft.com/office/drawing/2014/main" id="{A732433F-B274-49CE-BEDB-E34F6367F16E}"/>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10DC32E3-46F7-459C-A2E4-462DF457017C}"/>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16</a:t>
            </a:r>
          </a:p>
        </p:txBody>
      </p:sp>
      <p:sp>
        <p:nvSpPr>
          <p:cNvPr id="4" name="text-3-193">
            <a:extLst xmlns:a="http://schemas.openxmlformats.org/drawingml/2006/main">
              <a:ext uri="{FF2B5EF4-FFF2-40B4-BE49-F238E27FC236}">
                <a16:creationId xmlns:a16="http://schemas.microsoft.com/office/drawing/2014/main" id="{3691F354-518E-434D-A230-25CA3782C18B}"/>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Scaffold(</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appBar: AppBar(</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title: const Text('Daftar inspeksi'),</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body: SafeArea(</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child: buildBody(),</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floatingActionButton: FloatingActionButton(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onPressed: openForm,</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child: const Icon(Icons.add),</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p:txBody>
      </p:sp>
    </p:spTree>
    <p:extLst>
      <p:ext uri="{BB962C8B-B14F-4D97-AF65-F5344CB8AC3E}">
        <p14:creationId xmlns:p14="http://schemas.microsoft.com/office/powerpoint/2010/main" val="123701492"/>
      </p:ext>
    </p:extLst>
  </p:cSld>
</p:sld>
</file>

<file path=ppt/slides/slide1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80CFD250-54C9-4080-86BE-D055E6AF9C21}"/>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Constraint dan ukuran widget</a:t>
            </a:r>
          </a:p>
        </p:txBody>
      </p:sp>
      <p:sp>
        <p:nvSpPr>
          <p:cNvPr id="2" name="text-1-674">
            <a:extLst xmlns:a="http://schemas.openxmlformats.org/drawingml/2006/main">
              <a:ext uri="{FF2B5EF4-FFF2-40B4-BE49-F238E27FC236}">
                <a16:creationId xmlns:a16="http://schemas.microsoft.com/office/drawing/2014/main" id="{76620F43-CDE0-494D-8874-46223538B256}"/>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7735D903-15DC-4370-8B67-48F24F3B02BF}"/>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17</a:t>
            </a:r>
          </a:p>
        </p:txBody>
      </p:sp>
      <p:graphicFrame>
        <p:nvGraphicFramePr>
          <p:cNvPr id="9"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194560"/>
                <a:gridCol w="4389120"/>
                <a:gridCol w="4389120"/>
              </a:tblGrid>
              <a:tr h="1028700">
                <a:tc>
                  <a:txBody>
                    <a:bodyPr lIns="123825" tIns="76200" rIns="123825" bIns="76200">
                      <a:noAutofit/>
                    </a:bodyPr>
                    <a:lstStyle/>
                    <a:p>
                      <a:r>
                        <a:rPr sz="1800" b="1">
                          <a:solidFill>
                            <a:srgbClr val="FFFFFF"/>
                          </a:solidFill>
                          <a:latin typeface="DejaVu Sans"/>
                          <a:ea typeface="DejaVu Sans"/>
                          <a:cs typeface="DejaVu Sans"/>
                        </a:rPr>
                        <a:t>Tahap</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Tanggung jawab</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Contoh latihan</a:t>
                      </a:r>
                    </a:p>
                  </a:txBody>
                  <a:tcPr marL="91440" marR="91440" marT="45720" marB="45720" anchor="ctr">
                    <a:solidFill>
                      <a:srgbClr val="102D40"/>
                    </a:solidFill>
                  </a:tcPr>
                </a:tc>
              </a:tr>
              <a:tr h="1028700">
                <a:tc>
                  <a:txBody>
                    <a:bodyPr lIns="123825" tIns="76200" rIns="123825" bIns="76200">
                      <a:noAutofit/>
                    </a:bodyPr>
                    <a:lstStyle/>
                    <a:p>
                      <a:r>
                        <a:rPr sz="1800" b="0">
                          <a:solidFill>
                            <a:srgbClr val="193447"/>
                          </a:solidFill>
                          <a:latin typeface="DejaVu Sans"/>
                          <a:ea typeface="DejaVu Sans"/>
                          <a:cs typeface="DejaVu Sans"/>
                        </a:rPr>
                        <a:t>Parent</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Memberi batas min dan max</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Area body Scaffold</a:t>
                      </a:r>
                    </a:p>
                  </a:txBody>
                  <a:tcPr marL="91440" marR="91440" marT="45720" marB="45720" anchor="ctr">
                    <a:solidFill>
                      <a:srgbClr val="FFFFFF"/>
                    </a:solidFill>
                  </a:tcPr>
                </a:tc>
              </a:tr>
              <a:tr h="1028700">
                <a:tc>
                  <a:txBody>
                    <a:bodyPr lIns="123825" tIns="76200" rIns="123825" bIns="76200">
                      <a:noAutofit/>
                    </a:bodyPr>
                    <a:lstStyle/>
                    <a:p>
                      <a:r>
                        <a:rPr sz="1800" b="0">
                          <a:solidFill>
                            <a:srgbClr val="193447"/>
                          </a:solidFill>
                          <a:latin typeface="DejaVu Sans"/>
                          <a:ea typeface="DejaVu Sans"/>
                          <a:cs typeface="DejaVu Sans"/>
                        </a:rPr>
                        <a:t>Child</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Memilih ukuran dalam batas</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ListView mengambil ruang</a:t>
                      </a:r>
                    </a:p>
                  </a:txBody>
                  <a:tcPr marL="91440" marR="91440" marT="45720" marB="45720" anchor="ctr">
                    <a:solidFill>
                      <a:srgbClr val="EDF4F6"/>
                    </a:solidFill>
                  </a:tcPr>
                </a:tc>
              </a:tr>
              <a:tr h="1028700">
                <a:tc>
                  <a:txBody>
                    <a:bodyPr lIns="123825" tIns="76200" rIns="123825" bIns="76200">
                      <a:noAutofit/>
                    </a:bodyPr>
                    <a:lstStyle/>
                    <a:p>
                      <a:r>
                        <a:rPr sz="1800" b="0">
                          <a:solidFill>
                            <a:srgbClr val="193447"/>
                          </a:solidFill>
                          <a:latin typeface="DejaVu Sans"/>
                          <a:ea typeface="DejaVu Sans"/>
                          <a:cs typeface="DejaVu Sans"/>
                        </a:rPr>
                        <a:t>Parent</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Menempatkan child</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Column menata vertikal</a:t>
                      </a:r>
                    </a:p>
                  </a:txBody>
                  <a:tcPr marL="91440" marR="91440" marT="45720" marB="45720" anchor="ctr">
                    <a:solidFill>
                      <a:srgbClr val="FFFFFF"/>
                    </a:solidFill>
                  </a:tcPr>
                </a:tc>
              </a:tr>
            </a:tbl>
          </a:graphicData>
        </a:graphic>
      </p:graphicFrame>
      <p:sp>
        <p:nvSpPr>
          <p:cNvPr id="5" name="text-3-618">
            <a:extLst xmlns:a="http://schemas.openxmlformats.org/drawingml/2006/main">
              <a:ext uri="{FF2B5EF4-FFF2-40B4-BE49-F238E27FC236}">
                <a16:creationId xmlns:a16="http://schemas.microsoft.com/office/drawing/2014/main" id="{F068AABA-2CDC-44D4-B197-BE3515A5376A}"/>
              </a:ext>
            </a:extLst>
          </p:cNvPr>
          <p:cNvSpPr>
            <a:spLocks xmlns:a="http://schemas.openxmlformats.org/drawingml/2006/main" noGrp="1"/>
          </p:cNvSpPr>
          <p:nvPr/>
        </p:nvSpPr>
        <p:spPr>
          <a:xfrm xmlns:a="http://schemas.openxmlformats.org/drawingml/2006/main">
            <a:off x="609600" y="58864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1">
                <a:solidFill>
                  <a:srgbClr val="007F85"/>
                </a:solidFill>
                <a:latin typeface="DejaVu Sans"/>
                <a:ea typeface="DejaVu Sans"/>
                <a:cs typeface="DejaVu Sans"/>
              </a:defRPr>
            </a:pPr>
            <a:r>
              <a:rPr sz="1725" b="1">
                <a:solidFill>
                  <a:srgbClr val="007F85"/>
                </a:solidFill>
                <a:latin typeface="DejaVu Sans"/>
                <a:ea typeface="DejaVu Sans"/>
                <a:cs typeface="DejaVu Sans"/>
              </a:rPr>
              <a:t>Perbaikan layout dimulai dari batas ukuran parent</a:t>
            </a:r>
          </a:p>
        </p:txBody>
      </p:sp>
    </p:spTree>
    <p:extLst>
      <p:ext uri="{BB962C8B-B14F-4D97-AF65-F5344CB8AC3E}">
        <p14:creationId xmlns:p14="http://schemas.microsoft.com/office/powerpoint/2010/main" val="1310035294"/>
      </p:ext>
    </p:extLst>
  </p:cSld>
</p:sld>
</file>

<file path=ppt/slides/slide1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8CD1B834-D074-4AF6-A33B-AA4D4565CA5B}"/>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Row, Column dan teks panjang</a:t>
            </a:r>
          </a:p>
        </p:txBody>
      </p:sp>
      <p:sp>
        <p:nvSpPr>
          <p:cNvPr id="2" name="text-1-674">
            <a:extLst xmlns:a="http://schemas.openxmlformats.org/drawingml/2006/main">
              <a:ext uri="{FF2B5EF4-FFF2-40B4-BE49-F238E27FC236}">
                <a16:creationId xmlns:a16="http://schemas.microsoft.com/office/drawing/2014/main" id="{7FF633BA-5DC2-4481-B085-42C8BA7B62CD}"/>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CA3CFAB6-2252-4ADA-8065-EB71CCD4534C}"/>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18</a:t>
            </a:r>
          </a:p>
        </p:txBody>
      </p:sp>
      <p:sp>
        <p:nvSpPr>
          <p:cNvPr id="4" name="text-3-180">
            <a:extLst xmlns:a="http://schemas.openxmlformats.org/drawingml/2006/main">
              <a:ext uri="{FF2B5EF4-FFF2-40B4-BE49-F238E27FC236}">
                <a16:creationId xmlns:a16="http://schemas.microsoft.com/office/drawing/2014/main" id="{3BEE1EB4-8668-4319-9E9B-9A8A4B447B21}"/>
              </a:ext>
            </a:extLst>
          </p:cNvPr>
          <p:cNvSpPr>
            <a:spLocks xmlns:a="http://schemas.openxmlformats.org/drawingml/2006/main" noGrp="1"/>
          </p:cNvSpPr>
          <p:nvPr/>
        </p:nvSpPr>
        <p:spPr>
          <a:xfrm xmlns:a="http://schemas.openxmlformats.org/drawingml/2006/main">
            <a:off x="609600" y="171450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Arah layout</a:t>
            </a:r>
          </a:p>
        </p:txBody>
      </p:sp>
      <p:sp>
        <p:nvSpPr>
          <p:cNvPr id="5" name="text-4-180">
            <a:extLst xmlns:a="http://schemas.openxmlformats.org/drawingml/2006/main">
              <a:ext uri="{FF2B5EF4-FFF2-40B4-BE49-F238E27FC236}">
                <a16:creationId xmlns:a16="http://schemas.microsoft.com/office/drawing/2014/main" id="{2275105C-C563-4D50-A8A3-60C5A863A625}"/>
              </a:ext>
            </a:extLst>
          </p:cNvPr>
          <p:cNvSpPr>
            <a:spLocks xmlns:a="http://schemas.openxmlformats.org/drawingml/2006/main" noGrp="1"/>
          </p:cNvSpPr>
          <p:nvPr/>
        </p:nvSpPr>
        <p:spPr>
          <a:xfrm xmlns:a="http://schemas.openxmlformats.org/drawingml/2006/main">
            <a:off x="6477000" y="1714500"/>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Ruang yang tersedia</a:t>
            </a:r>
          </a:p>
        </p:txBody>
      </p:sp>
      <p:sp>
        <p:nvSpPr>
          <p:cNvPr id="6" name="text-5-296">
            <a:extLst xmlns:a="http://schemas.openxmlformats.org/drawingml/2006/main">
              <a:ext uri="{FF2B5EF4-FFF2-40B4-BE49-F238E27FC236}">
                <a16:creationId xmlns:a16="http://schemas.microsoft.com/office/drawing/2014/main" id="{1F9CF964-E3D1-48FE-8A6E-4675314AEEE7}"/>
              </a:ext>
            </a:extLst>
          </p:cNvPr>
          <p:cNvSpPr>
            <a:spLocks xmlns:a="http://schemas.openxmlformats.org/drawingml/2006/main" noGrp="1"/>
          </p:cNvSpPr>
          <p:nvPr/>
        </p:nvSpPr>
        <p:spPr>
          <a:xfrm xmlns:a="http://schemas.openxmlformats.org/drawingml/2006/main">
            <a:off x="6096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Row menyusun child horizontal</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Column menyusun child vertikal</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Padding memberi jarak tepi</a:t>
            </a:r>
          </a:p>
        </p:txBody>
      </p:sp>
      <p:sp>
        <p:nvSpPr>
          <p:cNvPr id="7" name="text-6-296">
            <a:extLst xmlns:a="http://schemas.openxmlformats.org/drawingml/2006/main">
              <a:ext uri="{FF2B5EF4-FFF2-40B4-BE49-F238E27FC236}">
                <a16:creationId xmlns:a16="http://schemas.microsoft.com/office/drawing/2014/main" id="{8234D3F2-F9C2-4835-BEB5-3A0926D68CEA}"/>
              </a:ext>
            </a:extLst>
          </p:cNvPr>
          <p:cNvSpPr>
            <a:spLocks xmlns:a="http://schemas.openxmlformats.org/drawingml/2006/main" noGrp="1"/>
          </p:cNvSpPr>
          <p:nvPr/>
        </p:nvSpPr>
        <p:spPr>
          <a:xfrm xmlns:a="http://schemas.openxmlformats.org/drawingml/2006/main">
            <a:off x="64770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Teks dapat meminta lebar besar</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Flexible membantu teks membungkus</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Expanded membagi sisa ruang</a:t>
            </a:r>
          </a:p>
        </p:txBody>
      </p:sp>
    </p:spTree>
    <p:extLst>
      <p:ext uri="{BB962C8B-B14F-4D97-AF65-F5344CB8AC3E}">
        <p14:creationId xmlns:p14="http://schemas.microsoft.com/office/powerpoint/2010/main" val="1864239691"/>
      </p:ext>
    </p:extLst>
  </p:cSld>
</p:sld>
</file>

<file path=ppt/slides/slide1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21ECD7C5-7522-44C5-BCB8-5E1494F538EE}"/>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Expanded dan Flexible</a:t>
            </a:r>
          </a:p>
        </p:txBody>
      </p:sp>
      <p:sp>
        <p:nvSpPr>
          <p:cNvPr id="2" name="text-1-674">
            <a:extLst xmlns:a="http://schemas.openxmlformats.org/drawingml/2006/main">
              <a:ext uri="{FF2B5EF4-FFF2-40B4-BE49-F238E27FC236}">
                <a16:creationId xmlns:a16="http://schemas.microsoft.com/office/drawing/2014/main" id="{EBA7861B-90AF-49FD-93A9-DBE3C5E1522D}"/>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233FDB4D-F431-4A3A-ABB2-AFBBAEFB5AE0}"/>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19</a:t>
            </a:r>
          </a:p>
        </p:txBody>
      </p:sp>
      <p:graphicFrame>
        <p:nvGraphicFramePr>
          <p:cNvPr id="8"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194560"/>
                <a:gridCol w="4389120"/>
                <a:gridCol w="4389120"/>
              </a:tblGrid>
              <a:tr h="822960">
                <a:tc>
                  <a:txBody>
                    <a:bodyPr lIns="123825" tIns="76200" rIns="123825" bIns="76200">
                      <a:noAutofit/>
                    </a:bodyPr>
                    <a:lstStyle/>
                    <a:p>
                      <a:r>
                        <a:rPr sz="1800" b="1">
                          <a:solidFill>
                            <a:srgbClr val="FFFFFF"/>
                          </a:solidFill>
                          <a:latin typeface="DejaVu Sans"/>
                          <a:ea typeface="DejaVu Sans"/>
                          <a:cs typeface="DejaVu Sans"/>
                        </a:rPr>
                        <a:t>Widget</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Perilaku</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Kapan dipakai</a:t>
                      </a:r>
                    </a:p>
                  </a:txBody>
                  <a:tcPr marL="91440" marR="91440" marT="45720" marB="45720" anchor="ctr">
                    <a:solidFill>
                      <a:srgbClr val="102D40"/>
                    </a:solidFill>
                  </a:tcPr>
                </a:tc>
              </a:tr>
              <a:tr h="822960">
                <a:tc>
                  <a:txBody>
                    <a:bodyPr lIns="123825" tIns="76200" rIns="123825" bIns="76200">
                      <a:noAutofit/>
                    </a:bodyPr>
                    <a:lstStyle/>
                    <a:p>
                      <a:r>
                        <a:rPr sz="1800" b="0">
                          <a:solidFill>
                            <a:srgbClr val="193447"/>
                          </a:solidFill>
                          <a:latin typeface="DejaVu Sans"/>
                          <a:ea typeface="DejaVu Sans"/>
                          <a:cs typeface="DejaVu Sans"/>
                        </a:rPr>
                        <a:t>Expanded</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Memaksa child mengisi alokasi</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List dalam Column body</a:t>
                      </a:r>
                    </a:p>
                  </a:txBody>
                  <a:tcPr marL="91440" marR="91440" marT="45720" marB="45720" anchor="ctr">
                    <a:solidFill>
                      <a:srgbClr val="FFFFFF"/>
                    </a:solidFill>
                  </a:tcPr>
                </a:tc>
              </a:tr>
              <a:tr h="822960">
                <a:tc>
                  <a:txBody>
                    <a:bodyPr lIns="123825" tIns="76200" rIns="123825" bIns="76200">
                      <a:noAutofit/>
                    </a:bodyPr>
                    <a:lstStyle/>
                    <a:p>
                      <a:r>
                        <a:rPr sz="1800" b="0">
                          <a:solidFill>
                            <a:srgbClr val="193447"/>
                          </a:solidFill>
                          <a:latin typeface="DejaVu Sans"/>
                          <a:ea typeface="DejaVu Sans"/>
                          <a:cs typeface="DejaVu Sans"/>
                        </a:rPr>
                        <a:t>Flexible</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Child boleh lebih kecil dari alokasi</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Teks panjang di Row</a:t>
                      </a:r>
                    </a:p>
                  </a:txBody>
                  <a:tcPr marL="91440" marR="91440" marT="45720" marB="45720" anchor="ctr">
                    <a:solidFill>
                      <a:srgbClr val="EDF4F6"/>
                    </a:solidFill>
                  </a:tcPr>
                </a:tc>
              </a:tr>
              <a:tr h="822960">
                <a:tc>
                  <a:txBody>
                    <a:bodyPr lIns="123825" tIns="76200" rIns="123825" bIns="76200">
                      <a:noAutofit/>
                    </a:bodyPr>
                    <a:lstStyle/>
                    <a:p>
                      <a:r>
                        <a:rPr sz="1800" b="0">
                          <a:solidFill>
                            <a:srgbClr val="193447"/>
                          </a:solidFill>
                          <a:latin typeface="DejaVu Sans"/>
                          <a:ea typeface="DejaVu Sans"/>
                          <a:cs typeface="DejaVu Sans"/>
                        </a:rPr>
                        <a:t>SizedBox</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Ukuran atau jarak eksplisit</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Spacing yang terukur</a:t>
                      </a:r>
                    </a:p>
                  </a:txBody>
                  <a:tcPr marL="91440" marR="91440" marT="45720" marB="45720" anchor="ctr">
                    <a:solidFill>
                      <a:srgbClr val="FFFFFF"/>
                    </a:solidFill>
                  </a:tcPr>
                </a:tc>
              </a:tr>
              <a:tr h="822960">
                <a:tc>
                  <a:txBody>
                    <a:bodyPr lIns="123825" tIns="76200" rIns="123825" bIns="76200">
                      <a:noAutofit/>
                    </a:bodyPr>
                    <a:lstStyle/>
                    <a:p>
                      <a:r>
                        <a:rPr sz="1800" b="0">
                          <a:solidFill>
                            <a:srgbClr val="193447"/>
                          </a:solidFill>
                          <a:latin typeface="DejaVu Sans"/>
                          <a:ea typeface="DejaVu Sans"/>
                          <a:cs typeface="DejaVu Sans"/>
                        </a:rPr>
                        <a:t>Padding</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Ruang di sekeliling child</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Tepi form dan daftar</a:t>
                      </a:r>
                    </a:p>
                  </a:txBody>
                  <a:tcPr marL="91440" marR="91440" marT="45720" marB="45720" anchor="ctr">
                    <a:solidFill>
                      <a:srgbClr val="EDF4F6"/>
                    </a:solidFill>
                  </a:tcPr>
                </a:tc>
              </a:tr>
            </a:tbl>
          </a:graphicData>
        </a:graphic>
      </p:graphicFrame>
    </p:spTree>
    <p:extLst>
      <p:ext uri="{BB962C8B-B14F-4D97-AF65-F5344CB8AC3E}">
        <p14:creationId xmlns:p14="http://schemas.microsoft.com/office/powerpoint/2010/main" val="170571606"/>
      </p:ext>
    </p:extLst>
  </p:cSld>
</p:sld>
</file>

<file path=ppt/slides/slide2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43C31C23-46A4-4DE4-BE5D-7B2D529A11D9}"/>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ListView builder dan ID item</a:t>
            </a:r>
          </a:p>
        </p:txBody>
      </p:sp>
      <p:sp>
        <p:nvSpPr>
          <p:cNvPr id="2" name="text-1-674">
            <a:extLst xmlns:a="http://schemas.openxmlformats.org/drawingml/2006/main">
              <a:ext uri="{FF2B5EF4-FFF2-40B4-BE49-F238E27FC236}">
                <a16:creationId xmlns:a16="http://schemas.microsoft.com/office/drawing/2014/main" id="{78D3F61D-0F47-4D3E-AA43-E204F8BE837E}"/>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8E0EA841-D40D-445F-851C-2CCF4884F403}"/>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20</a:t>
            </a:r>
          </a:p>
        </p:txBody>
      </p:sp>
      <p:sp>
        <p:nvSpPr>
          <p:cNvPr id="4" name="text-3-193">
            <a:extLst xmlns:a="http://schemas.openxmlformats.org/drawingml/2006/main">
              <a:ext uri="{FF2B5EF4-FFF2-40B4-BE49-F238E27FC236}">
                <a16:creationId xmlns:a16="http://schemas.microsoft.com/office/drawing/2014/main" id="{B5A2B1CB-E215-4932-9413-06BD902B47FD}"/>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ListView.builder(</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itemCount: items.length,</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itemBuilder: (context, index)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final item = items[index];</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return ListTile(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key: ValueKey(item.id),</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title: Text(item.assetCode),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subtitle: Text(item.location),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onTap: () =&gt; openDetail(item),</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p:txBody>
      </p:sp>
    </p:spTree>
    <p:extLst>
      <p:ext uri="{BB962C8B-B14F-4D97-AF65-F5344CB8AC3E}">
        <p14:creationId xmlns:p14="http://schemas.microsoft.com/office/powerpoint/2010/main" val="1357230699"/>
      </p:ext>
    </p:extLst>
  </p:cSld>
</p:sld>
</file>

<file path=ppt/slides/slide2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5DAEDF2E-D799-4A63-966B-527833F81A8A}"/>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Komponen reusable</a:t>
            </a:r>
          </a:p>
        </p:txBody>
      </p:sp>
      <p:sp>
        <p:nvSpPr>
          <p:cNvPr id="2" name="text-1-674">
            <a:extLst xmlns:a="http://schemas.openxmlformats.org/drawingml/2006/main">
              <a:ext uri="{FF2B5EF4-FFF2-40B4-BE49-F238E27FC236}">
                <a16:creationId xmlns:a16="http://schemas.microsoft.com/office/drawing/2014/main" id="{056327B4-EB1F-4C32-842E-3D5DD63DC6D0}"/>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0DCA3671-4149-4B15-90C6-9DA3A7E413DD}"/>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21</a:t>
            </a:r>
          </a:p>
        </p:txBody>
      </p:sp>
      <p:sp>
        <p:nvSpPr>
          <p:cNvPr id="4" name="text-3-180">
            <a:extLst xmlns:a="http://schemas.openxmlformats.org/drawingml/2006/main">
              <a:ext uri="{FF2B5EF4-FFF2-40B4-BE49-F238E27FC236}">
                <a16:creationId xmlns:a16="http://schemas.microsoft.com/office/drawing/2014/main" id="{68531D2C-ECBD-4F32-BF70-2F988F222220}"/>
              </a:ext>
            </a:extLst>
          </p:cNvPr>
          <p:cNvSpPr>
            <a:spLocks xmlns:a="http://schemas.openxmlformats.org/drawingml/2006/main" noGrp="1"/>
          </p:cNvSpPr>
          <p:nvPr/>
        </p:nvSpPr>
        <p:spPr>
          <a:xfrm xmlns:a="http://schemas.openxmlformats.org/drawingml/2006/main">
            <a:off x="609600" y="171450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Batas komponen yang jelas</a:t>
            </a:r>
          </a:p>
        </p:txBody>
      </p:sp>
      <p:sp>
        <p:nvSpPr>
          <p:cNvPr id="5" name="text-4-180">
            <a:extLst xmlns:a="http://schemas.openxmlformats.org/drawingml/2006/main">
              <a:ext uri="{FF2B5EF4-FFF2-40B4-BE49-F238E27FC236}">
                <a16:creationId xmlns:a16="http://schemas.microsoft.com/office/drawing/2014/main" id="{EEEC46C7-F2BC-4DA5-8839-EA0709014726}"/>
              </a:ext>
            </a:extLst>
          </p:cNvPr>
          <p:cNvSpPr>
            <a:spLocks xmlns:a="http://schemas.openxmlformats.org/drawingml/2006/main" noGrp="1"/>
          </p:cNvSpPr>
          <p:nvPr/>
        </p:nvSpPr>
        <p:spPr>
          <a:xfrm xmlns:a="http://schemas.openxmlformats.org/drawingml/2006/main">
            <a:off x="6477000" y="1714500"/>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Pertimbangan review</a:t>
            </a:r>
          </a:p>
        </p:txBody>
      </p:sp>
      <p:sp>
        <p:nvSpPr>
          <p:cNvPr id="6" name="text-5-296">
            <a:extLst xmlns:a="http://schemas.openxmlformats.org/drawingml/2006/main">
              <a:ext uri="{FF2B5EF4-FFF2-40B4-BE49-F238E27FC236}">
                <a16:creationId xmlns:a16="http://schemas.microsoft.com/office/drawing/2014/main" id="{FC8A6188-A3E1-4F58-A4DD-401A5467800E}"/>
              </a:ext>
            </a:extLst>
          </p:cNvPr>
          <p:cNvSpPr>
            <a:spLocks xmlns:a="http://schemas.openxmlformats.org/drawingml/2006/main" noGrp="1"/>
          </p:cNvSpPr>
          <p:nvPr/>
        </p:nvSpPr>
        <p:spPr>
          <a:xfrm xmlns:a="http://schemas.openxmlformats.org/drawingml/2006/main">
            <a:off x="6096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InspectionTile menampilkan satu record</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StatusLabel memetakan kondisi ke teks</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Input tetap memakai komponen Material</a:t>
            </a:r>
          </a:p>
        </p:txBody>
      </p:sp>
      <p:sp>
        <p:nvSpPr>
          <p:cNvPr id="7" name="text-6-296">
            <a:extLst xmlns:a="http://schemas.openxmlformats.org/drawingml/2006/main">
              <a:ext uri="{FF2B5EF4-FFF2-40B4-BE49-F238E27FC236}">
                <a16:creationId xmlns:a16="http://schemas.microsoft.com/office/drawing/2014/main" id="{E519DD99-F10A-4803-8757-A0C8CBB6C742}"/>
              </a:ext>
            </a:extLst>
          </p:cNvPr>
          <p:cNvSpPr>
            <a:spLocks xmlns:a="http://schemas.openxmlformats.org/drawingml/2006/main" noGrp="1"/>
          </p:cNvSpPr>
          <p:nvPr/>
        </p:nvSpPr>
        <p:spPr>
          <a:xfrm xmlns:a="http://schemas.openxmlformats.org/drawingml/2006/main">
            <a:off x="64770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Constructor menerima data yang dibutuhkan</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Komponen kecil dapat dibaca dan diuji</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Business rule tetap di fungsi atau layer data</a:t>
            </a:r>
          </a:p>
        </p:txBody>
      </p:sp>
    </p:spTree>
    <p:extLst>
      <p:ext uri="{BB962C8B-B14F-4D97-AF65-F5344CB8AC3E}">
        <p14:creationId xmlns:p14="http://schemas.microsoft.com/office/powerpoint/2010/main" val="188166307"/>
      </p:ext>
    </p:extLst>
  </p:cSld>
</p:sld>
</file>

<file path=ppt/slides/slide2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E1E9C650-4939-40FB-938E-2ACD777B44C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Theme dan typography aplikasi</a:t>
            </a:r>
          </a:p>
        </p:txBody>
      </p:sp>
      <p:sp>
        <p:nvSpPr>
          <p:cNvPr id="2" name="text-1-674">
            <a:extLst xmlns:a="http://schemas.openxmlformats.org/drawingml/2006/main">
              <a:ext uri="{FF2B5EF4-FFF2-40B4-BE49-F238E27FC236}">
                <a16:creationId xmlns:a16="http://schemas.microsoft.com/office/drawing/2014/main" id="{E1097157-3D29-4F2C-B5F1-75F53641E3AD}"/>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69F4942D-1EAF-4BF5-8F19-4D28C4F0A3DE}"/>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22</a:t>
            </a:r>
          </a:p>
        </p:txBody>
      </p:sp>
      <p:sp>
        <p:nvSpPr>
          <p:cNvPr id="4" name="text-3-193">
            <a:extLst xmlns:a="http://schemas.openxmlformats.org/drawingml/2006/main">
              <a:ext uri="{FF2B5EF4-FFF2-40B4-BE49-F238E27FC236}">
                <a16:creationId xmlns:a16="http://schemas.microsoft.com/office/drawing/2014/main" id="{DC356965-AE21-4567-8B62-849263027941}"/>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MaterialApp(</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theme: ThemeData(</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useMaterial3: true,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colorScheme: ColorScheme.fromSeed(</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seedColor: Colors.teal,</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home: const InspectionListScreen(),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p:txBody>
      </p:sp>
    </p:spTree>
    <p:extLst>
      <p:ext uri="{BB962C8B-B14F-4D97-AF65-F5344CB8AC3E}">
        <p14:creationId xmlns:p14="http://schemas.microsoft.com/office/powerpoint/2010/main" val="991388865"/>
      </p:ext>
    </p:extLst>
  </p:cSld>
</p:sld>
</file>

<file path=ppt/slides/slide2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9F6707D3-563D-4D14-B55B-D40C0315129F}"/>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Responsive UI dan keyboard</a:t>
            </a:r>
          </a:p>
        </p:txBody>
      </p:sp>
      <p:sp>
        <p:nvSpPr>
          <p:cNvPr id="2" name="text-1-674">
            <a:extLst xmlns:a="http://schemas.openxmlformats.org/drawingml/2006/main">
              <a:ext uri="{FF2B5EF4-FFF2-40B4-BE49-F238E27FC236}">
                <a16:creationId xmlns:a16="http://schemas.microsoft.com/office/drawing/2014/main" id="{BC8A5C50-624C-40D4-8EFB-1A455BE8985C}"/>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BD30442B-01D2-4D73-87ED-0911961A00A9}"/>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23</a:t>
            </a:r>
          </a:p>
        </p:txBody>
      </p:sp>
      <p:sp>
        <p:nvSpPr>
          <p:cNvPr id="4" name="text-3-180">
            <a:extLst xmlns:a="http://schemas.openxmlformats.org/drawingml/2006/main">
              <a:ext uri="{FF2B5EF4-FFF2-40B4-BE49-F238E27FC236}">
                <a16:creationId xmlns:a16="http://schemas.microsoft.com/office/drawing/2014/main" id="{241E9ECD-6E5D-4A08-8071-BE2E40EF477A}"/>
              </a:ext>
            </a:extLst>
          </p:cNvPr>
          <p:cNvSpPr>
            <a:spLocks xmlns:a="http://schemas.openxmlformats.org/drawingml/2006/main" noGrp="1"/>
          </p:cNvSpPr>
          <p:nvPr/>
        </p:nvSpPr>
        <p:spPr>
          <a:xfrm xmlns:a="http://schemas.openxmlformats.org/drawingml/2006/main">
            <a:off x="609600" y="1714500"/>
            <a:ext cx="10763250"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Layout mengikuti constraint yang tersedia</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Form dan detail panjang dapat di-scroll</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Landscape tetap menjaga keterbacaan</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Keyboard tidak menutup akses ke field atau tombol</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Teks kondisi tetap jelas ketika ukuran font naik</a:t>
            </a:r>
          </a:p>
        </p:txBody>
      </p:sp>
    </p:spTree>
    <p:extLst>
      <p:ext uri="{BB962C8B-B14F-4D97-AF65-F5344CB8AC3E}">
        <p14:creationId xmlns:p14="http://schemas.microsoft.com/office/powerpoint/2010/main" val="1451461836"/>
      </p:ext>
    </p:extLst>
  </p:cSld>
</p:sld>
</file>

<file path=ppt/slides/slide2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6167228C-0A40-4B88-A32A-2505EAF3D3D8}"/>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Asset lokal pada pubspec</a:t>
            </a:r>
          </a:p>
        </p:txBody>
      </p:sp>
      <p:sp>
        <p:nvSpPr>
          <p:cNvPr id="2" name="text-1-674">
            <a:extLst xmlns:a="http://schemas.openxmlformats.org/drawingml/2006/main">
              <a:ext uri="{FF2B5EF4-FFF2-40B4-BE49-F238E27FC236}">
                <a16:creationId xmlns:a16="http://schemas.microsoft.com/office/drawing/2014/main" id="{84D8BDEA-2C8E-43B5-9313-ABBA792EBF37}"/>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C7F849E6-2B3D-41D9-9C01-76D29EE057D6}"/>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24</a:t>
            </a:r>
          </a:p>
        </p:txBody>
      </p:sp>
      <p:sp>
        <p:nvSpPr>
          <p:cNvPr id="4" name="text-3-193">
            <a:extLst xmlns:a="http://schemas.openxmlformats.org/drawingml/2006/main">
              <a:ext uri="{FF2B5EF4-FFF2-40B4-BE49-F238E27FC236}">
                <a16:creationId xmlns:a16="http://schemas.microsoft.com/office/drawing/2014/main" id="{F1DB4618-1D2B-409A-AFA8-633C5B741BAB}"/>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flutter:</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uses-material-design: true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assets:</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 assets/images/</a:t>
            </a:r>
          </a:p>
          <a:p xmlns:a="http://schemas.openxmlformats.org/drawingml/2006/main">
            <a:r>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Dalam widget setelah file tersedia</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Image.asset(</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'assets/images/equipment.png',</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fit: BoxFit.contain,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p:txBody>
      </p:sp>
      <p:sp>
        <p:nvSpPr>
          <p:cNvPr id="5" name="text-4-633">
            <a:extLst xmlns:a="http://schemas.openxmlformats.org/drawingml/2006/main">
              <a:ext uri="{FF2B5EF4-FFF2-40B4-BE49-F238E27FC236}">
                <a16:creationId xmlns:a16="http://schemas.microsoft.com/office/drawing/2014/main" id="{C000127F-A772-4D53-974E-78A55028C213}"/>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1">
                <a:solidFill>
                  <a:srgbClr val="007F85"/>
                </a:solidFill>
                <a:latin typeface="DejaVu Sans"/>
                <a:ea typeface="DejaVu Sans"/>
                <a:cs typeface="DejaVu Sans"/>
              </a:defRPr>
            </a:pPr>
            <a:r>
              <a:rPr sz="1725" b="1">
                <a:solidFill>
                  <a:srgbClr val="007F85"/>
                </a:solidFill>
                <a:latin typeface="DejaVu Sans"/>
                <a:ea typeface="DejaVu Sans"/>
                <a:cs typeface="DejaVu Sans"/>
              </a:rPr>
              <a:t>Contoh asset bersifat opsional. File harus tersedia di lokasi yang benar.</a:t>
            </a:r>
          </a:p>
        </p:txBody>
      </p:sp>
    </p:spTree>
    <p:extLst>
      <p:ext uri="{BB962C8B-B14F-4D97-AF65-F5344CB8AC3E}">
        <p14:creationId xmlns:p14="http://schemas.microsoft.com/office/powerpoint/2010/main" val="24957145"/>
      </p:ext>
    </p:extLst>
  </p:cSld>
</p:sld>
</file>

<file path=ppt/slides/slide2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FF5EC2F1-7A7A-466C-82DD-94F55A3DC901}"/>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Praktik 2 daftar dan detail</a:t>
            </a:r>
          </a:p>
        </p:txBody>
      </p:sp>
      <p:sp>
        <p:nvSpPr>
          <p:cNvPr id="2" name="text-1-674">
            <a:extLst xmlns:a="http://schemas.openxmlformats.org/drawingml/2006/main">
              <a:ext uri="{FF2B5EF4-FFF2-40B4-BE49-F238E27FC236}">
                <a16:creationId xmlns:a16="http://schemas.microsoft.com/office/drawing/2014/main" id="{7FB08290-C006-47D9-9E19-CEC4C10984E1}"/>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497CB4DB-2FDE-419F-A59C-873AAA873ABB}"/>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25</a:t>
            </a:r>
          </a:p>
        </p:txBody>
      </p:sp>
      <p:sp>
        <p:nvSpPr>
          <p:cNvPr id="4" name="text-3-174">
            <a:extLst xmlns:a="http://schemas.openxmlformats.org/drawingml/2006/main">
              <a:ext uri="{FF2B5EF4-FFF2-40B4-BE49-F238E27FC236}">
                <a16:creationId xmlns:a16="http://schemas.microsoft.com/office/drawing/2014/main" id="{AACA3B9E-AF32-4CE9-8605-07C647493818}"/>
              </a:ext>
            </a:extLst>
          </p:cNvPr>
          <p:cNvSpPr>
            <a:spLocks xmlns:a="http://schemas.openxmlformats.org/drawingml/2006/main" noGrp="1"/>
          </p:cNvSpPr>
          <p:nvPr/>
        </p:nvSpPr>
        <p:spPr>
          <a:xfrm xmlns:a="http://schemas.openxmlformats.org/drawingml/2006/main">
            <a:off x="609600" y="1657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400" b="1">
                <a:solidFill>
                  <a:srgbClr val="007F85"/>
                </a:solidFill>
                <a:latin typeface="DejaVu Sans"/>
                <a:ea typeface="DejaVu Sans"/>
                <a:cs typeface="DejaVu Sans"/>
              </a:defRPr>
            </a:pPr>
            <a:r>
              <a:rPr sz="2400" b="1">
                <a:solidFill>
                  <a:srgbClr val="007F85"/>
                </a:solidFill>
                <a:latin typeface="DejaVu Sans"/>
                <a:ea typeface="DejaVu Sans"/>
                <a:cs typeface="DejaVu Sans"/>
              </a:rPr>
              <a:t>Daftar dan detail terbaca pada layar sempit</a:t>
            </a:r>
          </a:p>
        </p:txBody>
      </p:sp>
      <p:sp>
        <p:nvSpPr>
          <p:cNvPr id="5" name="text-4-292">
            <a:extLst xmlns:a="http://schemas.openxmlformats.org/drawingml/2006/main">
              <a:ext uri="{FF2B5EF4-FFF2-40B4-BE49-F238E27FC236}">
                <a16:creationId xmlns:a16="http://schemas.microsoft.com/office/drawing/2014/main" id="{F57C5A2F-85A4-4617-8689-B3CC81C2A371}"/>
              </a:ext>
            </a:extLst>
          </p:cNvPr>
          <p:cNvSpPr>
            <a:spLocks xmlns:a="http://schemas.openxmlformats.org/drawingml/2006/main" noGrp="1"/>
          </p:cNvSpPr>
          <p:nvPr/>
        </p:nvSpPr>
        <p:spPr>
          <a:xfrm xmlns:a="http://schemas.openxmlformats.org/drawingml/2006/main">
            <a:off x="609600" y="2781300"/>
            <a:ext cx="10572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Bangun daftar dengan ListView.builder dan key ID</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Buka detail record yang dipilih</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Pisahkan satu komponen yang dipakai berulang</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Uji landscape, teks panjang dan constraint</a:t>
            </a:r>
          </a:p>
        </p:txBody>
      </p:sp>
      <p:sp>
        <p:nvSpPr>
          <p:cNvPr id="6" name="text-5-604">
            <a:extLst xmlns:a="http://schemas.openxmlformats.org/drawingml/2006/main">
              <a:ext uri="{FF2B5EF4-FFF2-40B4-BE49-F238E27FC236}">
                <a16:creationId xmlns:a16="http://schemas.microsoft.com/office/drawing/2014/main" id="{E918E634-2FF5-412A-8951-9D7F45AA6583}"/>
              </a:ext>
            </a:extLst>
          </p:cNvPr>
          <p:cNvSpPr>
            <a:spLocks xmlns:a="http://schemas.openxmlformats.org/drawingml/2006/main" noGrp="1"/>
          </p:cNvSpPr>
          <p:nvPr/>
        </p:nvSpPr>
        <p:spPr>
          <a:xfrm xmlns:a="http://schemas.openxmlformats.org/drawingml/2006/main">
            <a:off x="609600" y="57531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1">
                <a:solidFill>
                  <a:srgbClr val="102D40"/>
                </a:solidFill>
                <a:latin typeface="DejaVu Sans"/>
                <a:ea typeface="DejaVu Sans"/>
                <a:cs typeface="DejaVu Sans"/>
              </a:defRPr>
            </a:pPr>
            <a:r>
              <a:rPr sz="1800" b="1">
                <a:solidFill>
                  <a:srgbClr val="102D40"/>
                </a:solidFill>
                <a:latin typeface="DejaVu Sans"/>
                <a:ea typeface="DejaVu Sans"/>
                <a:cs typeface="DejaVu Sans"/>
              </a:rPr>
              <a:t>Bukti hasil</a:t>
            </a:r>
          </a:p>
        </p:txBody>
      </p:sp>
      <p:sp>
        <p:nvSpPr>
          <p:cNvPr id="7" name="text-6-604">
            <a:extLst xmlns:a="http://schemas.openxmlformats.org/drawingml/2006/main">
              <a:ext uri="{FF2B5EF4-FFF2-40B4-BE49-F238E27FC236}">
                <a16:creationId xmlns:a16="http://schemas.microsoft.com/office/drawing/2014/main" id="{13C138BC-DF47-482A-AE11-457411D7B8C9}"/>
              </a:ext>
            </a:extLst>
          </p:cNvPr>
          <p:cNvSpPr>
            <a:spLocks xmlns:a="http://schemas.openxmlformats.org/drawingml/2006/main" noGrp="1"/>
          </p:cNvSpPr>
          <p:nvPr/>
        </p:nvSpPr>
        <p:spPr>
          <a:xfrm xmlns:a="http://schemas.openxmlformats.org/drawingml/2006/main">
            <a:off x="2419350" y="5753100"/>
            <a:ext cx="9163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193447"/>
                </a:solidFill>
                <a:latin typeface="DejaVu Sans"/>
                <a:ea typeface="DejaVu Sans"/>
                <a:cs typeface="DejaVu Sans"/>
              </a:defRPr>
            </a:pPr>
            <a:r>
              <a:rPr sz="1800" b="0">
                <a:solidFill>
                  <a:srgbClr val="193447"/>
                </a:solidFill>
                <a:latin typeface="DejaVu Sans"/>
                <a:ea typeface="DejaVu Sans"/>
                <a:cs typeface="DejaVu Sans"/>
              </a:rPr>
              <a:t>Screenshot daftar dan detail tanpa overflow</a:t>
            </a:r>
          </a:p>
        </p:txBody>
      </p:sp>
    </p:spTree>
    <p:extLst>
      <p:ext uri="{BB962C8B-B14F-4D97-AF65-F5344CB8AC3E}">
        <p14:creationId xmlns:p14="http://schemas.microsoft.com/office/powerpoint/2010/main" val="473332119"/>
      </p:ext>
    </p:extLst>
  </p:cSld>
</p:sld>
</file>

<file path=ppt/slides/slide2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ACCD6947-E093-40E1-933D-482EC5BAFC7D}"/>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Lifecycle State dan resource</a:t>
            </a:r>
          </a:p>
        </p:txBody>
      </p:sp>
      <p:sp>
        <p:nvSpPr>
          <p:cNvPr id="2" name="text-1-674">
            <a:extLst xmlns:a="http://schemas.openxmlformats.org/drawingml/2006/main">
              <a:ext uri="{FF2B5EF4-FFF2-40B4-BE49-F238E27FC236}">
                <a16:creationId xmlns:a16="http://schemas.microsoft.com/office/drawing/2014/main" id="{C1140BEE-6B86-49E2-81F7-F2A792B7D193}"/>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6453C6F4-3300-4F4A-82A9-BA7C7AADFDE3}"/>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26</a:t>
            </a:r>
          </a:p>
        </p:txBody>
      </p:sp>
      <p:graphicFrame>
        <p:nvGraphicFramePr>
          <p:cNvPr id="8"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194560"/>
                <a:gridCol w="4389120"/>
                <a:gridCol w="4389120"/>
              </a:tblGrid>
              <a:tr h="822960">
                <a:tc>
                  <a:txBody>
                    <a:bodyPr lIns="123825" tIns="76200" rIns="123825" bIns="76200">
                      <a:noAutofit/>
                    </a:bodyPr>
                    <a:lstStyle/>
                    <a:p>
                      <a:r>
                        <a:rPr sz="1800" b="1">
                          <a:solidFill>
                            <a:srgbClr val="FFFFFF"/>
                          </a:solidFill>
                          <a:latin typeface="DejaVu Sans"/>
                          <a:ea typeface="DejaVu Sans"/>
                          <a:cs typeface="DejaVu Sans"/>
                        </a:rPr>
                        <a:t>Tahap</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Kegunaan</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Perhatian</a:t>
                      </a:r>
                    </a:p>
                  </a:txBody>
                  <a:tcPr marL="91440" marR="91440" marT="45720" marB="45720" anchor="ctr">
                    <a:solidFill>
                      <a:srgbClr val="102D40"/>
                    </a:solidFill>
                  </a:tcPr>
                </a:tc>
              </a:tr>
              <a:tr h="822960">
                <a:tc>
                  <a:txBody>
                    <a:bodyPr lIns="123825" tIns="76200" rIns="123825" bIns="76200">
                      <a:noAutofit/>
                    </a:bodyPr>
                    <a:lstStyle/>
                    <a:p>
                      <a:r>
                        <a:rPr sz="1800" b="0">
                          <a:solidFill>
                            <a:srgbClr val="193447"/>
                          </a:solidFill>
                          <a:latin typeface="DejaVu Sans"/>
                          <a:ea typeface="DejaVu Sans"/>
                          <a:cs typeface="DejaVu Sans"/>
                        </a:rPr>
                        <a:t>initState</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Setup sekali pada State baru</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Load awal berada di sini</a:t>
                      </a:r>
                    </a:p>
                  </a:txBody>
                  <a:tcPr marL="91440" marR="91440" marT="45720" marB="45720" anchor="ctr">
                    <a:solidFill>
                      <a:srgbClr val="FFFFFF"/>
                    </a:solidFill>
                  </a:tcPr>
                </a:tc>
              </a:tr>
              <a:tr h="822960">
                <a:tc>
                  <a:txBody>
                    <a:bodyPr lIns="123825" tIns="76200" rIns="123825" bIns="76200">
                      <a:noAutofit/>
                    </a:bodyPr>
                    <a:lstStyle/>
                    <a:p>
                      <a:r>
                        <a:rPr sz="1800" b="0">
                          <a:solidFill>
                            <a:srgbClr val="193447"/>
                          </a:solidFill>
                          <a:latin typeface="DejaVu Sans"/>
                          <a:ea typeface="DejaVu Sans"/>
                          <a:cs typeface="DejaVu Sans"/>
                        </a:rPr>
                        <a:t>build</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Mendeskripsikan UI dari state</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Dapat dipanggil berulang</a:t>
                      </a:r>
                    </a:p>
                  </a:txBody>
                  <a:tcPr marL="91440" marR="91440" marT="45720" marB="45720" anchor="ctr">
                    <a:solidFill>
                      <a:srgbClr val="EDF4F6"/>
                    </a:solidFill>
                  </a:tcPr>
                </a:tc>
              </a:tr>
              <a:tr h="822960">
                <a:tc>
                  <a:txBody>
                    <a:bodyPr lIns="123825" tIns="76200" rIns="123825" bIns="76200">
                      <a:noAutofit/>
                    </a:bodyPr>
                    <a:lstStyle/>
                    <a:p>
                      <a:r>
                        <a:rPr sz="1800" b="0">
                          <a:solidFill>
                            <a:srgbClr val="193447"/>
                          </a:solidFill>
                          <a:latin typeface="DejaVu Sans"/>
                          <a:ea typeface="DejaVu Sans"/>
                          <a:cs typeface="DejaVu Sans"/>
                        </a:rPr>
                        <a:t>dispose</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Melepas resource milik State</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Controller dan listener</a:t>
                      </a:r>
                    </a:p>
                  </a:txBody>
                  <a:tcPr marL="91440" marR="91440" marT="45720" marB="45720" anchor="ctr">
                    <a:solidFill>
                      <a:srgbClr val="FFFFFF"/>
                    </a:solidFill>
                  </a:tcPr>
                </a:tc>
              </a:tr>
              <a:tr h="822960">
                <a:tc>
                  <a:txBody>
                    <a:bodyPr lIns="123825" tIns="76200" rIns="123825" bIns="76200">
                      <a:noAutofit/>
                    </a:bodyPr>
                    <a:lstStyle/>
                    <a:p>
                      <a:r>
                        <a:rPr sz="1800" b="0">
                          <a:solidFill>
                            <a:srgbClr val="193447"/>
                          </a:solidFill>
                          <a:latin typeface="DejaVu Sans"/>
                          <a:ea typeface="DejaVu Sans"/>
                          <a:cs typeface="DejaVu Sans"/>
                        </a:rPr>
                        <a:t>mounted</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State masih berada pada tree</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Periksa setelah await</a:t>
                      </a:r>
                    </a:p>
                  </a:txBody>
                  <a:tcPr marL="91440" marR="91440" marT="45720" marB="45720" anchor="ctr">
                    <a:solidFill>
                      <a:srgbClr val="EDF4F6"/>
                    </a:solidFill>
                  </a:tcPr>
                </a:tc>
              </a:tr>
            </a:tbl>
          </a:graphicData>
        </a:graphic>
      </p:graphicFrame>
    </p:spTree>
    <p:extLst>
      <p:ext uri="{BB962C8B-B14F-4D97-AF65-F5344CB8AC3E}">
        <p14:creationId xmlns:p14="http://schemas.microsoft.com/office/powerpoint/2010/main" val="1252643759"/>
      </p:ext>
    </p:extLst>
  </p:cSld>
</p:sld>
</file>

<file path=ppt/slides/slide2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C9C67F94-4385-47D5-98D0-C183504BBBA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TextEditingController dan dispose</a:t>
            </a:r>
          </a:p>
        </p:txBody>
      </p:sp>
      <p:sp>
        <p:nvSpPr>
          <p:cNvPr id="2" name="text-1-674">
            <a:extLst xmlns:a="http://schemas.openxmlformats.org/drawingml/2006/main">
              <a:ext uri="{FF2B5EF4-FFF2-40B4-BE49-F238E27FC236}">
                <a16:creationId xmlns:a16="http://schemas.microsoft.com/office/drawing/2014/main" id="{C22C3AB0-CA12-4D0B-BB2C-285103E92BB7}"/>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FF3E81D2-86DF-4DD9-BDD9-7592A5AFC63F}"/>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27</a:t>
            </a:r>
          </a:p>
        </p:txBody>
      </p:sp>
      <p:sp>
        <p:nvSpPr>
          <p:cNvPr id="4" name="text-3-193">
            <a:extLst xmlns:a="http://schemas.openxmlformats.org/drawingml/2006/main">
              <a:ext uri="{FF2B5EF4-FFF2-40B4-BE49-F238E27FC236}">
                <a16:creationId xmlns:a16="http://schemas.microsoft.com/office/drawing/2014/main" id="{FE66A6C6-4811-464A-849E-6612153B2FB7}"/>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final assetController = TextEditingController();</a:t>
            </a:r>
          </a:p>
          <a:p xmlns:a="http://schemas.openxmlformats.org/drawingml/2006/main">
            <a:r>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@override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void dispose()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assetController.dispose();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super.dispose();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a:p xmlns:a="http://schemas.openxmlformats.org/drawingml/2006/main">
            <a:r>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Controller merupakan field di State form</a:t>
            </a:r>
          </a:p>
        </p:txBody>
      </p:sp>
    </p:spTree>
    <p:extLst>
      <p:ext uri="{BB962C8B-B14F-4D97-AF65-F5344CB8AC3E}">
        <p14:creationId xmlns:p14="http://schemas.microsoft.com/office/powerpoint/2010/main" val="1722243167"/>
      </p:ext>
    </p:extLst>
  </p:cSld>
</p:sld>
</file>

<file path=ppt/slides/slide2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7" name="text-0-48">
            <a:extLst xmlns:a="http://schemas.openxmlformats.org/drawingml/2006/main">
              <a:ext uri="{FF2B5EF4-FFF2-40B4-BE49-F238E27FC236}">
                <a16:creationId xmlns:a16="http://schemas.microsoft.com/office/drawing/2014/main" id="{52A66C36-DC57-4BA3-84EA-C64F0AB189EC}"/>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State pada daftar inspeksi</a:t>
            </a:r>
          </a:p>
        </p:txBody>
      </p:sp>
      <p:sp>
        <p:nvSpPr>
          <p:cNvPr id="2" name="text-1-674">
            <a:extLst xmlns:a="http://schemas.openxmlformats.org/drawingml/2006/main">
              <a:ext uri="{FF2B5EF4-FFF2-40B4-BE49-F238E27FC236}">
                <a16:creationId xmlns:a16="http://schemas.microsoft.com/office/drawing/2014/main" id="{EFB2E119-315C-49C7-AE57-49905AE36456}"/>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430C63CF-8C7C-46FE-9A9D-D943C083E84D}"/>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28</a:t>
            </a:r>
          </a:p>
        </p:txBody>
      </p:sp>
      <p:sp>
        <p:nvSpPr>
          <p:cNvPr id="4" name="">
            <a:extLst xmlns:a="http://schemas.openxmlformats.org/drawingml/2006/main">
              <a:ext uri="{FF2B5EF4-FFF2-40B4-BE49-F238E27FC236}">
                <a16:creationId xmlns:a16="http://schemas.microsoft.com/office/drawing/2014/main" id="{523F1D2F-CEA4-425B-8E40-D932C59F85B0}"/>
              </a:ext>
            </a:extLst>
          </p:cNvPr>
          <p:cNvSpPr>
            <a:spLocks xmlns:a="http://schemas.openxmlformats.org/drawingml/2006/main" noGrp="1"/>
          </p:cNvSpPr>
          <p:nvPr/>
        </p:nvSpPr>
        <p:spPr>
          <a:xfrm xmlns:a="http://schemas.openxmlformats.org/drawingml/2006/main">
            <a:off x="3238500" y="3467100"/>
            <a:ext cx="857250" cy="9525"/>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5" name="">
            <a:extLst xmlns:a="http://schemas.openxmlformats.org/drawingml/2006/main">
              <a:ext uri="{FF2B5EF4-FFF2-40B4-BE49-F238E27FC236}">
                <a16:creationId xmlns:a16="http://schemas.microsoft.com/office/drawing/2014/main" id="{09E3F722-389A-4F15-BD6B-77C7BFDF071C}"/>
              </a:ext>
            </a:extLst>
          </p:cNvPr>
          <p:cNvSpPr>
            <a:spLocks xmlns:a="http://schemas.openxmlformats.org/drawingml/2006/main" noGrp="1"/>
          </p:cNvSpPr>
          <p:nvPr/>
        </p:nvSpPr>
        <p:spPr>
          <a:xfrm xmlns:a="http://schemas.openxmlformats.org/drawingml/2006/main">
            <a:off x="4095750" y="2362200"/>
            <a:ext cx="9525" cy="2209800"/>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6" name="">
            <a:extLst xmlns:a="http://schemas.openxmlformats.org/drawingml/2006/main">
              <a:ext uri="{FF2B5EF4-FFF2-40B4-BE49-F238E27FC236}">
                <a16:creationId xmlns:a16="http://schemas.microsoft.com/office/drawing/2014/main" id="{95B34A72-DD18-4634-BEE8-0BA2BE93DC4D}"/>
              </a:ext>
            </a:extLst>
          </p:cNvPr>
          <p:cNvSpPr>
            <a:spLocks xmlns:a="http://schemas.openxmlformats.org/drawingml/2006/main" noGrp="1"/>
          </p:cNvSpPr>
          <p:nvPr/>
        </p:nvSpPr>
        <p:spPr>
          <a:xfrm xmlns:a="http://schemas.openxmlformats.org/drawingml/2006/main">
            <a:off x="4095750" y="2362200"/>
            <a:ext cx="3238500" cy="9525"/>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7" name="">
            <a:extLst xmlns:a="http://schemas.openxmlformats.org/drawingml/2006/main">
              <a:ext uri="{FF2B5EF4-FFF2-40B4-BE49-F238E27FC236}">
                <a16:creationId xmlns:a16="http://schemas.microsoft.com/office/drawing/2014/main" id="{1D2B397D-6DC0-4FBA-B31D-352D7C186A2C}"/>
              </a:ext>
            </a:extLst>
          </p:cNvPr>
          <p:cNvSpPr>
            <a:spLocks xmlns:a="http://schemas.openxmlformats.org/drawingml/2006/main" noGrp="1"/>
          </p:cNvSpPr>
          <p:nvPr/>
        </p:nvSpPr>
        <p:spPr>
          <a:xfrm xmlns:a="http://schemas.openxmlformats.org/drawingml/2006/main">
            <a:off x="4095750" y="3467100"/>
            <a:ext cx="3238500" cy="9525"/>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8" name="">
            <a:extLst xmlns:a="http://schemas.openxmlformats.org/drawingml/2006/main">
              <a:ext uri="{FF2B5EF4-FFF2-40B4-BE49-F238E27FC236}">
                <a16:creationId xmlns:a16="http://schemas.microsoft.com/office/drawing/2014/main" id="{AB1BABE1-AD09-4080-AD13-9F26E069249D}"/>
              </a:ext>
            </a:extLst>
          </p:cNvPr>
          <p:cNvSpPr>
            <a:spLocks xmlns:a="http://schemas.openxmlformats.org/drawingml/2006/main" noGrp="1"/>
          </p:cNvSpPr>
          <p:nvPr/>
        </p:nvSpPr>
        <p:spPr>
          <a:xfrm xmlns:a="http://schemas.openxmlformats.org/drawingml/2006/main">
            <a:off x="4095750" y="4572000"/>
            <a:ext cx="3238500" cy="9525"/>
          </a:xfrm>
          <a:prstGeom xmlns:a="http://schemas.openxmlformats.org/drawingml/2006/main" prst="line">
            <a:avLst/>
          </a:prstGeom>
          <a:noFill xmlns:a="http://schemas.openxmlformats.org/drawingml/2006/main"/>
          <a:ln xmlns:a="http://schemas.openxmlformats.org/drawingml/2006/main" w="19050">
            <a:solidFill>
              <a:srgbClr val="007F85"/>
            </a:solidFill>
          </a:ln>
        </p:spPr>
      </p:sp>
      <p:sp>
        <p:nvSpPr>
          <p:cNvPr id="9" name="text-8-326">
            <a:extLst xmlns:a="http://schemas.openxmlformats.org/drawingml/2006/main">
              <a:ext uri="{FF2B5EF4-FFF2-40B4-BE49-F238E27FC236}">
                <a16:creationId xmlns:a16="http://schemas.microsoft.com/office/drawing/2014/main" id="{C5DD3D84-C5AE-46E8-9FFD-53B7F4048286}"/>
              </a:ext>
            </a:extLst>
          </p:cNvPr>
          <p:cNvSpPr>
            <a:spLocks xmlns:a="http://schemas.openxmlformats.org/drawingml/2006/main" noGrp="1"/>
          </p:cNvSpPr>
          <p:nvPr/>
        </p:nvSpPr>
        <p:spPr>
          <a:xfrm xmlns:a="http://schemas.openxmlformats.org/drawingml/2006/main">
            <a:off x="762000" y="3105150"/>
            <a:ext cx="2476500" cy="71437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76200" tIns="76200" rIns="76200" bIns="76200" anchor="ctr">
            <a:noAutofit/>
          </a:bodyPr>
          <a:lstStyle xmlns:a="http://schemas.openxmlformats.org/drawingml/2006/main"/>
          <a:p xmlns:a="http://schemas.openxmlformats.org/drawingml/2006/main">
            <a:pPr algn="ctr">
              <a:lnSpc>
                <a:spcPct val="112000"/>
              </a:lnSpc>
              <a:buNone/>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Loading</a:t>
            </a:r>
          </a:p>
        </p:txBody>
      </p:sp>
      <p:sp>
        <p:nvSpPr>
          <p:cNvPr id="10" name="text-9-210">
            <a:extLst xmlns:a="http://schemas.openxmlformats.org/drawingml/2006/main">
              <a:ext uri="{FF2B5EF4-FFF2-40B4-BE49-F238E27FC236}">
                <a16:creationId xmlns:a16="http://schemas.microsoft.com/office/drawing/2014/main" id="{61CFDD5F-C717-4304-895A-59C08A406F3F}"/>
              </a:ext>
            </a:extLst>
          </p:cNvPr>
          <p:cNvSpPr>
            <a:spLocks xmlns:a="http://schemas.openxmlformats.org/drawingml/2006/main" noGrp="1"/>
          </p:cNvSpPr>
          <p:nvPr/>
        </p:nvSpPr>
        <p:spPr>
          <a:xfrm xmlns:a="http://schemas.openxmlformats.org/drawingml/2006/main">
            <a:off x="7524750" y="2000250"/>
            <a:ext cx="3238500" cy="71437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76200" tIns="76200" rIns="76200" bIns="76200" anchor="ctr">
            <a:noAutofit/>
          </a:bodyPr>
          <a:lstStyle xmlns:a="http://schemas.openxmlformats.org/drawingml/2006/main"/>
          <a:p xmlns:a="http://schemas.openxmlformats.org/drawingml/2006/main">
            <a:pPr algn="ctr">
              <a:lnSpc>
                <a:spcPct val="112000"/>
              </a:lnSpc>
              <a:buNone/>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Success</a:t>
            </a:r>
          </a:p>
        </p:txBody>
      </p:sp>
      <p:sp>
        <p:nvSpPr>
          <p:cNvPr id="11" name="text-10-326">
            <a:extLst xmlns:a="http://schemas.openxmlformats.org/drawingml/2006/main">
              <a:ext uri="{FF2B5EF4-FFF2-40B4-BE49-F238E27FC236}">
                <a16:creationId xmlns:a16="http://schemas.microsoft.com/office/drawing/2014/main" id="{E914F765-AB8E-4DDC-9FD4-26F557291385}"/>
              </a:ext>
            </a:extLst>
          </p:cNvPr>
          <p:cNvSpPr>
            <a:spLocks xmlns:a="http://schemas.openxmlformats.org/drawingml/2006/main" noGrp="1"/>
          </p:cNvSpPr>
          <p:nvPr/>
        </p:nvSpPr>
        <p:spPr>
          <a:xfrm xmlns:a="http://schemas.openxmlformats.org/drawingml/2006/main">
            <a:off x="7524750" y="3105150"/>
            <a:ext cx="3238500" cy="71437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76200" tIns="76200" rIns="76200" bIns="76200" anchor="ctr">
            <a:noAutofit/>
          </a:bodyPr>
          <a:lstStyle xmlns:a="http://schemas.openxmlformats.org/drawingml/2006/main"/>
          <a:p xmlns:a="http://schemas.openxmlformats.org/drawingml/2006/main">
            <a:pPr algn="ctr">
              <a:lnSpc>
                <a:spcPct val="112000"/>
              </a:lnSpc>
              <a:buNone/>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Empty</a:t>
            </a:r>
          </a:p>
        </p:txBody>
      </p:sp>
      <p:sp>
        <p:nvSpPr>
          <p:cNvPr id="12" name="text-11-442">
            <a:extLst xmlns:a="http://schemas.openxmlformats.org/drawingml/2006/main">
              <a:ext uri="{FF2B5EF4-FFF2-40B4-BE49-F238E27FC236}">
                <a16:creationId xmlns:a16="http://schemas.microsoft.com/office/drawing/2014/main" id="{EC8AAA44-E010-45D8-8DB1-767F2AF92BAC}"/>
              </a:ext>
            </a:extLst>
          </p:cNvPr>
          <p:cNvSpPr>
            <a:spLocks xmlns:a="http://schemas.openxmlformats.org/drawingml/2006/main" noGrp="1"/>
          </p:cNvSpPr>
          <p:nvPr/>
        </p:nvSpPr>
        <p:spPr>
          <a:xfrm xmlns:a="http://schemas.openxmlformats.org/drawingml/2006/main">
            <a:off x="7524750" y="4210050"/>
            <a:ext cx="3238500" cy="71437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76200" tIns="76200" rIns="76200" bIns="76200" anchor="ctr">
            <a:noAutofit/>
          </a:bodyPr>
          <a:lstStyle xmlns:a="http://schemas.openxmlformats.org/drawingml/2006/main"/>
          <a:p xmlns:a="http://schemas.openxmlformats.org/drawingml/2006/main">
            <a:pPr algn="ctr">
              <a:lnSpc>
                <a:spcPct val="112000"/>
              </a:lnSpc>
              <a:buNone/>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Error + retry</a:t>
            </a:r>
          </a:p>
        </p:txBody>
      </p:sp>
      <p:sp>
        <p:nvSpPr>
          <p:cNvPr id="13" name="text-12-201">
            <a:extLst xmlns:a="http://schemas.openxmlformats.org/drawingml/2006/main">
              <a:ext uri="{FF2B5EF4-FFF2-40B4-BE49-F238E27FC236}">
                <a16:creationId xmlns:a16="http://schemas.microsoft.com/office/drawing/2014/main" id="{D934DA6D-77CC-4960-BD3B-65DD8E8D339C}"/>
              </a:ext>
            </a:extLst>
          </p:cNvPr>
          <p:cNvSpPr>
            <a:spLocks xmlns:a="http://schemas.openxmlformats.org/drawingml/2006/main" noGrp="1"/>
          </p:cNvSpPr>
          <p:nvPr/>
        </p:nvSpPr>
        <p:spPr>
          <a:xfrm xmlns:a="http://schemas.openxmlformats.org/drawingml/2006/main">
            <a:off x="4667250" y="19145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0">
                <a:solidFill>
                  <a:srgbClr val="007F85"/>
                </a:solidFill>
                <a:latin typeface="DejaVu Sans"/>
                <a:ea typeface="DejaVu Sans"/>
                <a:cs typeface="DejaVu Sans"/>
              </a:defRPr>
            </a:pPr>
            <a:r>
              <a:rPr sz="1725" b="0">
                <a:solidFill>
                  <a:srgbClr val="007F85"/>
                </a:solidFill>
                <a:latin typeface="DejaVu Sans"/>
                <a:ea typeface="DejaVu Sans"/>
                <a:cs typeface="DejaVu Sans"/>
              </a:rPr>
              <a:t>Data tersedia</a:t>
            </a:r>
          </a:p>
        </p:txBody>
      </p:sp>
      <p:sp>
        <p:nvSpPr>
          <p:cNvPr id="14" name="text-13-317">
            <a:extLst xmlns:a="http://schemas.openxmlformats.org/drawingml/2006/main">
              <a:ext uri="{FF2B5EF4-FFF2-40B4-BE49-F238E27FC236}">
                <a16:creationId xmlns:a16="http://schemas.microsoft.com/office/drawing/2014/main" id="{624D4E4D-CD50-4D56-A17B-92A5B3BFA97C}"/>
              </a:ext>
            </a:extLst>
          </p:cNvPr>
          <p:cNvSpPr>
            <a:spLocks xmlns:a="http://schemas.openxmlformats.org/drawingml/2006/main" noGrp="1"/>
          </p:cNvSpPr>
          <p:nvPr/>
        </p:nvSpPr>
        <p:spPr>
          <a:xfrm xmlns:a="http://schemas.openxmlformats.org/drawingml/2006/main">
            <a:off x="4667250" y="30194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0">
                <a:solidFill>
                  <a:srgbClr val="007F85"/>
                </a:solidFill>
                <a:latin typeface="DejaVu Sans"/>
                <a:ea typeface="DejaVu Sans"/>
                <a:cs typeface="DejaVu Sans"/>
              </a:defRPr>
            </a:pPr>
            <a:r>
              <a:rPr sz="1725" b="0">
                <a:solidFill>
                  <a:srgbClr val="007F85"/>
                </a:solidFill>
                <a:latin typeface="DejaVu Sans"/>
                <a:ea typeface="DejaVu Sans"/>
                <a:cs typeface="DejaVu Sans"/>
              </a:rPr>
              <a:t>Hasil kosong</a:t>
            </a:r>
          </a:p>
        </p:txBody>
      </p:sp>
      <p:sp>
        <p:nvSpPr>
          <p:cNvPr id="15" name="text-14-433">
            <a:extLst xmlns:a="http://schemas.openxmlformats.org/drawingml/2006/main">
              <a:ext uri="{FF2B5EF4-FFF2-40B4-BE49-F238E27FC236}">
                <a16:creationId xmlns:a16="http://schemas.microsoft.com/office/drawing/2014/main" id="{BBDA8AE1-5080-4198-AB22-042806D0F41A}"/>
              </a:ext>
            </a:extLst>
          </p:cNvPr>
          <p:cNvSpPr>
            <a:spLocks xmlns:a="http://schemas.openxmlformats.org/drawingml/2006/main" noGrp="1"/>
          </p:cNvSpPr>
          <p:nvPr/>
        </p:nvSpPr>
        <p:spPr>
          <a:xfrm xmlns:a="http://schemas.openxmlformats.org/drawingml/2006/main">
            <a:off x="4667250" y="41243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0">
                <a:solidFill>
                  <a:srgbClr val="007F85"/>
                </a:solidFill>
                <a:latin typeface="DejaVu Sans"/>
                <a:ea typeface="DejaVu Sans"/>
                <a:cs typeface="DejaVu Sans"/>
              </a:defRPr>
            </a:pPr>
            <a:r>
              <a:rPr sz="1725" b="0">
                <a:solidFill>
                  <a:srgbClr val="007F85"/>
                </a:solidFill>
                <a:latin typeface="DejaVu Sans"/>
                <a:ea typeface="DejaVu Sans"/>
                <a:cs typeface="DejaVu Sans"/>
              </a:rPr>
              <a:t>Request gagal</a:t>
            </a:r>
          </a:p>
        </p:txBody>
      </p:sp>
      <p:sp>
        <p:nvSpPr>
          <p:cNvPr id="16" name="text-15-570">
            <a:extLst xmlns:a="http://schemas.openxmlformats.org/drawingml/2006/main">
              <a:ext uri="{FF2B5EF4-FFF2-40B4-BE49-F238E27FC236}">
                <a16:creationId xmlns:a16="http://schemas.microsoft.com/office/drawing/2014/main" id="{585B615F-54F6-418B-B331-47CC5F5CED3A}"/>
              </a:ext>
            </a:extLst>
          </p:cNvPr>
          <p:cNvSpPr>
            <a:spLocks xmlns:a="http://schemas.openxmlformats.org/drawingml/2006/main" noGrp="1"/>
          </p:cNvSpPr>
          <p:nvPr/>
        </p:nvSpPr>
        <p:spPr>
          <a:xfrm xmlns:a="http://schemas.openxmlformats.org/drawingml/2006/main">
            <a:off x="762000" y="5429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325" b="1">
                <a:solidFill>
                  <a:srgbClr val="007F85"/>
                </a:solidFill>
                <a:latin typeface="DejaVu Sans"/>
                <a:ea typeface="DejaVu Sans"/>
                <a:cs typeface="DejaVu Sans"/>
              </a:defRPr>
            </a:pPr>
            <a:r>
              <a:rPr sz="2325" b="1">
                <a:solidFill>
                  <a:srgbClr val="007F85"/>
                </a:solidFill>
                <a:latin typeface="DejaVu Sans"/>
                <a:ea typeface="DejaVu Sans"/>
                <a:cs typeface="DejaVu Sans"/>
              </a:rPr>
              <a:t>Retry kembali menjalankan loading</a:t>
            </a:r>
          </a:p>
        </p:txBody>
      </p:sp>
    </p:spTree>
    <p:extLst>
      <p:ext uri="{BB962C8B-B14F-4D97-AF65-F5344CB8AC3E}">
        <p14:creationId xmlns:p14="http://schemas.microsoft.com/office/powerpoint/2010/main" val="1273475023"/>
      </p:ext>
    </p:extLst>
  </p:cSld>
</p:sld>
</file>

<file path=ppt/slides/slide2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5F68C7BE-3242-404E-A310-1FDACC927192}"/>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Async dan pemeriksaan mounted</a:t>
            </a:r>
          </a:p>
        </p:txBody>
      </p:sp>
      <p:sp>
        <p:nvSpPr>
          <p:cNvPr id="2" name="text-1-674">
            <a:extLst xmlns:a="http://schemas.openxmlformats.org/drawingml/2006/main">
              <a:ext uri="{FF2B5EF4-FFF2-40B4-BE49-F238E27FC236}">
                <a16:creationId xmlns:a16="http://schemas.microsoft.com/office/drawing/2014/main" id="{453132FC-503D-40B3-8E86-18DE8AD87675}"/>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FFC67C4C-3B9A-43E1-8C2D-E5E6298B9383}"/>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29</a:t>
            </a:r>
          </a:p>
        </p:txBody>
      </p:sp>
      <p:sp>
        <p:nvSpPr>
          <p:cNvPr id="4" name="text-3-193">
            <a:extLst xmlns:a="http://schemas.openxmlformats.org/drawingml/2006/main">
              <a:ext uri="{FF2B5EF4-FFF2-40B4-BE49-F238E27FC236}">
                <a16:creationId xmlns:a16="http://schemas.microsoft.com/office/drawing/2014/main" id="{2560DB62-9BDF-4DBF-AD36-242D94451BAC}"/>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Future&lt;void&gt; load() async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if (isLoading) return;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setState(() { isLoading = true; errorMessage = null;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try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final result = await loadDemoItems();</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if (!mounted) return;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setState(() =&gt; items = result);</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 catch (_)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if (!mounted) return;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setState(() =&gt; errorMessage = 'Gagal memuat');</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 finally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if (mounted) setState(() =&gt; isLoading = false);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p:txBody>
      </p:sp>
    </p:spTree>
    <p:extLst>
      <p:ext uri="{BB962C8B-B14F-4D97-AF65-F5344CB8AC3E}">
        <p14:creationId xmlns:p14="http://schemas.microsoft.com/office/powerpoint/2010/main" val="2006464692"/>
      </p:ext>
    </p:extLst>
  </p:cSld>
</p:sld>
</file>

<file path=ppt/slides/slide3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7042379E-0947-4991-BB33-D75003751367}"/>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Navigator mengembalikan hasil form</a:t>
            </a:r>
          </a:p>
        </p:txBody>
      </p:sp>
      <p:sp>
        <p:nvSpPr>
          <p:cNvPr id="2" name="text-1-674">
            <a:extLst xmlns:a="http://schemas.openxmlformats.org/drawingml/2006/main">
              <a:ext uri="{FF2B5EF4-FFF2-40B4-BE49-F238E27FC236}">
                <a16:creationId xmlns:a16="http://schemas.microsoft.com/office/drawing/2014/main" id="{E0F4DF19-C9AC-45E9-BB83-246AF95F8FB9}"/>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600ECB43-23E2-4BD0-90D1-BFA7C5F098E1}"/>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30</a:t>
            </a:r>
          </a:p>
        </p:txBody>
      </p:sp>
      <p:sp>
        <p:nvSpPr>
          <p:cNvPr id="4" name="text-3-193">
            <a:extLst xmlns:a="http://schemas.openxmlformats.org/drawingml/2006/main">
              <a:ext uri="{FF2B5EF4-FFF2-40B4-BE49-F238E27FC236}">
                <a16:creationId xmlns:a16="http://schemas.microsoft.com/office/drawing/2014/main" id="{DB381E3E-AD5C-4EAA-9ADC-DB1835AE1E91}"/>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final created = await Navigator.of(context)</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.push&lt;Inspection&gt;(</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MaterialPageRoute(</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builder: (_) =&gt; const InspectionForm(),</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if (!mounted || created == null) return;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setState(() =&gt; items = [created, ...items]);</a:t>
            </a:r>
          </a:p>
          <a:p xmlns:a="http://schemas.openxmlformats.org/drawingml/2006/main">
            <a:r>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Pada form valid</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Navigator.of(context).pop(record);</a:t>
            </a:r>
          </a:p>
        </p:txBody>
      </p:sp>
    </p:spTree>
    <p:extLst>
      <p:ext uri="{BB962C8B-B14F-4D97-AF65-F5344CB8AC3E}">
        <p14:creationId xmlns:p14="http://schemas.microsoft.com/office/powerpoint/2010/main" val="1210455016"/>
      </p:ext>
    </p:extLst>
  </p:cSld>
</p:sld>
</file>

<file path=ppt/slides/slide3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3FFB21A0-0D92-4A85-B2C9-C17841637EE1}"/>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Form dan field wajib</a:t>
            </a:r>
          </a:p>
        </p:txBody>
      </p:sp>
      <p:sp>
        <p:nvSpPr>
          <p:cNvPr id="2" name="text-1-674">
            <a:extLst xmlns:a="http://schemas.openxmlformats.org/drawingml/2006/main">
              <a:ext uri="{FF2B5EF4-FFF2-40B4-BE49-F238E27FC236}">
                <a16:creationId xmlns:a16="http://schemas.microsoft.com/office/drawing/2014/main" id="{3C8B7531-0A1C-49E1-BB67-4B188B9AE6AF}"/>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349BF43D-D551-49FB-9560-F9C1A374264A}"/>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31</a:t>
            </a:r>
          </a:p>
        </p:txBody>
      </p:sp>
      <p:sp>
        <p:nvSpPr>
          <p:cNvPr id="4" name="text-3-193">
            <a:extLst xmlns:a="http://schemas.openxmlformats.org/drawingml/2006/main">
              <a:ext uri="{FF2B5EF4-FFF2-40B4-BE49-F238E27FC236}">
                <a16:creationId xmlns:a16="http://schemas.microsoft.com/office/drawing/2014/main" id="{BAEA1B9E-F299-4885-B1A2-EA2270C79C7A}"/>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final formKey = GlobalKey&lt;FormState&gt;();</a:t>
            </a:r>
          </a:p>
          <a:p xmlns:a="http://schemas.openxmlformats.org/drawingml/2006/main">
            <a:r>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TextFormField(</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controller: assetController,</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maxLength: 30,</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decoration: const InputDecoration(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labelText: 'Kode aset',</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validator: (value) =&gt;</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(value ?? '').trim().isEmpty</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 'Kode aset wajib diisi' : null,</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p:txBody>
      </p:sp>
    </p:spTree>
    <p:extLst>
      <p:ext uri="{BB962C8B-B14F-4D97-AF65-F5344CB8AC3E}">
        <p14:creationId xmlns:p14="http://schemas.microsoft.com/office/powerpoint/2010/main" val="1193300464"/>
      </p:ext>
    </p:extLst>
  </p:cSld>
</p:sld>
</file>

<file path=ppt/slides/slide3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5C19B8C7-2B34-41DE-8378-2140E0E3A9E9}"/>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Aturan temuan sebagai fungsi murni</a:t>
            </a:r>
          </a:p>
        </p:txBody>
      </p:sp>
      <p:sp>
        <p:nvSpPr>
          <p:cNvPr id="2" name="text-1-674">
            <a:extLst xmlns:a="http://schemas.openxmlformats.org/drawingml/2006/main">
              <a:ext uri="{FF2B5EF4-FFF2-40B4-BE49-F238E27FC236}">
                <a16:creationId xmlns:a16="http://schemas.microsoft.com/office/drawing/2014/main" id="{5BA6169A-ADEB-4685-A73E-C7D3103A3883}"/>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833EF382-D996-4E60-8344-A7F806E95DCB}"/>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32</a:t>
            </a:r>
          </a:p>
        </p:txBody>
      </p:sp>
      <p:sp>
        <p:nvSpPr>
          <p:cNvPr id="4" name="text-3-193">
            <a:extLst xmlns:a="http://schemas.openxmlformats.org/drawingml/2006/main">
              <a:ext uri="{FF2B5EF4-FFF2-40B4-BE49-F238E27FC236}">
                <a16:creationId xmlns:a16="http://schemas.microsoft.com/office/drawing/2014/main" id="{A4F9407F-4B7A-4658-9978-845FFB2E61E5}"/>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String? validateNote(String condition, String raw)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final note = raw.trim();</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if (note.length &gt; 500) return 'Maksimal 500 karakter';</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if (condition == 'needs_action' &amp;&amp; note.length &lt; 10)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return 'Catatan temuan minimal 10 karakter';</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return null;</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p:txBody>
      </p:sp>
    </p:spTree>
    <p:extLst>
      <p:ext uri="{BB962C8B-B14F-4D97-AF65-F5344CB8AC3E}">
        <p14:creationId xmlns:p14="http://schemas.microsoft.com/office/powerpoint/2010/main" val="1374499517"/>
      </p:ext>
    </p:extLst>
  </p:cSld>
</p:sld>
</file>

<file path=ppt/slides/slide3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27AD2372-6D61-4B85-848A-928F7B1D7ED2}"/>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Simpan form dan pembuatan record</a:t>
            </a:r>
          </a:p>
        </p:txBody>
      </p:sp>
      <p:sp>
        <p:nvSpPr>
          <p:cNvPr id="2" name="text-1-674">
            <a:extLst xmlns:a="http://schemas.openxmlformats.org/drawingml/2006/main">
              <a:ext uri="{FF2B5EF4-FFF2-40B4-BE49-F238E27FC236}">
                <a16:creationId xmlns:a16="http://schemas.microsoft.com/office/drawing/2014/main" id="{830D11C5-7B51-45D8-ADD9-707A60140588}"/>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24D2E571-4010-4CE9-A2E3-40E5CFFA57F4}"/>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33</a:t>
            </a:r>
          </a:p>
        </p:txBody>
      </p:sp>
      <p:sp>
        <p:nvSpPr>
          <p:cNvPr id="4" name="text-3-193">
            <a:extLst xmlns:a="http://schemas.openxmlformats.org/drawingml/2006/main">
              <a:ext uri="{FF2B5EF4-FFF2-40B4-BE49-F238E27FC236}">
                <a16:creationId xmlns:a16="http://schemas.microsoft.com/office/drawing/2014/main" id="{9FE7BA1A-AEB5-4B7C-97B1-77953998C11F}"/>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if (!formKey.currentState!.validate()) return;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final now = DateTime.now().toUtc();</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final record = Inspection(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id: 'local-${now.microsecondsSinceEpoch}',</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assetCode: assetController.text.trim(),</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location: locationController.text.trim(),</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condition: condition,</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note: noteController.text.trim(),</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  createdAt: now,</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Navigator.of(context).pop(record);</a:t>
            </a:r>
          </a:p>
        </p:txBody>
      </p:sp>
    </p:spTree>
    <p:extLst>
      <p:ext uri="{BB962C8B-B14F-4D97-AF65-F5344CB8AC3E}">
        <p14:creationId xmlns:p14="http://schemas.microsoft.com/office/powerpoint/2010/main" val="1298363318"/>
      </p:ext>
    </p:extLst>
  </p:cSld>
</p:sld>
</file>

<file path=ppt/slides/slide3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2259434B-8989-40B6-889A-79ACC556A0F2}"/>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Praktik 3 form dan navigation</a:t>
            </a:r>
          </a:p>
        </p:txBody>
      </p:sp>
      <p:sp>
        <p:nvSpPr>
          <p:cNvPr id="2" name="text-1-674">
            <a:extLst xmlns:a="http://schemas.openxmlformats.org/drawingml/2006/main">
              <a:ext uri="{FF2B5EF4-FFF2-40B4-BE49-F238E27FC236}">
                <a16:creationId xmlns:a16="http://schemas.microsoft.com/office/drawing/2014/main" id="{1DE3B374-29AE-4779-8558-9AA77CB8026D}"/>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D3D2D1D7-BC76-48AF-929C-13452305DDB4}"/>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34</a:t>
            </a:r>
          </a:p>
        </p:txBody>
      </p:sp>
      <p:sp>
        <p:nvSpPr>
          <p:cNvPr id="4" name="text-3-174">
            <a:extLst xmlns:a="http://schemas.openxmlformats.org/drawingml/2006/main">
              <a:ext uri="{FF2B5EF4-FFF2-40B4-BE49-F238E27FC236}">
                <a16:creationId xmlns:a16="http://schemas.microsoft.com/office/drawing/2014/main" id="{13309FBE-00E8-4737-BA6E-E0D6CD325D13}"/>
              </a:ext>
            </a:extLst>
          </p:cNvPr>
          <p:cNvSpPr>
            <a:spLocks xmlns:a="http://schemas.openxmlformats.org/drawingml/2006/main" noGrp="1"/>
          </p:cNvSpPr>
          <p:nvPr/>
        </p:nvSpPr>
        <p:spPr>
          <a:xfrm xmlns:a="http://schemas.openxmlformats.org/drawingml/2006/main">
            <a:off x="609600" y="1657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400" b="1">
                <a:solidFill>
                  <a:srgbClr val="007F85"/>
                </a:solidFill>
                <a:latin typeface="DejaVu Sans"/>
                <a:ea typeface="DejaVu Sans"/>
                <a:cs typeface="DejaVu Sans"/>
              </a:defRPr>
            </a:pPr>
            <a:r>
              <a:rPr sz="2400" b="1">
                <a:solidFill>
                  <a:srgbClr val="007F85"/>
                </a:solidFill>
                <a:latin typeface="DejaVu Sans"/>
                <a:ea typeface="DejaVu Sans"/>
                <a:cs typeface="DejaVu Sans"/>
              </a:rPr>
              <a:t>Form valid menghasilkan satu record baru</a:t>
            </a:r>
          </a:p>
        </p:txBody>
      </p:sp>
      <p:sp>
        <p:nvSpPr>
          <p:cNvPr id="5" name="text-4-292">
            <a:extLst xmlns:a="http://schemas.openxmlformats.org/drawingml/2006/main">
              <a:ext uri="{FF2B5EF4-FFF2-40B4-BE49-F238E27FC236}">
                <a16:creationId xmlns:a16="http://schemas.microsoft.com/office/drawing/2014/main" id="{F9621730-5965-4ACB-AF70-0F0B4B83FE43}"/>
              </a:ext>
            </a:extLst>
          </p:cNvPr>
          <p:cNvSpPr>
            <a:spLocks xmlns:a="http://schemas.openxmlformats.org/drawingml/2006/main" noGrp="1"/>
          </p:cNvSpPr>
          <p:nvPr/>
        </p:nvSpPr>
        <p:spPr>
          <a:xfrm xmlns:a="http://schemas.openxmlformats.org/drawingml/2006/main">
            <a:off x="609600" y="2781300"/>
            <a:ext cx="10572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Tambahkan kode aset, lokasi, kondisi dan catatan</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Terapkan validasi wajib dan aturan temuan</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Kembalikan record ke daftar melalui Navigator</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Uji input spasi, catatan pendek, save dan cancel</a:t>
            </a:r>
          </a:p>
        </p:txBody>
      </p:sp>
      <p:sp>
        <p:nvSpPr>
          <p:cNvPr id="6" name="text-5-604">
            <a:extLst xmlns:a="http://schemas.openxmlformats.org/drawingml/2006/main">
              <a:ext uri="{FF2B5EF4-FFF2-40B4-BE49-F238E27FC236}">
                <a16:creationId xmlns:a16="http://schemas.microsoft.com/office/drawing/2014/main" id="{F92C25D7-5FBB-44BA-AE59-E372DAB2C8F1}"/>
              </a:ext>
            </a:extLst>
          </p:cNvPr>
          <p:cNvSpPr>
            <a:spLocks xmlns:a="http://schemas.openxmlformats.org/drawingml/2006/main" noGrp="1"/>
          </p:cNvSpPr>
          <p:nvPr/>
        </p:nvSpPr>
        <p:spPr>
          <a:xfrm xmlns:a="http://schemas.openxmlformats.org/drawingml/2006/main">
            <a:off x="609600" y="57531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1">
                <a:solidFill>
                  <a:srgbClr val="102D40"/>
                </a:solidFill>
                <a:latin typeface="DejaVu Sans"/>
                <a:ea typeface="DejaVu Sans"/>
                <a:cs typeface="DejaVu Sans"/>
              </a:defRPr>
            </a:pPr>
            <a:r>
              <a:rPr sz="1800" b="1">
                <a:solidFill>
                  <a:srgbClr val="102D40"/>
                </a:solidFill>
                <a:latin typeface="DejaVu Sans"/>
                <a:ea typeface="DejaVu Sans"/>
                <a:cs typeface="DejaVu Sans"/>
              </a:rPr>
              <a:t>Bukti hasil</a:t>
            </a:r>
          </a:p>
        </p:txBody>
      </p:sp>
      <p:sp>
        <p:nvSpPr>
          <p:cNvPr id="7" name="text-6-604">
            <a:extLst xmlns:a="http://schemas.openxmlformats.org/drawingml/2006/main">
              <a:ext uri="{FF2B5EF4-FFF2-40B4-BE49-F238E27FC236}">
                <a16:creationId xmlns:a16="http://schemas.microsoft.com/office/drawing/2014/main" id="{FD1BD84A-F8E6-4E58-913A-B4029D04FAA6}"/>
              </a:ext>
            </a:extLst>
          </p:cNvPr>
          <p:cNvSpPr>
            <a:spLocks xmlns:a="http://schemas.openxmlformats.org/drawingml/2006/main" noGrp="1"/>
          </p:cNvSpPr>
          <p:nvPr/>
        </p:nvSpPr>
        <p:spPr>
          <a:xfrm xmlns:a="http://schemas.openxmlformats.org/drawingml/2006/main">
            <a:off x="2419350" y="5753100"/>
            <a:ext cx="9163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193447"/>
                </a:solidFill>
                <a:latin typeface="DejaVu Sans"/>
                <a:ea typeface="DejaVu Sans"/>
                <a:cs typeface="DejaVu Sans"/>
              </a:defRPr>
            </a:pPr>
            <a:r>
              <a:rPr sz="1800" b="0">
                <a:solidFill>
                  <a:srgbClr val="193447"/>
                </a:solidFill>
                <a:latin typeface="DejaVu Sans"/>
                <a:ea typeface="DejaVu Sans"/>
                <a:cs typeface="DejaVu Sans"/>
              </a:rPr>
              <a:t>Form invalid tetap terbuka, record valid muncul sekali</a:t>
            </a:r>
          </a:p>
        </p:txBody>
      </p:sp>
    </p:spTree>
    <p:extLst>
      <p:ext uri="{BB962C8B-B14F-4D97-AF65-F5344CB8AC3E}">
        <p14:creationId xmlns:p14="http://schemas.microsoft.com/office/powerpoint/2010/main" val="164715050"/>
      </p:ext>
    </p:extLst>
  </p:cSld>
</p:sld>
</file>

<file path=ppt/slides/slide3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83744C70-5F0E-43AC-A626-0CA64E0E7808}"/>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Debugging dengan Inspector dan breakpoint</a:t>
            </a:r>
          </a:p>
        </p:txBody>
      </p:sp>
      <p:sp>
        <p:nvSpPr>
          <p:cNvPr id="2" name="text-1-674">
            <a:extLst xmlns:a="http://schemas.openxmlformats.org/drawingml/2006/main">
              <a:ext uri="{FF2B5EF4-FFF2-40B4-BE49-F238E27FC236}">
                <a16:creationId xmlns:a16="http://schemas.microsoft.com/office/drawing/2014/main" id="{88F722FC-3B08-467D-8D02-7A7A2908C71F}"/>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C5B5EDDE-592D-4856-9ECA-904AF7BDBEB0}"/>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35</a:t>
            </a:r>
          </a:p>
        </p:txBody>
      </p:sp>
      <p:sp>
        <p:nvSpPr>
          <p:cNvPr id="4" name="text-3-180">
            <a:extLst xmlns:a="http://schemas.openxmlformats.org/drawingml/2006/main">
              <a:ext uri="{FF2B5EF4-FFF2-40B4-BE49-F238E27FC236}">
                <a16:creationId xmlns:a16="http://schemas.microsoft.com/office/drawing/2014/main" id="{1EA8611F-9A37-4EAB-AB24-0BCAABA22B74}"/>
              </a:ext>
            </a:extLst>
          </p:cNvPr>
          <p:cNvSpPr>
            <a:spLocks xmlns:a="http://schemas.openxmlformats.org/drawingml/2006/main" noGrp="1"/>
          </p:cNvSpPr>
          <p:nvPr/>
        </p:nvSpPr>
        <p:spPr>
          <a:xfrm xmlns:a="http://schemas.openxmlformats.org/drawingml/2006/main">
            <a:off x="609600" y="1714500"/>
            <a:ext cx="10763250"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Inspector menunjukkan widget tree serta ukuran</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Breakpoint pada validator menunjukkan input aktual</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Breakpoint pada pop dan penerimaan hasil menunjukkan aliran data</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Log mencatat langkah dan state yang relevan</a:t>
            </a:r>
          </a:p>
        </p:txBody>
      </p:sp>
    </p:spTree>
    <p:extLst>
      <p:ext uri="{BB962C8B-B14F-4D97-AF65-F5344CB8AC3E}">
        <p14:creationId xmlns:p14="http://schemas.microsoft.com/office/powerpoint/2010/main" val="700211161"/>
      </p:ext>
    </p:extLst>
  </p:cSld>
</p:sld>
</file>

<file path=ppt/slides/slide3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588C51A8-0498-4A1C-B43C-7BEE9445CCDD}"/>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Gejala layout dan penyebab</a:t>
            </a:r>
          </a:p>
        </p:txBody>
      </p:sp>
      <p:sp>
        <p:nvSpPr>
          <p:cNvPr id="2" name="text-1-674">
            <a:extLst xmlns:a="http://schemas.openxmlformats.org/drawingml/2006/main">
              <a:ext uri="{FF2B5EF4-FFF2-40B4-BE49-F238E27FC236}">
                <a16:creationId xmlns:a16="http://schemas.microsoft.com/office/drawing/2014/main" id="{777B68F3-421A-4D9B-B9B3-0FD6C16EED1C}"/>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2EE47773-943F-44DF-998E-789B48794CAB}"/>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36</a:t>
            </a:r>
          </a:p>
        </p:txBody>
      </p:sp>
      <p:graphicFrame>
        <p:nvGraphicFramePr>
          <p:cNvPr id="8"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2691442"/>
                <a:gridCol w="4140679"/>
                <a:gridCol w="4140679"/>
              </a:tblGrid>
              <a:tr h="822960">
                <a:tc>
                  <a:txBody>
                    <a:bodyPr lIns="123825" tIns="76200" rIns="123825" bIns="76200">
                      <a:noAutofit/>
                    </a:bodyPr>
                    <a:lstStyle/>
                    <a:p>
                      <a:r>
                        <a:rPr sz="1800" b="1">
                          <a:solidFill>
                            <a:srgbClr val="FFFFFF"/>
                          </a:solidFill>
                          <a:latin typeface="DejaVu Sans"/>
                          <a:ea typeface="DejaVu Sans"/>
                          <a:cs typeface="DejaVu Sans"/>
                        </a:rPr>
                        <a:t>Gejala</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Pemeriksaan</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Perbaikan</a:t>
                      </a:r>
                    </a:p>
                  </a:txBody>
                  <a:tcPr marL="91440" marR="91440" marT="45720" marB="45720" anchor="ctr">
                    <a:solidFill>
                      <a:srgbClr val="102D40"/>
                    </a:solidFill>
                  </a:tcPr>
                </a:tc>
              </a:tr>
              <a:tr h="822960">
                <a:tc>
                  <a:txBody>
                    <a:bodyPr lIns="123825" tIns="76200" rIns="123825" bIns="76200">
                      <a:noAutofit/>
                    </a:bodyPr>
                    <a:lstStyle/>
                    <a:p>
                      <a:r>
                        <a:rPr sz="1800" b="0">
                          <a:solidFill>
                            <a:srgbClr val="193447"/>
                          </a:solidFill>
                          <a:latin typeface="DejaVu Sans"/>
                          <a:ea typeface="DejaVu Sans"/>
                          <a:cs typeface="DejaVu Sans"/>
                        </a:rPr>
                        <a:t>RenderFlex overflow</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Row atau teks terlalu lebar</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Flexible atau komposisi baru</a:t>
                      </a:r>
                    </a:p>
                  </a:txBody>
                  <a:tcPr marL="91440" marR="91440" marT="45720" marB="45720" anchor="ctr">
                    <a:solidFill>
                      <a:srgbClr val="FFFFFF"/>
                    </a:solidFill>
                  </a:tcPr>
                </a:tc>
              </a:tr>
              <a:tr h="822960">
                <a:tc>
                  <a:txBody>
                    <a:bodyPr lIns="123825" tIns="76200" rIns="123825" bIns="76200">
                      <a:noAutofit/>
                    </a:bodyPr>
                    <a:lstStyle/>
                    <a:p>
                      <a:r>
                        <a:rPr sz="1800" b="0">
                          <a:solidFill>
                            <a:srgbClr val="193447"/>
                          </a:solidFill>
                          <a:latin typeface="DejaVu Sans"/>
                          <a:ea typeface="DejaVu Sans"/>
                          <a:cs typeface="DejaVu Sans"/>
                        </a:rPr>
                        <a:t>Viewport unbounded</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List tidak mempunyai batas tinggi</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Expanded pada parent tepat</a:t>
                      </a:r>
                    </a:p>
                  </a:txBody>
                  <a:tcPr marL="91440" marR="91440" marT="45720" marB="45720" anchor="ctr">
                    <a:solidFill>
                      <a:srgbClr val="EDF4F6"/>
                    </a:solidFill>
                  </a:tcPr>
                </a:tc>
              </a:tr>
              <a:tr h="822960">
                <a:tc>
                  <a:txBody>
                    <a:bodyPr lIns="123825" tIns="76200" rIns="123825" bIns="76200">
                      <a:noAutofit/>
                    </a:bodyPr>
                    <a:lstStyle/>
                    <a:p>
                      <a:r>
                        <a:rPr sz="1800" b="0">
                          <a:solidFill>
                            <a:srgbClr val="193447"/>
                          </a:solidFill>
                          <a:latin typeface="DejaVu Sans"/>
                          <a:ea typeface="DejaVu Sans"/>
                          <a:cs typeface="DejaVu Sans"/>
                        </a:rPr>
                        <a:t>Form ter-reset</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Controller baru pada build</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Controller menjadi field State</a:t>
                      </a:r>
                    </a:p>
                  </a:txBody>
                  <a:tcPr marL="91440" marR="91440" marT="45720" marB="45720" anchor="ctr">
                    <a:solidFill>
                      <a:srgbClr val="FFFFFF"/>
                    </a:solidFill>
                  </a:tcPr>
                </a:tc>
              </a:tr>
              <a:tr h="822960">
                <a:tc>
                  <a:txBody>
                    <a:bodyPr lIns="123825" tIns="76200" rIns="123825" bIns="76200">
                      <a:noAutofit/>
                    </a:bodyPr>
                    <a:lstStyle/>
                    <a:p>
                      <a:r>
                        <a:rPr sz="1800" b="0">
                          <a:solidFill>
                            <a:srgbClr val="193447"/>
                          </a:solidFill>
                          <a:latin typeface="DejaVu Sans"/>
                          <a:ea typeface="DejaVu Sans"/>
                          <a:cs typeface="DejaVu Sans"/>
                        </a:rPr>
                        <a:t>setState after dispose</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Async selesai setelah halaman ditutup</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Guard mounted dan lifecycle</a:t>
                      </a:r>
                    </a:p>
                  </a:txBody>
                  <a:tcPr marL="91440" marR="91440" marT="45720" marB="45720" anchor="ctr">
                    <a:solidFill>
                      <a:srgbClr val="EDF4F6"/>
                    </a:solidFill>
                  </a:tcPr>
                </a:tc>
              </a:tr>
            </a:tbl>
          </a:graphicData>
        </a:graphic>
      </p:graphicFrame>
    </p:spTree>
    <p:extLst>
      <p:ext uri="{BB962C8B-B14F-4D97-AF65-F5344CB8AC3E}">
        <p14:creationId xmlns:p14="http://schemas.microsoft.com/office/powerpoint/2010/main" val="123948110"/>
      </p:ext>
    </p:extLst>
  </p:cSld>
</p:sld>
</file>

<file path=ppt/slides/slide3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60073013-9DD9-4331-8743-5EC75A2056B8}"/>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Keterbacaan dan akses input</a:t>
            </a:r>
          </a:p>
        </p:txBody>
      </p:sp>
      <p:sp>
        <p:nvSpPr>
          <p:cNvPr id="2" name="text-1-674">
            <a:extLst xmlns:a="http://schemas.openxmlformats.org/drawingml/2006/main">
              <a:ext uri="{FF2B5EF4-FFF2-40B4-BE49-F238E27FC236}">
                <a16:creationId xmlns:a16="http://schemas.microsoft.com/office/drawing/2014/main" id="{35426518-CB7F-4B0C-B848-426C35F83E8F}"/>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34CA7D3F-F660-429B-8836-500DE8922F30}"/>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37</a:t>
            </a:r>
          </a:p>
        </p:txBody>
      </p:sp>
      <p:sp>
        <p:nvSpPr>
          <p:cNvPr id="4" name="text-3-180">
            <a:extLst xmlns:a="http://schemas.openxmlformats.org/drawingml/2006/main">
              <a:ext uri="{FF2B5EF4-FFF2-40B4-BE49-F238E27FC236}">
                <a16:creationId xmlns:a16="http://schemas.microsoft.com/office/drawing/2014/main" id="{6A7EE6E2-16FE-471A-9075-7C7AA1D3B609}"/>
              </a:ext>
            </a:extLst>
          </p:cNvPr>
          <p:cNvSpPr>
            <a:spLocks xmlns:a="http://schemas.openxmlformats.org/drawingml/2006/main" noGrp="1"/>
          </p:cNvSpPr>
          <p:nvPr/>
        </p:nvSpPr>
        <p:spPr>
          <a:xfrm xmlns:a="http://schemas.openxmlformats.org/drawingml/2006/main">
            <a:off x="609600" y="1714500"/>
            <a:ext cx="10763250"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Label menjelaskan isi setiap field</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Status memakai teks selain warna</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Detail panjang dan form dapat di-scroll</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Keyboard dan landscape tetap memberi akses tombol</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Error memberi pesan serta tindakan berikutnya</a:t>
            </a:r>
          </a:p>
        </p:txBody>
      </p:sp>
    </p:spTree>
    <p:extLst>
      <p:ext uri="{BB962C8B-B14F-4D97-AF65-F5344CB8AC3E}">
        <p14:creationId xmlns:p14="http://schemas.microsoft.com/office/powerpoint/2010/main" val="321871483"/>
      </p:ext>
    </p:extLst>
  </p:cSld>
</p:sld>
</file>

<file path=ppt/slides/slide3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1413D0EC-3783-487A-AD68-2E11906960C3}"/>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Review pemilik state</a:t>
            </a:r>
          </a:p>
        </p:txBody>
      </p:sp>
      <p:sp>
        <p:nvSpPr>
          <p:cNvPr id="2" name="text-1-674">
            <a:extLst xmlns:a="http://schemas.openxmlformats.org/drawingml/2006/main">
              <a:ext uri="{FF2B5EF4-FFF2-40B4-BE49-F238E27FC236}">
                <a16:creationId xmlns:a16="http://schemas.microsoft.com/office/drawing/2014/main" id="{EF5E17F1-537D-47F3-9C02-F9BC84491E97}"/>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7C380D1E-2164-45DC-BA8A-D39650AF04F9}"/>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38</a:t>
            </a:r>
          </a:p>
        </p:txBody>
      </p:sp>
      <p:sp>
        <p:nvSpPr>
          <p:cNvPr id="4" name="text-3-180">
            <a:extLst xmlns:a="http://schemas.openxmlformats.org/drawingml/2006/main">
              <a:ext uri="{FF2B5EF4-FFF2-40B4-BE49-F238E27FC236}">
                <a16:creationId xmlns:a16="http://schemas.microsoft.com/office/drawing/2014/main" id="{9B31C90F-49E2-400F-BDB6-897DFED87DF2}"/>
              </a:ext>
            </a:extLst>
          </p:cNvPr>
          <p:cNvSpPr>
            <a:spLocks xmlns:a="http://schemas.openxmlformats.org/drawingml/2006/main" noGrp="1"/>
          </p:cNvSpPr>
          <p:nvPr/>
        </p:nvSpPr>
        <p:spPr>
          <a:xfrm xmlns:a="http://schemas.openxmlformats.org/drawingml/2006/main">
            <a:off x="609600" y="171450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Pertanyaan reviewer</a:t>
            </a:r>
          </a:p>
        </p:txBody>
      </p:sp>
      <p:sp>
        <p:nvSpPr>
          <p:cNvPr id="5" name="text-4-180">
            <a:extLst xmlns:a="http://schemas.openxmlformats.org/drawingml/2006/main">
              <a:ext uri="{FF2B5EF4-FFF2-40B4-BE49-F238E27FC236}">
                <a16:creationId xmlns:a16="http://schemas.microsoft.com/office/drawing/2014/main" id="{93DDCE11-3420-4D75-95BE-8DBC94B454B6}"/>
              </a:ext>
            </a:extLst>
          </p:cNvPr>
          <p:cNvSpPr>
            <a:spLocks xmlns:a="http://schemas.openxmlformats.org/drawingml/2006/main" noGrp="1"/>
          </p:cNvSpPr>
          <p:nvPr/>
        </p:nvSpPr>
        <p:spPr>
          <a:xfrm xmlns:a="http://schemas.openxmlformats.org/drawingml/2006/main">
            <a:off x="6477000" y="1714500"/>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007F85"/>
                </a:solidFill>
                <a:latin typeface="DejaVu Sans"/>
                <a:ea typeface="DejaVu Sans"/>
                <a:cs typeface="DejaVu Sans"/>
              </a:defRPr>
            </a:pPr>
            <a:r>
              <a:rPr sz="2100" b="1">
                <a:solidFill>
                  <a:srgbClr val="007F85"/>
                </a:solidFill>
                <a:latin typeface="DejaVu Sans"/>
                <a:ea typeface="DejaVu Sans"/>
                <a:cs typeface="DejaVu Sans"/>
              </a:rPr>
              <a:t>Bukti pada kode</a:t>
            </a:r>
          </a:p>
        </p:txBody>
      </p:sp>
      <p:sp>
        <p:nvSpPr>
          <p:cNvPr id="6" name="text-5-296">
            <a:extLst xmlns:a="http://schemas.openxmlformats.org/drawingml/2006/main">
              <a:ext uri="{FF2B5EF4-FFF2-40B4-BE49-F238E27FC236}">
                <a16:creationId xmlns:a16="http://schemas.microsoft.com/office/drawing/2014/main" id="{997E67D9-580E-45F6-A75C-D292B3785CF0}"/>
              </a:ext>
            </a:extLst>
          </p:cNvPr>
          <p:cNvSpPr>
            <a:spLocks xmlns:a="http://schemas.openxmlformats.org/drawingml/2006/main" noGrp="1"/>
          </p:cNvSpPr>
          <p:nvPr/>
        </p:nvSpPr>
        <p:spPr>
          <a:xfrm xmlns:a="http://schemas.openxmlformats.org/drawingml/2006/main">
            <a:off x="6096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Siapa pemilik daftar?</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Siapa pemilik controller teks?</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Di mana record baru ditambahkan?</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Kapan resource dilepas?</a:t>
            </a:r>
          </a:p>
        </p:txBody>
      </p:sp>
      <p:sp>
        <p:nvSpPr>
          <p:cNvPr id="7" name="text-6-296">
            <a:extLst xmlns:a="http://schemas.openxmlformats.org/drawingml/2006/main">
              <a:ext uri="{FF2B5EF4-FFF2-40B4-BE49-F238E27FC236}">
                <a16:creationId xmlns:a16="http://schemas.microsoft.com/office/drawing/2014/main" id="{32C0D229-43C3-4DC8-A27D-BD05B03129C9}"/>
              </a:ext>
            </a:extLst>
          </p:cNvPr>
          <p:cNvSpPr>
            <a:spLocks xmlns:a="http://schemas.openxmlformats.org/drawingml/2006/main" noGrp="1"/>
          </p:cNvSpPr>
          <p:nvPr/>
        </p:nvSpPr>
        <p:spPr>
          <a:xfrm xmlns:a="http://schemas.openxmlformats.org/drawingml/2006/main">
            <a:off x="6477000" y="2819400"/>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Mutation list pada satu tempat</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Form mengembalikan hasil</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build hanya mendeskripsikan UI</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dispose melepas controller</a:t>
            </a:r>
          </a:p>
        </p:txBody>
      </p:sp>
    </p:spTree>
    <p:extLst>
      <p:ext uri="{BB962C8B-B14F-4D97-AF65-F5344CB8AC3E}">
        <p14:creationId xmlns:p14="http://schemas.microsoft.com/office/powerpoint/2010/main" val="518280469"/>
      </p:ext>
    </p:extLst>
  </p:cSld>
</p:sld>
</file>

<file path=ppt/slides/slide3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48">
            <a:extLst xmlns:a="http://schemas.openxmlformats.org/drawingml/2006/main">
              <a:ext uri="{FF2B5EF4-FFF2-40B4-BE49-F238E27FC236}">
                <a16:creationId xmlns:a16="http://schemas.microsoft.com/office/drawing/2014/main" id="{B241808A-CB89-435A-B35C-701008729866}"/>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Praktik 4 error, empty dan UI</a:t>
            </a:r>
          </a:p>
        </p:txBody>
      </p:sp>
      <p:sp>
        <p:nvSpPr>
          <p:cNvPr id="2" name="text-1-674">
            <a:extLst xmlns:a="http://schemas.openxmlformats.org/drawingml/2006/main">
              <a:ext uri="{FF2B5EF4-FFF2-40B4-BE49-F238E27FC236}">
                <a16:creationId xmlns:a16="http://schemas.microsoft.com/office/drawing/2014/main" id="{7B5077D0-ABA3-4627-B3CC-A4F2DFCF510D}"/>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BA405637-E543-4A72-9FC4-7E548B17FEBE}"/>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39</a:t>
            </a:r>
          </a:p>
        </p:txBody>
      </p:sp>
      <p:sp>
        <p:nvSpPr>
          <p:cNvPr id="4" name="text-3-174">
            <a:extLst xmlns:a="http://schemas.openxmlformats.org/drawingml/2006/main">
              <a:ext uri="{FF2B5EF4-FFF2-40B4-BE49-F238E27FC236}">
                <a16:creationId xmlns:a16="http://schemas.microsoft.com/office/drawing/2014/main" id="{5E4E03B3-F2C0-4BB5-ADE6-3871574A3E3A}"/>
              </a:ext>
            </a:extLst>
          </p:cNvPr>
          <p:cNvSpPr>
            <a:spLocks xmlns:a="http://schemas.openxmlformats.org/drawingml/2006/main" noGrp="1"/>
          </p:cNvSpPr>
          <p:nvPr/>
        </p:nvSpPr>
        <p:spPr>
          <a:xfrm xmlns:a="http://schemas.openxmlformats.org/drawingml/2006/main">
            <a:off x="609600" y="1657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400" b="1">
                <a:solidFill>
                  <a:srgbClr val="007F85"/>
                </a:solidFill>
                <a:latin typeface="DejaVu Sans"/>
                <a:ea typeface="DejaVu Sans"/>
                <a:cs typeface="DejaVu Sans"/>
              </a:defRPr>
            </a:pPr>
            <a:r>
              <a:rPr sz="2400" b="1">
                <a:solidFill>
                  <a:srgbClr val="007F85"/>
                </a:solidFill>
                <a:latin typeface="DejaVu Sans"/>
                <a:ea typeface="DejaVu Sans"/>
                <a:cs typeface="DejaVu Sans"/>
              </a:rPr>
              <a:t>Empat state dan layout sempit dapat didemonstrasikan</a:t>
            </a:r>
          </a:p>
        </p:txBody>
      </p:sp>
      <p:sp>
        <p:nvSpPr>
          <p:cNvPr id="5" name="text-4-292">
            <a:extLst xmlns:a="http://schemas.openxmlformats.org/drawingml/2006/main">
              <a:ext uri="{FF2B5EF4-FFF2-40B4-BE49-F238E27FC236}">
                <a16:creationId xmlns:a16="http://schemas.microsoft.com/office/drawing/2014/main" id="{6F133D2A-E2A3-4BB4-B2F9-344D651D7827}"/>
              </a:ext>
            </a:extLst>
          </p:cNvPr>
          <p:cNvSpPr>
            <a:spLocks xmlns:a="http://schemas.openxmlformats.org/drawingml/2006/main" noGrp="1"/>
          </p:cNvSpPr>
          <p:nvPr/>
        </p:nvSpPr>
        <p:spPr>
          <a:xfrm xmlns:a="http://schemas.openxmlformats.org/drawingml/2006/main">
            <a:off x="609600" y="2781300"/>
            <a:ext cx="10572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Tambahkan simulasi loading dan error sekali</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Tampilkan empty state dengan aksi tambah</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Pastikan retry memulihkan daftar</a:t>
            </a:r>
          </a:p>
          <a:p xmlns:a="http://schemas.openxmlformats.org/drawingml/2006/main">
            <a:pPr marL="228600" indent="-114300">
              <a:spcAft>
                <a:spcPts val="1600"/>
              </a:spcAft>
              <a:buChar char="•"/>
              <a:defRPr sz="2025" b="0">
                <a:solidFill>
                  <a:srgbClr val="193447"/>
                </a:solidFill>
                <a:latin typeface="DejaVu Sans"/>
                <a:ea typeface="DejaVu Sans"/>
                <a:cs typeface="DejaVu Sans"/>
              </a:defRPr>
            </a:pPr>
            <a:r>
              <a:t>Perbaiki satu masalah layout atau lifecycle</a:t>
            </a:r>
          </a:p>
        </p:txBody>
      </p:sp>
      <p:sp>
        <p:nvSpPr>
          <p:cNvPr id="6" name="text-5-604">
            <a:extLst xmlns:a="http://schemas.openxmlformats.org/drawingml/2006/main">
              <a:ext uri="{FF2B5EF4-FFF2-40B4-BE49-F238E27FC236}">
                <a16:creationId xmlns:a16="http://schemas.microsoft.com/office/drawing/2014/main" id="{DDE71955-103F-4A0D-A7BF-44E53BF07791}"/>
              </a:ext>
            </a:extLst>
          </p:cNvPr>
          <p:cNvSpPr>
            <a:spLocks xmlns:a="http://schemas.openxmlformats.org/drawingml/2006/main" noGrp="1"/>
          </p:cNvSpPr>
          <p:nvPr/>
        </p:nvSpPr>
        <p:spPr>
          <a:xfrm xmlns:a="http://schemas.openxmlformats.org/drawingml/2006/main">
            <a:off x="609600" y="57531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1">
                <a:solidFill>
                  <a:srgbClr val="102D40"/>
                </a:solidFill>
                <a:latin typeface="DejaVu Sans"/>
                <a:ea typeface="DejaVu Sans"/>
                <a:cs typeface="DejaVu Sans"/>
              </a:defRPr>
            </a:pPr>
            <a:r>
              <a:rPr sz="1800" b="1">
                <a:solidFill>
                  <a:srgbClr val="102D40"/>
                </a:solidFill>
                <a:latin typeface="DejaVu Sans"/>
                <a:ea typeface="DejaVu Sans"/>
                <a:cs typeface="DejaVu Sans"/>
              </a:rPr>
              <a:t>Bukti hasil</a:t>
            </a:r>
          </a:p>
        </p:txBody>
      </p:sp>
      <p:sp>
        <p:nvSpPr>
          <p:cNvPr id="7" name="text-6-604">
            <a:extLst xmlns:a="http://schemas.openxmlformats.org/drawingml/2006/main">
              <a:ext uri="{FF2B5EF4-FFF2-40B4-BE49-F238E27FC236}">
                <a16:creationId xmlns:a16="http://schemas.microsoft.com/office/drawing/2014/main" id="{AB64631D-5357-4352-8C58-65E3D15BE442}"/>
              </a:ext>
            </a:extLst>
          </p:cNvPr>
          <p:cNvSpPr>
            <a:spLocks xmlns:a="http://schemas.openxmlformats.org/drawingml/2006/main" noGrp="1"/>
          </p:cNvSpPr>
          <p:nvPr/>
        </p:nvSpPr>
        <p:spPr>
          <a:xfrm xmlns:a="http://schemas.openxmlformats.org/drawingml/2006/main">
            <a:off x="2419350" y="5753100"/>
            <a:ext cx="9163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193447"/>
                </a:solidFill>
                <a:latin typeface="DejaVu Sans"/>
                <a:ea typeface="DejaVu Sans"/>
                <a:cs typeface="DejaVu Sans"/>
              </a:defRPr>
            </a:pPr>
            <a:r>
              <a:rPr sz="1800" b="0">
                <a:solidFill>
                  <a:srgbClr val="193447"/>
                </a:solidFill>
                <a:latin typeface="DejaVu Sans"/>
                <a:ea typeface="DejaVu Sans"/>
                <a:cs typeface="DejaVu Sans"/>
              </a:rPr>
              <a:t>Demo loading, empty, error/retry dan form dengan keyboard</a:t>
            </a:r>
          </a:p>
        </p:txBody>
      </p:sp>
    </p:spTree>
    <p:extLst>
      <p:ext uri="{BB962C8B-B14F-4D97-AF65-F5344CB8AC3E}">
        <p14:creationId xmlns:p14="http://schemas.microsoft.com/office/powerpoint/2010/main" val="1255068557"/>
      </p:ext>
    </p:extLst>
  </p:cSld>
</p:sld>
</file>

<file path=ppt/slides/slide4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text-0-48">
            <a:extLst xmlns:a="http://schemas.openxmlformats.org/drawingml/2006/main">
              <a:ext uri="{FF2B5EF4-FFF2-40B4-BE49-F238E27FC236}">
                <a16:creationId xmlns:a16="http://schemas.microsoft.com/office/drawing/2014/main" id="{19F480AF-AF07-493C-BE6C-5290E8900B5C}"/>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Checkpoint Git hari pertama</a:t>
            </a:r>
          </a:p>
        </p:txBody>
      </p:sp>
      <p:sp>
        <p:nvSpPr>
          <p:cNvPr id="2" name="text-1-674">
            <a:extLst xmlns:a="http://schemas.openxmlformats.org/drawingml/2006/main">
              <a:ext uri="{FF2B5EF4-FFF2-40B4-BE49-F238E27FC236}">
                <a16:creationId xmlns:a16="http://schemas.microsoft.com/office/drawing/2014/main" id="{0444C1FA-80EF-46DC-BF36-963985D238C6}"/>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397ADBBA-A59F-4B67-81B6-71C8A5649034}"/>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40</a:t>
            </a:r>
          </a:p>
        </p:txBody>
      </p:sp>
      <p:sp>
        <p:nvSpPr>
          <p:cNvPr id="4" name="text-3-193">
            <a:extLst xmlns:a="http://schemas.openxmlformats.org/drawingml/2006/main">
              <a:ext uri="{FF2B5EF4-FFF2-40B4-BE49-F238E27FC236}">
                <a16:creationId xmlns:a16="http://schemas.microsoft.com/office/drawing/2014/main" id="{BA7DEB32-16A6-4163-9FDE-3D3783FC5614}"/>
              </a:ext>
            </a:extLst>
          </p:cNvPr>
          <p:cNvSpPr>
            <a:spLocks xmlns:a="http://schemas.openxmlformats.org/drawingml/2006/main" noGrp="1"/>
          </p:cNvSpPr>
          <p:nvPr/>
        </p:nvSpPr>
        <p:spPr>
          <a:xfrm xmlns:a="http://schemas.openxmlformats.org/drawingml/2006/main">
            <a:off x="819150" y="1838325"/>
            <a:ext cx="10553700" cy="4162425"/>
          </a:xfrm>
          <a:prstGeom xmlns:a="http://schemas.openxmlformats.org/drawingml/2006/main" prst="rect">
            <a:avLst/>
          </a:prstGeom>
          <a:solidFill xmlns:a="http://schemas.openxmlformats.org/drawingml/2006/main">
            <a:srgbClr val="102D40"/>
          </a:solidFill>
          <a:ln xmlns:a="http://schemas.openxmlformats.org/drawingml/2006/main" w="0">
            <a:noFill/>
          </a:ln>
        </p:spPr>
        <p:txBody>
          <a:bodyPr xmlns:a="http://schemas.openxmlformats.org/drawingml/2006/main" wrap="none" lIns="152400" tIns="152400" rIns="152400" bIns="114300" anchor="t">
            <a:noAutofit/>
          </a:bodyPr>
          <a:lstStyle xmlns:a="http://schemas.openxmlformats.org/drawingml/2006/main"/>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git init</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git status</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git add .</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git diff --cached</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git commit -m "Complete day 1 Flutter UI and form"</a:t>
            </a:r>
          </a:p>
          <a:p xmlns:a="http://schemas.openxmlformats.org/drawingml/2006/main">
            <a:pPr>
              <a:lnSpc>
                <a:spcPct val="103000"/>
              </a:lnSpc>
              <a:buNone/>
              <a:defRPr sz="1725" b="0">
                <a:solidFill>
                  <a:srgbClr val="FFFFFF"/>
                </a:solidFill>
                <a:latin typeface="DejaVu Sans Mono"/>
                <a:ea typeface="DejaVu Sans Mono"/>
                <a:cs typeface="DejaVu Sans Mono"/>
              </a:defRPr>
            </a:pPr>
            <a:r>
              <a:rPr sz="1725" b="0">
                <a:solidFill>
                  <a:srgbClr val="FFFFFF"/>
                </a:solidFill>
                <a:latin typeface="DejaVu Sans Mono"/>
                <a:ea typeface="DejaVu Sans Mono"/>
                <a:cs typeface="DejaVu Sans Mono"/>
              </a:rPr>
              <a:t>git tag day-1</a:t>
            </a:r>
          </a:p>
        </p:txBody>
      </p:sp>
      <p:sp>
        <p:nvSpPr>
          <p:cNvPr id="5" name="text-4-633">
            <a:extLst xmlns:a="http://schemas.openxmlformats.org/drawingml/2006/main">
              <a:ext uri="{FF2B5EF4-FFF2-40B4-BE49-F238E27FC236}">
                <a16:creationId xmlns:a16="http://schemas.microsoft.com/office/drawing/2014/main" id="{20CAAD67-71A4-4C18-8E82-FF3046C0E35B}"/>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1">
                <a:solidFill>
                  <a:srgbClr val="007F85"/>
                </a:solidFill>
                <a:latin typeface="DejaVu Sans"/>
                <a:ea typeface="DejaVu Sans"/>
                <a:cs typeface="DejaVu Sans"/>
              </a:defRPr>
            </a:pPr>
            <a:r>
              <a:rPr sz="1725" b="1">
                <a:solidFill>
                  <a:srgbClr val="007F85"/>
                </a:solidFill>
                <a:latin typeface="DejaVu Sans"/>
                <a:ea typeface="DejaVu Sans"/>
                <a:cs typeface="DejaVu Sans"/>
              </a:rPr>
              <a:t>README mencatat SDK, device dan langkah menjalankan aplikasi</a:t>
            </a:r>
          </a:p>
        </p:txBody>
      </p:sp>
    </p:spTree>
    <p:extLst>
      <p:ext uri="{BB962C8B-B14F-4D97-AF65-F5344CB8AC3E}">
        <p14:creationId xmlns:p14="http://schemas.microsoft.com/office/powerpoint/2010/main" val="892953281"/>
      </p:ext>
    </p:extLst>
  </p:cSld>
</p:sld>
</file>

<file path=ppt/slides/slide4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5E5EFE0E-7853-409D-AD95-D8A62929574C}"/>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Evaluasi pemahaman hari pertama</a:t>
            </a:r>
          </a:p>
        </p:txBody>
      </p:sp>
      <p:sp>
        <p:nvSpPr>
          <p:cNvPr id="2" name="text-1-674">
            <a:extLst xmlns:a="http://schemas.openxmlformats.org/drawingml/2006/main">
              <a:ext uri="{FF2B5EF4-FFF2-40B4-BE49-F238E27FC236}">
                <a16:creationId xmlns:a16="http://schemas.microsoft.com/office/drawing/2014/main" id="{E41BA85C-A780-40BD-A683-A48AD6EC86C6}"/>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B5368F25-C32C-49F4-92E2-7E00C84B0A0A}"/>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41</a:t>
            </a:r>
          </a:p>
        </p:txBody>
      </p:sp>
      <p:sp>
        <p:nvSpPr>
          <p:cNvPr id="4" name="text-3-180">
            <a:extLst xmlns:a="http://schemas.openxmlformats.org/drawingml/2006/main">
              <a:ext uri="{FF2B5EF4-FFF2-40B4-BE49-F238E27FC236}">
                <a16:creationId xmlns:a16="http://schemas.microsoft.com/office/drawing/2014/main" id="{E94E9592-052F-4A8B-8626-5493CF3CBF6B}"/>
              </a:ext>
            </a:extLst>
          </p:cNvPr>
          <p:cNvSpPr>
            <a:spLocks xmlns:a="http://schemas.openxmlformats.org/drawingml/2006/main" noGrp="1"/>
          </p:cNvSpPr>
          <p:nvPr/>
        </p:nvSpPr>
        <p:spPr>
          <a:xfrm xmlns:a="http://schemas.openxmlformats.org/drawingml/2006/main">
            <a:off x="609600" y="1714500"/>
            <a:ext cx="10763250"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250" b="0">
                <a:solidFill>
                  <a:srgbClr val="193447"/>
                </a:solidFill>
                <a:latin typeface="DejaVu Sans"/>
                <a:ea typeface="DejaVu Sans"/>
                <a:cs typeface="DejaVu Sans"/>
              </a:defRPr>
            </a:pPr>
            <a:r>
              <a:t>Mengapa request tidak dijalankan dari build?</a:t>
            </a:r>
          </a:p>
          <a:p xmlns:a="http://schemas.openxmlformats.org/drawingml/2006/main">
            <a:pPr marL="228600" indent="-114300">
              <a:spcAft>
                <a:spcPts val="1600"/>
              </a:spcAft>
              <a:buChar char="•"/>
              <a:defRPr sz="2250" b="0">
                <a:solidFill>
                  <a:srgbClr val="193447"/>
                </a:solidFill>
                <a:latin typeface="DejaVu Sans"/>
                <a:ea typeface="DejaVu Sans"/>
                <a:cs typeface="DejaVu Sans"/>
              </a:defRPr>
            </a:pPr>
            <a:r>
              <a:t>Apa perbedaan empty dan error?</a:t>
            </a:r>
          </a:p>
          <a:p xmlns:a="http://schemas.openxmlformats.org/drawingml/2006/main">
            <a:pPr marL="228600" indent="-114300">
              <a:spcAft>
                <a:spcPts val="1600"/>
              </a:spcAft>
              <a:buChar char="•"/>
              <a:defRPr sz="2250" b="0">
                <a:solidFill>
                  <a:srgbClr val="193447"/>
                </a:solidFill>
                <a:latin typeface="DejaVu Sans"/>
                <a:ea typeface="DejaVu Sans"/>
                <a:cs typeface="DejaVu Sans"/>
              </a:defRPr>
            </a:pPr>
            <a:r>
              <a:t>Siapa pemilik mutation daftar setelah form selesai?</a:t>
            </a:r>
          </a:p>
          <a:p xmlns:a="http://schemas.openxmlformats.org/drawingml/2006/main">
            <a:pPr marL="228600" indent="-114300">
              <a:spcAft>
                <a:spcPts val="1600"/>
              </a:spcAft>
              <a:buChar char="•"/>
              <a:defRPr sz="2250" b="0">
                <a:solidFill>
                  <a:srgbClr val="193447"/>
                </a:solidFill>
                <a:latin typeface="DejaVu Sans"/>
                <a:ea typeface="DejaVu Sans"/>
                <a:cs typeface="DejaVu Sans"/>
              </a:defRPr>
            </a:pPr>
            <a:r>
              <a:t>Mengapa mounted diperiksa setelah await?</a:t>
            </a:r>
          </a:p>
        </p:txBody>
      </p:sp>
    </p:spTree>
    <p:extLst>
      <p:ext uri="{BB962C8B-B14F-4D97-AF65-F5344CB8AC3E}">
        <p14:creationId xmlns:p14="http://schemas.microsoft.com/office/powerpoint/2010/main" val="1949129750"/>
      </p:ext>
    </p:extLst>
  </p:cSld>
</p:sld>
</file>

<file path=ppt/slides/slide4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A8EF90AE-9995-4E68-BDAA-2D145C1DF9BE}"/>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Acceptance checkpoint day-1</a:t>
            </a:r>
          </a:p>
        </p:txBody>
      </p:sp>
      <p:sp>
        <p:nvSpPr>
          <p:cNvPr id="2" name="text-1-674">
            <a:extLst xmlns:a="http://schemas.openxmlformats.org/drawingml/2006/main">
              <a:ext uri="{FF2B5EF4-FFF2-40B4-BE49-F238E27FC236}">
                <a16:creationId xmlns:a16="http://schemas.microsoft.com/office/drawing/2014/main" id="{BF50EA1B-C52F-4231-BCE9-B29DA48003EE}"/>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29A3B2E5-6571-4D05-B703-FC9903D09293}"/>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42</a:t>
            </a:r>
          </a:p>
        </p:txBody>
      </p:sp>
      <p:graphicFrame>
        <p:nvGraphicFramePr>
          <p:cNvPr id="8" name=""/>
          <p:cNvGraphicFramePr/>
          <p:nvPr/>
        </p:nvGraphicFramePr>
        <p:xfrm>
          <a:off xmlns:a="http://schemas.openxmlformats.org/drawingml/2006/main" x="609600" y="1657350"/>
          <a:ext xmlns:a="http://schemas.openxmlformats.org/drawingml/2006/main" cx="10972800" cy="4114800"/>
        </p:xfrm>
        <a:graphic xmlns:a="http://schemas.openxmlformats.org/drawingml/2006/main">
          <a:graphicData uri="http://schemas.openxmlformats.org/drawingml/2006/table">
            <a:tbl>
              <a:tblPr/>
              <a:tblGrid>
                <a:gridCol w="4389120"/>
                <a:gridCol w="6583680"/>
              </a:tblGrid>
              <a:tr h="685800">
                <a:tc>
                  <a:txBody>
                    <a:bodyPr lIns="123825" tIns="76200" rIns="123825" bIns="76200">
                      <a:noAutofit/>
                    </a:bodyPr>
                    <a:lstStyle/>
                    <a:p>
                      <a:r>
                        <a:rPr sz="1800" b="1">
                          <a:solidFill>
                            <a:srgbClr val="FFFFFF"/>
                          </a:solidFill>
                          <a:latin typeface="DejaVu Sans"/>
                          <a:ea typeface="DejaVu Sans"/>
                          <a:cs typeface="DejaVu Sans"/>
                        </a:rPr>
                        <a:t>Skenario</a:t>
                      </a:r>
                    </a:p>
                  </a:txBody>
                  <a:tcPr marL="91440" marR="91440" marT="45720" marB="45720" anchor="ctr">
                    <a:solidFill>
                      <a:srgbClr val="102D40"/>
                    </a:solidFill>
                  </a:tcPr>
                </a:tc>
                <a:tc>
                  <a:txBody>
                    <a:bodyPr lIns="123825" tIns="76200" rIns="123825" bIns="76200">
                      <a:noAutofit/>
                    </a:bodyPr>
                    <a:lstStyle/>
                    <a:p>
                      <a:r>
                        <a:rPr sz="1800" b="1">
                          <a:solidFill>
                            <a:srgbClr val="FFFFFF"/>
                          </a:solidFill>
                          <a:latin typeface="DejaVu Sans"/>
                          <a:ea typeface="DejaVu Sans"/>
                          <a:cs typeface="DejaVu Sans"/>
                        </a:rPr>
                        <a:t>Kriteria lulus</a:t>
                      </a:r>
                    </a:p>
                  </a:txBody>
                  <a:tcPr marL="91440" marR="91440" marT="45720" marB="45720" anchor="ctr">
                    <a:solidFill>
                      <a:srgbClr val="102D40"/>
                    </a:solidFill>
                  </a:tcPr>
                </a:tc>
              </a:tr>
              <a:tr h="685800">
                <a:tc>
                  <a:txBody>
                    <a:bodyPr lIns="123825" tIns="76200" rIns="123825" bIns="76200">
                      <a:noAutofit/>
                    </a:bodyPr>
                    <a:lstStyle/>
                    <a:p>
                      <a:r>
                        <a:rPr sz="1800" b="0">
                          <a:solidFill>
                            <a:srgbClr val="193447"/>
                          </a:solidFill>
                          <a:latin typeface="DejaVu Sans"/>
                          <a:ea typeface="DejaVu Sans"/>
                          <a:cs typeface="DejaVu Sans"/>
                        </a:rPr>
                        <a:t>Daftar dan detail</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Record terpilih tampil benar</a:t>
                      </a:r>
                    </a:p>
                  </a:txBody>
                  <a:tcPr marL="91440" marR="91440" marT="45720" marB="45720" anchor="ctr">
                    <a:solidFill>
                      <a:srgbClr val="FFFFFF"/>
                    </a:solidFill>
                  </a:tcPr>
                </a:tc>
              </a:tr>
              <a:tr h="685800">
                <a:tc>
                  <a:txBody>
                    <a:bodyPr lIns="123825" tIns="76200" rIns="123825" bIns="76200">
                      <a:noAutofit/>
                    </a:bodyPr>
                    <a:lstStyle/>
                    <a:p>
                      <a:r>
                        <a:rPr sz="1800" b="0">
                          <a:solidFill>
                            <a:srgbClr val="193447"/>
                          </a:solidFill>
                          <a:latin typeface="DejaVu Sans"/>
                          <a:ea typeface="DejaVu Sans"/>
                          <a:cs typeface="DejaVu Sans"/>
                        </a:rPr>
                        <a:t>Form invalid</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Field wajib dan note temuan ditolak</a:t>
                      </a:r>
                    </a:p>
                  </a:txBody>
                  <a:tcPr marL="91440" marR="91440" marT="45720" marB="45720" anchor="ctr">
                    <a:solidFill>
                      <a:srgbClr val="EDF4F6"/>
                    </a:solidFill>
                  </a:tcPr>
                </a:tc>
              </a:tr>
              <a:tr h="685800">
                <a:tc>
                  <a:txBody>
                    <a:bodyPr lIns="123825" tIns="76200" rIns="123825" bIns="76200">
                      <a:noAutofit/>
                    </a:bodyPr>
                    <a:lstStyle/>
                    <a:p>
                      <a:r>
                        <a:rPr sz="1800" b="0">
                          <a:solidFill>
                            <a:srgbClr val="193447"/>
                          </a:solidFill>
                          <a:latin typeface="DejaVu Sans"/>
                          <a:ea typeface="DejaVu Sans"/>
                          <a:cs typeface="DejaVu Sans"/>
                        </a:rPr>
                        <a:t>Form valid dan cancel</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Tambah sekali, cancel tanpa record</a:t>
                      </a:r>
                    </a:p>
                  </a:txBody>
                  <a:tcPr marL="91440" marR="91440" marT="45720" marB="45720" anchor="ctr">
                    <a:solidFill>
                      <a:srgbClr val="FFFFFF"/>
                    </a:solidFill>
                  </a:tcPr>
                </a:tc>
              </a:tr>
              <a:tr h="685800">
                <a:tc>
                  <a:txBody>
                    <a:bodyPr lIns="123825" tIns="76200" rIns="123825" bIns="76200">
                      <a:noAutofit/>
                    </a:bodyPr>
                    <a:lstStyle/>
                    <a:p>
                      <a:r>
                        <a:rPr sz="1800" b="0">
                          <a:solidFill>
                            <a:srgbClr val="193447"/>
                          </a:solidFill>
                          <a:latin typeface="DejaVu Sans"/>
                          <a:ea typeface="DejaVu Sans"/>
                          <a:cs typeface="DejaVu Sans"/>
                        </a:rPr>
                        <a:t>Empty dan error</a:t>
                      </a:r>
                    </a:p>
                  </a:txBody>
                  <a:tcPr marL="91440" marR="91440" marT="45720" marB="45720" anchor="ctr">
                    <a:solidFill>
                      <a:srgbClr val="EDF4F6"/>
                    </a:solidFill>
                  </a:tcPr>
                </a:tc>
                <a:tc>
                  <a:txBody>
                    <a:bodyPr lIns="123825" tIns="76200" rIns="123825" bIns="76200">
                      <a:noAutofit/>
                    </a:bodyPr>
                    <a:lstStyle/>
                    <a:p>
                      <a:r>
                        <a:rPr sz="1800" b="0">
                          <a:solidFill>
                            <a:srgbClr val="193447"/>
                          </a:solidFill>
                          <a:latin typeface="DejaVu Sans"/>
                          <a:ea typeface="DejaVu Sans"/>
                          <a:cs typeface="DejaVu Sans"/>
                        </a:rPr>
                        <a:t>Pesan jelas serta retry bekerja</a:t>
                      </a:r>
                    </a:p>
                  </a:txBody>
                  <a:tcPr marL="91440" marR="91440" marT="45720" marB="45720" anchor="ctr">
                    <a:solidFill>
                      <a:srgbClr val="EDF4F6"/>
                    </a:solidFill>
                  </a:tcPr>
                </a:tc>
              </a:tr>
              <a:tr h="685800">
                <a:tc>
                  <a:txBody>
                    <a:bodyPr lIns="123825" tIns="76200" rIns="123825" bIns="76200">
                      <a:noAutofit/>
                    </a:bodyPr>
                    <a:lstStyle/>
                    <a:p>
                      <a:r>
                        <a:rPr sz="1800" b="0">
                          <a:solidFill>
                            <a:srgbClr val="193447"/>
                          </a:solidFill>
                          <a:latin typeface="DejaVu Sans"/>
                          <a:ea typeface="DejaVu Sans"/>
                          <a:cs typeface="DejaVu Sans"/>
                        </a:rPr>
                        <a:t>Layar sempit</a:t>
                      </a:r>
                    </a:p>
                  </a:txBody>
                  <a:tcPr marL="91440" marR="91440" marT="45720" marB="45720" anchor="ctr">
                    <a:solidFill>
                      <a:srgbClr val="FFFFFF"/>
                    </a:solidFill>
                  </a:tcPr>
                </a:tc>
                <a:tc>
                  <a:txBody>
                    <a:bodyPr lIns="123825" tIns="76200" rIns="123825" bIns="76200">
                      <a:noAutofit/>
                    </a:bodyPr>
                    <a:lstStyle/>
                    <a:p>
                      <a:r>
                        <a:rPr sz="1800" b="0">
                          <a:solidFill>
                            <a:srgbClr val="193447"/>
                          </a:solidFill>
                          <a:latin typeface="DejaVu Sans"/>
                          <a:ea typeface="DejaVu Sans"/>
                          <a:cs typeface="DejaVu Sans"/>
                        </a:rPr>
                        <a:t>Tidak overflow, tombol terjangkau</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70490262"/>
      </p:ext>
    </p:extLst>
  </p:cSld>
</p:sld>
</file>

<file path=ppt/slides/slide4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F83B4DF0-4D4C-4370-B84B-97425571CB91}"/>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Handover hari pertama</a:t>
            </a:r>
          </a:p>
        </p:txBody>
      </p:sp>
      <p:sp>
        <p:nvSpPr>
          <p:cNvPr id="2" name="text-1-674">
            <a:extLst xmlns:a="http://schemas.openxmlformats.org/drawingml/2006/main">
              <a:ext uri="{FF2B5EF4-FFF2-40B4-BE49-F238E27FC236}">
                <a16:creationId xmlns:a16="http://schemas.microsoft.com/office/drawing/2014/main" id="{51B66CB7-0A14-449A-8D7D-7ED664E8A891}"/>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A1721B4F-E4C0-41D3-B085-E2B98BA204F5}"/>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43</a:t>
            </a:r>
          </a:p>
        </p:txBody>
      </p:sp>
      <p:sp>
        <p:nvSpPr>
          <p:cNvPr id="4" name="text-3-180">
            <a:extLst xmlns:a="http://schemas.openxmlformats.org/drawingml/2006/main">
              <a:ext uri="{FF2B5EF4-FFF2-40B4-BE49-F238E27FC236}">
                <a16:creationId xmlns:a16="http://schemas.microsoft.com/office/drawing/2014/main" id="{1A1BFFDB-9D21-4C62-BA58-4983CE9F0103}"/>
              </a:ext>
            </a:extLst>
          </p:cNvPr>
          <p:cNvSpPr>
            <a:spLocks xmlns:a="http://schemas.openxmlformats.org/drawingml/2006/main" noGrp="1"/>
          </p:cNvSpPr>
          <p:nvPr/>
        </p:nvSpPr>
        <p:spPr>
          <a:xfrm xmlns:a="http://schemas.openxmlformats.org/drawingml/2006/main">
            <a:off x="609600" y="1714500"/>
            <a:ext cx="10763250"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Source dan Git tag day-1</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Screenshot daftar, detail dan dua kondisi form</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README run, versi SDK dan device</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Catatan bug atau kendala untuk hari kedua</a:t>
            </a:r>
          </a:p>
        </p:txBody>
      </p:sp>
    </p:spTree>
    <p:extLst>
      <p:ext uri="{BB962C8B-B14F-4D97-AF65-F5344CB8AC3E}">
        <p14:creationId xmlns:p14="http://schemas.microsoft.com/office/powerpoint/2010/main" val="842465432"/>
      </p:ext>
    </p:extLst>
  </p:cSld>
</p:sld>
</file>

<file path=ppt/slides/slide4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text-0-48">
            <a:extLst xmlns:a="http://schemas.openxmlformats.org/drawingml/2006/main">
              <a:ext uri="{FF2B5EF4-FFF2-40B4-BE49-F238E27FC236}">
                <a16:creationId xmlns:a16="http://schemas.microsoft.com/office/drawing/2014/main" id="{0FAB12E7-9A8E-4BC8-BDD6-360F1D21B417}"/>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300" b="1">
                <a:solidFill>
                  <a:srgbClr val="102D40"/>
                </a:solidFill>
                <a:latin typeface="DejaVu Sans"/>
                <a:ea typeface="DejaVu Sans"/>
                <a:cs typeface="DejaVu Sans"/>
              </a:defRPr>
            </a:pPr>
            <a:r>
              <a:rPr sz="3300" b="1">
                <a:solidFill>
                  <a:srgbClr val="102D40"/>
                </a:solidFill>
                <a:latin typeface="DejaVu Sans"/>
                <a:ea typeface="DejaVu Sans"/>
                <a:cs typeface="DejaVu Sans"/>
              </a:rPr>
              <a:t>Referensi dan persiapan hari kedua</a:t>
            </a:r>
          </a:p>
        </p:txBody>
      </p:sp>
      <p:sp>
        <p:nvSpPr>
          <p:cNvPr id="2" name="text-1-674">
            <a:extLst xmlns:a="http://schemas.openxmlformats.org/drawingml/2006/main">
              <a:ext uri="{FF2B5EF4-FFF2-40B4-BE49-F238E27FC236}">
                <a16:creationId xmlns:a16="http://schemas.microsoft.com/office/drawing/2014/main" id="{7291D8A6-C04E-4974-9FFF-D3F8978976DE}"/>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DPL  /  Flutter Android  /  Hari 1</a:t>
            </a:r>
          </a:p>
        </p:txBody>
      </p:sp>
      <p:sp>
        <p:nvSpPr>
          <p:cNvPr id="3" name="text-2-674">
            <a:extLst xmlns:a="http://schemas.openxmlformats.org/drawingml/2006/main">
              <a:ext uri="{FF2B5EF4-FFF2-40B4-BE49-F238E27FC236}">
                <a16:creationId xmlns:a16="http://schemas.microsoft.com/office/drawing/2014/main" id="{589800CC-7A8B-4963-B074-D1E1A5A4E015}"/>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536D7E"/>
                </a:solidFill>
                <a:latin typeface="DejaVu Sans"/>
                <a:ea typeface="DejaVu Sans"/>
                <a:cs typeface="DejaVu Sans"/>
              </a:defRPr>
            </a:pPr>
            <a:r>
              <a:rPr sz="1200" b="0">
                <a:solidFill>
                  <a:srgbClr val="536D7E"/>
                </a:solidFill>
                <a:latin typeface="DejaVu Sans"/>
                <a:ea typeface="DejaVu Sans"/>
                <a:cs typeface="DejaVu Sans"/>
              </a:rPr>
              <a:t>44</a:t>
            </a:r>
          </a:p>
        </p:txBody>
      </p:sp>
      <p:sp>
        <p:nvSpPr>
          <p:cNvPr id="4" name="text-3-180">
            <a:extLst xmlns:a="http://schemas.openxmlformats.org/drawingml/2006/main">
              <a:ext uri="{FF2B5EF4-FFF2-40B4-BE49-F238E27FC236}">
                <a16:creationId xmlns:a16="http://schemas.microsoft.com/office/drawing/2014/main" id="{D7772CC5-D1A3-4BFB-91E8-09C91B545DC2}"/>
              </a:ext>
            </a:extLst>
          </p:cNvPr>
          <p:cNvSpPr>
            <a:spLocks xmlns:a="http://schemas.openxmlformats.org/drawingml/2006/main" noGrp="1"/>
          </p:cNvSpPr>
          <p:nvPr/>
        </p:nvSpPr>
        <p:spPr>
          <a:xfrm xmlns:a="http://schemas.openxmlformats.org/drawingml/2006/main">
            <a:off x="609600" y="1714500"/>
            <a:ext cx="10763250"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Dart language dan async pada dart.dev</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Flutter UI, constraints dan navigation pada docs.flutter.dev</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PRD serta Materi Hari 1 pada paket training</a:t>
            </a:r>
          </a:p>
          <a:p xmlns:a="http://schemas.openxmlformats.org/drawingml/2006/main">
            <a:pPr marL="228600" indent="-114300">
              <a:spcAft>
                <a:spcPts val="1600"/>
              </a:spcAft>
              <a:buChar char="•"/>
              <a:defRPr sz="2175" b="0">
                <a:solidFill>
                  <a:srgbClr val="193447"/>
                </a:solidFill>
                <a:latin typeface="DejaVu Sans"/>
                <a:ea typeface="DejaVu Sans"/>
                <a:cs typeface="DejaVu Sans"/>
              </a:defRPr>
            </a:pPr>
            <a:r>
              <a:t>Hari berikutnya memisahkan layer dan memakai REST API</a:t>
            </a:r>
          </a:p>
        </p:txBody>
      </p:sp>
    </p:spTree>
    <p:extLst>
      <p:ext uri="{BB962C8B-B14F-4D97-AF65-F5344CB8AC3E}">
        <p14:creationId xmlns:p14="http://schemas.microsoft.com/office/powerpoint/2010/main" val="17091204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2026-10-03T03:03:14.8430000Z</dcterms:created>
  <dcterms:modified xsi:type="dcterms:W3CDTF">2026-10-03T03:03:14.8440000Z</dcterms:modified>
</coreProperties>
</file>
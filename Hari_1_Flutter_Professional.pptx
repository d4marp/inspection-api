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a34b83037484725" /><Relationship Type="http://schemas.openxmlformats.org/officeDocument/2006/relationships/extended-properties" Target="/docProps/app.xml" Id="R9ff49e1bb9b64c57" /><Relationship Type="http://schemas.openxmlformats.org/officeDocument/2006/relationships/officeDocument" Target="/ppt/presentation.xml" Id="R9dbfdd0ad6d24aa3" /></Relationships>
</file>

<file path=ppt/presentation.xml><?xml version="1.0" encoding="utf-8"?>
<p:presentation xmlns:p="http://schemas.openxmlformats.org/presentationml/2006/main">
  <p:sldMasterIdLst>
    <p:sldMasterId xmlns:r="http://schemas.openxmlformats.org/officeDocument/2006/relationships" id="2147483648" r:id="R558ac8a842924306"/>
  </p:sldMasterIdLst>
  <p:notesMasterIdLst>
    <p:notesMasterId xmlns:r="http://schemas.openxmlformats.org/officeDocument/2006/relationships" r:id="R567f1023c44045a8"/>
  </p:notesMasterIdLst>
  <p:sldIdLst>
    <p:sldId xmlns:r="http://schemas.openxmlformats.org/officeDocument/2006/relationships" id="256" r:id="Rc0664baa7c144e83"/>
    <p:sldId xmlns:r="http://schemas.openxmlformats.org/officeDocument/2006/relationships" id="257" r:id="R905672220ee941e5"/>
    <p:sldId xmlns:r="http://schemas.openxmlformats.org/officeDocument/2006/relationships" id="258" r:id="R46907fc1fcd94c22"/>
    <p:sldId xmlns:r="http://schemas.openxmlformats.org/officeDocument/2006/relationships" id="259" r:id="R5f79987f3bbd4a08"/>
    <p:sldId xmlns:r="http://schemas.openxmlformats.org/officeDocument/2006/relationships" id="260" r:id="R21fefbf4c8744662"/>
    <p:sldId xmlns:r="http://schemas.openxmlformats.org/officeDocument/2006/relationships" id="261" r:id="Raea4091f37144d18"/>
    <p:sldId xmlns:r="http://schemas.openxmlformats.org/officeDocument/2006/relationships" id="262" r:id="Rb2a81926aaa8448f"/>
    <p:sldId xmlns:r="http://schemas.openxmlformats.org/officeDocument/2006/relationships" id="263" r:id="R20a38e902f224549"/>
    <p:sldId xmlns:r="http://schemas.openxmlformats.org/officeDocument/2006/relationships" id="264" r:id="Rdc647950a5a748c8"/>
    <p:sldId xmlns:r="http://schemas.openxmlformats.org/officeDocument/2006/relationships" id="265" r:id="R980858d89f214988"/>
    <p:sldId xmlns:r="http://schemas.openxmlformats.org/officeDocument/2006/relationships" id="266" r:id="Re58ceef7bff64878"/>
    <p:sldId xmlns:r="http://schemas.openxmlformats.org/officeDocument/2006/relationships" id="267" r:id="Rafbb4709717b4cc7"/>
    <p:sldId xmlns:r="http://schemas.openxmlformats.org/officeDocument/2006/relationships" id="268" r:id="R75f47e8de5574b01"/>
    <p:sldId xmlns:r="http://schemas.openxmlformats.org/officeDocument/2006/relationships" id="269" r:id="R92882b633abf4dd0"/>
    <p:sldId xmlns:r="http://schemas.openxmlformats.org/officeDocument/2006/relationships" id="270" r:id="R8227e64e054440e4"/>
    <p:sldId xmlns:r="http://schemas.openxmlformats.org/officeDocument/2006/relationships" id="271" r:id="Rf76da4a818d44dff"/>
    <p:sldId xmlns:r="http://schemas.openxmlformats.org/officeDocument/2006/relationships" id="272" r:id="Ra8356813c31c4296"/>
    <p:sldId xmlns:r="http://schemas.openxmlformats.org/officeDocument/2006/relationships" id="273" r:id="R0a6f5cdb5ef34642"/>
    <p:sldId xmlns:r="http://schemas.openxmlformats.org/officeDocument/2006/relationships" id="274" r:id="R7adcf0d1fe7348e9"/>
    <p:sldId xmlns:r="http://schemas.openxmlformats.org/officeDocument/2006/relationships" id="275" r:id="R2b95a96ed9c145fb"/>
    <p:sldId xmlns:r="http://schemas.openxmlformats.org/officeDocument/2006/relationships" id="276" r:id="Ra191f81806df4867"/>
    <p:sldId xmlns:r="http://schemas.openxmlformats.org/officeDocument/2006/relationships" id="277" r:id="R16a4e10092bb42e8"/>
    <p:sldId xmlns:r="http://schemas.openxmlformats.org/officeDocument/2006/relationships" id="278" r:id="Rd5f31a2a34eb4f3e"/>
    <p:sldId xmlns:r="http://schemas.openxmlformats.org/officeDocument/2006/relationships" id="279" r:id="R3441237d41d24bc6"/>
    <p:sldId xmlns:r="http://schemas.openxmlformats.org/officeDocument/2006/relationships" id="280" r:id="R0fa3d7c27acd4e1f"/>
    <p:sldId xmlns:r="http://schemas.openxmlformats.org/officeDocument/2006/relationships" id="281" r:id="Rf43693267a47462f"/>
    <p:sldId xmlns:r="http://schemas.openxmlformats.org/officeDocument/2006/relationships" id="282" r:id="Rfd8927d24ca247fc"/>
    <p:sldId xmlns:r="http://schemas.openxmlformats.org/officeDocument/2006/relationships" id="283" r:id="Rbb0788453d674e78"/>
    <p:sldId xmlns:r="http://schemas.openxmlformats.org/officeDocument/2006/relationships" id="284" r:id="Rf3579553ae404cb3"/>
    <p:sldId xmlns:r="http://schemas.openxmlformats.org/officeDocument/2006/relationships" id="285" r:id="R38bb03efd1594ec4"/>
    <p:sldId xmlns:r="http://schemas.openxmlformats.org/officeDocument/2006/relationships" id="286" r:id="R9b7389d0c278461c"/>
    <p:sldId xmlns:r="http://schemas.openxmlformats.org/officeDocument/2006/relationships" id="287" r:id="R243adb6bc0a54e7c"/>
    <p:sldId xmlns:r="http://schemas.openxmlformats.org/officeDocument/2006/relationships" id="288" r:id="Rb7f62cbe648f4798"/>
    <p:sldId xmlns:r="http://schemas.openxmlformats.org/officeDocument/2006/relationships" id="289" r:id="Ra4a9d6b9461a46b7"/>
    <p:sldId xmlns:r="http://schemas.openxmlformats.org/officeDocument/2006/relationships" id="290" r:id="Rdb407a1553364551"/>
    <p:sldId xmlns:r="http://schemas.openxmlformats.org/officeDocument/2006/relationships" id="291" r:id="Rba971337b6c24452"/>
    <p:sldId xmlns:r="http://schemas.openxmlformats.org/officeDocument/2006/relationships" id="292" r:id="R7786c6a37c6d4307"/>
    <p:sldId xmlns:r="http://schemas.openxmlformats.org/officeDocument/2006/relationships" id="293" r:id="R8d2143741d894a78"/>
    <p:sldId xmlns:r="http://schemas.openxmlformats.org/officeDocument/2006/relationships" id="294" r:id="R99587193f64b4644"/>
    <p:sldId xmlns:r="http://schemas.openxmlformats.org/officeDocument/2006/relationships" id="295" r:id="Ra7dc9f6ced284de1"/>
    <p:sldId xmlns:r="http://schemas.openxmlformats.org/officeDocument/2006/relationships" id="296" r:id="Rbcebe9d5edf64d6c"/>
    <p:sldId xmlns:r="http://schemas.openxmlformats.org/officeDocument/2006/relationships" id="297" r:id="R53a9f06a077e4f8c"/>
    <p:sldId xmlns:r="http://schemas.openxmlformats.org/officeDocument/2006/relationships" id="298" r:id="R40f9428943a240e4"/>
    <p:sldId xmlns:r="http://schemas.openxmlformats.org/officeDocument/2006/relationships" id="299" r:id="Ra0a74c7c4ac0445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57e35f17f534a48" /><Relationship Type="http://schemas.openxmlformats.org/officeDocument/2006/relationships/slideMaster" Target="/ppt/slideMasters/slideMaster1.xml" Id="R558ac8a842924306" /><Relationship Type="http://schemas.openxmlformats.org/officeDocument/2006/relationships/notesMaster" Target="/ppt/notesMasters/notesMaster1.xml" Id="R567f1023c44045a8" /><Relationship Type="http://schemas.openxmlformats.org/officeDocument/2006/relationships/presProps" Target="/ppt/presProps.xml" Id="Rf255d65002d34fdf" /><Relationship Type="http://schemas.openxmlformats.org/officeDocument/2006/relationships/tableStyles" Target="/ppt/tableStyles.xml" Id="R6c2253b201a64778" /><Relationship Type="http://schemas.openxmlformats.org/officeDocument/2006/relationships/slide" Target="/ppt/slides/slide1.xml" Id="Rc0664baa7c144e83" /><Relationship Type="http://schemas.openxmlformats.org/officeDocument/2006/relationships/slide" Target="/ppt/slides/slide2.xml" Id="R905672220ee941e5" /><Relationship Type="http://schemas.openxmlformats.org/officeDocument/2006/relationships/slide" Target="/ppt/slides/slide3.xml" Id="R46907fc1fcd94c22" /><Relationship Type="http://schemas.openxmlformats.org/officeDocument/2006/relationships/slide" Target="/ppt/slides/slide4.xml" Id="R5f79987f3bbd4a08" /><Relationship Type="http://schemas.openxmlformats.org/officeDocument/2006/relationships/slide" Target="/ppt/slides/slide5.xml" Id="R21fefbf4c8744662" /><Relationship Type="http://schemas.openxmlformats.org/officeDocument/2006/relationships/slide" Target="/ppt/slides/slide6.xml" Id="Raea4091f37144d18" /><Relationship Type="http://schemas.openxmlformats.org/officeDocument/2006/relationships/slide" Target="/ppt/slides/slide7.xml" Id="Rb2a81926aaa8448f" /><Relationship Type="http://schemas.openxmlformats.org/officeDocument/2006/relationships/slide" Target="/ppt/slides/slide8.xml" Id="R20a38e902f224549" /><Relationship Type="http://schemas.openxmlformats.org/officeDocument/2006/relationships/slide" Target="/ppt/slides/slide9.xml" Id="Rdc647950a5a748c8" /><Relationship Type="http://schemas.openxmlformats.org/officeDocument/2006/relationships/slide" Target="/ppt/slides/slide10.xml" Id="R980858d89f214988" /><Relationship Type="http://schemas.openxmlformats.org/officeDocument/2006/relationships/slide" Target="/ppt/slides/slide11.xml" Id="Re58ceef7bff64878" /><Relationship Type="http://schemas.openxmlformats.org/officeDocument/2006/relationships/slide" Target="/ppt/slides/slide12.xml" Id="Rafbb4709717b4cc7" /><Relationship Type="http://schemas.openxmlformats.org/officeDocument/2006/relationships/slide" Target="/ppt/slides/slide13.xml" Id="R75f47e8de5574b01" /><Relationship Type="http://schemas.openxmlformats.org/officeDocument/2006/relationships/slide" Target="/ppt/slides/slide14.xml" Id="R92882b633abf4dd0" /><Relationship Type="http://schemas.openxmlformats.org/officeDocument/2006/relationships/slide" Target="/ppt/slides/slide15.xml" Id="R8227e64e054440e4" /><Relationship Type="http://schemas.openxmlformats.org/officeDocument/2006/relationships/slide" Target="/ppt/slides/slide16.xml" Id="Rf76da4a818d44dff" /><Relationship Type="http://schemas.openxmlformats.org/officeDocument/2006/relationships/slide" Target="/ppt/slides/slide17.xml" Id="Ra8356813c31c4296" /><Relationship Type="http://schemas.openxmlformats.org/officeDocument/2006/relationships/slide" Target="/ppt/slides/slide18.xml" Id="R0a6f5cdb5ef34642" /><Relationship Type="http://schemas.openxmlformats.org/officeDocument/2006/relationships/slide" Target="/ppt/slides/slide19.xml" Id="R7adcf0d1fe7348e9" /><Relationship Type="http://schemas.openxmlformats.org/officeDocument/2006/relationships/slide" Target="/ppt/slides/slide20.xml" Id="R2b95a96ed9c145fb" /><Relationship Type="http://schemas.openxmlformats.org/officeDocument/2006/relationships/slide" Target="/ppt/slides/slide21.xml" Id="Ra191f81806df4867" /><Relationship Type="http://schemas.openxmlformats.org/officeDocument/2006/relationships/slide" Target="/ppt/slides/slide22.xml" Id="R16a4e10092bb42e8" /><Relationship Type="http://schemas.openxmlformats.org/officeDocument/2006/relationships/slide" Target="/ppt/slides/slide23.xml" Id="Rd5f31a2a34eb4f3e" /><Relationship Type="http://schemas.openxmlformats.org/officeDocument/2006/relationships/slide" Target="/ppt/slides/slide24.xml" Id="R3441237d41d24bc6" /><Relationship Type="http://schemas.openxmlformats.org/officeDocument/2006/relationships/slide" Target="/ppt/slides/slide25.xml" Id="R0fa3d7c27acd4e1f" /><Relationship Type="http://schemas.openxmlformats.org/officeDocument/2006/relationships/slide" Target="/ppt/slides/slide26.xml" Id="Rf43693267a47462f" /><Relationship Type="http://schemas.openxmlformats.org/officeDocument/2006/relationships/slide" Target="/ppt/slides/slide27.xml" Id="Rfd8927d24ca247fc" /><Relationship Type="http://schemas.openxmlformats.org/officeDocument/2006/relationships/slide" Target="/ppt/slides/slide28.xml" Id="Rbb0788453d674e78" /><Relationship Type="http://schemas.openxmlformats.org/officeDocument/2006/relationships/slide" Target="/ppt/slides/slide29.xml" Id="Rf3579553ae404cb3" /><Relationship Type="http://schemas.openxmlformats.org/officeDocument/2006/relationships/slide" Target="/ppt/slides/slide30.xml" Id="R38bb03efd1594ec4" /><Relationship Type="http://schemas.openxmlformats.org/officeDocument/2006/relationships/slide" Target="/ppt/slides/slide31.xml" Id="R9b7389d0c278461c" /><Relationship Type="http://schemas.openxmlformats.org/officeDocument/2006/relationships/slide" Target="/ppt/slides/slide32.xml" Id="R243adb6bc0a54e7c" /><Relationship Type="http://schemas.openxmlformats.org/officeDocument/2006/relationships/slide" Target="/ppt/slides/slide33.xml" Id="Rb7f62cbe648f4798" /><Relationship Type="http://schemas.openxmlformats.org/officeDocument/2006/relationships/slide" Target="/ppt/slides/slide34.xml" Id="Ra4a9d6b9461a46b7" /><Relationship Type="http://schemas.openxmlformats.org/officeDocument/2006/relationships/slide" Target="/ppt/slides/slide35.xml" Id="Rdb407a1553364551" /><Relationship Type="http://schemas.openxmlformats.org/officeDocument/2006/relationships/slide" Target="/ppt/slides/slide36.xml" Id="Rba971337b6c24452" /><Relationship Type="http://schemas.openxmlformats.org/officeDocument/2006/relationships/slide" Target="/ppt/slides/slide37.xml" Id="R7786c6a37c6d4307" /><Relationship Type="http://schemas.openxmlformats.org/officeDocument/2006/relationships/slide" Target="/ppt/slides/slide38.xml" Id="R8d2143741d894a78" /><Relationship Type="http://schemas.openxmlformats.org/officeDocument/2006/relationships/slide" Target="/ppt/slides/slide39.xml" Id="R99587193f64b4644" /><Relationship Type="http://schemas.openxmlformats.org/officeDocument/2006/relationships/slide" Target="/ppt/slides/slide40.xml" Id="Ra7dc9f6ced284de1" /><Relationship Type="http://schemas.openxmlformats.org/officeDocument/2006/relationships/slide" Target="/ppt/slides/slide41.xml" Id="Rbcebe9d5edf64d6c" /><Relationship Type="http://schemas.openxmlformats.org/officeDocument/2006/relationships/slide" Target="/ppt/slides/slide42.xml" Id="R53a9f06a077e4f8c" /><Relationship Type="http://schemas.openxmlformats.org/officeDocument/2006/relationships/slide" Target="/ppt/slides/slide43.xml" Id="R40f9428943a240e4" /><Relationship Type="http://schemas.openxmlformats.org/officeDocument/2006/relationships/slide" Target="/ppt/slides/slide44.xml" Id="Ra0a74c7c4ac0445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924aec5d8eb47a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b7aadbc3a9e4399" /><Relationship Type="http://schemas.openxmlformats.org/officeDocument/2006/relationships/notesMaster" Target="/ppt/notesMasters/notesMaster1.xml" Id="R0cff86786dc04128" /></Relationships>
</file>

<file path=ppt/notesSlides/_rels/notesSlide2.xml.rels>&#65279;<?xml version="1.0" encoding="utf-8"?><Relationships xmlns="http://schemas.openxmlformats.org/package/2006/relationships"><Relationship Type="http://schemas.openxmlformats.org/officeDocument/2006/relationships/slide" Target="/ppt/slides/slide2.xml" Id="R7503fcc03ce346ba" /><Relationship Type="http://schemas.openxmlformats.org/officeDocument/2006/relationships/notesMaster" Target="/ppt/notesMasters/notesMaster1.xml" Id="R47a2a00e8ae34fd0" /></Relationships>
</file>

<file path=ppt/notesSlides/_rels/notesSlide3.xml.rels>&#65279;<?xml version="1.0" encoding="utf-8"?><Relationships xmlns="http://schemas.openxmlformats.org/package/2006/relationships"><Relationship Type="http://schemas.openxmlformats.org/officeDocument/2006/relationships/slide" Target="/ppt/slides/slide3.xml" Id="Ra1a070a217c2419b" /><Relationship Type="http://schemas.openxmlformats.org/officeDocument/2006/relationships/notesMaster" Target="/ppt/notesMasters/notesMaster1.xml" Id="R97a855a735244271" /></Relationships>
</file>

<file path=ppt/notesSlides/_rels/notesSlide4.xml.rels>&#65279;<?xml version="1.0" encoding="utf-8"?><Relationships xmlns="http://schemas.openxmlformats.org/package/2006/relationships"><Relationship Type="http://schemas.openxmlformats.org/officeDocument/2006/relationships/slide" Target="/ppt/slides/slide4.xml" Id="R55b4242b30a4464f" /><Relationship Type="http://schemas.openxmlformats.org/officeDocument/2006/relationships/notesMaster" Target="/ppt/notesMasters/notesMaster1.xml" Id="R6709294e27974042" /></Relationships>
</file>

<file path=ppt/notesSlides/_rels/notesSlide5.xml.rels>&#65279;<?xml version="1.0" encoding="utf-8"?><Relationships xmlns="http://schemas.openxmlformats.org/package/2006/relationships"><Relationship Type="http://schemas.openxmlformats.org/officeDocument/2006/relationships/slide" Target="/ppt/slides/slide5.xml" Id="R2424ed798dd643e7" /><Relationship Type="http://schemas.openxmlformats.org/officeDocument/2006/relationships/notesMaster" Target="/ppt/notesMasters/notesMaster1.xml" Id="Ra14d22602f36418f" /></Relationships>
</file>

<file path=ppt/notesSlides/_rels/notesSlide6.xml.rels>&#65279;<?xml version="1.0" encoding="utf-8"?><Relationships xmlns="http://schemas.openxmlformats.org/package/2006/relationships"><Relationship Type="http://schemas.openxmlformats.org/officeDocument/2006/relationships/slide" Target="/ppt/slides/slide6.xml" Id="R8c17a0d6124d4415" /><Relationship Type="http://schemas.openxmlformats.org/officeDocument/2006/relationships/notesMaster" Target="/ppt/notesMasters/notesMaster1.xml" Id="R85de41a89b6546a0" /></Relationships>
</file>

<file path=ppt/notesSlides/_rels/notesSlide7.xml.rels>&#65279;<?xml version="1.0" encoding="utf-8"?><Relationships xmlns="http://schemas.openxmlformats.org/package/2006/relationships"><Relationship Type="http://schemas.openxmlformats.org/officeDocument/2006/relationships/slide" Target="/ppt/slides/slide7.xml" Id="Rf6034e2116fc4c55" /><Relationship Type="http://schemas.openxmlformats.org/officeDocument/2006/relationships/notesMaster" Target="/ppt/notesMasters/notesMaster1.xml" Id="Rc37fcef7edc741b1" /></Relationships>
</file>

<file path=ppt/notesSlides/_rels/notesSlide8.xml.rels>&#65279;<?xml version="1.0" encoding="utf-8"?><Relationships xmlns="http://schemas.openxmlformats.org/package/2006/relationships"><Relationship Type="http://schemas.openxmlformats.org/officeDocument/2006/relationships/slide" Target="/ppt/slides/slide8.xml" Id="R30bb8b8617454296" /><Relationship Type="http://schemas.openxmlformats.org/officeDocument/2006/relationships/notesMaster" Target="/ppt/notesMasters/notesMaster1.xml" Id="Raed8e96a9c5e4e8f" /></Relationships>
</file>

<file path=ppt/notesSlides/_rels/notesSlide9.xml.rels>&#65279;<?xml version="1.0" encoding="utf-8"?><Relationships xmlns="http://schemas.openxmlformats.org/package/2006/relationships"><Relationship Type="http://schemas.openxmlformats.org/officeDocument/2006/relationships/slide" Target="/ppt/slides/slide9.xml" Id="R5ca81980f7d241e3" /><Relationship Type="http://schemas.openxmlformats.org/officeDocument/2006/relationships/notesMaster" Target="/ppt/notesMasters/notesMaster1.xml" Id="Ra80314b5468a474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52cd52a48954e32" /><Relationship Type="http://schemas.openxmlformats.org/officeDocument/2006/relationships/notesMaster" Target="/ppt/notesMasters/notesMaster1.xml" Id="R25db9f22598b41b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6e83058e6824025" /><Relationship Type="http://schemas.openxmlformats.org/officeDocument/2006/relationships/notesMaster" Target="/ppt/notesMasters/notesMaster1.xml" Id="R8e516eac54974fe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6b84661f6c14d48" /><Relationship Type="http://schemas.openxmlformats.org/officeDocument/2006/relationships/notesMaster" Target="/ppt/notesMasters/notesMaster1.xml" Id="R8de3e6cac759425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5907f44e1854ee8" /><Relationship Type="http://schemas.openxmlformats.org/officeDocument/2006/relationships/notesMaster" Target="/ppt/notesMasters/notesMaster1.xml" Id="R0302a27b00b549a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9b52e83f1c442f5" /><Relationship Type="http://schemas.openxmlformats.org/officeDocument/2006/relationships/notesMaster" Target="/ppt/notesMasters/notesMaster1.xml" Id="R9098b23568124ed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c3a7dbb9119478c" /><Relationship Type="http://schemas.openxmlformats.org/officeDocument/2006/relationships/notesMaster" Target="/ppt/notesMasters/notesMaster1.xml" Id="R01573a8d3586475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d2171be430f4178" /><Relationship Type="http://schemas.openxmlformats.org/officeDocument/2006/relationships/notesMaster" Target="/ppt/notesMasters/notesMaster1.xml" Id="R8e00db08c349473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77932ac3ff44353" /><Relationship Type="http://schemas.openxmlformats.org/officeDocument/2006/relationships/notesMaster" Target="/ppt/notesMasters/notesMaster1.xml" Id="Ra23e320d40df453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db117aa0fae244e9" /><Relationship Type="http://schemas.openxmlformats.org/officeDocument/2006/relationships/notesMaster" Target="/ppt/notesMasters/notesMaster1.xml" Id="R376e98ba03ff4cef"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797f13adc4d64d91" /><Relationship Type="http://schemas.openxmlformats.org/officeDocument/2006/relationships/notesMaster" Target="/ppt/notesMasters/notesMaster1.xml" Id="Reec9109490b743d7"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3b1008edb03a486f" /><Relationship Type="http://schemas.openxmlformats.org/officeDocument/2006/relationships/notesMaster" Target="/ppt/notesMasters/notesMaster1.xml" Id="Rf259a4cc43ea4caf"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a00c762907fc4df1" /><Relationship Type="http://schemas.openxmlformats.org/officeDocument/2006/relationships/notesMaster" Target="/ppt/notesMasters/notesMaster1.xml" Id="R92f2e34905b84ec5"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f9243231efbc4337" /><Relationship Type="http://schemas.openxmlformats.org/officeDocument/2006/relationships/notesMaster" Target="/ppt/notesMasters/notesMaster1.xml" Id="R5df1d0beed8c44d2"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572218bbbdb74423" /><Relationship Type="http://schemas.openxmlformats.org/officeDocument/2006/relationships/notesMaster" Target="/ppt/notesMasters/notesMaster1.xml" Id="Re1651d7428c64b8d"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f7a107629c0e45f5" /><Relationship Type="http://schemas.openxmlformats.org/officeDocument/2006/relationships/notesMaster" Target="/ppt/notesMasters/notesMaster1.xml" Id="R9c69fc4f8a424325"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d81319dd569d4648" /><Relationship Type="http://schemas.openxmlformats.org/officeDocument/2006/relationships/notesMaster" Target="/ppt/notesMasters/notesMaster1.xml" Id="R46827f6d8f7f48a9"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9b0b0f7fb5244a6f" /><Relationship Type="http://schemas.openxmlformats.org/officeDocument/2006/relationships/notesMaster" Target="/ppt/notesMasters/notesMaster1.xml" Id="R9dc62753635743c9"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82f24c862f8d4ae6" /><Relationship Type="http://schemas.openxmlformats.org/officeDocument/2006/relationships/notesMaster" Target="/ppt/notesMasters/notesMaster1.xml" Id="R802b8e60c4184c6f"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daf757f8be5a4fdc" /><Relationship Type="http://schemas.openxmlformats.org/officeDocument/2006/relationships/notesMaster" Target="/ppt/notesMasters/notesMaster1.xml" Id="R67c4750ff6694fa4"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b075a99d82a24516" /><Relationship Type="http://schemas.openxmlformats.org/officeDocument/2006/relationships/notesMaster" Target="/ppt/notesMasters/notesMaster1.xml" Id="R1ef4e21f3ebb4379"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824605fcc82b45ad" /><Relationship Type="http://schemas.openxmlformats.org/officeDocument/2006/relationships/notesMaster" Target="/ppt/notesMasters/notesMaster1.xml" Id="R85524b81478c4d64"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b2c163049d244f07" /><Relationship Type="http://schemas.openxmlformats.org/officeDocument/2006/relationships/notesMaster" Target="/ppt/notesMasters/notesMaster1.xml" Id="Rb2f44b1dbc3f488f"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35815829c9594f97" /><Relationship Type="http://schemas.openxmlformats.org/officeDocument/2006/relationships/notesMaster" Target="/ppt/notesMasters/notesMaster1.xml" Id="R3b5b746f63f64b44"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47f19e8060bf4b34" /><Relationship Type="http://schemas.openxmlformats.org/officeDocument/2006/relationships/notesMaster" Target="/ppt/notesMasters/notesMaster1.xml" Id="R9130f02c42304a72"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5c39e663143a41bd" /><Relationship Type="http://schemas.openxmlformats.org/officeDocument/2006/relationships/notesMaster" Target="/ppt/notesMasters/notesMaster1.xml" Id="R7cbd55f3928a43f0"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a54f0f3de81a483f" /><Relationship Type="http://schemas.openxmlformats.org/officeDocument/2006/relationships/notesMaster" Target="/ppt/notesMasters/notesMaster1.xml" Id="R6a6fbf50bfad46a6"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808c64325e234d0b" /><Relationship Type="http://schemas.openxmlformats.org/officeDocument/2006/relationships/notesMaster" Target="/ppt/notesMasters/notesMaster1.xml" Id="R528f0a70c9b14ff0"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01262c5d3ac942c2" /><Relationship Type="http://schemas.openxmlformats.org/officeDocument/2006/relationships/notesMaster" Target="/ppt/notesMasters/notesMaster1.xml" Id="R2eb10c4680ec4409"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f209000f2b734817" /><Relationship Type="http://schemas.openxmlformats.org/officeDocument/2006/relationships/notesMaster" Target="/ppt/notesMasters/notesMaster1.xml" Id="R1a7d401f657c4b75"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1e77cbb5233e41fe" /><Relationship Type="http://schemas.openxmlformats.org/officeDocument/2006/relationships/notesMaster" Target="/ppt/notesMasters/notesMaster1.xml" Id="R9289cc138f6f4d13"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49a3ae74fa074379" /><Relationship Type="http://schemas.openxmlformats.org/officeDocument/2006/relationships/notesMaster" Target="/ppt/notesMasters/notesMaster1.xml" Id="R0bc232a20065407e"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a3c2371b9ce94938" /><Relationship Type="http://schemas.openxmlformats.org/officeDocument/2006/relationships/notesMaster" Target="/ppt/notesMasters/notesMaster1.xml" Id="Rc763b0856f204f5f"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414805bc226741ad" /><Relationship Type="http://schemas.openxmlformats.org/officeDocument/2006/relationships/notesMaster" Target="/ppt/notesMasters/notesMaster1.xml" Id="R2eb3ea553daa4238"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3a5cbec06d1d4827" /><Relationship Type="http://schemas.openxmlformats.org/officeDocument/2006/relationships/notesMaster" Target="/ppt/notesMasters/notesMaster1.xml" Id="Rcb1eaa83e8764a2b"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0eafc1d9b9d449aa" /><Relationship Type="http://schemas.openxmlformats.org/officeDocument/2006/relationships/notesMaster" Target="/ppt/notesMasters/notesMaster1.xml" Id="Rc3f93231833e433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SESI 08.30-10.00: Flutter workflow dan Dart. ALOKASI 1 menit.</a:t>
            </a:r>
          </a:p>
          <a:p xmlns:a="http://schemas.openxmlformats.org/drawingml/2006/main">
            <a:r>
              <a:t/>
            </a:r>
          </a:p>
          <a:p xmlns:a="http://schemas.openxmlformats.org/drawingml/2006/main">
            <a:r>
              <a:t>TUJUAN: Dart dan Flutter UI.</a:t>
            </a:r>
          </a:p>
          <a:p xmlns:a="http://schemas.openxmlformats.org/drawingml/2006/main">
            <a:r>
              <a:t/>
            </a:r>
          </a:p>
          <a:p xmlns:a="http://schemas.openxmlformats.org/drawingml/2006/main">
            <a:r>
              <a:t>Buka kelas dengan menunjukkan alur aplikasi yang akan dibangun. Peserta sudah mengenal Kotlin sehingga dasar algoritma hanya diulas jika diperlukan. Gunakan data dummy dan jelaskan bahwa proyek inspeksi adalah contoh training. Peserta tidak memerlukan Mac.</a:t>
            </a:r>
          </a:p>
          <a:p xmlns:a="http://schemas.openxmlformats.org/drawingml/2006/main">
            <a:r>
              <a:t/>
            </a:r>
          </a:p>
          <a:p xmlns:a="http://schemas.openxmlformats.org/drawingml/2006/main">
            <a:r>
              <a:t>PERTANYAAN DISKUSI: Bagian mana yang berubah pada proyek latihan, dan bagaimana Anda membuktikan hasilnya?</a:t>
            </a:r>
          </a:p>
          <a:p xmlns:a="http://schemas.openxmlformats.org/drawingml/2006/main">
            <a:r>
              <a:t/>
            </a:r>
          </a:p>
          <a:p xmlns:a="http://schemas.openxmlformats.org/drawingml/2006/main">
            <a:r>
              <a:t>RUJUKAN:</a:t>
            </a:r>
          </a:p>
          <a:p xmlns:a="http://schemas.openxmlformats.org/drawingml/2006/main">
            <a:r>
              <a:t>Materi dan PRD Hari 1, paket Flutter DPL 3 Hari, 03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SESI 08.30-10.00: Flutter workflow dan Dart. ALOKASI 4 menit.</a:t>
            </a:r>
          </a:p>
          <a:p xmlns:a="http://schemas.openxmlformats.org/drawingml/2006/main">
            <a:r>
              <a:t/>
            </a:r>
          </a:p>
          <a:p xmlns:a="http://schemas.openxmlformats.org/drawingml/2006/main">
            <a:r>
              <a:t>TUJUAN: Hasil belajar hari pertama.</a:t>
            </a:r>
          </a:p>
          <a:p xmlns:a="http://schemas.openxmlformats.org/drawingml/2006/main">
            <a:r>
              <a:t/>
            </a:r>
          </a:p>
          <a:p xmlns:a="http://schemas.openxmlformats.org/drawingml/2006/main">
            <a:r>
              <a:t>Tunjukkan PRD Hari 1. Minta peserta menghubungkan setiap hasil belajar dengan bukti yang dapat ditampilkan pada aplikasi. Hari ini data berada dalam memori dan dapat hilang ketika app ditutup. Persistence dimulai pada hari kedua.</a:t>
            </a:r>
          </a:p>
          <a:p xmlns:a="http://schemas.openxmlformats.org/drawingml/2006/main">
            <a:r>
              <a:t/>
            </a:r>
          </a:p>
          <a:p xmlns:a="http://schemas.openxmlformats.org/drawingml/2006/main">
            <a:r>
              <a:t>PERTANYAAN DISKUSI: Bagian mana yang berubah pada proyek latihan, dan bagaimana Anda membuktikan hasilnya?</a:t>
            </a:r>
          </a:p>
          <a:p xmlns:a="http://schemas.openxmlformats.org/drawingml/2006/main">
            <a:r>
              <a:t/>
            </a:r>
          </a:p>
          <a:p xmlns:a="http://schemas.openxmlformats.org/drawingml/2006/main">
            <a:r>
              <a:t>RUJUKAN:</a:t>
            </a:r>
          </a:p>
          <a:p xmlns:a="http://schemas.openxmlformats.org/drawingml/2006/main">
            <a:r>
              <a:t>Materi dan PRD Hari 1, paket Flutter DPL 3 Hari, 03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SESI 08.30-10.00: Flutter workflow dan Dart. ALOKASI 6 menit.</a:t>
            </a:r>
          </a:p>
          <a:p xmlns:a="http://schemas.openxmlformats.org/drawingml/2006/main">
            <a:r>
              <a:t/>
            </a:r>
          </a:p>
          <a:p xmlns:a="http://schemas.openxmlformats.org/drawingml/2006/main">
            <a:r>
              <a:t>TUJUAN: Agenda hari pertama.</a:t>
            </a:r>
          </a:p>
          <a:p xmlns:a="http://schemas.openxmlformats.org/drawingml/2006/main">
            <a:r>
              <a:t/>
            </a:r>
          </a:p>
          <a:p xmlns:a="http://schemas.openxmlformats.org/drawingml/2006/main">
            <a:r>
              <a:t>Istirahat pada 10.00-10.15, 12.00-13.00, dan 14.30-14.45. Total waktu belajar 390 menit. Beri tahu peserta bahwa sesi praktik mempunyai hasil wajib sehingga trainer akan menghentikan penambahan scope bila checkpoint belum stabil.</a:t>
            </a:r>
          </a:p>
          <a:p xmlns:a="http://schemas.openxmlformats.org/drawingml/2006/main">
            <a:r>
              <a:t/>
            </a:r>
          </a:p>
          <a:p xmlns:a="http://schemas.openxmlformats.org/drawingml/2006/main">
            <a:r>
              <a:t>PERTANYAAN DISKUSI: Bagian mana yang berubah pada proyek latihan, dan bagaimana Anda membuktikan hasilnya?</a:t>
            </a:r>
          </a:p>
          <a:p xmlns:a="http://schemas.openxmlformats.org/drawingml/2006/main">
            <a:r>
              <a:t/>
            </a:r>
          </a:p>
          <a:p xmlns:a="http://schemas.openxmlformats.org/drawingml/2006/main">
            <a:r>
              <a:t>RUJUKAN:</a:t>
            </a:r>
          </a:p>
          <a:p xmlns:a="http://schemas.openxmlformats.org/drawingml/2006/main">
            <a:r>
              <a:t>Materi dan PRD Hari 1, paket Flutter DPL 3 Hari, 03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SESI 08.30-10.00: Flutter workflow dan Dart. ALOKASI 6 menit.</a:t>
            </a:r>
          </a:p>
          <a:p xmlns:a="http://schemas.openxmlformats.org/drawingml/2006/main">
            <a:r>
              <a:t/>
            </a:r>
          </a:p>
          <a:p xmlns:a="http://schemas.openxmlformats.org/drawingml/2006/main">
            <a:r>
              <a:t>TUJUAN: Kontrak proyek latihan.</a:t>
            </a:r>
          </a:p>
          <a:p xmlns:a="http://schemas.openxmlformats.org/drawingml/2006/main">
            <a:r>
              <a:t/>
            </a:r>
          </a:p>
          <a:p xmlns:a="http://schemas.openxmlformats.org/drawingml/2006/main">
            <a:r>
              <a:t>ID unik merupakan field sistem dan tidak diedit pengguna. Batas karakter ini merupakan kontrak latihan. Sebelum menjadi aplikasi DPL nyata, master aset, SOP, akses pengguna dan approval harus disepakati bersama pemilik bisnis. Demo data good dan needs_action untuk memperjelas perbedaan.</a:t>
            </a:r>
          </a:p>
          <a:p xmlns:a="http://schemas.openxmlformats.org/drawingml/2006/main">
            <a:r>
              <a:t/>
            </a:r>
          </a:p>
          <a:p xmlns:a="http://schemas.openxmlformats.org/drawingml/2006/main">
            <a:r>
              <a:t>PERTANYAAN DISKUSI: Bagian mana yang berubah pada proyek latihan, dan bagaimana Anda membuktikan hasilnya?</a:t>
            </a:r>
          </a:p>
          <a:p xmlns:a="http://schemas.openxmlformats.org/drawingml/2006/main">
            <a:r>
              <a:t/>
            </a:r>
          </a:p>
          <a:p xmlns:a="http://schemas.openxmlformats.org/drawingml/2006/main">
            <a:r>
              <a:t>RUJUKAN:</a:t>
            </a:r>
          </a:p>
          <a:p xmlns:a="http://schemas.openxmlformats.org/drawingml/2006/main">
            <a:r>
              <a:t>Materi dan PRD Hari 1, paket Flutter DPL 3 Hari, 03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SESI 08.30-10.00: Flutter workflow dan Dart. ALOKASI 4 menit.</a:t>
            </a:r>
          </a:p>
          <a:p xmlns:a="http://schemas.openxmlformats.org/drawingml/2006/main">
            <a:r>
              <a:t/>
            </a:r>
          </a:p>
          <a:p xmlns:a="http://schemas.openxmlformats.org/drawingml/2006/main">
            <a:r>
              <a:t>TUJUAN: Flutter dan pengalaman Kotlin.</a:t>
            </a:r>
          </a:p>
          <a:p xmlns:a="http://schemas.openxmlformats.org/drawingml/2006/main">
            <a:r>
              <a:t/>
            </a:r>
          </a:p>
          <a:p xmlns:a="http://schemas.openxmlformats.org/drawingml/2006/main">
            <a:r>
              <a:t>Pemetaan ke Kotlin hanya sebagai jembatan mental. Jangan menganggap Future sama persis dengan coroutine atau lifecycle Flutter sama dengan Activity. Tunjukkan cara sebuah data menjadi konfigurasi widget. Jelaskan bahwa Flutter app tetap mempunyai project Android native.</a:t>
            </a:r>
          </a:p>
          <a:p xmlns:a="http://schemas.openxmlformats.org/drawingml/2006/main">
            <a:r>
              <a:t/>
            </a:r>
          </a:p>
          <a:p xmlns:a="http://schemas.openxmlformats.org/drawingml/2006/main">
            <a:r>
              <a:t>PERTANYAAN DISKUSI: Bagian mana yang berubah pada proyek latihan, dan bagaimana Anda membuktikan hasilnya?</a:t>
            </a:r>
          </a:p>
          <a:p xmlns:a="http://schemas.openxmlformats.org/drawingml/2006/main">
            <a:r>
              <a:t/>
            </a:r>
          </a:p>
          <a:p xmlns:a="http://schemas.openxmlformats.org/drawingml/2006/main">
            <a:r>
              <a:t>RUJUKAN:</a:t>
            </a:r>
          </a:p>
          <a:p xmlns:a="http://schemas.openxmlformats.org/drawingml/2006/main">
            <a:r>
              <a:t>https://dart.dev/language</a:t>
            </a:r>
          </a:p>
          <a:p xmlns:a="http://schemas.openxmlformats.org/drawingml/2006/main">
            <a:r>
              <a:t>https://docs.flutter.dev/ui</a:t>
            </a:r>
          </a:p>
          <a:p xmlns:a="http://schemas.openxmlformats.org/drawingml/2006/main">
            <a:r>
              <a:t>Materi dan PRD Hari 1, paket Flutter DPL 3 Hari, 03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SESI 08.30-10.00: Flutter workflow dan Dart. ALOKASI 7 menit.</a:t>
            </a:r>
          </a:p>
          <a:p xmlns:a="http://schemas.openxmlformats.org/drawingml/2006/main">
            <a:r>
              <a:t/>
            </a:r>
          </a:p>
          <a:p xmlns:a="http://schemas.openxmlformats.org/drawingml/2006/main">
            <a:r>
              <a:t>TUJUAN: Pemeriksaan toolchain Android.</a:t>
            </a:r>
          </a:p>
          <a:p xmlns:a="http://schemas.openxmlformats.org/drawingml/2006/main">
            <a:r>
              <a:t/>
            </a:r>
          </a:p>
          <a:p xmlns:a="http://schemas.openxmlformats.org/drawingml/2006/main">
            <a:r>
              <a:t>Trainer mengharapkan instalasi selesai sebelum kelas. Periksa warning doctor yang relevan untuk Android, bukan semua platform. Catat versi dan device di README. Bila SDK peserta bermasalah, gunakan checkpoint template dan lanjutkan konsep sambil PIC menangani toolchain.</a:t>
            </a:r>
          </a:p>
          <a:p xmlns:a="http://schemas.openxmlformats.org/drawingml/2006/main">
            <a:r>
              <a:t/>
            </a:r>
          </a:p>
          <a:p xmlns:a="http://schemas.openxmlformats.org/drawingml/2006/main">
            <a:r>
              <a:t>PERTANYAAN DISKUSI: Bagian mana yang berubah pada proyek latihan, dan bagaimana Anda membuktikan hasilnya?</a:t>
            </a:r>
          </a:p>
          <a:p xmlns:a="http://schemas.openxmlformats.org/drawingml/2006/main">
            <a:r>
              <a:t/>
            </a:r>
          </a:p>
          <a:p xmlns:a="http://schemas.openxmlformats.org/drawingml/2006/main">
            <a:r>
              <a:t>RUJUKAN:</a:t>
            </a:r>
          </a:p>
          <a:p xmlns:a="http://schemas.openxmlformats.org/drawingml/2006/main">
            <a:r>
              <a:t>https://docs.flutter.dev/install</a:t>
            </a:r>
          </a:p>
          <a:p xmlns:a="http://schemas.openxmlformats.org/drawingml/2006/main">
            <a:r>
              <a:t>Materi dan PRD Hari 1, paket Flutter DPL 3 Hari, 03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SESI 08.30-10.00: Flutter workflow dan Dart. ALOKASI 6 menit.</a:t>
            </a:r>
          </a:p>
          <a:p xmlns:a="http://schemas.openxmlformats.org/drawingml/2006/main">
            <a:r>
              <a:t/>
            </a:r>
          </a:p>
          <a:p xmlns:a="http://schemas.openxmlformats.org/drawingml/2006/main">
            <a:r>
              <a:t>TUJUAN: Struktur proyek Flutter.</a:t>
            </a:r>
          </a:p>
          <a:p xmlns:a="http://schemas.openxmlformats.org/drawingml/2006/main">
            <a:r>
              <a:t/>
            </a:r>
          </a:p>
          <a:p xmlns:a="http://schemas.openxmlformats.org/drawingml/2006/main">
            <a:r>
              <a:t>Buka explorer project. Tunjukkan main.dart dan titik masuk main. Folder lib akan dipisahkan lebih lanjut pada hari kedua. pubspec.lock masuk Git untuk aplikasi agar versi dependency dapat direproduksi. SDK dan signing tidak boleh diganti sembarangan saat memperbaiki error.</a:t>
            </a:r>
          </a:p>
          <a:p xmlns:a="http://schemas.openxmlformats.org/drawingml/2006/main">
            <a:r>
              <a:t/>
            </a:r>
          </a:p>
          <a:p xmlns:a="http://schemas.openxmlformats.org/drawingml/2006/main">
            <a:r>
              <a:t>PERTANYAAN DISKUSI: Bagian mana yang berubah pada proyek latihan, dan bagaimana Anda membuktikan hasilnya?</a:t>
            </a:r>
          </a:p>
          <a:p xmlns:a="http://schemas.openxmlformats.org/drawingml/2006/main">
            <a:r>
              <a:t/>
            </a:r>
          </a:p>
          <a:p xmlns:a="http://schemas.openxmlformats.org/drawingml/2006/main">
            <a:r>
              <a:t>RUJUKAN:</a:t>
            </a:r>
          </a:p>
          <a:p xmlns:a="http://schemas.openxmlformats.org/drawingml/2006/main">
            <a:r>
              <a:t>https://docs.flutter.dev/ui</a:t>
            </a:r>
          </a:p>
          <a:p xmlns:a="http://schemas.openxmlformats.org/drawingml/2006/main">
            <a:r>
              <a:t>Materi dan PRD Hari 1, paket Flutter DPL 3 Hari, 03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SESI 08.30-10.00: Flutter workflow dan Dart. ALOKASI 4 menit.</a:t>
            </a:r>
          </a:p>
          <a:p xmlns:a="http://schemas.openxmlformats.org/drawingml/2006/main">
            <a:r>
              <a:t/>
            </a:r>
          </a:p>
          <a:p xmlns:a="http://schemas.openxmlformats.org/drawingml/2006/main">
            <a:r>
              <a:t>TUJUAN: Hot reload dan hot restart.</a:t>
            </a:r>
          </a:p>
          <a:p xmlns:a="http://schemas.openxmlformats.org/drawingml/2006/main">
            <a:r>
              <a:t/>
            </a:r>
          </a:p>
          <a:p xmlns:a="http://schemas.openxmlformats.org/drawingml/2006/main">
            <a:r>
              <a:t>Demo mengubah judul lalu hot reload. Berikutnya ubah nilai awal State dan jelaskan mengapa hot reload dapat mempertahankan nilai lama. Setelah plugin dipasang, hentikan aplikasi dan jalankan kembali. Hindari kebiasaan flutter clean untuk setiap masalah sebelum sebab dibaca.</a:t>
            </a:r>
          </a:p>
          <a:p xmlns:a="http://schemas.openxmlformats.org/drawingml/2006/main">
            <a:r>
              <a:t/>
            </a:r>
          </a:p>
          <a:p xmlns:a="http://schemas.openxmlformats.org/drawingml/2006/main">
            <a:r>
              <a:t>PERTANYAAN DISKUSI: Bagian mana yang berubah pada proyek latihan, dan bagaimana Anda membuktikan hasilnya?</a:t>
            </a:r>
          </a:p>
          <a:p xmlns:a="http://schemas.openxmlformats.org/drawingml/2006/main">
            <a:r>
              <a:t/>
            </a:r>
          </a:p>
          <a:p xmlns:a="http://schemas.openxmlformats.org/drawingml/2006/main">
            <a:r>
              <a:t>RUJUKAN:</a:t>
            </a:r>
          </a:p>
          <a:p xmlns:a="http://schemas.openxmlformats.org/drawingml/2006/main">
            <a:r>
              <a:t>https://docs.flutter.dev/tools/hot-reload</a:t>
            </a:r>
          </a:p>
          <a:p xmlns:a="http://schemas.openxmlformats.org/drawingml/2006/main">
            <a:r>
              <a:t>Materi dan PRD Hari 1, paket Flutter DPL 3 Hari, 03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SESI 08.30-10.00: Flutter workflow dan Dart. ALOKASI 7 menit.</a:t>
            </a:r>
          </a:p>
          <a:p xmlns:a="http://schemas.openxmlformats.org/drawingml/2006/main">
            <a:r>
              <a:t/>
            </a:r>
          </a:p>
          <a:p xmlns:a="http://schemas.openxmlformats.org/drawingml/2006/main">
            <a:r>
              <a:t>TUJUAN: Nilai, tipe dan null safety Dart.</a:t>
            </a:r>
          </a:p>
          <a:p xmlns:a="http://schemas.openxmlformats.org/drawingml/2006/main">
            <a:r>
              <a:t/>
            </a:r>
          </a:p>
          <a:p xmlns:a="http://schemas.openxmlformats.org/drawingml/2006/main">
            <a:r>
              <a:t>Minta peserta membandingkan final dan const. Jelaskan bahwa final List masih dapat dimutasi kecuali object/list juga immutable. note nullable tidak membuat semua field model harus nullable. Operator ! memindahkan risiko ke runtime dan dipakai hanya bila invariant benar-benar diketahui.</a:t>
            </a:r>
          </a:p>
          <a:p xmlns:a="http://schemas.openxmlformats.org/drawingml/2006/main">
            <a:r>
              <a:t/>
            </a:r>
          </a:p>
          <a:p xmlns:a="http://schemas.openxmlformats.org/drawingml/2006/main">
            <a:r>
              <a:t>PERTANYAAN DISKUSI: Bagian mana yang berubah pada proyek latihan, dan bagaimana Anda membuktikan hasilnya?</a:t>
            </a:r>
          </a:p>
          <a:p xmlns:a="http://schemas.openxmlformats.org/drawingml/2006/main">
            <a:r>
              <a:t/>
            </a:r>
          </a:p>
          <a:p xmlns:a="http://schemas.openxmlformats.org/drawingml/2006/main">
            <a:r>
              <a:t>RUJUKAN:</a:t>
            </a:r>
          </a:p>
          <a:p xmlns:a="http://schemas.openxmlformats.org/drawingml/2006/main">
            <a:r>
              <a:t>https://dart.dev/language</a:t>
            </a:r>
          </a:p>
          <a:p xmlns:a="http://schemas.openxmlformats.org/drawingml/2006/main">
            <a:r>
              <a:t>https://dart.dev/null-safety</a:t>
            </a:r>
          </a:p>
          <a:p xmlns:a="http://schemas.openxmlformats.org/drawingml/2006/main">
            <a:r>
              <a:t>Materi dan PRD Hari 1, paket Flutter DPL 3 Hari, 03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SESI 08.30-10.00: Flutter workflow dan Dart. ALOKASI 7 menit.</a:t>
            </a:r>
          </a:p>
          <a:p xmlns:a="http://schemas.openxmlformats.org/drawingml/2006/main">
            <a:r>
              <a:t/>
            </a:r>
          </a:p>
          <a:p xmlns:a="http://schemas.openxmlformats.org/drawingml/2006/main">
            <a:r>
              <a:t>TUJUAN: Model Inspection dengan named parameter.</a:t>
            </a:r>
          </a:p>
          <a:p xmlns:a="http://schemas.openxmlformats.org/drawingml/2006/main">
            <a:r>
              <a:t/>
            </a:r>
          </a:p>
          <a:p xmlns:a="http://schemas.openxmlformats.org/drawingml/2006/main">
            <a:r>
              <a:t>Tunjukkan model lengkap di file praktik/hari_1/lib/inspection.dart. Model memisahkan data dari widget sehingga hari kedua dapat menambahkan parsing JSON tanpa mengubah semua layar. Nilai required harus diberikan ketika constructor dipanggil. createdAt disimpan dalam UTC dan ditampilkan sebagai waktu lokal.</a:t>
            </a:r>
          </a:p>
          <a:p xmlns:a="http://schemas.openxmlformats.org/drawingml/2006/main">
            <a:r>
              <a:t/>
            </a:r>
          </a:p>
          <a:p xmlns:a="http://schemas.openxmlformats.org/drawingml/2006/main">
            <a:r>
              <a:t>PERTANYAAN DISKUSI: Bagian mana yang berubah pada proyek latihan, dan bagaimana Anda membuktikan hasilnya?</a:t>
            </a:r>
          </a:p>
          <a:p xmlns:a="http://schemas.openxmlformats.org/drawingml/2006/main">
            <a:r>
              <a:t/>
            </a:r>
          </a:p>
          <a:p xmlns:a="http://schemas.openxmlformats.org/drawingml/2006/main">
            <a:r>
              <a:t>RUJUKAN:</a:t>
            </a:r>
          </a:p>
          <a:p xmlns:a="http://schemas.openxmlformats.org/drawingml/2006/main">
            <a:r>
              <a:t>https://dart.dev/language</a:t>
            </a:r>
          </a:p>
          <a:p xmlns:a="http://schemas.openxmlformats.org/drawingml/2006/main">
            <a:r>
              <a:t>Materi dan PRD Hari 1, paket Flutter DPL 3 Hari, 03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SESI 08.30-10.00: Flutter workflow dan Dart. ALOKASI 7 menit.</a:t>
            </a:r>
          </a:p>
          <a:p xmlns:a="http://schemas.openxmlformats.org/drawingml/2006/main">
            <a:r>
              <a:t/>
            </a:r>
          </a:p>
          <a:p xmlns:a="http://schemas.openxmlformats.org/drawingml/2006/main">
            <a:r>
              <a:t>TUJUAN: Collection dan pemilihan data.</a:t>
            </a:r>
          </a:p>
          <a:p xmlns:a="http://schemas.openxmlformats.org/drawingml/2006/main">
            <a:r>
              <a:t/>
            </a:r>
          </a:p>
          <a:p xmlns:a="http://schemas.openxmlformats.org/drawingml/2006/main">
            <a:r>
              <a:t>items pada contoh adalah List&lt;Inspection&gt;. Jelaskan perbedaan where yang memilih record dan map yang mengubah representasi. toList membuat hasil iterable menjadi list. Pertanyaan: kapan filter ini hanya mencakup sebagian data? Jawabannya ketika items hanya memuat satu halaman dari API, yang dibahas pada hari kedua.</a:t>
            </a:r>
          </a:p>
          <a:p xmlns:a="http://schemas.openxmlformats.org/drawingml/2006/main">
            <a:r>
              <a:t/>
            </a:r>
          </a:p>
          <a:p xmlns:a="http://schemas.openxmlformats.org/drawingml/2006/main">
            <a:r>
              <a:t>PERTANYAAN DISKUSI: Bagian mana yang berubah pada proyek latihan, dan bagaimana Anda membuktikan hasilnya?</a:t>
            </a:r>
          </a:p>
          <a:p xmlns:a="http://schemas.openxmlformats.org/drawingml/2006/main">
            <a:r>
              <a:t/>
            </a:r>
          </a:p>
          <a:p xmlns:a="http://schemas.openxmlformats.org/drawingml/2006/main">
            <a:r>
              <a:t>RUJUKAN:</a:t>
            </a:r>
          </a:p>
          <a:p xmlns:a="http://schemas.openxmlformats.org/drawingml/2006/main">
            <a:r>
              <a:t>https://dart.dev/language</a:t>
            </a:r>
          </a:p>
          <a:p xmlns:a="http://schemas.openxmlformats.org/drawingml/2006/main">
            <a:r>
              <a:t>Materi dan PRD Hari 1, paket Flutter DPL 3 Hari, 03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SESI 08.30-10.00: Flutter workflow dan Dart. ALOKASI 6 menit.</a:t>
            </a:r>
          </a:p>
          <a:p xmlns:a="http://schemas.openxmlformats.org/drawingml/2006/main">
            <a:r>
              <a:t/>
            </a:r>
          </a:p>
          <a:p xmlns:a="http://schemas.openxmlformats.org/drawingml/2006/main">
            <a:r>
              <a:t>TUJUAN: Future dan async await.</a:t>
            </a:r>
          </a:p>
          <a:p xmlns:a="http://schemas.openxmlformats.org/drawingml/2006/main">
            <a:r>
              <a:t/>
            </a:r>
          </a:p>
          <a:p xmlns:a="http://schemas.openxmlformats.org/drawingml/2006/main">
            <a:r>
              <a:t>Pisahkan fungsi async dari UI. Hasil pemanggilan tanpa await adalah Future, bukan List. await tidak berarti thread UI diblokir selama network/delay. Fungsi yang memakai await harus async. seed mengembalikan data dummy dari starter. Error asynchronous harus ditangani pada caller yang mengatur state.</a:t>
            </a:r>
          </a:p>
          <a:p xmlns:a="http://schemas.openxmlformats.org/drawingml/2006/main">
            <a:r>
              <a:t/>
            </a:r>
          </a:p>
          <a:p xmlns:a="http://schemas.openxmlformats.org/drawingml/2006/main">
            <a:r>
              <a:t>PERTANYAAN DISKUSI: Bagian mana yang berubah pada proyek latihan, dan bagaimana Anda membuktikan hasilnya?</a:t>
            </a:r>
          </a:p>
          <a:p xmlns:a="http://schemas.openxmlformats.org/drawingml/2006/main">
            <a:r>
              <a:t/>
            </a:r>
          </a:p>
          <a:p xmlns:a="http://schemas.openxmlformats.org/drawingml/2006/main">
            <a:r>
              <a:t>RUJUKAN:</a:t>
            </a:r>
          </a:p>
          <a:p xmlns:a="http://schemas.openxmlformats.org/drawingml/2006/main">
            <a:r>
              <a:t>https://dart.dev/language/async</a:t>
            </a:r>
          </a:p>
          <a:p xmlns:a="http://schemas.openxmlformats.org/drawingml/2006/main">
            <a:r>
              <a:t>Materi dan PRD Hari 1, paket Flutter DPL 3 Hari, 03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SESI 08.30-10.00: Flutter workflow dan Dart. ALOKASI 25 menit.</a:t>
            </a:r>
          </a:p>
          <a:p xmlns:a="http://schemas.openxmlformats.org/drawingml/2006/main">
            <a:r>
              <a:t/>
            </a:r>
          </a:p>
          <a:p xmlns:a="http://schemas.openxmlformats.org/drawingml/2006/main">
            <a:r>
              <a:t>TUJUAN: Praktik 1 model dan data lokal.</a:t>
            </a:r>
          </a:p>
          <a:p xmlns:a="http://schemas.openxmlformats.org/drawingml/2006/main">
            <a:r>
              <a:t/>
            </a:r>
          </a:p>
          <a:p xmlns:a="http://schemas.openxmlformats.org/drawingml/2006/main">
            <a:r>
              <a:t>Peserta bekerja berpasangan. Reviewer memeriksa UTC, required field dan penggunaan nullable. Trainer meminta peserta menjelaskan mengapa Future berbeda dari hasilnya. Jika selesai cepat, ubah data dummy dan buktikan count berubah. Struktur inheritance yang tidak diperlukan belum menjadi tugas.</a:t>
            </a:r>
          </a:p>
          <a:p xmlns:a="http://schemas.openxmlformats.org/drawingml/2006/main">
            <a:r>
              <a:t/>
            </a:r>
          </a:p>
          <a:p xmlns:a="http://schemas.openxmlformats.org/drawingml/2006/main">
            <a:r>
              <a:t>PRAKTIK: Jalankan starter pada Android dan catat versi SDK Buat tiga Inspection dengan kondisi berbeda Hitung record needs_action dengan where Buat fungsi Future yang mengembalikan daftar</a:t>
            </a:r>
          </a:p>
          <a:p xmlns:a="http://schemas.openxmlformats.org/drawingml/2006/main">
            <a:r>
              <a:t>BUKTI: App berjalan, model bertipe, dan hasil filter benar.</a:t>
            </a:r>
          </a:p>
          <a:p xmlns:a="http://schemas.openxmlformats.org/drawingml/2006/main">
            <a:r>
              <a:t>REVIEW: minta peserta mendemonstrasikan hasil sebelum melanjutkan.</a:t>
            </a:r>
          </a:p>
          <a:p xmlns:a="http://schemas.openxmlformats.org/drawingml/2006/main">
            <a:r>
              <a:t/>
            </a:r>
          </a:p>
          <a:p xmlns:a="http://schemas.openxmlformats.org/drawingml/2006/main">
            <a:r>
              <a:t>PERTANYAAN DISKUSI: Bagian mana yang berubah pada proyek latihan, dan bagaimana Anda membuktikan hasilnya?</a:t>
            </a:r>
          </a:p>
          <a:p xmlns:a="http://schemas.openxmlformats.org/drawingml/2006/main">
            <a:r>
              <a:t/>
            </a:r>
          </a:p>
          <a:p xmlns:a="http://schemas.openxmlformats.org/drawingml/2006/main">
            <a:r>
              <a:t>RUJUKAN:</a:t>
            </a:r>
          </a:p>
          <a:p xmlns:a="http://schemas.openxmlformats.org/drawingml/2006/main">
            <a:r>
              <a:t>Materi dan PRD Hari 1, paket Flutter DPL 3 Hari, 03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SESI 10.15-12.00: Widget dan layout. ALOKASI 7 menit.</a:t>
            </a:r>
          </a:p>
          <a:p xmlns:a="http://schemas.openxmlformats.org/drawingml/2006/main">
            <a:r>
              <a:t/>
            </a:r>
          </a:p>
          <a:p xmlns:a="http://schemas.openxmlformats.org/drawingml/2006/main">
            <a:r>
              <a:t>TUJUAN: Widget tree pada layar daftar.</a:t>
            </a:r>
          </a:p>
          <a:p xmlns:a="http://schemas.openxmlformats.org/drawingml/2006/main">
            <a:r>
              <a:t/>
            </a:r>
          </a:p>
          <a:p xmlns:a="http://schemas.openxmlformats.org/drawingml/2006/main">
            <a:r>
              <a:t>Tunjukkan hubungan parent-child, bukan urutan eksekusi. Scaffold mempunyai AppBar dan body. Body mengandung Column dengan header dan area Expanded untuk list. ListView mendapat tinggi yang terbatas dari parent. Buka Widget Inspector dan bandingkan tree dengan implementasi peserta.</a:t>
            </a:r>
          </a:p>
          <a:p xmlns:a="http://schemas.openxmlformats.org/drawingml/2006/main">
            <a:r>
              <a:t/>
            </a:r>
          </a:p>
          <a:p xmlns:a="http://schemas.openxmlformats.org/drawingml/2006/main">
            <a:r>
              <a:t>PERTANYAAN DISKUSI: Bagian mana yang berubah pada proyek latihan, dan bagaimana Anda membuktikan hasilnya?</a:t>
            </a:r>
          </a:p>
          <a:p xmlns:a="http://schemas.openxmlformats.org/drawingml/2006/main">
            <a:r>
              <a:t/>
            </a:r>
          </a:p>
          <a:p xmlns:a="http://schemas.openxmlformats.org/drawingml/2006/main">
            <a:r>
              <a:t>RUJUKAN:</a:t>
            </a:r>
          </a:p>
          <a:p xmlns:a="http://schemas.openxmlformats.org/drawingml/2006/main">
            <a:r>
              <a:t>https://docs.flutter.dev/ui</a:t>
            </a:r>
          </a:p>
          <a:p xmlns:a="http://schemas.openxmlformats.org/drawingml/2006/main">
            <a:r>
              <a:t>https://docs.flutter.dev/ui/layout/constraints</a:t>
            </a:r>
          </a:p>
          <a:p xmlns:a="http://schemas.openxmlformats.org/drawingml/2006/main">
            <a:r>
              <a:t>Materi dan PRD Hari 1, paket Flutter DPL 3 Hari, 03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SESI 10.15-12.00: Widget dan layout. ALOKASI 4 menit.</a:t>
            </a:r>
          </a:p>
          <a:p xmlns:a="http://schemas.openxmlformats.org/drawingml/2006/main">
            <a:r>
              <a:t/>
            </a:r>
          </a:p>
          <a:p xmlns:a="http://schemas.openxmlformats.org/drawingml/2006/main">
            <a:r>
              <a:t>TUJUAN: StatelessWidget dan StatefulWidget.</a:t>
            </a:r>
          </a:p>
          <a:p xmlns:a="http://schemas.openxmlformats.org/drawingml/2006/main">
            <a:r>
              <a:t/>
            </a:r>
          </a:p>
          <a:p xmlns:a="http://schemas.openxmlformats.org/drawingml/2006/main">
            <a:r>
              <a:t>StatelessWidget tetap dapat rebuild ketika parent berubah. StatefulWidget adalah konfigurasi immutable sementara object State menyimpan nilai yang berubah. Contoh detail yang hanya membaca item cocok stateless. Form dengan controller dan kondisi dipilih memerlukan state. Hindari menyimpan semua business data langsung pada widget.</a:t>
            </a:r>
          </a:p>
          <a:p xmlns:a="http://schemas.openxmlformats.org/drawingml/2006/main">
            <a:r>
              <a:t/>
            </a:r>
          </a:p>
          <a:p xmlns:a="http://schemas.openxmlformats.org/drawingml/2006/main">
            <a:r>
              <a:t>PERTANYAAN DISKUSI: Bagian mana yang berubah pada proyek latihan, dan bagaimana Anda membuktikan hasilnya?</a:t>
            </a:r>
          </a:p>
          <a:p xmlns:a="http://schemas.openxmlformats.org/drawingml/2006/main">
            <a:r>
              <a:t/>
            </a:r>
          </a:p>
          <a:p xmlns:a="http://schemas.openxmlformats.org/drawingml/2006/main">
            <a:r>
              <a:t>RUJUKAN:</a:t>
            </a:r>
          </a:p>
          <a:p xmlns:a="http://schemas.openxmlformats.org/drawingml/2006/main">
            <a:r>
              <a:t>https://docs.flutter.dev/ui</a:t>
            </a:r>
          </a:p>
          <a:p xmlns:a="http://schemas.openxmlformats.org/drawingml/2006/main">
            <a:r>
              <a:t>Materi dan PRD Hari 1, paket Flutter DPL 3 Hari, 03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SESI 10.15-12.00: Widget dan layout. ALOKASI 7 menit.</a:t>
            </a:r>
          </a:p>
          <a:p xmlns:a="http://schemas.openxmlformats.org/drawingml/2006/main">
            <a:r>
              <a:t/>
            </a:r>
          </a:p>
          <a:p xmlns:a="http://schemas.openxmlformats.org/drawingml/2006/main">
            <a:r>
              <a:t>TUJUAN: Scaffold dan struktur layar.</a:t>
            </a:r>
          </a:p>
          <a:p xmlns:a="http://schemas.openxmlformats.org/drawingml/2006/main">
            <a:r>
              <a:t/>
            </a:r>
          </a:p>
          <a:p xmlns:a="http://schemas.openxmlformats.org/drawingml/2006/main">
            <a:r>
              <a:t>Snippet berada dalam build layar dan membutuhkan buildBody serta openForm. Tunjukkan struktur tersebut pada starter. SafeArea membantu area konten menghindari inset sistem, tetapi tidak menggantikan penanganan keyboard dan scroll. AppBar menyediakan navigation affordance dan judul yang konsisten.</a:t>
            </a:r>
          </a:p>
          <a:p xmlns:a="http://schemas.openxmlformats.org/drawingml/2006/main">
            <a:r>
              <a:t/>
            </a:r>
          </a:p>
          <a:p xmlns:a="http://schemas.openxmlformats.org/drawingml/2006/main">
            <a:r>
              <a:t>PERTANYAAN DISKUSI: Bagian mana yang berubah pada proyek latihan, dan bagaimana Anda membuktikan hasilnya?</a:t>
            </a:r>
          </a:p>
          <a:p xmlns:a="http://schemas.openxmlformats.org/drawingml/2006/main">
            <a:r>
              <a:t/>
            </a:r>
          </a:p>
          <a:p xmlns:a="http://schemas.openxmlformats.org/drawingml/2006/main">
            <a:r>
              <a:t>RUJUKAN:</a:t>
            </a:r>
          </a:p>
          <a:p xmlns:a="http://schemas.openxmlformats.org/drawingml/2006/main">
            <a:r>
              <a:t>https://docs.flutter.dev/ui</a:t>
            </a:r>
          </a:p>
          <a:p xmlns:a="http://schemas.openxmlformats.org/drawingml/2006/main">
            <a:r>
              <a:t>Materi dan PRD Hari 1, paket Flutter DPL 3 Hari, 03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SESI 10.15-12.00: Widget dan layout. ALOKASI 6 menit.</a:t>
            </a:r>
          </a:p>
          <a:p xmlns:a="http://schemas.openxmlformats.org/drawingml/2006/main">
            <a:r>
              <a:t/>
            </a:r>
          </a:p>
          <a:p xmlns:a="http://schemas.openxmlformats.org/drawingml/2006/main">
            <a:r>
              <a:t>TUJUAN: Constraint dan ukuran widget.</a:t>
            </a:r>
          </a:p>
          <a:p xmlns:a="http://schemas.openxmlformats.org/drawingml/2006/main">
            <a:r>
              <a:t/>
            </a:r>
          </a:p>
          <a:p xmlns:a="http://schemas.openxmlformats.org/drawingml/2006/main">
            <a:r>
              <a:t>Konsep constraint menjelaskan mengapa width yang diminta tidak selalu menjadi ukuran akhir. Gunakan contoh Column di body dan ListView tanpa Expanded. Minta peserta menunjukkan parent mana yang tidak membatasi tinggi. Diagram atau Inspector harus menghubungkan gejala dengan hubungan ukuran, bukan hanya mengganti angka.</a:t>
            </a:r>
          </a:p>
          <a:p xmlns:a="http://schemas.openxmlformats.org/drawingml/2006/main">
            <a:r>
              <a:t/>
            </a:r>
          </a:p>
          <a:p xmlns:a="http://schemas.openxmlformats.org/drawingml/2006/main">
            <a:r>
              <a:t>PERTANYAAN DISKUSI: Bagian mana yang berubah pada proyek latihan, dan bagaimana Anda membuktikan hasilnya?</a:t>
            </a:r>
          </a:p>
          <a:p xmlns:a="http://schemas.openxmlformats.org/drawingml/2006/main">
            <a:r>
              <a:t/>
            </a:r>
          </a:p>
          <a:p xmlns:a="http://schemas.openxmlformats.org/drawingml/2006/main">
            <a:r>
              <a:t>RUJUKAN:</a:t>
            </a:r>
          </a:p>
          <a:p xmlns:a="http://schemas.openxmlformats.org/drawingml/2006/main">
            <a:r>
              <a:t>https://docs.flutter.dev/ui/layout/constraints</a:t>
            </a:r>
          </a:p>
          <a:p xmlns:a="http://schemas.openxmlformats.org/drawingml/2006/main">
            <a:r>
              <a:t>Materi dan PRD Hari 1, paket Flutter DPL 3 Hari, 03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SESI 10.15-12.00: Widget dan layout. ALOKASI 4 menit.</a:t>
            </a:r>
          </a:p>
          <a:p xmlns:a="http://schemas.openxmlformats.org/drawingml/2006/main">
            <a:r>
              <a:t/>
            </a:r>
          </a:p>
          <a:p xmlns:a="http://schemas.openxmlformats.org/drawingml/2006/main">
            <a:r>
              <a:t>TUJUAN: Row, Column dan teks panjang.</a:t>
            </a:r>
          </a:p>
          <a:p xmlns:a="http://schemas.openxmlformats.org/drawingml/2006/main">
            <a:r>
              <a:t/>
            </a:r>
          </a:p>
          <a:p xmlns:a="http://schemas.openxmlformats.org/drawingml/2006/main">
            <a:r>
              <a:t>Demo Row berisi kode aset panjang dan status. Jika teks overflow, periksa child yang tidak fleksibel. Gunakan Flexible untuk text atau ubah komposisi menjadi Column jika lebih mudah dibaca. Jangan memperbaiki semua layar dengan fixed width yang cocok hanya pada satu device.</a:t>
            </a:r>
          </a:p>
          <a:p xmlns:a="http://schemas.openxmlformats.org/drawingml/2006/main">
            <a:r>
              <a:t/>
            </a:r>
          </a:p>
          <a:p xmlns:a="http://schemas.openxmlformats.org/drawingml/2006/main">
            <a:r>
              <a:t>PERTANYAAN DISKUSI: Bagian mana yang berubah pada proyek latihan, dan bagaimana Anda membuktikan hasilnya?</a:t>
            </a:r>
          </a:p>
          <a:p xmlns:a="http://schemas.openxmlformats.org/drawingml/2006/main">
            <a:r>
              <a:t/>
            </a:r>
          </a:p>
          <a:p xmlns:a="http://schemas.openxmlformats.org/drawingml/2006/main">
            <a:r>
              <a:t>RUJUKAN:</a:t>
            </a:r>
          </a:p>
          <a:p xmlns:a="http://schemas.openxmlformats.org/drawingml/2006/main">
            <a:r>
              <a:t>https://docs.flutter.dev/ui/layout/constraints</a:t>
            </a:r>
          </a:p>
          <a:p xmlns:a="http://schemas.openxmlformats.org/drawingml/2006/main">
            <a:r>
              <a:t>Materi dan PRD Hari 1, paket Flutter DPL 3 Hari, 03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SESI 10.15-12.00: Widget dan layout. ALOKASI 6 menit.</a:t>
            </a:r>
          </a:p>
          <a:p xmlns:a="http://schemas.openxmlformats.org/drawingml/2006/main">
            <a:r>
              <a:t/>
            </a:r>
          </a:p>
          <a:p xmlns:a="http://schemas.openxmlformats.org/drawingml/2006/main">
            <a:r>
              <a:t>TUJUAN: Expanded dan Flexible.</a:t>
            </a:r>
          </a:p>
          <a:p xmlns:a="http://schemas.openxmlformats.org/drawingml/2006/main">
            <a:r>
              <a:t/>
            </a:r>
          </a:p>
          <a:p xmlns:a="http://schemas.openxmlformats.org/drawingml/2006/main">
            <a:r>
              <a:t>Expanded dan Flexible perlu parent Flex yang sesuai seperti Row atau Column. Arah tanpa batas, misalnya Column dalam scroll vertikal, membutuhkan perhatian. Mengaktifkan shrinkWrap pada setiap list dapat membuat pekerjaan layout bertambah. Gunakan solusi yang menjelaskan constraint.</a:t>
            </a:r>
          </a:p>
          <a:p xmlns:a="http://schemas.openxmlformats.org/drawingml/2006/main">
            <a:r>
              <a:t/>
            </a:r>
          </a:p>
          <a:p xmlns:a="http://schemas.openxmlformats.org/drawingml/2006/main">
            <a:r>
              <a:t>PERTANYAAN DISKUSI: Bagian mana yang berubah pada proyek latihan, dan bagaimana Anda membuktikan hasilnya?</a:t>
            </a:r>
          </a:p>
          <a:p xmlns:a="http://schemas.openxmlformats.org/drawingml/2006/main">
            <a:r>
              <a:t/>
            </a:r>
          </a:p>
          <a:p xmlns:a="http://schemas.openxmlformats.org/drawingml/2006/main">
            <a:r>
              <a:t>RUJUKAN:</a:t>
            </a:r>
          </a:p>
          <a:p xmlns:a="http://schemas.openxmlformats.org/drawingml/2006/main">
            <a:r>
              <a:t>https://docs.flutter.dev/ui/layout/constraints</a:t>
            </a:r>
          </a:p>
          <a:p xmlns:a="http://schemas.openxmlformats.org/drawingml/2006/main">
            <a:r>
              <a:t>Materi dan PRD Hari 1, paket Flutter DPL 3 Hari, 03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SESI 10.15-12.00: Widget dan layout. ALOKASI 7 menit.</a:t>
            </a:r>
          </a:p>
          <a:p xmlns:a="http://schemas.openxmlformats.org/drawingml/2006/main">
            <a:r>
              <a:t/>
            </a:r>
          </a:p>
          <a:p xmlns:a="http://schemas.openxmlformats.org/drawingml/2006/main">
            <a:r>
              <a:t>TUJUAN: ListView builder dan ID item.</a:t>
            </a:r>
          </a:p>
          <a:p xmlns:a="http://schemas.openxmlformats.org/drawingml/2006/main">
            <a:r>
              <a:t/>
            </a:r>
          </a:p>
          <a:p xmlns:a="http://schemas.openxmlformats.org/drawingml/2006/main">
            <a:r>
              <a:t>ListView.builder membuat widget item sesuai kebutuhan viewport. ID stabil menjaga identitas saat record baru masuk atau list difilter. index tidak mewakili identitas record ketika urutan berubah. openDetail menerima object yang dipilih sehingga detail tidak membaca index dari daftar yang sudah berubah.</a:t>
            </a:r>
          </a:p>
          <a:p xmlns:a="http://schemas.openxmlformats.org/drawingml/2006/main">
            <a:r>
              <a:t/>
            </a:r>
          </a:p>
          <a:p xmlns:a="http://schemas.openxmlformats.org/drawingml/2006/main">
            <a:r>
              <a:t>PERTANYAAN DISKUSI: Bagian mana yang berubah pada proyek latihan, dan bagaimana Anda membuktikan hasilnya?</a:t>
            </a:r>
          </a:p>
          <a:p xmlns:a="http://schemas.openxmlformats.org/drawingml/2006/main">
            <a:r>
              <a:t/>
            </a:r>
          </a:p>
          <a:p xmlns:a="http://schemas.openxmlformats.org/drawingml/2006/main">
            <a:r>
              <a:t>RUJUKAN:</a:t>
            </a:r>
          </a:p>
          <a:p xmlns:a="http://schemas.openxmlformats.org/drawingml/2006/main">
            <a:r>
              <a:t>https://docs.flutter.dev/ui</a:t>
            </a:r>
          </a:p>
          <a:p xmlns:a="http://schemas.openxmlformats.org/drawingml/2006/main">
            <a:r>
              <a:t>Materi dan PRD Hari 1, paket Flutter DPL 3 Hari, 03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SESI 10.15-12.00: Widget dan layout. ALOKASI 4 menit.</a:t>
            </a:r>
          </a:p>
          <a:p xmlns:a="http://schemas.openxmlformats.org/drawingml/2006/main">
            <a:r>
              <a:t/>
            </a:r>
          </a:p>
          <a:p xmlns:a="http://schemas.openxmlformats.org/drawingml/2006/main">
            <a:r>
              <a:t>TUJUAN: Komponen reusable.</a:t>
            </a:r>
          </a:p>
          <a:p xmlns:a="http://schemas.openxmlformats.org/drawingml/2006/main">
            <a:r>
              <a:t/>
            </a:r>
          </a:p>
          <a:p xmlns:a="http://schemas.openxmlformats.org/drawingml/2006/main">
            <a:r>
              <a:t>Buat komponen saat tanggung jawab jelas, bukan untuk memecah setiap Container menjadi file. Komponen status menggunakan teks selain warna agar kondisi tetap dapat dikenali. Tanyakan input dan output komponen. Kode reusable yang mempunyai terlalu banyak boolean perlu dievaluasi kembali.</a:t>
            </a:r>
          </a:p>
          <a:p xmlns:a="http://schemas.openxmlformats.org/drawingml/2006/main">
            <a:r>
              <a:t/>
            </a:r>
          </a:p>
          <a:p xmlns:a="http://schemas.openxmlformats.org/drawingml/2006/main">
            <a:r>
              <a:t>PERTANYAAN DISKUSI: Bagian mana yang berubah pada proyek latihan, dan bagaimana Anda membuktikan hasilnya?</a:t>
            </a:r>
          </a:p>
          <a:p xmlns:a="http://schemas.openxmlformats.org/drawingml/2006/main">
            <a:r>
              <a:t/>
            </a:r>
          </a:p>
          <a:p xmlns:a="http://schemas.openxmlformats.org/drawingml/2006/main">
            <a:r>
              <a:t>RUJUKAN:</a:t>
            </a:r>
          </a:p>
          <a:p xmlns:a="http://schemas.openxmlformats.org/drawingml/2006/main">
            <a:r>
              <a:t>https://docs.flutter.dev/ui</a:t>
            </a:r>
          </a:p>
          <a:p xmlns:a="http://schemas.openxmlformats.org/drawingml/2006/main">
            <a:r>
              <a:t>Materi dan PRD Hari 1, paket Flutter DPL 3 Hari, 03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SESI 10.15-12.00: Widget dan layout. ALOKASI 7 menit.</a:t>
            </a:r>
          </a:p>
          <a:p xmlns:a="http://schemas.openxmlformats.org/drawingml/2006/main">
            <a:r>
              <a:t/>
            </a:r>
          </a:p>
          <a:p xmlns:a="http://schemas.openxmlformats.org/drawingml/2006/main">
            <a:r>
              <a:t>TUJUAN: Theme dan typography aplikasi.</a:t>
            </a:r>
          </a:p>
          <a:p xmlns:a="http://schemas.openxmlformats.org/drawingml/2006/main">
            <a:r>
              <a:t/>
            </a:r>
          </a:p>
          <a:p xmlns:a="http://schemas.openxmlformats.org/drawingml/2006/main">
            <a:r>
              <a:t>Gunakan theme untuk styling konsisten. Peserta dapat mengambil textTheme melalui Theme.of(context). Hindari hardcode ukuran/warna yang bertentangan di setiap layar. Tampilkan contoh titleLarge pada detail dan label form. App latihan tidak memakai logo DPL atau identitas resmi yang belum diberikan.</a:t>
            </a:r>
          </a:p>
          <a:p xmlns:a="http://schemas.openxmlformats.org/drawingml/2006/main">
            <a:r>
              <a:t/>
            </a:r>
          </a:p>
          <a:p xmlns:a="http://schemas.openxmlformats.org/drawingml/2006/main">
            <a:r>
              <a:t>PERTANYAAN DISKUSI: Bagian mana yang berubah pada proyek latihan, dan bagaimana Anda membuktikan hasilnya?</a:t>
            </a:r>
          </a:p>
          <a:p xmlns:a="http://schemas.openxmlformats.org/drawingml/2006/main">
            <a:r>
              <a:t/>
            </a:r>
          </a:p>
          <a:p xmlns:a="http://schemas.openxmlformats.org/drawingml/2006/main">
            <a:r>
              <a:t>RUJUKAN:</a:t>
            </a:r>
          </a:p>
          <a:p xmlns:a="http://schemas.openxmlformats.org/drawingml/2006/main">
            <a:r>
              <a:t>https://docs.flutter.dev/ui</a:t>
            </a:r>
          </a:p>
          <a:p xmlns:a="http://schemas.openxmlformats.org/drawingml/2006/main">
            <a:r>
              <a:t>Materi dan PRD Hari 1, paket Flutter DPL 3 Hari, 03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SESI 10.15-12.00: Widget dan layout. ALOKASI 4 menit.</a:t>
            </a:r>
          </a:p>
          <a:p xmlns:a="http://schemas.openxmlformats.org/drawingml/2006/main">
            <a:r>
              <a:t/>
            </a:r>
          </a:p>
          <a:p xmlns:a="http://schemas.openxmlformats.org/drawingml/2006/main">
            <a:r>
              <a:t>TUJUAN: Responsive UI dan keyboard.</a:t>
            </a:r>
          </a:p>
          <a:p xmlns:a="http://schemas.openxmlformats.org/drawingml/2006/main">
            <a:r>
              <a:t/>
            </a:r>
          </a:p>
          <a:p xmlns:a="http://schemas.openxmlformats.org/drawingml/2006/main">
            <a:r>
              <a:t>LayoutBuilder mengamati constraint lokal, sedangkan MediaQuery menyediakan informasi perangkat/inset. Uji lebar 360 logical pixels dan landscape. Jangan menambahkan MediaQuery ke semua elemen jika layout normal sudah cukup. Aksesibilitas mencakup label, kontras, touch target dan urutan fokus.</a:t>
            </a:r>
          </a:p>
          <a:p xmlns:a="http://schemas.openxmlformats.org/drawingml/2006/main">
            <a:r>
              <a:t/>
            </a:r>
          </a:p>
          <a:p xmlns:a="http://schemas.openxmlformats.org/drawingml/2006/main">
            <a:r>
              <a:t>PERTANYAAN DISKUSI: Bagian mana yang berubah pada proyek latihan, dan bagaimana Anda membuktikan hasilnya?</a:t>
            </a:r>
          </a:p>
          <a:p xmlns:a="http://schemas.openxmlformats.org/drawingml/2006/main">
            <a:r>
              <a:t/>
            </a:r>
          </a:p>
          <a:p xmlns:a="http://schemas.openxmlformats.org/drawingml/2006/main">
            <a:r>
              <a:t>RUJUKAN:</a:t>
            </a:r>
          </a:p>
          <a:p xmlns:a="http://schemas.openxmlformats.org/drawingml/2006/main">
            <a:r>
              <a:t>https://docs.flutter.dev/ui</a:t>
            </a:r>
          </a:p>
          <a:p xmlns:a="http://schemas.openxmlformats.org/drawingml/2006/main">
            <a:r>
              <a:t>Materi dan PRD Hari 1, paket Flutter DPL 3 Hari, 03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SESI 10.15-12.00: Widget dan layout. ALOKASI 9 menit.</a:t>
            </a:r>
          </a:p>
          <a:p xmlns:a="http://schemas.openxmlformats.org/drawingml/2006/main">
            <a:r>
              <a:t/>
            </a:r>
          </a:p>
          <a:p xmlns:a="http://schemas.openxmlformats.org/drawingml/2006/main">
            <a:r>
              <a:t>TUJUAN: Asset lokal pada pubspec.</a:t>
            </a:r>
          </a:p>
          <a:p xmlns:a="http://schemas.openxmlformats.org/drawingml/2006/main">
            <a:r>
              <a:t/>
            </a:r>
          </a:p>
          <a:p xmlns:a="http://schemas.openxmlformats.org/drawingml/2006/main">
            <a:r>
              <a:t>Jelaskan indentation YAML. Peserta boleh menggunakan asset yang mereka miliki atau melewati demonstrasi gambar jika tidak ada file. Jangan menyatakan file equipment.png ada dalam starter. Lakukan pub get dan full restart jika asset belum terdeteksi. Hari ketiga membahas image picker dari perangkat.</a:t>
            </a:r>
          </a:p>
          <a:p xmlns:a="http://schemas.openxmlformats.org/drawingml/2006/main">
            <a:r>
              <a:t/>
            </a:r>
          </a:p>
          <a:p xmlns:a="http://schemas.openxmlformats.org/drawingml/2006/main">
            <a:r>
              <a:t>PERTANYAAN DISKUSI: Bagian mana yang berubah pada proyek latihan, dan bagaimana Anda membuktikan hasilnya?</a:t>
            </a:r>
          </a:p>
          <a:p xmlns:a="http://schemas.openxmlformats.org/drawingml/2006/main">
            <a:r>
              <a:t/>
            </a:r>
          </a:p>
          <a:p xmlns:a="http://schemas.openxmlformats.org/drawingml/2006/main">
            <a:r>
              <a:t>RUJUKAN:</a:t>
            </a:r>
          </a:p>
          <a:p xmlns:a="http://schemas.openxmlformats.org/drawingml/2006/main">
            <a:r>
              <a:t>https://docs.flutter.dev/ui/assets/assets-and-images</a:t>
            </a:r>
          </a:p>
          <a:p xmlns:a="http://schemas.openxmlformats.org/drawingml/2006/main">
            <a:r>
              <a:t>Materi dan PRD Hari 1, paket Flutter DPL 3 Hari, 03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SESI 10.15-12.00: Widget dan layout. ALOKASI 40 menit.</a:t>
            </a:r>
          </a:p>
          <a:p xmlns:a="http://schemas.openxmlformats.org/drawingml/2006/main">
            <a:r>
              <a:t/>
            </a:r>
          </a:p>
          <a:p xmlns:a="http://schemas.openxmlformats.org/drawingml/2006/main">
            <a:r>
              <a:t>TUJUAN: Praktik 2 daftar dan detail.</a:t>
            </a:r>
          </a:p>
          <a:p xmlns:a="http://schemas.openxmlformats.org/drawingml/2006/main">
            <a:r>
              <a:t/>
            </a:r>
          </a:p>
          <a:p xmlns:a="http://schemas.openxmlformats.org/drawingml/2006/main">
            <a:r>
              <a:t>Bagilah 40 menit menjadi 25 menit implementasi, 10 menit pengujian dan 5 menit review pasangan. Trainer memeriksa data detail cocok dengan record kedua, bukan selalu record pertama. Prioritaskan constraints dan alur dibanding dekorasi atau animasi. Jika starter dipakai, peserta tetap mengubah dan menjelaskan komponen sendiri.</a:t>
            </a:r>
          </a:p>
          <a:p xmlns:a="http://schemas.openxmlformats.org/drawingml/2006/main">
            <a:r>
              <a:t/>
            </a:r>
          </a:p>
          <a:p xmlns:a="http://schemas.openxmlformats.org/drawingml/2006/main">
            <a:r>
              <a:t>PRAKTIK: Bangun daftar dengan ListView.builder dan key ID Buka detail record yang dipilih Pisahkan satu komponen yang dipakai berulang Uji landscape, teks panjang dan constraint</a:t>
            </a:r>
          </a:p>
          <a:p xmlns:a="http://schemas.openxmlformats.org/drawingml/2006/main">
            <a:r>
              <a:t>BUKTI: Screenshot daftar dan detail tanpa overflow.</a:t>
            </a:r>
          </a:p>
          <a:p xmlns:a="http://schemas.openxmlformats.org/drawingml/2006/main">
            <a:r>
              <a:t>REVIEW: minta peserta mendemonstrasikan hasil sebelum melanjutkan.</a:t>
            </a:r>
          </a:p>
          <a:p xmlns:a="http://schemas.openxmlformats.org/drawingml/2006/main">
            <a:r>
              <a:t/>
            </a:r>
          </a:p>
          <a:p xmlns:a="http://schemas.openxmlformats.org/drawingml/2006/main">
            <a:r>
              <a:t>PERTANYAAN DISKUSI: Bagian mana yang berubah pada proyek latihan, dan bagaimana Anda membuktikan hasilnya?</a:t>
            </a:r>
          </a:p>
          <a:p xmlns:a="http://schemas.openxmlformats.org/drawingml/2006/main">
            <a:r>
              <a:t/>
            </a:r>
          </a:p>
          <a:p xmlns:a="http://schemas.openxmlformats.org/drawingml/2006/main">
            <a:r>
              <a:t>RUJUKAN:</a:t>
            </a:r>
          </a:p>
          <a:p xmlns:a="http://schemas.openxmlformats.org/drawingml/2006/main">
            <a:r>
              <a:t>Materi dan PRD Hari 1, paket Flutter DPL 3 Hari, 03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SESI 13.00-14.30: State, navigation dan form. ALOKASI 6 menit.</a:t>
            </a:r>
          </a:p>
          <a:p xmlns:a="http://schemas.openxmlformats.org/drawingml/2006/main">
            <a:r>
              <a:t/>
            </a:r>
          </a:p>
          <a:p xmlns:a="http://schemas.openxmlformats.org/drawingml/2006/main">
            <a:r>
              <a:t>TUJUAN: Lifecycle State dan resource.</a:t>
            </a:r>
          </a:p>
          <a:p xmlns:a="http://schemas.openxmlformats.org/drawingml/2006/main">
            <a:r>
              <a:t/>
            </a:r>
          </a:p>
          <a:p xmlns:a="http://schemas.openxmlformats.org/drawingml/2006/main">
            <a:r>
              <a:t>build tidak menjadi tempat request atau controller baru. Lifecycle resource mengikuti pemilik resource. Jika service digunakan global, satu layar tidak boleh menutupnya sembarangan. Pada hari pertama controller teks dimiliki form dan dilepas ketika form ditutup.</a:t>
            </a:r>
          </a:p>
          <a:p xmlns:a="http://schemas.openxmlformats.org/drawingml/2006/main">
            <a:r>
              <a:t/>
            </a:r>
          </a:p>
          <a:p xmlns:a="http://schemas.openxmlformats.org/drawingml/2006/main">
            <a:r>
              <a:t>PERTANYAAN DISKUSI: Bagian mana yang berubah pada proyek latihan, dan bagaimana Anda membuktikan hasilnya?</a:t>
            </a:r>
          </a:p>
          <a:p xmlns:a="http://schemas.openxmlformats.org/drawingml/2006/main">
            <a:r>
              <a:t/>
            </a:r>
          </a:p>
          <a:p xmlns:a="http://schemas.openxmlformats.org/drawingml/2006/main">
            <a:r>
              <a:t>RUJUKAN:</a:t>
            </a:r>
          </a:p>
          <a:p xmlns:a="http://schemas.openxmlformats.org/drawingml/2006/main">
            <a:r>
              <a:t>https://docs.flutter.dev/ui</a:t>
            </a:r>
          </a:p>
          <a:p xmlns:a="http://schemas.openxmlformats.org/drawingml/2006/main">
            <a:r>
              <a:t>Materi dan PRD Hari 1, paket Flutter DPL 3 Hari, 03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SESI 13.00-14.30: State, navigation dan form. ALOKASI 7 menit.</a:t>
            </a:r>
          </a:p>
          <a:p xmlns:a="http://schemas.openxmlformats.org/drawingml/2006/main">
            <a:r>
              <a:t/>
            </a:r>
          </a:p>
          <a:p xmlns:a="http://schemas.openxmlformats.org/drawingml/2006/main">
            <a:r>
              <a:t>TUJUAN: TextEditingController dan dispose.</a:t>
            </a:r>
          </a:p>
          <a:p xmlns:a="http://schemas.openxmlformats.org/drawingml/2006/main">
            <a:r>
              <a:t/>
            </a:r>
          </a:p>
          <a:p xmlns:a="http://schemas.openxmlformats.org/drawingml/2006/main">
            <a:r>
              <a:t>Tunjukkan gejala teks ter-reset bila controller dibuat dalam build. Lalu pindahkan controller ke field State. Setiap controller yang dibuat oleh form harus di-dispose oleh form. dispose bukan tempat melakukan setState atau navigasi baru.</a:t>
            </a:r>
          </a:p>
          <a:p xmlns:a="http://schemas.openxmlformats.org/drawingml/2006/main">
            <a:r>
              <a:t/>
            </a:r>
          </a:p>
          <a:p xmlns:a="http://schemas.openxmlformats.org/drawingml/2006/main">
            <a:r>
              <a:t>PERTANYAAN DISKUSI: Bagian mana yang berubah pada proyek latihan, dan bagaimana Anda membuktikan hasilnya?</a:t>
            </a:r>
          </a:p>
          <a:p xmlns:a="http://schemas.openxmlformats.org/drawingml/2006/main">
            <a:r>
              <a:t/>
            </a:r>
          </a:p>
          <a:p xmlns:a="http://schemas.openxmlformats.org/drawingml/2006/main">
            <a:r>
              <a:t>RUJUKAN:</a:t>
            </a:r>
          </a:p>
          <a:p xmlns:a="http://schemas.openxmlformats.org/drawingml/2006/main">
            <a:r>
              <a:t>https://docs.flutter.dev/ui</a:t>
            </a:r>
          </a:p>
          <a:p xmlns:a="http://schemas.openxmlformats.org/drawingml/2006/main">
            <a:r>
              <a:t>Materi dan PRD Hari 1, paket Flutter DPL 3 Hari, 03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SESI 13.00-14.30: State, navigation dan form. ALOKASI 7 menit.</a:t>
            </a:r>
          </a:p>
          <a:p xmlns:a="http://schemas.openxmlformats.org/drawingml/2006/main">
            <a:r>
              <a:t/>
            </a:r>
          </a:p>
          <a:p xmlns:a="http://schemas.openxmlformats.org/drawingml/2006/main">
            <a:r>
              <a:t>TUJUAN: State pada daftar inspeksi.</a:t>
            </a:r>
          </a:p>
          <a:p xmlns:a="http://schemas.openxmlformats.org/drawingml/2006/main">
            <a:r>
              <a:t/>
            </a:r>
          </a:p>
          <a:p xmlns:a="http://schemas.openxmlformats.org/drawingml/2006/main">
            <a:r>
              <a:t>Loading menunjukkan proses berjalan. Success mempunyai items, sedangkan empty merupakan request valid dengan hasil kosong. Error mempunyai pesan dan retry. Gunakan state yang saling jelas supaya request gagal tidak tampak seperti belum ada data. Diagram ini menunjukkan pilihan hasil, bukan timing paralel.</a:t>
            </a:r>
          </a:p>
          <a:p xmlns:a="http://schemas.openxmlformats.org/drawingml/2006/main">
            <a:r>
              <a:t/>
            </a:r>
          </a:p>
          <a:p xmlns:a="http://schemas.openxmlformats.org/drawingml/2006/main">
            <a:r>
              <a:t>PERTANYAAN DISKUSI: Bagian mana yang berubah pada proyek latihan, dan bagaimana Anda membuktikan hasilnya?</a:t>
            </a:r>
          </a:p>
          <a:p xmlns:a="http://schemas.openxmlformats.org/drawingml/2006/main">
            <a:r>
              <a:t/>
            </a:r>
          </a:p>
          <a:p xmlns:a="http://schemas.openxmlformats.org/drawingml/2006/main">
            <a:r>
              <a:t>RUJUKAN:</a:t>
            </a:r>
          </a:p>
          <a:p xmlns:a="http://schemas.openxmlformats.org/drawingml/2006/main">
            <a:r>
              <a:t>https://docs.flutter.dev/ui</a:t>
            </a:r>
          </a:p>
          <a:p xmlns:a="http://schemas.openxmlformats.org/drawingml/2006/main">
            <a:r>
              <a:t>Materi dan PRD Hari 1, paket Flutter DPL 3 Hari, 03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SESI 13.00-14.30: State, navigation dan form. ALOKASI 7 menit.</a:t>
            </a:r>
          </a:p>
          <a:p xmlns:a="http://schemas.openxmlformats.org/drawingml/2006/main">
            <a:r>
              <a:t/>
            </a:r>
          </a:p>
          <a:p xmlns:a="http://schemas.openxmlformats.org/drawingml/2006/main">
            <a:r>
              <a:t>TUJUAN: Async dan pemeriksaan mounted.</a:t>
            </a:r>
          </a:p>
          <a:p xmlns:a="http://schemas.openxmlformats.org/drawingml/2006/main">
            <a:r>
              <a:t/>
            </a:r>
          </a:p>
          <a:p xmlns:a="http://schemas.openxmlformats.org/drawingml/2006/main">
            <a:r>
              <a:t>Contoh berada pada State layar. Guard menolak load ganda dan error lama dibersihkan ketika retry dimulai. Callback setState tetap sinkron dan tidak menerima async. Uji menutup halaman saat delay masih berjalan untuk menjelaskan mengapa mounted diperlukan. Request cancellation merupakan langkah lanjutan sesuai kebutuhan aplikasi.</a:t>
            </a:r>
          </a:p>
          <a:p xmlns:a="http://schemas.openxmlformats.org/drawingml/2006/main">
            <a:r>
              <a:t/>
            </a:r>
          </a:p>
          <a:p xmlns:a="http://schemas.openxmlformats.org/drawingml/2006/main">
            <a:r>
              <a:t>PERTANYAAN DISKUSI: Bagian mana yang berubah pada proyek latihan, dan bagaimana Anda membuktikan hasilnya?</a:t>
            </a:r>
          </a:p>
          <a:p xmlns:a="http://schemas.openxmlformats.org/drawingml/2006/main">
            <a:r>
              <a:t/>
            </a:r>
          </a:p>
          <a:p xmlns:a="http://schemas.openxmlformats.org/drawingml/2006/main">
            <a:r>
              <a:t>RUJUKAN:</a:t>
            </a:r>
          </a:p>
          <a:p xmlns:a="http://schemas.openxmlformats.org/drawingml/2006/main">
            <a:r>
              <a:t>https://dart.dev/language/async</a:t>
            </a:r>
          </a:p>
          <a:p xmlns:a="http://schemas.openxmlformats.org/drawingml/2006/main">
            <a:r>
              <a:t>https://docs.flutter.dev/ui</a:t>
            </a:r>
          </a:p>
          <a:p xmlns:a="http://schemas.openxmlformats.org/drawingml/2006/main">
            <a:r>
              <a:t>Materi dan PRD Hari 1, paket Flutter DPL 3 Hari, 03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SESI 13.00-14.30: State, navigation dan form. ALOKASI 7 menit.</a:t>
            </a:r>
          </a:p>
          <a:p xmlns:a="http://schemas.openxmlformats.org/drawingml/2006/main">
            <a:r>
              <a:t/>
            </a:r>
          </a:p>
          <a:p xmlns:a="http://schemas.openxmlformats.org/drawingml/2006/main">
            <a:r>
              <a:t>TUJUAN: Navigator mengembalikan hasil form.</a:t>
            </a:r>
          </a:p>
          <a:p xmlns:a="http://schemas.openxmlformats.org/drawingml/2006/main">
            <a:r>
              <a:t/>
            </a:r>
          </a:p>
          <a:p xmlns:a="http://schemas.openxmlformats.org/drawingml/2006/main">
            <a:r>
              <a:t>Layar daftar menjadi pemilik mutation list. Form mengembalikan record, bukan ikut mengubah list global. Batal form menghasilkan null. Detail hanya menerima item sebagai input. Periksa mounted setelah await navigation karena layar asal mungkin sudah dilepas.</a:t>
            </a:r>
          </a:p>
          <a:p xmlns:a="http://schemas.openxmlformats.org/drawingml/2006/main">
            <a:r>
              <a:t/>
            </a:r>
          </a:p>
          <a:p xmlns:a="http://schemas.openxmlformats.org/drawingml/2006/main">
            <a:r>
              <a:t>PERTANYAAN DISKUSI: Bagian mana yang berubah pada proyek latihan, dan bagaimana Anda membuktikan hasilnya?</a:t>
            </a:r>
          </a:p>
          <a:p xmlns:a="http://schemas.openxmlformats.org/drawingml/2006/main">
            <a:r>
              <a:t/>
            </a:r>
          </a:p>
          <a:p xmlns:a="http://schemas.openxmlformats.org/drawingml/2006/main">
            <a:r>
              <a:t>RUJUKAN:</a:t>
            </a:r>
          </a:p>
          <a:p xmlns:a="http://schemas.openxmlformats.org/drawingml/2006/main">
            <a:r>
              <a:t>https://docs.flutter.dev/cookbook/navigation</a:t>
            </a:r>
          </a:p>
          <a:p xmlns:a="http://schemas.openxmlformats.org/drawingml/2006/main">
            <a:r>
              <a:t>Materi dan PRD Hari 1, paket Flutter DPL 3 Hari, 03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SESI 13.00-14.30: State, navigation dan form. ALOKASI 7 menit.</a:t>
            </a:r>
          </a:p>
          <a:p xmlns:a="http://schemas.openxmlformats.org/drawingml/2006/main">
            <a:r>
              <a:t/>
            </a:r>
          </a:p>
          <a:p xmlns:a="http://schemas.openxmlformats.org/drawingml/2006/main">
            <a:r>
              <a:t>TUJUAN: Form dan field wajib.</a:t>
            </a:r>
          </a:p>
          <a:p xmlns:a="http://schemas.openxmlformats.org/drawingml/2006/main">
            <a:r>
              <a:t/>
            </a:r>
          </a:p>
          <a:p xmlns:a="http://schemas.openxmlformats.org/drawingml/2006/main">
            <a:r>
              <a:t>Tempatkan TextFormField sebagai descendant Form yang mempunyai key. Validator mengembalikan pesan atau null. Validasi trim memastikan spasi saja tidak lolos. Error client membantu pengguna, tetapi backend tetap perlu validasi yang sama ketika API ditambahkan pada hari kedua.</a:t>
            </a:r>
          </a:p>
          <a:p xmlns:a="http://schemas.openxmlformats.org/drawingml/2006/main">
            <a:r>
              <a:t/>
            </a:r>
          </a:p>
          <a:p xmlns:a="http://schemas.openxmlformats.org/drawingml/2006/main">
            <a:r>
              <a:t>PERTANYAAN DISKUSI: Bagian mana yang berubah pada proyek latihan, dan bagaimana Anda membuktikan hasilnya?</a:t>
            </a:r>
          </a:p>
          <a:p xmlns:a="http://schemas.openxmlformats.org/drawingml/2006/main">
            <a:r>
              <a:t/>
            </a:r>
          </a:p>
          <a:p xmlns:a="http://schemas.openxmlformats.org/drawingml/2006/main">
            <a:r>
              <a:t>RUJUKAN:</a:t>
            </a:r>
          </a:p>
          <a:p xmlns:a="http://schemas.openxmlformats.org/drawingml/2006/main">
            <a:r>
              <a:t>https://docs.flutter.dev/cookbook/forms/validation</a:t>
            </a:r>
          </a:p>
          <a:p xmlns:a="http://schemas.openxmlformats.org/drawingml/2006/main">
            <a:r>
              <a:t>Materi dan PRD Hari 1, paket Flutter DPL 3 Hari, 03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SESI 13.00-14.30: State, navigation dan form. ALOKASI 7 menit.</a:t>
            </a:r>
          </a:p>
          <a:p xmlns:a="http://schemas.openxmlformats.org/drawingml/2006/main">
            <a:r>
              <a:t/>
            </a:r>
          </a:p>
          <a:p xmlns:a="http://schemas.openxmlformats.org/drawingml/2006/main">
            <a:r>
              <a:t>TUJUAN: Aturan temuan sebagai fungsi murni.</a:t>
            </a:r>
          </a:p>
          <a:p xmlns:a="http://schemas.openxmlformats.org/drawingml/2006/main">
            <a:r>
              <a:t/>
            </a:r>
          </a:p>
          <a:p xmlns:a="http://schemas.openxmlformats.org/drawingml/2006/main">
            <a:r>
              <a:t>Fungsi ini tidak menerima BuildContext sehingga mudah dipakai kembali dan diuji. Demo nilai good dengan note kosong, needs_action dengan catatan pendek, dan needs_action dengan catatan valid. Validator di field note membaca kondisi form yang sedang dipilih. Hari ketiga akan menulis unit test aturan ini.</a:t>
            </a:r>
          </a:p>
          <a:p xmlns:a="http://schemas.openxmlformats.org/drawingml/2006/main">
            <a:r>
              <a:t/>
            </a:r>
          </a:p>
          <a:p xmlns:a="http://schemas.openxmlformats.org/drawingml/2006/main">
            <a:r>
              <a:t>PERTANYAAN DISKUSI: Bagian mana yang berubah pada proyek latihan, dan bagaimana Anda membuktikan hasilnya?</a:t>
            </a:r>
          </a:p>
          <a:p xmlns:a="http://schemas.openxmlformats.org/drawingml/2006/main">
            <a:r>
              <a:t/>
            </a:r>
          </a:p>
          <a:p xmlns:a="http://schemas.openxmlformats.org/drawingml/2006/main">
            <a:r>
              <a:t>RUJUKAN:</a:t>
            </a:r>
          </a:p>
          <a:p xmlns:a="http://schemas.openxmlformats.org/drawingml/2006/main">
            <a:r>
              <a:t>https://dart.dev/language</a:t>
            </a:r>
          </a:p>
          <a:p xmlns:a="http://schemas.openxmlformats.org/drawingml/2006/main">
            <a:r>
              <a:t>Materi dan PRD Hari 1, paket Flutter DPL 3 Hari, 03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SESI 13.00-14.30: State, navigation dan form. ALOKASI 7 menit.</a:t>
            </a:r>
          </a:p>
          <a:p xmlns:a="http://schemas.openxmlformats.org/drawingml/2006/main">
            <a:r>
              <a:t/>
            </a:r>
          </a:p>
          <a:p xmlns:a="http://schemas.openxmlformats.org/drawingml/2006/main">
            <a:r>
              <a:t>TUJUAN: Simpan form dan pembuatan record.</a:t>
            </a:r>
          </a:p>
          <a:p xmlns:a="http://schemas.openxmlformats.org/drawingml/2006/main">
            <a:r>
              <a:t/>
            </a:r>
          </a:p>
          <a:p xmlns:a="http://schemas.openxmlformats.org/drawingml/2006/main">
            <a:r>
              <a:t>currentState digunakan pada Form yang terpasang. ID timestamp merupakan strategi sederhana untuk latihan lokal, bukan jaminan ID global production. Saat API digunakan, server akan menghasilkan ID. Pastikan validator berjalan sebelum object dibuat. Tombol batal hanya pop tanpa record.</a:t>
            </a:r>
          </a:p>
          <a:p xmlns:a="http://schemas.openxmlformats.org/drawingml/2006/main">
            <a:r>
              <a:t/>
            </a:r>
          </a:p>
          <a:p xmlns:a="http://schemas.openxmlformats.org/drawingml/2006/main">
            <a:r>
              <a:t>PERTANYAAN DISKUSI: Bagian mana yang berubah pada proyek latihan, dan bagaimana Anda membuktikan hasilnya?</a:t>
            </a:r>
          </a:p>
          <a:p xmlns:a="http://schemas.openxmlformats.org/drawingml/2006/main">
            <a:r>
              <a:t/>
            </a:r>
          </a:p>
          <a:p xmlns:a="http://schemas.openxmlformats.org/drawingml/2006/main">
            <a:r>
              <a:t>RUJUKAN:</a:t>
            </a:r>
          </a:p>
          <a:p xmlns:a="http://schemas.openxmlformats.org/drawingml/2006/main">
            <a:r>
              <a:t>https://docs.flutter.dev/cookbook/navigation</a:t>
            </a:r>
          </a:p>
          <a:p xmlns:a="http://schemas.openxmlformats.org/drawingml/2006/main">
            <a:r>
              <a:t>https://dart.dev/language</a:t>
            </a:r>
          </a:p>
          <a:p xmlns:a="http://schemas.openxmlformats.org/drawingml/2006/main">
            <a:r>
              <a:t>Materi dan PRD Hari 1, paket Flutter DPL 3 Hari, 03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SESI 13.00-14.30: State, navigation dan form. ALOKASI 35 menit.</a:t>
            </a:r>
          </a:p>
          <a:p xmlns:a="http://schemas.openxmlformats.org/drawingml/2006/main">
            <a:r>
              <a:t/>
            </a:r>
          </a:p>
          <a:p xmlns:a="http://schemas.openxmlformats.org/drawingml/2006/main">
            <a:r>
              <a:t>TUJUAN: Praktik 3 form dan navigation.</a:t>
            </a:r>
          </a:p>
          <a:p xmlns:a="http://schemas.openxmlformats.org/drawingml/2006/main">
            <a:r>
              <a:t/>
            </a:r>
          </a:p>
          <a:p xmlns:a="http://schemas.openxmlformats.org/drawingml/2006/main">
            <a:r>
              <a:t>Alokasikan 20 menit implementasi, 10 menit skenario uji dan 5 menit review. Peserta mengisi form dua kali dan membuktikan kedua ID berbeda. Trainer memilih skenario batal sesudah mengetik untuk memastikan form tidak menyimpan diam-diam. Simpan screenshot yang akan diperiksa dalam PRD.</a:t>
            </a:r>
          </a:p>
          <a:p xmlns:a="http://schemas.openxmlformats.org/drawingml/2006/main">
            <a:r>
              <a:t/>
            </a:r>
          </a:p>
          <a:p xmlns:a="http://schemas.openxmlformats.org/drawingml/2006/main">
            <a:r>
              <a:t>PRAKTIK: Tambahkan kode aset, lokasi, kondisi dan catatan Terapkan validasi wajib dan aturan temuan Kembalikan record ke daftar melalui Navigator Uji input spasi, catatan pendek, save dan cancel</a:t>
            </a:r>
          </a:p>
          <a:p xmlns:a="http://schemas.openxmlformats.org/drawingml/2006/main">
            <a:r>
              <a:t>BUKTI: Form invalid tetap terbuka, record valid muncul sekali.</a:t>
            </a:r>
          </a:p>
          <a:p xmlns:a="http://schemas.openxmlformats.org/drawingml/2006/main">
            <a:r>
              <a:t>REVIEW: minta peserta mendemonstrasikan hasil sebelum melanjutkan.</a:t>
            </a:r>
          </a:p>
          <a:p xmlns:a="http://schemas.openxmlformats.org/drawingml/2006/main">
            <a:r>
              <a:t/>
            </a:r>
          </a:p>
          <a:p xmlns:a="http://schemas.openxmlformats.org/drawingml/2006/main">
            <a:r>
              <a:t>PERTANYAAN DISKUSI: Bagian mana yang berubah pada proyek latihan, dan bagaimana Anda membuktikan hasilnya?</a:t>
            </a:r>
          </a:p>
          <a:p xmlns:a="http://schemas.openxmlformats.org/drawingml/2006/main">
            <a:r>
              <a:t/>
            </a:r>
          </a:p>
          <a:p xmlns:a="http://schemas.openxmlformats.org/drawingml/2006/main">
            <a:r>
              <a:t>RUJUKAN:</a:t>
            </a:r>
          </a:p>
          <a:p xmlns:a="http://schemas.openxmlformats.org/drawingml/2006/main">
            <a:r>
              <a:t>Materi dan PRD Hari 1, paket Flutter DPL 3 Hari, 03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SESI 14.45-16.00: Debugging dan penyempurnaan UI. ALOKASI 8 menit.</a:t>
            </a:r>
          </a:p>
          <a:p xmlns:a="http://schemas.openxmlformats.org/drawingml/2006/main">
            <a:r>
              <a:t/>
            </a:r>
          </a:p>
          <a:p xmlns:a="http://schemas.openxmlformats.org/drawingml/2006/main">
            <a:r>
              <a:t>TUJUAN: Debugging dengan Inspector dan breakpoint.</a:t>
            </a:r>
          </a:p>
          <a:p xmlns:a="http://schemas.openxmlformats.org/drawingml/2006/main">
            <a:r>
              <a:t/>
            </a:r>
          </a:p>
          <a:p xmlns:a="http://schemas.openxmlformats.org/drawingml/2006/main">
            <a:r>
              <a:t>Demo membaca error pertama yang menjelaskan penyebab. Gunakan Inspector untuk constraint dan debugger untuk alur logic. Log tidak boleh menjadi dump semua object ketika aplikasi nanti berisi token. Minta peserta menemukan satu bug tanpa trainer langsung memberikan perubahan kode.</a:t>
            </a:r>
          </a:p>
          <a:p xmlns:a="http://schemas.openxmlformats.org/drawingml/2006/main">
            <a:r>
              <a:t/>
            </a:r>
          </a:p>
          <a:p xmlns:a="http://schemas.openxmlformats.org/drawingml/2006/main">
            <a:r>
              <a:t>PERTANYAAN DISKUSI: Bagian mana yang berubah pada proyek latihan, dan bagaimana Anda membuktikan hasilnya?</a:t>
            </a:r>
          </a:p>
          <a:p xmlns:a="http://schemas.openxmlformats.org/drawingml/2006/main">
            <a:r>
              <a:t/>
            </a:r>
          </a:p>
          <a:p xmlns:a="http://schemas.openxmlformats.org/drawingml/2006/main">
            <a:r>
              <a:t>RUJUKAN:</a:t>
            </a:r>
          </a:p>
          <a:p xmlns:a="http://schemas.openxmlformats.org/drawingml/2006/main">
            <a:r>
              <a:t>https://docs.flutter.dev/tools/devtools/inspector</a:t>
            </a:r>
          </a:p>
          <a:p xmlns:a="http://schemas.openxmlformats.org/drawingml/2006/main">
            <a:r>
              <a:t>Materi dan PRD Hari 1, paket Flutter DPL 3 Hari, 03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SESI 14.45-16.00: Debugging dan penyempurnaan UI. ALOKASI 10 menit.</a:t>
            </a:r>
          </a:p>
          <a:p xmlns:a="http://schemas.openxmlformats.org/drawingml/2006/main">
            <a:r>
              <a:t/>
            </a:r>
          </a:p>
          <a:p xmlns:a="http://schemas.openxmlformats.org/drawingml/2006/main">
            <a:r>
              <a:t>TUJUAN: Gejala layout dan penyebab.</a:t>
            </a:r>
          </a:p>
          <a:p xmlns:a="http://schemas.openxmlformats.org/drawingml/2006/main">
            <a:r>
              <a:t/>
            </a:r>
          </a:p>
          <a:p xmlns:a="http://schemas.openxmlformats.org/drawingml/2006/main">
            <a:r>
              <a:t>Tampilkan error yang sengaja dibuat pada proyek latihan. Minta peserta menyebut sebab sebelum mencoba solusi. shrinkWrap atau ukuran tetap dapat membantu dalam konteks tertentu, tetapi tidak dijadikan perubahan universal. Bentuk layout harus tetap dapat dijelaskan.</a:t>
            </a:r>
          </a:p>
          <a:p xmlns:a="http://schemas.openxmlformats.org/drawingml/2006/main">
            <a:r>
              <a:t/>
            </a:r>
          </a:p>
          <a:p xmlns:a="http://schemas.openxmlformats.org/drawingml/2006/main">
            <a:r>
              <a:t>PERTANYAAN DISKUSI: Bagian mana yang berubah pada proyek latihan, dan bagaimana Anda membuktikan hasilnya?</a:t>
            </a:r>
          </a:p>
          <a:p xmlns:a="http://schemas.openxmlformats.org/drawingml/2006/main">
            <a:r>
              <a:t/>
            </a:r>
          </a:p>
          <a:p xmlns:a="http://schemas.openxmlformats.org/drawingml/2006/main">
            <a:r>
              <a:t>RUJUKAN:</a:t>
            </a:r>
          </a:p>
          <a:p xmlns:a="http://schemas.openxmlformats.org/drawingml/2006/main">
            <a:r>
              <a:t>https://docs.flutter.dev/ui/layout/constraints</a:t>
            </a:r>
          </a:p>
          <a:p xmlns:a="http://schemas.openxmlformats.org/drawingml/2006/main">
            <a:r>
              <a:t>https://docs.flutter.dev/testing/common-errors</a:t>
            </a:r>
          </a:p>
          <a:p xmlns:a="http://schemas.openxmlformats.org/drawingml/2006/main">
            <a:r>
              <a:t>Materi dan PRD Hari 1, paket Flutter DPL 3 Hari, 03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SESI 14.45-16.00: Debugging dan penyempurnaan UI. ALOKASI 8 menit.</a:t>
            </a:r>
          </a:p>
          <a:p xmlns:a="http://schemas.openxmlformats.org/drawingml/2006/main">
            <a:r>
              <a:t/>
            </a:r>
          </a:p>
          <a:p xmlns:a="http://schemas.openxmlformats.org/drawingml/2006/main">
            <a:r>
              <a:t>TUJUAN: Keterbacaan dan akses input.</a:t>
            </a:r>
          </a:p>
          <a:p xmlns:a="http://schemas.openxmlformats.org/drawingml/2006/main">
            <a:r>
              <a:t/>
            </a:r>
          </a:p>
          <a:p xmlns:a="http://schemas.openxmlformats.org/drawingml/2006/main">
            <a:r>
              <a:t>Uji ukuran font perangkat yang lebih besar dan orientasi landscape. Periksa field terakhir, pesan error dan tombol save. Jangan memasukkan istilah internal seperti controller atau endpoint ke user flow. Accessibility berlanjut pada tahap production, tetapi kebiasaan dasar dipraktikkan mulai hari pertama.</a:t>
            </a:r>
          </a:p>
          <a:p xmlns:a="http://schemas.openxmlformats.org/drawingml/2006/main">
            <a:r>
              <a:t/>
            </a:r>
          </a:p>
          <a:p xmlns:a="http://schemas.openxmlformats.org/drawingml/2006/main">
            <a:r>
              <a:t>PERTANYAAN DISKUSI: Bagian mana yang berubah pada proyek latihan, dan bagaimana Anda membuktikan hasilnya?</a:t>
            </a:r>
          </a:p>
          <a:p xmlns:a="http://schemas.openxmlformats.org/drawingml/2006/main">
            <a:r>
              <a:t/>
            </a:r>
          </a:p>
          <a:p xmlns:a="http://schemas.openxmlformats.org/drawingml/2006/main">
            <a:r>
              <a:t>RUJUKAN:</a:t>
            </a:r>
          </a:p>
          <a:p xmlns:a="http://schemas.openxmlformats.org/drawingml/2006/main">
            <a:r>
              <a:t>https://docs.flutter.dev/ui</a:t>
            </a:r>
          </a:p>
          <a:p xmlns:a="http://schemas.openxmlformats.org/drawingml/2006/main">
            <a:r>
              <a:t>Materi dan PRD Hari 1, paket Flutter DPL 3 Hari, 03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SESI 14.45-16.00: Debugging dan penyempurnaan UI. ALOKASI 8 menit.</a:t>
            </a:r>
          </a:p>
          <a:p xmlns:a="http://schemas.openxmlformats.org/drawingml/2006/main">
            <a:r>
              <a:t/>
            </a:r>
          </a:p>
          <a:p xmlns:a="http://schemas.openxmlformats.org/drawingml/2006/main">
            <a:r>
              <a:t>TUJUAN: Review pemilik state.</a:t>
            </a:r>
          </a:p>
          <a:p xmlns:a="http://schemas.openxmlformats.org/drawingml/2006/main">
            <a:r>
              <a:t/>
            </a:r>
          </a:p>
          <a:p xmlns:a="http://schemas.openxmlformats.org/drawingml/2006/main">
            <a:r>
              <a:t>Reviewer menelusuri satu aksi save dari callback sampai daftar berubah. Bila perubahan terjadi pada dua tempat, risiko duplikasi naik. Gunakan review ini untuk mempersiapkan pemisahan controller/repository pada hari kedua. Hindari refactor besar ketika acceptance UI belum lulus.</a:t>
            </a:r>
          </a:p>
          <a:p xmlns:a="http://schemas.openxmlformats.org/drawingml/2006/main">
            <a:r>
              <a:t/>
            </a:r>
          </a:p>
          <a:p xmlns:a="http://schemas.openxmlformats.org/drawingml/2006/main">
            <a:r>
              <a:t>PERTANYAAN DISKUSI: Bagian mana yang berubah pada proyek latihan, dan bagaimana Anda membuktikan hasilnya?</a:t>
            </a:r>
          </a:p>
          <a:p xmlns:a="http://schemas.openxmlformats.org/drawingml/2006/main">
            <a:r>
              <a:t/>
            </a:r>
          </a:p>
          <a:p xmlns:a="http://schemas.openxmlformats.org/drawingml/2006/main">
            <a:r>
              <a:t>RUJUKAN:</a:t>
            </a:r>
          </a:p>
          <a:p xmlns:a="http://schemas.openxmlformats.org/drawingml/2006/main">
            <a:r>
              <a:t>Materi dan PRD Hari 1, paket Flutter DPL 3 Hari, 03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SESI 14.45-16.00: Debugging dan penyempurnaan UI. ALOKASI 30 menit.</a:t>
            </a:r>
          </a:p>
          <a:p xmlns:a="http://schemas.openxmlformats.org/drawingml/2006/main">
            <a:r>
              <a:t/>
            </a:r>
          </a:p>
          <a:p xmlns:a="http://schemas.openxmlformats.org/drawingml/2006/main">
            <a:r>
              <a:t>TUJUAN: Praktik 4 error, empty dan UI.</a:t>
            </a:r>
          </a:p>
          <a:p xmlns:a="http://schemas.openxmlformats.org/drawingml/2006/main">
            <a:r>
              <a:t/>
            </a:r>
          </a:p>
          <a:p xmlns:a="http://schemas.openxmlformats.org/drawingml/2006/main">
            <a:r>
              <a:t>Starter mempunyai menu Demo kosong dan Demo error. Peserta boleh memakai menu tersebut lalu menjelaskan state. Jangan menimpa item baru secara tak sengaja ketika reload seed. Sisa waktu dipakai untuk memperbaiki bug prioritas sebelum checkpoint Git.</a:t>
            </a:r>
          </a:p>
          <a:p xmlns:a="http://schemas.openxmlformats.org/drawingml/2006/main">
            <a:r>
              <a:t/>
            </a:r>
          </a:p>
          <a:p xmlns:a="http://schemas.openxmlformats.org/drawingml/2006/main">
            <a:r>
              <a:t>PRAKTIK: Tambahkan simulasi loading dan error sekali Tampilkan empty state dengan aksi tambah Pastikan retry memulihkan daftar Perbaiki satu masalah layout atau lifecycle</a:t>
            </a:r>
          </a:p>
          <a:p xmlns:a="http://schemas.openxmlformats.org/drawingml/2006/main">
            <a:r>
              <a:t>BUKTI: Demo loading, empty, error/retry dan form dengan keyboard.</a:t>
            </a:r>
          </a:p>
          <a:p xmlns:a="http://schemas.openxmlformats.org/drawingml/2006/main">
            <a:r>
              <a:t>REVIEW: minta peserta mendemonstrasikan hasil sebelum melanjutkan.</a:t>
            </a:r>
          </a:p>
          <a:p xmlns:a="http://schemas.openxmlformats.org/drawingml/2006/main">
            <a:r>
              <a:t/>
            </a:r>
          </a:p>
          <a:p xmlns:a="http://schemas.openxmlformats.org/drawingml/2006/main">
            <a:r>
              <a:t>PERTANYAAN DISKUSI: Bagian mana yang berubah pada proyek latihan, dan bagaimana Anda membuktikan hasilnya?</a:t>
            </a:r>
          </a:p>
          <a:p xmlns:a="http://schemas.openxmlformats.org/drawingml/2006/main">
            <a:r>
              <a:t/>
            </a:r>
          </a:p>
          <a:p xmlns:a="http://schemas.openxmlformats.org/drawingml/2006/main">
            <a:r>
              <a:t>RUJUKAN:</a:t>
            </a:r>
          </a:p>
          <a:p xmlns:a="http://schemas.openxmlformats.org/drawingml/2006/main">
            <a:r>
              <a:t>Materi dan PRD Hari 1, paket Flutter DPL 3 Hari, 03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SESI 14.45-16.00: Debugging dan penyempurnaan UI. ALOKASI 11 menit.</a:t>
            </a:r>
          </a:p>
          <a:p xmlns:a="http://schemas.openxmlformats.org/drawingml/2006/main">
            <a:r>
              <a:t/>
            </a:r>
          </a:p>
          <a:p xmlns:a="http://schemas.openxmlformats.org/drawingml/2006/main">
            <a:r>
              <a:t>TUJUAN: Checkpoint Git hari pertama.</a:t>
            </a:r>
          </a:p>
          <a:p xmlns:a="http://schemas.openxmlformats.org/drawingml/2006/main">
            <a:r>
              <a:t/>
            </a:r>
          </a:p>
          <a:p xmlns:a="http://schemas.openxmlformats.org/drawingml/2006/main">
            <a:r>
              <a:t>Periksa file yang staged sebelum commit. Project template menyediakan .gitignore untuk banyak artefak build, tetapi peserta tetap membaca hasil git status. Tag day-1 menyimpan titik lanjut yang jelas. Jangan menambahkan credential atau file hasil build besar tanpa kebutuhan.</a:t>
            </a:r>
          </a:p>
          <a:p xmlns:a="http://schemas.openxmlformats.org/drawingml/2006/main">
            <a:r>
              <a:t/>
            </a:r>
          </a:p>
          <a:p xmlns:a="http://schemas.openxmlformats.org/drawingml/2006/main">
            <a:r>
              <a:t>PERTANYAAN DISKUSI: Bagian mana yang berubah pada proyek latihan, dan bagaimana Anda membuktikan hasilnya?</a:t>
            </a:r>
          </a:p>
          <a:p xmlns:a="http://schemas.openxmlformats.org/drawingml/2006/main">
            <a:r>
              <a:t/>
            </a:r>
          </a:p>
          <a:p xmlns:a="http://schemas.openxmlformats.org/drawingml/2006/main">
            <a:r>
              <a:t>RUJUKAN:</a:t>
            </a:r>
          </a:p>
          <a:p xmlns:a="http://schemas.openxmlformats.org/drawingml/2006/main">
            <a:r>
              <a:t>Materi dan PRD Hari 1, paket Flutter DPL 3 Hari, 03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SESI 16.00-16.30: Review dan checkpoint. ALOKASI 10 menit.</a:t>
            </a:r>
          </a:p>
          <a:p xmlns:a="http://schemas.openxmlformats.org/drawingml/2006/main">
            <a:r>
              <a:t/>
            </a:r>
          </a:p>
          <a:p xmlns:a="http://schemas.openxmlformats.org/drawingml/2006/main">
            <a:r>
              <a:t>TUJUAN: Evaluasi pemahaman hari pertama.</a:t>
            </a:r>
          </a:p>
          <a:p xmlns:a="http://schemas.openxmlformats.org/drawingml/2006/main">
            <a:r>
              <a:t/>
            </a:r>
          </a:p>
          <a:p xmlns:a="http://schemas.openxmlformats.org/drawingml/2006/main">
            <a:r>
              <a:t>Minta peserta menjawab tanpa membaca source. Gunakan contoh konkret dari latihan. Jika jawaban salah, minta mereka menunjuk bagian kode yang menyebabkan gejala. Jawaban ada pada notes untuk trainer.</a:t>
            </a:r>
          </a:p>
          <a:p xmlns:a="http://schemas.openxmlformats.org/drawingml/2006/main">
            <a:r>
              <a:t/>
            </a:r>
          </a:p>
          <a:p xmlns:a="http://schemas.openxmlformats.org/drawingml/2006/main">
            <a:r>
              <a:t>KUNCI EVALUASI:</a:t>
            </a:r>
          </a:p>
          <a:p xmlns:a="http://schemas.openxmlformats.org/drawingml/2006/main">
            <a:r>
              <a:t>build dapat dipanggil berulang dan memicu side effect/request berulang.</a:t>
            </a:r>
          </a:p>
          <a:p xmlns:a="http://schemas.openxmlformats.org/drawingml/2006/main">
            <a:r>
              <a:t>Empty adalah hasil valid tanpa item. Error berarti proses gagal.</a:t>
            </a:r>
          </a:p>
          <a:p xmlns:a="http://schemas.openxmlformats.org/drawingml/2006/main">
            <a:r>
              <a:t>Layar daftar atau pemilik state daftar. Form mengembalikan record.</a:t>
            </a:r>
          </a:p>
          <a:p xmlns:a="http://schemas.openxmlformats.org/drawingml/2006/main">
            <a:r>
              <a:t>Async dapat selesai setelah State dilepas sehingga UI tidak lagi boleh diubah.</a:t>
            </a:r>
          </a:p>
          <a:p xmlns:a="http://schemas.openxmlformats.org/drawingml/2006/main">
            <a:r>
              <a:t/>
            </a:r>
          </a:p>
          <a:p xmlns:a="http://schemas.openxmlformats.org/drawingml/2006/main">
            <a:r>
              <a:t>PERTANYAAN DISKUSI: Bagian mana yang berubah pada proyek latihan, dan bagaimana Anda membuktikan hasilnya?</a:t>
            </a:r>
          </a:p>
          <a:p xmlns:a="http://schemas.openxmlformats.org/drawingml/2006/main">
            <a:r>
              <a:t/>
            </a:r>
          </a:p>
          <a:p xmlns:a="http://schemas.openxmlformats.org/drawingml/2006/main">
            <a:r>
              <a:t>RUJUKAN:</a:t>
            </a:r>
          </a:p>
          <a:p xmlns:a="http://schemas.openxmlformats.org/drawingml/2006/main">
            <a:r>
              <a:t>Materi dan PRD Hari 1, paket Flutter DPL 3 Hari, 03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SESI 16.00-16.30: Review dan checkpoint. ALOKASI 8 menit.</a:t>
            </a:r>
          </a:p>
          <a:p xmlns:a="http://schemas.openxmlformats.org/drawingml/2006/main">
            <a:r>
              <a:t/>
            </a:r>
          </a:p>
          <a:p xmlns:a="http://schemas.openxmlformats.org/drawingml/2006/main">
            <a:r>
              <a:t>TUJUAN: Acceptance checkpoint day-1.</a:t>
            </a:r>
          </a:p>
          <a:p xmlns:a="http://schemas.openxmlformats.org/drawingml/2006/main">
            <a:r>
              <a:t/>
            </a:r>
          </a:p>
          <a:p xmlns:a="http://schemas.openxmlformats.org/drawingml/2006/main">
            <a:r>
              <a:t>Gunakan AC1-AC8 lengkap pada PRD Hari 1. Trainer memilih record kedua, input spasi dan catatan needs_action pendek sebagai spot check. Bukti menunjukkan perilaku, bukan hanya screenshot UI tanpa data. Semua kriteria inti harus stabil sebelum integrasi API.</a:t>
            </a:r>
          </a:p>
          <a:p xmlns:a="http://schemas.openxmlformats.org/drawingml/2006/main">
            <a:r>
              <a:t/>
            </a:r>
          </a:p>
          <a:p xmlns:a="http://schemas.openxmlformats.org/drawingml/2006/main">
            <a:r>
              <a:t>PERTANYAAN DISKUSI: Bagian mana yang berubah pada proyek latihan, dan bagaimana Anda membuktikan hasilnya?</a:t>
            </a:r>
          </a:p>
          <a:p xmlns:a="http://schemas.openxmlformats.org/drawingml/2006/main">
            <a:r>
              <a:t/>
            </a:r>
          </a:p>
          <a:p xmlns:a="http://schemas.openxmlformats.org/drawingml/2006/main">
            <a:r>
              <a:t>RUJUKAN:</a:t>
            </a:r>
          </a:p>
          <a:p xmlns:a="http://schemas.openxmlformats.org/drawingml/2006/main">
            <a:r>
              <a:t>Materi dan PRD Hari 1, paket Flutter DPL 3 Hari, 03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SESI 16.00-16.30: Review dan checkpoint. ALOKASI 8 menit.</a:t>
            </a:r>
          </a:p>
          <a:p xmlns:a="http://schemas.openxmlformats.org/drawingml/2006/main">
            <a:r>
              <a:t/>
            </a:r>
          </a:p>
          <a:p xmlns:a="http://schemas.openxmlformats.org/drawingml/2006/main">
            <a:r>
              <a:t>TUJUAN: Handover hari pertama.</a:t>
            </a:r>
          </a:p>
          <a:p xmlns:a="http://schemas.openxmlformats.org/drawingml/2006/main">
            <a:r>
              <a:t/>
            </a:r>
          </a:p>
          <a:p xmlns:a="http://schemas.openxmlformats.org/drawingml/2006/main">
            <a:r>
              <a:t>Peserta memberi demo pendek per pasangan dan menyerahkan bukti. Jika checkpoint belum lulus, tentukan bug yang harus diperbaiki sebelum hari kedua. Trainer boleh memberikan baseline yang dapat dijalankan, tetapi peserta tetap menjelaskan dan memperbaiki perubahan miliknya.</a:t>
            </a:r>
          </a:p>
          <a:p xmlns:a="http://schemas.openxmlformats.org/drawingml/2006/main">
            <a:r>
              <a:t/>
            </a:r>
          </a:p>
          <a:p xmlns:a="http://schemas.openxmlformats.org/drawingml/2006/main">
            <a:r>
              <a:t>PERTANYAAN DISKUSI: Bagian mana yang berubah pada proyek latihan, dan bagaimana Anda membuktikan hasilnya?</a:t>
            </a:r>
          </a:p>
          <a:p xmlns:a="http://schemas.openxmlformats.org/drawingml/2006/main">
            <a:r>
              <a:t/>
            </a:r>
          </a:p>
          <a:p xmlns:a="http://schemas.openxmlformats.org/drawingml/2006/main">
            <a:r>
              <a:t>RUJUKAN:</a:t>
            </a:r>
          </a:p>
          <a:p xmlns:a="http://schemas.openxmlformats.org/drawingml/2006/main">
            <a:r>
              <a:t>Materi dan PRD Hari 1, paket Flutter DPL 3 Hari, 03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SESI 16.00-16.30: Review dan checkpoint. ALOKASI 4 menit.</a:t>
            </a:r>
          </a:p>
          <a:p xmlns:a="http://schemas.openxmlformats.org/drawingml/2006/main">
            <a:r>
              <a:t/>
            </a:r>
          </a:p>
          <a:p xmlns:a="http://schemas.openxmlformats.org/drawingml/2006/main">
            <a:r>
              <a:t>TUJUAN: Referensi dan persiapan hari kedua.</a:t>
            </a:r>
          </a:p>
          <a:p xmlns:a="http://schemas.openxmlformats.org/drawingml/2006/main">
            <a:r>
              <a:t/>
            </a:r>
          </a:p>
          <a:p xmlns:a="http://schemas.openxmlformats.org/drawingml/2006/main">
            <a:r>
              <a:t>Sumber utama: https://dart.dev/language</a:t>
            </a:r>
          </a:p>
          <a:p xmlns:a="http://schemas.openxmlformats.org/drawingml/2006/main">
            <a:r>
              <a:t>https://docs.flutter.dev/ui/layout/constraints</a:t>
            </a:r>
          </a:p>
          <a:p xmlns:a="http://schemas.openxmlformats.org/drawingml/2006/main">
            <a:r>
              <a:t>https://docs.flutter.dev/cookbook/navigation</a:t>
            </a:r>
          </a:p>
          <a:p xmlns:a="http://schemas.openxmlformats.org/drawingml/2006/main">
            <a:r>
              <a:t>https://docs.flutter.dev/cookbook/forms/validation. Contoh source memerlukan dry run pada SDK kelas. Kode slide berupa potongan untuk demonstrasi dan memakai context/variabel dari project latihan. File lengkap tersedia dalam paket praktik sebelumnya.</a:t>
            </a:r>
          </a:p>
          <a:p xmlns:a="http://schemas.openxmlformats.org/drawingml/2006/main">
            <a:r>
              <a:t/>
            </a:r>
          </a:p>
          <a:p xmlns:a="http://schemas.openxmlformats.org/drawingml/2006/main">
            <a:r>
              <a:t>PERTANYAAN DISKUSI: Bagian mana yang berubah pada proyek latihan, dan bagaimana Anda membuktikan hasilnya?</a:t>
            </a:r>
          </a:p>
          <a:p xmlns:a="http://schemas.openxmlformats.org/drawingml/2006/main">
            <a:r>
              <a:t/>
            </a:r>
          </a:p>
          <a:p xmlns:a="http://schemas.openxmlformats.org/drawingml/2006/main">
            <a:r>
              <a:t>RUJUKAN:</a:t>
            </a:r>
          </a:p>
          <a:p xmlns:a="http://schemas.openxmlformats.org/drawingml/2006/main">
            <a:r>
              <a:t>https://dart.dev/language</a:t>
            </a:r>
          </a:p>
          <a:p xmlns:a="http://schemas.openxmlformats.org/drawingml/2006/main">
            <a:r>
              <a:t>https://docs.flutter.dev/ui/layout/constraints</a:t>
            </a:r>
          </a:p>
          <a:p xmlns:a="http://schemas.openxmlformats.org/drawingml/2006/main">
            <a:r>
              <a:t>https://docs.flutter.dev/cookbook/navigation</a:t>
            </a:r>
          </a:p>
          <a:p xmlns:a="http://schemas.openxmlformats.org/drawingml/2006/main">
            <a:r>
              <a:t>Materi dan PRD Hari 1, paket Flutter DPL 3 Hari, 03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797e15f7cea401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40b513ebb554ef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5ce4053c1b04c3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2ad8dc587734b4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523a98e56254e4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63c2e498d394c9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2A8ADBB9-7089-40DB-876B-5A03590F8213}"/>
              </a:ext>
            </a:extLst>
          </p:cNvPr>
          <p:cNvSpPr>
            <a:spLocks xmlns:a="http://schemas.openxmlformats.org/drawingml/2006/main" noGrp="1"/>
          </p:cNvSpPr>
          <p:nvPr/>
        </p:nvSpPr>
        <p:spPr>
          <a:xfrm xmlns:a="http://schemas.openxmlformats.org/drawingml/2006/main">
            <a:off x="5791200" y="22098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27899359-6648-41B3-9C67-0228F87FFE18}"/>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3" name="Subtitle">
            <a:extLst xmlns:a="http://schemas.openxmlformats.org/drawingml/2006/main">
              <a:ext uri="{FF2B5EF4-FFF2-40B4-BE49-F238E27FC236}">
                <a16:creationId xmlns:a16="http://schemas.microsoft.com/office/drawing/2014/main" id="{3304D582-509D-42A2-8391-FF08B3293398}"/>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3" name="Accent rule">
            <a:extLst xmlns:a="http://schemas.openxmlformats.org/drawingml/2006/main">
              <a:ext uri="{FF2B5EF4-FFF2-40B4-BE49-F238E27FC236}">
                <a16:creationId xmlns:a16="http://schemas.microsoft.com/office/drawing/2014/main" id="{A76A61F3-CAC1-41DF-9CED-9A954B5F066B}"/>
              </a:ext>
            </a:extLst>
          </p:cNvPr>
          <p:cNvSpPr>
            <a:spLocks xmlns:a="http://schemas.openxmlformats.org/drawingml/2006/main" noGrp="1"/>
          </p:cNvSpPr>
          <p:nvPr/>
        </p:nvSpPr>
        <p:spPr>
          <a:xfrm xmlns:a="http://schemas.openxmlformats.org/drawingml/2006/main">
            <a:off x="5791200" y="24765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Section title">
            <a:extLst xmlns:a="http://schemas.openxmlformats.org/drawingml/2006/main">
              <a:ext uri="{FF2B5EF4-FFF2-40B4-BE49-F238E27FC236}">
                <a16:creationId xmlns:a16="http://schemas.microsoft.com/office/drawing/2014/main" id="{7C95AC95-DAC5-4757-8058-5A1687E8A8C8}"/>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00E0DA17-720B-430B-9032-7C13A038D182}"/>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18BF440B-FDFB-46C3-8304-CDA71930798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3" name="Body">
            <a:extLst xmlns:a="http://schemas.openxmlformats.org/drawingml/2006/main">
              <a:ext uri="{FF2B5EF4-FFF2-40B4-BE49-F238E27FC236}">
                <a16:creationId xmlns:a16="http://schemas.microsoft.com/office/drawing/2014/main" id="{E81E1343-C4F0-4CD8-A0BC-985874FFDB8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5" name="Accent rule">
            <a:extLst xmlns:a="http://schemas.openxmlformats.org/drawingml/2006/main">
              <a:ext uri="{FF2B5EF4-FFF2-40B4-BE49-F238E27FC236}">
                <a16:creationId xmlns:a16="http://schemas.microsoft.com/office/drawing/2014/main" id="{3269339D-6B3D-4194-95D9-F1242D1ECAA8}"/>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C78DC948-D0EC-4F67-A0B4-F9DE47820B5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696D8CC5-C87A-4287-9122-F2DF0115901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4" name="Right column">
            <a:extLst xmlns:a="http://schemas.openxmlformats.org/drawingml/2006/main">
              <a:ext uri="{FF2B5EF4-FFF2-40B4-BE49-F238E27FC236}">
                <a16:creationId xmlns:a16="http://schemas.microsoft.com/office/drawing/2014/main" id="{FE10E9B4-E2E6-4EED-908D-C20E31569114}"/>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BDA79764-A47B-4CAE-8FA4-07FC7639DD37}"/>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6E220F81-B48B-42AC-944E-33009D454E1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2CFE0F69-0D13-434B-A87A-0E8A1D4DC23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c6eb39552464948" /><Relationship Type="http://schemas.openxmlformats.org/officeDocument/2006/relationships/slideLayout" Target="/ppt/slideLayouts/slideLayout1.xml" Id="R245df5923d9f41bd" /><Relationship Type="http://schemas.openxmlformats.org/officeDocument/2006/relationships/slideLayout" Target="/ppt/slideLayouts/slideLayout2.xml" Id="R6cd887c288e54fd3" /><Relationship Type="http://schemas.openxmlformats.org/officeDocument/2006/relationships/slideLayout" Target="/ppt/slideLayouts/slideLayout3.xml" Id="R25fb0c33cacb492c" /><Relationship Type="http://schemas.openxmlformats.org/officeDocument/2006/relationships/slideLayout" Target="/ppt/slideLayouts/slideLayout4.xml" Id="R008c584994134a62" /><Relationship Type="http://schemas.openxmlformats.org/officeDocument/2006/relationships/slideLayout" Target="/ppt/slideLayouts/slideLayout5.xml" Id="R0990ebbeff6949e4" /><Relationship Type="http://schemas.openxmlformats.org/officeDocument/2006/relationships/slideLayout" Target="/ppt/slideLayouts/slideLayout6.xml" Id="R3f4685fbd9f6439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45df5923d9f41bd"/>
    <p:sldLayoutId xmlns:r="http://schemas.openxmlformats.org/officeDocument/2006/relationships" id="2147483650" r:id="R6cd887c288e54fd3"/>
    <p:sldLayoutId xmlns:r="http://schemas.openxmlformats.org/officeDocument/2006/relationships" id="2147483651" r:id="R25fb0c33cacb492c"/>
    <p:sldLayoutId xmlns:r="http://schemas.openxmlformats.org/officeDocument/2006/relationships" id="2147483652" r:id="R008c584994134a62"/>
    <p:sldLayoutId xmlns:r="http://schemas.openxmlformats.org/officeDocument/2006/relationships" id="2147483653" r:id="R0990ebbeff6949e4"/>
    <p:sldLayoutId xmlns:r="http://schemas.openxmlformats.org/officeDocument/2006/relationships" id="2147483654" r:id="R3f4685fbd9f6439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df118da74294489" /><Relationship Type="http://schemas.openxmlformats.org/officeDocument/2006/relationships/image" Target="/ppt/media/image.png" Id="R14c07cd652454c51" /><Relationship Type="http://schemas.openxmlformats.org/officeDocument/2006/relationships/image" Target="/ppt/media/image2.png" Id="R8a5f6aec26894355" /><Relationship Type="http://schemas.openxmlformats.org/officeDocument/2006/relationships/notesSlide" Target="/ppt/notesSlides/notesSlide1.xml" Id="Ra28f0bf5d1d9415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a79aaaf27b54ea9" /><Relationship Type="http://schemas.openxmlformats.org/officeDocument/2006/relationships/image" Target="/ppt/media/image3.png" Id="R9f163faeca8340d4" /><Relationship Type="http://schemas.openxmlformats.org/officeDocument/2006/relationships/image" Target="/ppt/media/image4.png" Id="R275cd167324d47b9" /><Relationship Type="http://schemas.openxmlformats.org/officeDocument/2006/relationships/notesSlide" Target="/ppt/notesSlides/notesSlide2.xml" Id="R80805c087d964a27"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95b4caf1d41b4467" /><Relationship Type="http://schemas.openxmlformats.org/officeDocument/2006/relationships/image" Target="/ppt/media/image5.png" Id="R17a2296e525c4399" /><Relationship Type="http://schemas.openxmlformats.org/officeDocument/2006/relationships/image" Target="/ppt/media/image6.png" Id="R9c20d0caa832437a" /><Relationship Type="http://schemas.openxmlformats.org/officeDocument/2006/relationships/notesSlide" Target="/ppt/notesSlides/notesSlide3.xml" Id="Rb2f0e014d076470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1e0f7d64d9f480c" /><Relationship Type="http://schemas.openxmlformats.org/officeDocument/2006/relationships/image" Target="/ppt/media/image7.png" Id="R08b4392284864257" /><Relationship Type="http://schemas.openxmlformats.org/officeDocument/2006/relationships/image" Target="/ppt/media/image8.png" Id="R94860a65442547b0" /><Relationship Type="http://schemas.openxmlformats.org/officeDocument/2006/relationships/notesSlide" Target="/ppt/notesSlides/notesSlide4.xml" Id="Rfc63558a0bbf411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303444b2767345d2" /><Relationship Type="http://schemas.openxmlformats.org/officeDocument/2006/relationships/image" Target="/ppt/media/image9.png" Id="Ra0a61e8885e441f7" /><Relationship Type="http://schemas.openxmlformats.org/officeDocument/2006/relationships/image" Target="/ppt/media/image10.png" Id="R9994f48be68245fa" /><Relationship Type="http://schemas.openxmlformats.org/officeDocument/2006/relationships/notesSlide" Target="/ppt/notesSlides/notesSlide5.xml" Id="R4580b925e7b2442a"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780f51a2801d44a9" /><Relationship Type="http://schemas.openxmlformats.org/officeDocument/2006/relationships/image" Target="/ppt/media/image11.png" Id="R2021a1a6962649d5" /><Relationship Type="http://schemas.openxmlformats.org/officeDocument/2006/relationships/image" Target="/ppt/media/image12.png" Id="R9a38b958c8f54041" /><Relationship Type="http://schemas.openxmlformats.org/officeDocument/2006/relationships/notesSlide" Target="/ppt/notesSlides/notesSlide6.xml" Id="Rcedc36420d5640aa"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af4ceb5160e74851" /><Relationship Type="http://schemas.openxmlformats.org/officeDocument/2006/relationships/image" Target="/ppt/media/image13.png" Id="R6ed2c5cbe6084ffe" /><Relationship Type="http://schemas.openxmlformats.org/officeDocument/2006/relationships/image" Target="/ppt/media/image14.png" Id="R12e836e4a08d4576" /><Relationship Type="http://schemas.openxmlformats.org/officeDocument/2006/relationships/notesSlide" Target="/ppt/notesSlides/notesSlide7.xml" Id="Rb827e38fcc8e4591"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a8f667b06157404d" /><Relationship Type="http://schemas.openxmlformats.org/officeDocument/2006/relationships/image" Target="/ppt/media/image15.png" Id="R0c313733b80548d6" /><Relationship Type="http://schemas.openxmlformats.org/officeDocument/2006/relationships/image" Target="/ppt/media/image16.png" Id="R848cc80b9dde447b" /><Relationship Type="http://schemas.openxmlformats.org/officeDocument/2006/relationships/notesSlide" Target="/ppt/notesSlides/notesSlide8.xml" Id="R15144284b94f454a"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2761d85f208849fe" /><Relationship Type="http://schemas.openxmlformats.org/officeDocument/2006/relationships/image" Target="/ppt/media/image17.png" Id="R54cafecfd1ee4d5e" /><Relationship Type="http://schemas.openxmlformats.org/officeDocument/2006/relationships/image" Target="/ppt/media/image18.png" Id="R6378b8fb11dc45ec" /><Relationship Type="http://schemas.openxmlformats.org/officeDocument/2006/relationships/notesSlide" Target="/ppt/notesSlides/notesSlide9.xml" Id="Rf42d2e7532f2493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cd7008a183b44b48" /><Relationship Type="http://schemas.openxmlformats.org/officeDocument/2006/relationships/image" Target="/ppt/media/image19.png" Id="R658f707a305a49bf" /><Relationship Type="http://schemas.openxmlformats.org/officeDocument/2006/relationships/image" Target="/ppt/media/image20.png" Id="R97efdc712b5d42c9" /><Relationship Type="http://schemas.openxmlformats.org/officeDocument/2006/relationships/notesSlide" Target="/ppt/notesSlides/notesSlide10.xml" Id="R5feef83a85364b6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eb935879da034466" /><Relationship Type="http://schemas.openxmlformats.org/officeDocument/2006/relationships/image" Target="/ppt/media/image21.png" Id="R0cd332e9a4854034" /><Relationship Type="http://schemas.openxmlformats.org/officeDocument/2006/relationships/image" Target="/ppt/media/image22.png" Id="R9086f330bc3c499c" /><Relationship Type="http://schemas.openxmlformats.org/officeDocument/2006/relationships/notesSlide" Target="/ppt/notesSlides/notesSlide11.xml" Id="R4542c9bfc93548e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bdf50164214e4712" /><Relationship Type="http://schemas.openxmlformats.org/officeDocument/2006/relationships/image" Target="/ppt/media/image23.png" Id="R4e0edc3aa1b94d83" /><Relationship Type="http://schemas.openxmlformats.org/officeDocument/2006/relationships/image" Target="/ppt/media/image24.png" Id="Ra546fb27550047ba" /><Relationship Type="http://schemas.openxmlformats.org/officeDocument/2006/relationships/notesSlide" Target="/ppt/notesSlides/notesSlide12.xml" Id="Rc3bbc3695c9344c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fdceec6a5cc14a13" /><Relationship Type="http://schemas.openxmlformats.org/officeDocument/2006/relationships/image" Target="/ppt/media/image25.png" Id="R28c0611f850b41af" /><Relationship Type="http://schemas.openxmlformats.org/officeDocument/2006/relationships/image" Target="/ppt/media/image26.png" Id="Rb3353b612861445c" /><Relationship Type="http://schemas.openxmlformats.org/officeDocument/2006/relationships/notesSlide" Target="/ppt/notesSlides/notesSlide13.xml" Id="R34d603543a0d416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8dde066b1b164198" /><Relationship Type="http://schemas.openxmlformats.org/officeDocument/2006/relationships/image" Target="/ppt/media/image27.png" Id="R1598c33380264062" /><Relationship Type="http://schemas.openxmlformats.org/officeDocument/2006/relationships/image" Target="/ppt/media/image28.png" Id="R96ae65fd685f48db" /><Relationship Type="http://schemas.openxmlformats.org/officeDocument/2006/relationships/notesSlide" Target="/ppt/notesSlides/notesSlide14.xml" Id="Ra72a27bb7a6b484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a59e68a21ae44444" /><Relationship Type="http://schemas.openxmlformats.org/officeDocument/2006/relationships/image" Target="/ppt/media/image29.png" Id="Ra26d19186ac9487b" /><Relationship Type="http://schemas.openxmlformats.org/officeDocument/2006/relationships/image" Target="/ppt/media/image30.png" Id="Rf7f32b6ae22f4c23" /><Relationship Type="http://schemas.openxmlformats.org/officeDocument/2006/relationships/notesSlide" Target="/ppt/notesSlides/notesSlide15.xml" Id="R9cfbbcc0d80d465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56ddae59ecba40fd" /><Relationship Type="http://schemas.openxmlformats.org/officeDocument/2006/relationships/image" Target="/ppt/media/image31.png" Id="Rcc25ef04f8914259" /><Relationship Type="http://schemas.openxmlformats.org/officeDocument/2006/relationships/image" Target="/ppt/media/image32.png" Id="R40ff92ed02684e74" /><Relationship Type="http://schemas.openxmlformats.org/officeDocument/2006/relationships/notesSlide" Target="/ppt/notesSlides/notesSlide16.xml" Id="R29d9d10487074dfa"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dfe847c165c44d93" /><Relationship Type="http://schemas.openxmlformats.org/officeDocument/2006/relationships/image" Target="/ppt/media/image33.png" Id="Ra47a4242419d46a8" /><Relationship Type="http://schemas.openxmlformats.org/officeDocument/2006/relationships/image" Target="/ppt/media/image34.png" Id="R26c6fee2faf2420f" /><Relationship Type="http://schemas.openxmlformats.org/officeDocument/2006/relationships/notesSlide" Target="/ppt/notesSlides/notesSlide17.xml" Id="Rec76f4029d184f55"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19382809107e4459" /><Relationship Type="http://schemas.openxmlformats.org/officeDocument/2006/relationships/image" Target="/ppt/media/image35.png" Id="R9bcbcd2e96d04dcc" /><Relationship Type="http://schemas.openxmlformats.org/officeDocument/2006/relationships/image" Target="/ppt/media/image36.png" Id="Rd9341899fd4d4019" /><Relationship Type="http://schemas.openxmlformats.org/officeDocument/2006/relationships/notesSlide" Target="/ppt/notesSlides/notesSlide18.xml" Id="R58b9c4bb89414538"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8179903970b34a7b" /><Relationship Type="http://schemas.openxmlformats.org/officeDocument/2006/relationships/image" Target="/ppt/media/image37.png" Id="R390356532c2648ef" /><Relationship Type="http://schemas.openxmlformats.org/officeDocument/2006/relationships/image" Target="/ppt/media/image38.png" Id="Rad6549d00d5340bb" /><Relationship Type="http://schemas.openxmlformats.org/officeDocument/2006/relationships/notesSlide" Target="/ppt/notesSlides/notesSlide19.xml" Id="R3f63a66407d8401b"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405b9d1ff8f94f30" /><Relationship Type="http://schemas.openxmlformats.org/officeDocument/2006/relationships/image" Target="/ppt/media/image39.png" Id="R2db128e459d34b4b" /><Relationship Type="http://schemas.openxmlformats.org/officeDocument/2006/relationships/image" Target="/ppt/media/image40.png" Id="R0a4b417b33804b41" /><Relationship Type="http://schemas.openxmlformats.org/officeDocument/2006/relationships/notesSlide" Target="/ppt/notesSlides/notesSlide20.xml" Id="R62a1a9a17d334cfd"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d5bdad5c90534ee5" /><Relationship Type="http://schemas.openxmlformats.org/officeDocument/2006/relationships/image" Target="/ppt/media/image41.png" Id="R61d8bed88fb346bb" /><Relationship Type="http://schemas.openxmlformats.org/officeDocument/2006/relationships/image" Target="/ppt/media/image42.png" Id="Rf4c8535b12b14229" /><Relationship Type="http://schemas.openxmlformats.org/officeDocument/2006/relationships/notesSlide" Target="/ppt/notesSlides/notesSlide21.xml" Id="Rbe117d355004467b"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d72146b33f944260" /><Relationship Type="http://schemas.openxmlformats.org/officeDocument/2006/relationships/image" Target="/ppt/media/image43.png" Id="Rc0342aa693c64b1b" /><Relationship Type="http://schemas.openxmlformats.org/officeDocument/2006/relationships/image" Target="/ppt/media/image44.png" Id="Rb158502dd2394c11" /><Relationship Type="http://schemas.openxmlformats.org/officeDocument/2006/relationships/notesSlide" Target="/ppt/notesSlides/notesSlide22.xml" Id="R3b0260a4ff6d42d0"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07803e7da4d74fdb" /><Relationship Type="http://schemas.openxmlformats.org/officeDocument/2006/relationships/image" Target="/ppt/media/image45.png" Id="R3e905370a24e4d02" /><Relationship Type="http://schemas.openxmlformats.org/officeDocument/2006/relationships/image" Target="/ppt/media/image46.png" Id="R1cf351e586d44e1a" /><Relationship Type="http://schemas.openxmlformats.org/officeDocument/2006/relationships/notesSlide" Target="/ppt/notesSlides/notesSlide23.xml" Id="R63381ff83fac41e1"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de9a64779b754e88" /><Relationship Type="http://schemas.openxmlformats.org/officeDocument/2006/relationships/image" Target="/ppt/media/image47.png" Id="Rf9b1ad63b19b4e5c" /><Relationship Type="http://schemas.openxmlformats.org/officeDocument/2006/relationships/image" Target="/ppt/media/image48.png" Id="R84eb44280fd240bf" /><Relationship Type="http://schemas.openxmlformats.org/officeDocument/2006/relationships/notesSlide" Target="/ppt/notesSlides/notesSlide24.xml" Id="R3ff6273ce693419f"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7017259b61464914" /><Relationship Type="http://schemas.openxmlformats.org/officeDocument/2006/relationships/image" Target="/ppt/media/image49.png" Id="Re0fe4e1145f146c1" /><Relationship Type="http://schemas.openxmlformats.org/officeDocument/2006/relationships/image" Target="/ppt/media/image50.png" Id="Rfa5a98172aa54ac2" /><Relationship Type="http://schemas.openxmlformats.org/officeDocument/2006/relationships/notesSlide" Target="/ppt/notesSlides/notesSlide25.xml" Id="Rbe8c2a87de6c49a1"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6c8b5170333d461a" /><Relationship Type="http://schemas.openxmlformats.org/officeDocument/2006/relationships/image" Target="/ppt/media/image51.png" Id="R013bc3d30bac4868" /><Relationship Type="http://schemas.openxmlformats.org/officeDocument/2006/relationships/image" Target="/ppt/media/image52.png" Id="R0e7ae63adad44c96" /><Relationship Type="http://schemas.openxmlformats.org/officeDocument/2006/relationships/notesSlide" Target="/ppt/notesSlides/notesSlide26.xml" Id="R8612609bbbb64e15"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e7ebd6e787d74b16" /><Relationship Type="http://schemas.openxmlformats.org/officeDocument/2006/relationships/image" Target="/ppt/media/image53.png" Id="Re0a1f539c9554909" /><Relationship Type="http://schemas.openxmlformats.org/officeDocument/2006/relationships/image" Target="/ppt/media/image54.png" Id="Refbc48dbee254b25" /><Relationship Type="http://schemas.openxmlformats.org/officeDocument/2006/relationships/notesSlide" Target="/ppt/notesSlides/notesSlide27.xml" Id="R08fa45b5380b4f21"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be6a10cce75c46c6" /><Relationship Type="http://schemas.openxmlformats.org/officeDocument/2006/relationships/image" Target="/ppt/media/image55.png" Id="R9c9499a9d4a74bd9" /><Relationship Type="http://schemas.openxmlformats.org/officeDocument/2006/relationships/image" Target="/ppt/media/image56.png" Id="R2e71f9d66be34cad" /><Relationship Type="http://schemas.openxmlformats.org/officeDocument/2006/relationships/notesSlide" Target="/ppt/notesSlides/notesSlide28.xml" Id="R2288f15ed3ec4ac3"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1054b55d5ed94c1e" /><Relationship Type="http://schemas.openxmlformats.org/officeDocument/2006/relationships/image" Target="/ppt/media/image57.png" Id="Rc64caece5b1c45f8" /><Relationship Type="http://schemas.openxmlformats.org/officeDocument/2006/relationships/image" Target="/ppt/media/image58.png" Id="R69ad529bc6e247fa" /><Relationship Type="http://schemas.openxmlformats.org/officeDocument/2006/relationships/notesSlide" Target="/ppt/notesSlides/notesSlide29.xml" Id="R50f9f21f77394af9"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7d61e4293ead42ea" /><Relationship Type="http://schemas.openxmlformats.org/officeDocument/2006/relationships/image" Target="/ppt/media/image59.png" Id="R41c104c5393946f1" /><Relationship Type="http://schemas.openxmlformats.org/officeDocument/2006/relationships/image" Target="/ppt/media/image60.png" Id="R74d722be4682469d" /><Relationship Type="http://schemas.openxmlformats.org/officeDocument/2006/relationships/notesSlide" Target="/ppt/notesSlides/notesSlide30.xml" Id="Rb7aa2d1e19ac4d6c"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0ed271a61ea74b6d" /><Relationship Type="http://schemas.openxmlformats.org/officeDocument/2006/relationships/image" Target="/ppt/media/image61.png" Id="R1b319440649a408b" /><Relationship Type="http://schemas.openxmlformats.org/officeDocument/2006/relationships/image" Target="/ppt/media/image62.png" Id="R9ce95f5f67fb4d2d" /><Relationship Type="http://schemas.openxmlformats.org/officeDocument/2006/relationships/notesSlide" Target="/ppt/notesSlides/notesSlide31.xml" Id="Rb15e73614bf14000"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f3c7557f10f14ba2" /><Relationship Type="http://schemas.openxmlformats.org/officeDocument/2006/relationships/image" Target="/ppt/media/image63.png" Id="R1f00f9e1af7f4c1f" /><Relationship Type="http://schemas.openxmlformats.org/officeDocument/2006/relationships/image" Target="/ppt/media/image64.png" Id="Ra7bca70959974461" /><Relationship Type="http://schemas.openxmlformats.org/officeDocument/2006/relationships/notesSlide" Target="/ppt/notesSlides/notesSlide32.xml" Id="R38bded7b7a2e4d0f"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cef31d9536424b37" /><Relationship Type="http://schemas.openxmlformats.org/officeDocument/2006/relationships/image" Target="/ppt/media/image65.png" Id="Rdb1cae07036340b6" /><Relationship Type="http://schemas.openxmlformats.org/officeDocument/2006/relationships/image" Target="/ppt/media/image66.png" Id="Rbba31c17e6ce42ad" /><Relationship Type="http://schemas.openxmlformats.org/officeDocument/2006/relationships/notesSlide" Target="/ppt/notesSlides/notesSlide33.xml" Id="R145edb702cb54861"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09a5ae4195e146c7" /><Relationship Type="http://schemas.openxmlformats.org/officeDocument/2006/relationships/image" Target="/ppt/media/image67.png" Id="R178328d1ab37478e" /><Relationship Type="http://schemas.openxmlformats.org/officeDocument/2006/relationships/image" Target="/ppt/media/image68.png" Id="Re300622d29f949d9" /><Relationship Type="http://schemas.openxmlformats.org/officeDocument/2006/relationships/notesSlide" Target="/ppt/notesSlides/notesSlide34.xml" Id="Rbc74ed3b9a684160"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0398a056d6f64c66" /><Relationship Type="http://schemas.openxmlformats.org/officeDocument/2006/relationships/image" Target="/ppt/media/image69.png" Id="Rb723bcba218c4ccc" /><Relationship Type="http://schemas.openxmlformats.org/officeDocument/2006/relationships/image" Target="/ppt/media/image70.png" Id="R6ec7c199931e4cb0" /><Relationship Type="http://schemas.openxmlformats.org/officeDocument/2006/relationships/notesSlide" Target="/ppt/notesSlides/notesSlide35.xml" Id="R26802d0b5cab4747"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f8ceeeae2780443d" /><Relationship Type="http://schemas.openxmlformats.org/officeDocument/2006/relationships/image" Target="/ppt/media/image71.png" Id="R5ddd754301f34a5c" /><Relationship Type="http://schemas.openxmlformats.org/officeDocument/2006/relationships/image" Target="/ppt/media/image72.png" Id="Ra87ebadcaa074150" /><Relationship Type="http://schemas.openxmlformats.org/officeDocument/2006/relationships/notesSlide" Target="/ppt/notesSlides/notesSlide36.xml" Id="R03b82b532a504039"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5af9fcdeb55b47e0" /><Relationship Type="http://schemas.openxmlformats.org/officeDocument/2006/relationships/image" Target="/ppt/media/image73.png" Id="R325c18fd189f4484" /><Relationship Type="http://schemas.openxmlformats.org/officeDocument/2006/relationships/image" Target="/ppt/media/image74.png" Id="R7ba3b21f7677409f" /><Relationship Type="http://schemas.openxmlformats.org/officeDocument/2006/relationships/notesSlide" Target="/ppt/notesSlides/notesSlide37.xml" Id="R0b9e45960a014350"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588d81e657734a4a" /><Relationship Type="http://schemas.openxmlformats.org/officeDocument/2006/relationships/image" Target="/ppt/media/image75.png" Id="Rb3c02bcf1aa2479b" /><Relationship Type="http://schemas.openxmlformats.org/officeDocument/2006/relationships/image" Target="/ppt/media/image76.png" Id="Ra8d4e7ff14a84a2b" /><Relationship Type="http://schemas.openxmlformats.org/officeDocument/2006/relationships/notesSlide" Target="/ppt/notesSlides/notesSlide38.xml" Id="Rf741490542d749e5"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e0bcfbb2cea24ca0" /><Relationship Type="http://schemas.openxmlformats.org/officeDocument/2006/relationships/image" Target="/ppt/media/image77.png" Id="R036d2781ee504a22" /><Relationship Type="http://schemas.openxmlformats.org/officeDocument/2006/relationships/image" Target="/ppt/media/image78.png" Id="Re398cbd3ec4d463d" /><Relationship Type="http://schemas.openxmlformats.org/officeDocument/2006/relationships/notesSlide" Target="/ppt/notesSlides/notesSlide39.xml" Id="Ra618d72288784b03"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b2630ae2fb6d47d0" /><Relationship Type="http://schemas.openxmlformats.org/officeDocument/2006/relationships/image" Target="/ppt/media/image79.png" Id="Rb64a60ffe56740f0" /><Relationship Type="http://schemas.openxmlformats.org/officeDocument/2006/relationships/image" Target="/ppt/media/image80.png" Id="R106ee48d1d344434" /><Relationship Type="http://schemas.openxmlformats.org/officeDocument/2006/relationships/notesSlide" Target="/ppt/notesSlides/notesSlide40.xml" Id="Rf34b859b735a4bc7"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4861295cdcb0457a" /><Relationship Type="http://schemas.openxmlformats.org/officeDocument/2006/relationships/image" Target="/ppt/media/image81.png" Id="Rb923a282ecd64890" /><Relationship Type="http://schemas.openxmlformats.org/officeDocument/2006/relationships/image" Target="/ppt/media/image82.png" Id="Rec7ab54c9c3b4eca" /><Relationship Type="http://schemas.openxmlformats.org/officeDocument/2006/relationships/notesSlide" Target="/ppt/notesSlides/notesSlide41.xml" Id="R5f425fac3411453d"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b7eb9cf4b45149e3" /><Relationship Type="http://schemas.openxmlformats.org/officeDocument/2006/relationships/image" Target="/ppt/media/image83.png" Id="Rca0d6822385f4a4b" /><Relationship Type="http://schemas.openxmlformats.org/officeDocument/2006/relationships/image" Target="/ppt/media/image84.png" Id="Rf8dedc723e2c4f76" /><Relationship Type="http://schemas.openxmlformats.org/officeDocument/2006/relationships/notesSlide" Target="/ppt/notesSlides/notesSlide42.xml" Id="Rb6d298faaecb4aaa"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cc08662eb22442e5" /><Relationship Type="http://schemas.openxmlformats.org/officeDocument/2006/relationships/image" Target="/ppt/media/image85.png" Id="R21d3cb0d615a4acf" /><Relationship Type="http://schemas.openxmlformats.org/officeDocument/2006/relationships/image" Target="/ppt/media/image86.png" Id="R26fbb4b1c62e417e" /><Relationship Type="http://schemas.openxmlformats.org/officeDocument/2006/relationships/notesSlide" Target="/ppt/notesSlides/notesSlide43.xml" Id="Rd93245e6ad7a4f8e" /></Relationships>
</file>

<file path=ppt/slides/_rels/slide44.xml.rels>&#65279;<?xml version="1.0" encoding="utf-8"?><Relationships xmlns="http://schemas.openxmlformats.org/package/2006/relationships"><Relationship Type="http://schemas.openxmlformats.org/officeDocument/2006/relationships/slideLayout" Target="/ppt/slideLayouts/slideLayout6.xml" Id="R97ae946814b748ba" /><Relationship Type="http://schemas.openxmlformats.org/officeDocument/2006/relationships/image" Target="/ppt/media/image87.png" Id="Rf9c975bc61604a22" /><Relationship Type="http://schemas.openxmlformats.org/officeDocument/2006/relationships/image" Target="/ppt/media/image88.png" Id="R4a5230a277d24c74" /><Relationship Type="http://schemas.openxmlformats.org/officeDocument/2006/relationships/notesSlide" Target="/ppt/notesSlides/notesSlide44.xml" Id="R9df2cad80f434da9"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0-48">
            <a:extLst xmlns:a="http://schemas.openxmlformats.org/drawingml/2006/main">
              <a:ext uri="{FF2B5EF4-FFF2-40B4-BE49-F238E27FC236}">
                <a16:creationId xmlns:a16="http://schemas.microsoft.com/office/drawing/2014/main" id="{C3025CC8-092A-4816-A27C-FAC988BDFDBC}"/>
              </a:ext>
            </a:extLst>
          </p:cNvPr>
          <p:cNvSpPr>
            <a:spLocks xmlns:a="http://schemas.openxmlformats.org/drawingml/2006/main" noGrp="1"/>
          </p:cNvSpPr>
          <p:nvPr/>
        </p:nvSpPr>
        <p:spPr>
          <a:xfrm xmlns:a="http://schemas.openxmlformats.org/drawingml/2006/main">
            <a:off x="609600" y="4572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3300" b="1">
                <a:solidFill>
                  <a:srgbClr val="102D40"/>
                </a:solidFill>
                <a:latin typeface="DejaVu Sans"/>
                <a:ea typeface="DejaVu Sans"/>
                <a:cs typeface="DejaVu Sans"/>
              </a:defRPr>
            </a:pPr>
            <a:r>
              <a:rPr sz="3300" b="1">
                <a:solidFill>
                  <a:srgbClr val="102D40"/>
                </a:solidFill>
                <a:latin typeface="DejaVu Sans"/>
                <a:ea typeface="DejaVu Sans"/>
                <a:cs typeface="DejaVu Sans"/>
              </a:rPr>
              <a:t/>
            </a:r>
          </a:p>
        </p:txBody>
      </p:sp>
      <p:sp>
        <p:nvSpPr>
          <p:cNvPr id="2" name="text-1-674">
            <a:extLst xmlns:a="http://schemas.openxmlformats.org/drawingml/2006/main">
              <a:ext uri="{FF2B5EF4-FFF2-40B4-BE49-F238E27FC236}">
                <a16:creationId xmlns:a16="http://schemas.microsoft.com/office/drawing/2014/main" id="{AA9624A8-D5CC-4E83-A5A6-26CCE640D81D}"/>
              </a:ext>
            </a:extLst>
          </p:cNvPr>
          <p:cNvSpPr>
            <a:spLocks xmlns:a="http://schemas.openxmlformats.org/drawingml/2006/main" noGrp="1"/>
          </p:cNvSpPr>
          <p:nvPr/>
        </p:nvSpPr>
        <p:spPr>
          <a:xfrm xmlns:a="http://schemas.openxmlformats.org/drawingml/2006/main">
            <a:off x="609600" y="641985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200" b="0">
                <a:solidFill>
                  <a:srgbClr val="C6E5E7"/>
                </a:solidFill>
                <a:latin typeface="DejaVu Sans"/>
                <a:ea typeface="DejaVu Sans"/>
                <a:cs typeface="DejaVu Sans"/>
              </a:defRPr>
            </a:pPr>
            <a:r>
              <a:rPr sz="1200" b="0">
                <a:solidFill>
                  <a:srgbClr val="C6E5E7"/>
                </a:solidFill>
                <a:latin typeface="DejaVu Sans"/>
                <a:ea typeface="DejaVu Sans"/>
                <a:cs typeface="DejaVu Sans"/>
              </a:rPr>
              <a:t/>
            </a:r>
          </a:p>
        </p:txBody>
      </p:sp>
      <p:sp>
        <p:nvSpPr>
          <p:cNvPr id="3" name="text-2-674">
            <a:extLst xmlns:a="http://schemas.openxmlformats.org/drawingml/2006/main">
              <a:ext uri="{FF2B5EF4-FFF2-40B4-BE49-F238E27FC236}">
                <a16:creationId xmlns:a16="http://schemas.microsoft.com/office/drawing/2014/main" id="{FA0E34DC-487A-4F69-B284-3AE4CB94B7AB}"/>
              </a:ext>
            </a:extLst>
          </p:cNvPr>
          <p:cNvSpPr>
            <a:spLocks xmlns:a="http://schemas.openxmlformats.org/drawingml/2006/main" noGrp="1"/>
          </p:cNvSpPr>
          <p:nvPr/>
        </p:nvSpPr>
        <p:spPr>
          <a:xfrm xmlns:a="http://schemas.openxmlformats.org/drawingml/2006/main">
            <a:off x="10953750" y="641985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200" b="0">
                <a:solidFill>
                  <a:srgbClr val="C6E5E7"/>
                </a:solidFill>
                <a:latin typeface="DejaVu Sans"/>
                <a:ea typeface="DejaVu Sans"/>
                <a:cs typeface="DejaVu Sans"/>
              </a:defRPr>
            </a:pPr>
            <a:r>
              <a:rPr sz="1200" b="0">
                <a:solidFill>
                  <a:srgbClr val="C6E5E7"/>
                </a:solidFill>
                <a:latin typeface="DejaVu Sans"/>
                <a:ea typeface="DejaVu Sans"/>
                <a:cs typeface="DejaVu Sans"/>
              </a:rPr>
              <a:t/>
            </a:r>
          </a:p>
        </p:txBody>
      </p:sp>
      <p:sp>
        <p:nvSpPr>
          <p:cNvPr id="4" name="text-3-100">
            <a:extLst xmlns:a="http://schemas.openxmlformats.org/drawingml/2006/main">
              <a:ext uri="{FF2B5EF4-FFF2-40B4-BE49-F238E27FC236}">
                <a16:creationId xmlns:a16="http://schemas.microsoft.com/office/drawing/2014/main" id="{7BF88787-E492-425E-AC84-469E8BA4C746}"/>
              </a:ext>
            </a:extLst>
          </p:cNvPr>
          <p:cNvSpPr>
            <a:spLocks xmlns:a="http://schemas.openxmlformats.org/drawingml/2006/main" noGrp="1"/>
          </p:cNvSpPr>
          <p:nvPr/>
        </p:nvSpPr>
        <p:spPr>
          <a:xfrm xmlns:a="http://schemas.openxmlformats.org/drawingml/2006/main">
            <a:off x="609600" y="2028825"/>
            <a:ext cx="571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800" b="1">
                <a:solidFill>
                  <a:srgbClr val="007DB7"/>
                </a:solidFill>
                <a:latin typeface="Nimbus Sans"/>
                <a:ea typeface="Nimbus Sans"/>
                <a:cs typeface="Nimbus Sans"/>
              </a:defRPr>
            </a:pPr>
            <a:r>
              <a:rPr sz="1800" b="1">
                <a:solidFill>
                  <a:srgbClr val="007DB7"/>
                </a:solidFill>
                <a:latin typeface="Nimbus Sans"/>
                <a:ea typeface="Nimbus Sans"/>
                <a:cs typeface="Nimbus Sans"/>
              </a:rPr>
              <a:t>HARI 1</a:t>
            </a:r>
          </a:p>
        </p:txBody>
      </p:sp>
      <p:sp>
        <p:nvSpPr>
          <p:cNvPr id="5" name="text-4-210">
            <a:extLst xmlns:a="http://schemas.openxmlformats.org/drawingml/2006/main">
              <a:ext uri="{FF2B5EF4-FFF2-40B4-BE49-F238E27FC236}">
                <a16:creationId xmlns:a16="http://schemas.microsoft.com/office/drawing/2014/main" id="{9226814A-C0D1-46C9-ACFF-1EAD8FECA912}"/>
              </a:ext>
            </a:extLst>
          </p:cNvPr>
          <p:cNvSpPr>
            <a:spLocks xmlns:a="http://schemas.openxmlformats.org/drawingml/2006/main" noGrp="1"/>
          </p:cNvSpPr>
          <p:nvPr/>
        </p:nvSpPr>
        <p:spPr>
          <a:xfrm xmlns:a="http://schemas.openxmlformats.org/drawingml/2006/main">
            <a:off x="609600" y="2647950"/>
            <a:ext cx="10668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5250" b="1">
                <a:solidFill>
                  <a:srgbClr val="0B3970"/>
                </a:solidFill>
                <a:latin typeface="Nimbus Sans"/>
                <a:ea typeface="Nimbus Sans"/>
                <a:cs typeface="Nimbus Sans"/>
              </a:defRPr>
            </a:pPr>
            <a:r>
              <a:rPr sz="5250" b="1">
                <a:solidFill>
                  <a:srgbClr val="0B3970"/>
                </a:solidFill>
                <a:latin typeface="Nimbus Sans"/>
                <a:ea typeface="Nimbus Sans"/>
                <a:cs typeface="Nimbus Sans"/>
              </a:rPr>
              <a:t>Dart dan Flutter UI</a:t>
            </a:r>
          </a:p>
        </p:txBody>
      </p:sp>
      <p:sp>
        <p:nvSpPr>
          <p:cNvPr id="6" name="text-5-435">
            <a:extLst xmlns:a="http://schemas.openxmlformats.org/drawingml/2006/main">
              <a:ext uri="{FF2B5EF4-FFF2-40B4-BE49-F238E27FC236}">
                <a16:creationId xmlns:a16="http://schemas.microsoft.com/office/drawing/2014/main" id="{5F24B5A0-CB65-4073-B953-386551C0C244}"/>
              </a:ext>
            </a:extLst>
          </p:cNvPr>
          <p:cNvSpPr>
            <a:spLocks xmlns:a="http://schemas.openxmlformats.org/drawingml/2006/main" noGrp="1"/>
          </p:cNvSpPr>
          <p:nvPr/>
        </p:nvSpPr>
        <p:spPr>
          <a:xfrm xmlns:a="http://schemas.openxmlformats.org/drawingml/2006/main">
            <a:off x="628650" y="4476750"/>
            <a:ext cx="1028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20000"/>
              </a:lnSpc>
              <a:buNone/>
              <a:defRPr sz="2250" b="0">
                <a:solidFill>
                  <a:srgbClr val="5E7182"/>
                </a:solidFill>
                <a:latin typeface="Nimbus Sans"/>
                <a:ea typeface="Nimbus Sans"/>
                <a:cs typeface="Nimbus Sans"/>
              </a:defRPr>
            </a:pPr>
            <a:r>
              <a:rPr sz="2250" b="0">
                <a:solidFill>
                  <a:srgbClr val="5E7182"/>
                </a:solidFill>
                <a:latin typeface="Nimbus Sans"/>
                <a:ea typeface="Nimbus Sans"/>
                <a:cs typeface="Nimbus Sans"/>
              </a:rPr>
              <a:t>Hari 1 training Flutter Android</a:t>
            </a:r>
          </a:p>
          <a:p xmlns:a="http://schemas.openxmlformats.org/drawingml/2006/main">
            <a:pPr>
              <a:lnSpc>
                <a:spcPct val="120000"/>
              </a:lnSpc>
              <a:buNone/>
              <a:defRPr sz="2250" b="0">
                <a:solidFill>
                  <a:srgbClr val="5E7182"/>
                </a:solidFill>
                <a:latin typeface="Nimbus Sans"/>
                <a:ea typeface="Nimbus Sans"/>
                <a:cs typeface="Nimbus Sans"/>
              </a:defRPr>
            </a:pPr>
            <a:r>
              <a:rPr sz="2250" b="0">
                <a:solidFill>
                  <a:srgbClr val="5E7182"/>
                </a:solidFill>
                <a:latin typeface="Nimbus Sans"/>
                <a:ea typeface="Nimbus Sans"/>
                <a:cs typeface="Nimbus Sans"/>
              </a:rPr>
              <a:t>Proyek latihan inspeksi peralatan</a:t>
            </a:r>
          </a:p>
        </p:txBody>
      </p:sp>
      <p:sp>
        <p:nvSpPr>
          <p:cNvPr id="7" name="text-6-610">
            <a:extLst xmlns:a="http://schemas.openxmlformats.org/drawingml/2006/main">
              <a:ext uri="{FF2B5EF4-FFF2-40B4-BE49-F238E27FC236}">
                <a16:creationId xmlns:a16="http://schemas.microsoft.com/office/drawing/2014/main" id="{9981DF0E-28A0-401F-BB29-66D69BC4F173}"/>
              </a:ext>
            </a:extLst>
          </p:cNvPr>
          <p:cNvSpPr>
            <a:spLocks xmlns:a="http://schemas.openxmlformats.org/drawingml/2006/main" noGrp="1"/>
          </p:cNvSpPr>
          <p:nvPr/>
        </p:nvSpPr>
        <p:spPr>
          <a:xfrm xmlns:a="http://schemas.openxmlformats.org/drawingml/2006/main">
            <a:off x="628650" y="59626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650" b="0">
                <a:solidFill>
                  <a:srgbClr val="0B3970"/>
                </a:solidFill>
                <a:latin typeface="Nimbus Sans"/>
                <a:ea typeface="Nimbus Sans"/>
                <a:cs typeface="Nimbus Sans"/>
              </a:defRPr>
            </a:pPr>
            <a:r>
              <a:rPr sz="1650" b="0">
                <a:solidFill>
                  <a:srgbClr val="0B3970"/>
                </a:solidFill>
                <a:latin typeface="Nimbus Sans"/>
                <a:ea typeface="Nimbus Sans"/>
                <a:cs typeface="Nimbus Sans"/>
              </a:rPr>
              <a:t>PT. Dok Pantai Lamongan</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14c07cd652454c51"/>
          <a:srcRect xmlns:a="http://schemas.openxmlformats.org/drawingml/2006/main" l="4250" t="6738" r="4125" b="3546"/>
          <a:stretch xmlns:a="http://schemas.openxmlformats.org/drawingml/2006/main"/>
        </p:blipFill>
        <p:spPr>
          <a:xfrm xmlns:a="http://schemas.openxmlformats.org/drawingml/2006/main">
            <a:off x="609600" y="476250"/>
            <a:ext cx="2857500" cy="990600"/>
          </a:xfrm>
          <a:prstGeom xmlns:a="http://schemas.openxmlformats.org/drawingml/2006/main" prst="rect">
            <a:avLst/>
          </a:prstGeom>
        </p:spPr>
      </p:pic>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8a5f6aec26894355"/>
          <a:srcRect xmlns:a="http://schemas.openxmlformats.org/drawingml/2006/main" l="32813" t="23779" r="32813" b="23779"/>
          <a:stretch xmlns:a="http://schemas.openxmlformats.org/drawingml/2006/main"/>
        </p:blipFill>
        <p:spPr>
          <a:xfrm xmlns:a="http://schemas.openxmlformats.org/drawingml/2006/main">
            <a:off x="10363200" y="323850"/>
            <a:ext cx="1123950" cy="1714500"/>
          </a:xfrm>
          <a:prstGeom xmlns:a="http://schemas.openxmlformats.org/drawingml/2006/main" prst="rect">
            <a:avLst/>
          </a:prstGeom>
        </p:spPr>
      </p:pic>
    </p:spTree>
    <p:extLst>
      <p:ext uri="{BB962C8B-B14F-4D97-AF65-F5344CB8AC3E}">
        <p14:creationId xmlns:p14="http://schemas.microsoft.com/office/powerpoint/2010/main" val="5490910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ext-0-48">
            <a:extLst xmlns:a="http://schemas.openxmlformats.org/drawingml/2006/main">
              <a:ext uri="{FF2B5EF4-FFF2-40B4-BE49-F238E27FC236}">
                <a16:creationId xmlns:a16="http://schemas.microsoft.com/office/drawing/2014/main" id="{D6284FA3-B780-4269-8FDB-720D1D269366}"/>
              </a:ext>
            </a:extLst>
          </p:cNvPr>
          <p:cNvSpPr>
            <a:spLocks xmlns:a="http://schemas.openxmlformats.org/drawingml/2006/main" noGrp="1"/>
          </p:cNvSpPr>
          <p:nvPr/>
        </p:nvSpPr>
        <p:spPr>
          <a:xfrm xmlns:a="http://schemas.openxmlformats.org/drawingml/2006/main">
            <a:off x="609600" y="8953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0000"/>
              </a:lnSpc>
              <a:buNone/>
              <a:defRPr sz="3300" b="1">
                <a:solidFill>
                  <a:srgbClr val="0B3970"/>
                </a:solidFill>
                <a:latin typeface="Nimbus Sans"/>
                <a:ea typeface="Nimbus Sans"/>
                <a:cs typeface="Nimbus Sans"/>
              </a:defRPr>
            </a:pPr>
            <a:r>
              <a:rPr sz="3300" b="1">
                <a:solidFill>
                  <a:srgbClr val="0B3970"/>
                </a:solidFill>
                <a:latin typeface="Nimbus Sans"/>
                <a:ea typeface="Nimbus Sans"/>
                <a:cs typeface="Nimbus Sans"/>
              </a:rPr>
              <a:t>Hasil belajar hari pertama</a:t>
            </a:r>
          </a:p>
        </p:txBody>
      </p:sp>
      <p:sp>
        <p:nvSpPr>
          <p:cNvPr id="2" name="text-1-674">
            <a:extLst xmlns:a="http://schemas.openxmlformats.org/drawingml/2006/main">
              <a:ext uri="{FF2B5EF4-FFF2-40B4-BE49-F238E27FC236}">
                <a16:creationId xmlns:a16="http://schemas.microsoft.com/office/drawing/2014/main" id="{E5A163A0-75EE-4DE6-A0B5-8885167BA3F7}"/>
              </a:ext>
            </a:extLst>
          </p:cNvPr>
          <p:cNvSpPr>
            <a:spLocks xmlns:a="http://schemas.openxmlformats.org/drawingml/2006/main" noGrp="1"/>
          </p:cNvSpPr>
          <p:nvPr/>
        </p:nvSpPr>
        <p:spPr>
          <a:xfrm xmlns:a="http://schemas.openxmlformats.org/drawingml/2006/main">
            <a:off x="609600" y="6448425"/>
            <a:ext cx="714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125" b="0">
                <a:solidFill>
                  <a:srgbClr val="5E7182"/>
                </a:solidFill>
                <a:latin typeface="Nimbus Sans"/>
                <a:ea typeface="Nimbus Sans"/>
                <a:cs typeface="Nimbus Sans"/>
              </a:defRPr>
            </a:pPr>
            <a:r>
              <a:rPr sz="1125" b="0">
                <a:solidFill>
                  <a:srgbClr val="5E7182"/>
                </a:solidFill>
                <a:latin typeface="Nimbus Sans"/>
                <a:ea typeface="Nimbus Sans"/>
                <a:cs typeface="Nimbus Sans"/>
              </a:rPr>
              <a:t>Training Flutter Android   /   Hari 1</a:t>
            </a:r>
          </a:p>
        </p:txBody>
      </p:sp>
      <p:sp>
        <p:nvSpPr>
          <p:cNvPr id="3" name="text-2-674">
            <a:extLst xmlns:a="http://schemas.openxmlformats.org/drawingml/2006/main">
              <a:ext uri="{FF2B5EF4-FFF2-40B4-BE49-F238E27FC236}">
                <a16:creationId xmlns:a16="http://schemas.microsoft.com/office/drawing/2014/main" id="{E55946A9-123F-46BF-9B01-487C72044913}"/>
              </a:ext>
            </a:extLst>
          </p:cNvPr>
          <p:cNvSpPr>
            <a:spLocks xmlns:a="http://schemas.openxmlformats.org/drawingml/2006/main" noGrp="1"/>
          </p:cNvSpPr>
          <p:nvPr/>
        </p:nvSpPr>
        <p:spPr>
          <a:xfrm xmlns:a="http://schemas.openxmlformats.org/drawingml/2006/main">
            <a:off x="10668000" y="6448425"/>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125" b="0">
                <a:solidFill>
                  <a:srgbClr val="5E7182"/>
                </a:solidFill>
                <a:latin typeface="Nimbus Sans"/>
                <a:ea typeface="Nimbus Sans"/>
                <a:cs typeface="Nimbus Sans"/>
              </a:defRPr>
            </a:pPr>
            <a:r>
              <a:rPr sz="1125" b="0">
                <a:solidFill>
                  <a:srgbClr val="5E7182"/>
                </a:solidFill>
                <a:latin typeface="Nimbus Sans"/>
                <a:ea typeface="Nimbus Sans"/>
                <a:cs typeface="Nimbus Sans"/>
              </a:rPr>
              <a:t>02 / 44</a:t>
            </a:r>
          </a:p>
        </p:txBody>
      </p:sp>
      <p:sp>
        <p:nvSpPr>
          <p:cNvPr id="4" name="text-3-180">
            <a:extLst xmlns:a="http://schemas.openxmlformats.org/drawingml/2006/main">
              <a:ext uri="{FF2B5EF4-FFF2-40B4-BE49-F238E27FC236}">
                <a16:creationId xmlns:a16="http://schemas.microsoft.com/office/drawing/2014/main" id="{2E85DECD-7704-4B04-AB05-F257E65962CF}"/>
              </a:ext>
            </a:extLst>
          </p:cNvPr>
          <p:cNvSpPr>
            <a:spLocks xmlns:a="http://schemas.openxmlformats.org/drawingml/2006/main" noGrp="1"/>
          </p:cNvSpPr>
          <p:nvPr/>
        </p:nvSpPr>
        <p:spPr>
          <a:xfrm xmlns:a="http://schemas.openxmlformats.org/drawingml/2006/main">
            <a:off x="609600" y="1962150"/>
            <a:ext cx="10668000" cy="411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54000" indent="-127000">
              <a:spcAft>
                <a:spcPts val="2100"/>
              </a:spcAft>
              <a:buChar char="•"/>
              <a:defRPr sz="2325">
                <a:solidFill>
                  <a:srgbClr val="172D43"/>
                </a:solidFill>
                <a:latin typeface="Nimbus Sans"/>
                <a:ea typeface="Nimbus Sans"/>
                <a:cs typeface="Nimbus Sans"/>
              </a:defRPr>
            </a:pPr>
            <a:r>
              <a:rPr sz="2325">
                <a:solidFill>
                  <a:srgbClr val="172D43"/>
                </a:solidFill>
                <a:latin typeface="Nimbus Sans"/>
                <a:ea typeface="Nimbus Sans"/>
                <a:cs typeface="Nimbus Sans"/>
              </a:rPr>
              <a:t>Model Inspection mempunyai tipe dan aturan yang jelas</a:t>
            </a:r>
          </a:p>
          <a:p xmlns:a="http://schemas.openxmlformats.org/drawingml/2006/main">
            <a:pPr marL="254000" indent="-127000">
              <a:spcAft>
                <a:spcPts val="2100"/>
              </a:spcAft>
              <a:buChar char="•"/>
              <a:defRPr sz="2325">
                <a:solidFill>
                  <a:srgbClr val="172D43"/>
                </a:solidFill>
                <a:latin typeface="Nimbus Sans"/>
                <a:ea typeface="Nimbus Sans"/>
                <a:cs typeface="Nimbus Sans"/>
              </a:defRPr>
            </a:pPr>
            <a:r>
              <a:rPr sz="2325">
                <a:solidFill>
                  <a:srgbClr val="172D43"/>
                </a:solidFill>
                <a:latin typeface="Nimbus Sans"/>
                <a:ea typeface="Nimbus Sans"/>
                <a:cs typeface="Nimbus Sans"/>
              </a:rPr>
              <a:t>Daftar dan detail bekerja dengan data lokal</a:t>
            </a:r>
          </a:p>
          <a:p xmlns:a="http://schemas.openxmlformats.org/drawingml/2006/main">
            <a:pPr marL="254000" indent="-127000">
              <a:spcAft>
                <a:spcPts val="2100"/>
              </a:spcAft>
              <a:buChar char="•"/>
              <a:defRPr sz="2325">
                <a:solidFill>
                  <a:srgbClr val="172D43"/>
                </a:solidFill>
                <a:latin typeface="Nimbus Sans"/>
                <a:ea typeface="Nimbus Sans"/>
                <a:cs typeface="Nimbus Sans"/>
              </a:defRPr>
            </a:pPr>
            <a:r>
              <a:rPr sz="2325">
                <a:solidFill>
                  <a:srgbClr val="172D43"/>
                </a:solidFill>
                <a:latin typeface="Nimbus Sans"/>
                <a:ea typeface="Nimbus Sans"/>
                <a:cs typeface="Nimbus Sans"/>
              </a:rPr>
              <a:t>Form menolak input invalid dan mengembalikan record</a:t>
            </a:r>
          </a:p>
          <a:p xmlns:a="http://schemas.openxmlformats.org/drawingml/2006/main">
            <a:pPr marL="254000" indent="-127000">
              <a:spcAft>
                <a:spcPts val="2100"/>
              </a:spcAft>
              <a:buChar char="•"/>
              <a:defRPr sz="2325">
                <a:solidFill>
                  <a:srgbClr val="172D43"/>
                </a:solidFill>
                <a:latin typeface="Nimbus Sans"/>
                <a:ea typeface="Nimbus Sans"/>
                <a:cs typeface="Nimbus Sans"/>
              </a:defRPr>
            </a:pPr>
            <a:r>
              <a:rPr sz="2325">
                <a:solidFill>
                  <a:srgbClr val="172D43"/>
                </a:solidFill>
                <a:latin typeface="Nimbus Sans"/>
                <a:ea typeface="Nimbus Sans"/>
                <a:cs typeface="Nimbus Sans"/>
              </a:rPr>
              <a:t>Loading, empty, error dan retry tampil dengan jelas</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9f163faeca8340d4"/>
          <a:srcRect xmlns:a="http://schemas.openxmlformats.org/drawingml/2006/main" l="4250" t="6738" r="4125" b="3546"/>
          <a:stretch xmlns:a="http://schemas.openxmlformats.org/drawingml/2006/main"/>
        </p:blipFill>
        <p:spPr>
          <a:xfrm xmlns:a="http://schemas.openxmlformats.org/drawingml/2006/main">
            <a:off x="9344025" y="219075"/>
            <a:ext cx="1428750" cy="495300"/>
          </a:xfrm>
          <a:prstGeom xmlns:a="http://schemas.openxmlformats.org/drawingml/2006/main" prst="rect">
            <a:avLst/>
          </a:prstGeom>
        </p:spPr>
      </p:pic>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275cd167324d47b9"/>
          <a:srcRect xmlns:a="http://schemas.openxmlformats.org/drawingml/2006/main" l="32813" t="23779" r="32813" b="23779"/>
          <a:stretch xmlns:a="http://schemas.openxmlformats.org/drawingml/2006/main"/>
        </p:blipFill>
        <p:spPr>
          <a:xfrm xmlns:a="http://schemas.openxmlformats.org/drawingml/2006/main">
            <a:off x="11163300" y="161925"/>
            <a:ext cx="371475" cy="571500"/>
          </a:xfrm>
          <a:prstGeom xmlns:a="http://schemas.openxmlformats.org/drawingml/2006/main" prst="rect">
            <a:avLst/>
          </a:prstGeom>
        </p:spPr>
      </p:pic>
    </p:spTree>
    <p:extLst>
      <p:ext uri="{BB962C8B-B14F-4D97-AF65-F5344CB8AC3E}">
        <p14:creationId xmlns:p14="http://schemas.microsoft.com/office/powerpoint/2010/main" val="193945059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ext-0-48">
            <a:extLst xmlns:a="http://schemas.openxmlformats.org/drawingml/2006/main">
              <a:ext uri="{FF2B5EF4-FFF2-40B4-BE49-F238E27FC236}">
                <a16:creationId xmlns:a16="http://schemas.microsoft.com/office/drawing/2014/main" id="{56583DB3-ED2A-4B7A-B8D0-3945BA6C4572}"/>
              </a:ext>
            </a:extLst>
          </p:cNvPr>
          <p:cNvSpPr>
            <a:spLocks xmlns:a="http://schemas.openxmlformats.org/drawingml/2006/main" noGrp="1"/>
          </p:cNvSpPr>
          <p:nvPr/>
        </p:nvSpPr>
        <p:spPr>
          <a:xfrm xmlns:a="http://schemas.openxmlformats.org/drawingml/2006/main">
            <a:off x="609600" y="8953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0000"/>
              </a:lnSpc>
              <a:buNone/>
              <a:defRPr sz="3300" b="1">
                <a:solidFill>
                  <a:srgbClr val="0B3970"/>
                </a:solidFill>
                <a:latin typeface="Nimbus Sans"/>
                <a:ea typeface="Nimbus Sans"/>
                <a:cs typeface="Nimbus Sans"/>
              </a:defRPr>
            </a:pPr>
            <a:r>
              <a:rPr sz="3300" b="1">
                <a:solidFill>
                  <a:srgbClr val="0B3970"/>
                </a:solidFill>
                <a:latin typeface="Nimbus Sans"/>
                <a:ea typeface="Nimbus Sans"/>
                <a:cs typeface="Nimbus Sans"/>
              </a:rPr>
              <a:t>Agenda hari pertama</a:t>
            </a:r>
          </a:p>
        </p:txBody>
      </p:sp>
      <p:sp>
        <p:nvSpPr>
          <p:cNvPr id="2" name="text-1-674">
            <a:extLst xmlns:a="http://schemas.openxmlformats.org/drawingml/2006/main">
              <a:ext uri="{FF2B5EF4-FFF2-40B4-BE49-F238E27FC236}">
                <a16:creationId xmlns:a16="http://schemas.microsoft.com/office/drawing/2014/main" id="{322E12A6-6F9E-42D3-8865-B83EDCA6F769}"/>
              </a:ext>
            </a:extLst>
          </p:cNvPr>
          <p:cNvSpPr>
            <a:spLocks xmlns:a="http://schemas.openxmlformats.org/drawingml/2006/main" noGrp="1"/>
          </p:cNvSpPr>
          <p:nvPr/>
        </p:nvSpPr>
        <p:spPr>
          <a:xfrm xmlns:a="http://schemas.openxmlformats.org/drawingml/2006/main">
            <a:off x="609600" y="6448425"/>
            <a:ext cx="714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125" b="0">
                <a:solidFill>
                  <a:srgbClr val="5E7182"/>
                </a:solidFill>
                <a:latin typeface="Nimbus Sans"/>
                <a:ea typeface="Nimbus Sans"/>
                <a:cs typeface="Nimbus Sans"/>
              </a:defRPr>
            </a:pPr>
            <a:r>
              <a:rPr sz="1125" b="0">
                <a:solidFill>
                  <a:srgbClr val="5E7182"/>
                </a:solidFill>
                <a:latin typeface="Nimbus Sans"/>
                <a:ea typeface="Nimbus Sans"/>
                <a:cs typeface="Nimbus Sans"/>
              </a:rPr>
              <a:t>Training Flutter Android   /   Hari 1</a:t>
            </a:r>
          </a:p>
        </p:txBody>
      </p:sp>
      <p:sp>
        <p:nvSpPr>
          <p:cNvPr id="3" name="text-2-674">
            <a:extLst xmlns:a="http://schemas.openxmlformats.org/drawingml/2006/main">
              <a:ext uri="{FF2B5EF4-FFF2-40B4-BE49-F238E27FC236}">
                <a16:creationId xmlns:a16="http://schemas.microsoft.com/office/drawing/2014/main" id="{37C8646B-7E87-439B-A460-495283ECED9E}"/>
              </a:ext>
            </a:extLst>
          </p:cNvPr>
          <p:cNvSpPr>
            <a:spLocks xmlns:a="http://schemas.openxmlformats.org/drawingml/2006/main" noGrp="1"/>
          </p:cNvSpPr>
          <p:nvPr/>
        </p:nvSpPr>
        <p:spPr>
          <a:xfrm xmlns:a="http://schemas.openxmlformats.org/drawingml/2006/main">
            <a:off x="10668000" y="6448425"/>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125" b="0">
                <a:solidFill>
                  <a:srgbClr val="5E7182"/>
                </a:solidFill>
                <a:latin typeface="Nimbus Sans"/>
                <a:ea typeface="Nimbus Sans"/>
                <a:cs typeface="Nimbus Sans"/>
              </a:defRPr>
            </a:pPr>
            <a:r>
              <a:rPr sz="1125" b="0">
                <a:solidFill>
                  <a:srgbClr val="5E7182"/>
                </a:solidFill>
                <a:latin typeface="Nimbus Sans"/>
                <a:ea typeface="Nimbus Sans"/>
                <a:cs typeface="Nimbus Sans"/>
              </a:rPr>
              <a:t>03 / 44</a:t>
            </a:r>
          </a:p>
        </p:txBody>
      </p:sp>
      <p:graphicFrame>
        <p:nvGraphicFramePr>
          <p:cNvPr id="12" name=""/>
          <p:cNvGraphicFramePr/>
          <p:nvPr/>
        </p:nvGraphicFramePr>
        <p:xfrm>
          <a:off xmlns:a="http://schemas.openxmlformats.org/drawingml/2006/main" x="609600" y="1657350"/>
          <a:ext xmlns:a="http://schemas.openxmlformats.org/drawingml/2006/main" cx="10972800" cy="4114800"/>
        </p:xfrm>
        <a:graphic xmlns:a="http://schemas.openxmlformats.org/drawingml/2006/main">
          <a:graphicData uri="http://schemas.openxmlformats.org/drawingml/2006/table">
            <a:tbl>
              <a:tblPr/>
              <a:tblGrid>
                <a:gridCol w="2194560"/>
                <a:gridCol w="4389120"/>
                <a:gridCol w="4389120"/>
              </a:tblGrid>
              <a:tr h="685800">
                <a:tc>
                  <a:txBody>
                    <a:bodyPr lIns="114300" tIns="95250" rIns="114300" bIns="95250">
                      <a:noAutofit/>
                    </a:bodyPr>
                    <a:lstStyle/>
                    <a:p>
                      <a:r>
                        <a:rPr sz="1800" b="1">
                          <a:solidFill>
                            <a:srgbClr val="FFFFFF"/>
                          </a:solidFill>
                          <a:latin typeface="Nimbus Sans"/>
                          <a:ea typeface="Nimbus Sans"/>
                          <a:cs typeface="Nimbus Sans"/>
                        </a:rPr>
                        <a:t>Sesi</a:t>
                      </a:r>
                    </a:p>
                  </a:txBody>
                  <a:tcPr marL="91440" marR="91440" marT="45720" marB="45720" anchor="ctr">
                    <a:solidFill>
                      <a:srgbClr val="0B3970"/>
                    </a:solidFill>
                  </a:tcPr>
                </a:tc>
                <a:tc>
                  <a:txBody>
                    <a:bodyPr lIns="114300" tIns="95250" rIns="114300" bIns="95250">
                      <a:noAutofit/>
                    </a:bodyPr>
                    <a:lstStyle/>
                    <a:p>
                      <a:r>
                        <a:rPr sz="1800" b="1">
                          <a:solidFill>
                            <a:srgbClr val="FFFFFF"/>
                          </a:solidFill>
                          <a:latin typeface="Nimbus Sans"/>
                          <a:ea typeface="Nimbus Sans"/>
                          <a:cs typeface="Nimbus Sans"/>
                        </a:rPr>
                        <a:t>Materi</a:t>
                      </a:r>
                    </a:p>
                  </a:txBody>
                  <a:tcPr marL="91440" marR="91440" marT="45720" marB="45720" anchor="ctr">
                    <a:solidFill>
                      <a:srgbClr val="0B3970"/>
                    </a:solidFill>
                  </a:tcPr>
                </a:tc>
                <a:tc>
                  <a:txBody>
                    <a:bodyPr lIns="114300" tIns="95250" rIns="114300" bIns="95250">
                      <a:noAutofit/>
                    </a:bodyPr>
                    <a:lstStyle/>
                    <a:p>
                      <a:r>
                        <a:rPr sz="1800" b="1">
                          <a:solidFill>
                            <a:srgbClr val="FFFFFF"/>
                          </a:solidFill>
                          <a:latin typeface="Nimbus Sans"/>
                          <a:ea typeface="Nimbus Sans"/>
                          <a:cs typeface="Nimbus Sans"/>
                        </a:rPr>
                        <a:t>Checkpoint</a:t>
                      </a:r>
                    </a:p>
                  </a:txBody>
                  <a:tcPr marL="91440" marR="91440" marT="45720" marB="45720" anchor="ctr">
                    <a:solidFill>
                      <a:srgbClr val="0B3970"/>
                    </a:solidFill>
                  </a:tcPr>
                </a:tc>
              </a:tr>
              <a:tr h="685800">
                <a:tc>
                  <a:txBody>
                    <a:bodyPr lIns="114300" tIns="95250" rIns="114300" bIns="95250">
                      <a:noAutofit/>
                    </a:bodyPr>
                    <a:lstStyle/>
                    <a:p>
                      <a:r>
                        <a:rPr sz="1725" b="0">
                          <a:solidFill>
                            <a:srgbClr val="172D43"/>
                          </a:solidFill>
                          <a:latin typeface="Nimbus Sans"/>
                          <a:ea typeface="Nimbus Sans"/>
                          <a:cs typeface="Nimbus Sans"/>
                        </a:rPr>
                        <a:t>08.30-10.00</a:t>
                      </a:r>
                    </a:p>
                  </a:txBody>
                  <a:tcPr marL="91440" marR="91440" marT="45720" marB="45720" anchor="ctr">
                    <a:solidFill>
                      <a:srgbClr val="FFFFFF"/>
                    </a:solidFill>
                  </a:tcPr>
                </a:tc>
                <a:tc>
                  <a:txBody>
                    <a:bodyPr lIns="114300" tIns="95250" rIns="114300" bIns="95250">
                      <a:noAutofit/>
                    </a:bodyPr>
                    <a:lstStyle/>
                    <a:p>
                      <a:r>
                        <a:rPr sz="1725" b="0">
                          <a:solidFill>
                            <a:srgbClr val="172D43"/>
                          </a:solidFill>
                          <a:latin typeface="Nimbus Sans"/>
                          <a:ea typeface="Nimbus Sans"/>
                          <a:cs typeface="Nimbus Sans"/>
                        </a:rPr>
                        <a:t>Flutter dan Dart</a:t>
                      </a:r>
                    </a:p>
                  </a:txBody>
                  <a:tcPr marL="91440" marR="91440" marT="45720" marB="45720" anchor="ctr">
                    <a:solidFill>
                      <a:srgbClr val="FFFFFF"/>
                    </a:solidFill>
                  </a:tcPr>
                </a:tc>
                <a:tc>
                  <a:txBody>
                    <a:bodyPr lIns="114300" tIns="95250" rIns="114300" bIns="95250">
                      <a:noAutofit/>
                    </a:bodyPr>
                    <a:lstStyle/>
                    <a:p>
                      <a:r>
                        <a:rPr sz="1725" b="0">
                          <a:solidFill>
                            <a:srgbClr val="172D43"/>
                          </a:solidFill>
                          <a:latin typeface="Nimbus Sans"/>
                          <a:ea typeface="Nimbus Sans"/>
                          <a:cs typeface="Nimbus Sans"/>
                        </a:rPr>
                        <a:t>Model dan app berjalan</a:t>
                      </a:r>
                    </a:p>
                  </a:txBody>
                  <a:tcPr marL="91440" marR="91440" marT="45720" marB="45720" anchor="ctr">
                    <a:solidFill>
                      <a:srgbClr val="FFFFFF"/>
                    </a:solidFill>
                  </a:tcPr>
                </a:tc>
              </a:tr>
              <a:tr h="685800">
                <a:tc>
                  <a:txBody>
                    <a:bodyPr lIns="114300" tIns="95250" rIns="114300" bIns="95250">
                      <a:noAutofit/>
                    </a:bodyPr>
                    <a:lstStyle/>
                    <a:p>
                      <a:r>
                        <a:rPr sz="1725" b="0">
                          <a:solidFill>
                            <a:srgbClr val="172D43"/>
                          </a:solidFill>
                          <a:latin typeface="Nimbus Sans"/>
                          <a:ea typeface="Nimbus Sans"/>
                          <a:cs typeface="Nimbus Sans"/>
                        </a:rPr>
                        <a:t>10.15-12.00</a:t>
                      </a:r>
                    </a:p>
                  </a:txBody>
                  <a:tcPr marL="91440" marR="91440" marT="45720" marB="45720" anchor="ctr">
                    <a:solidFill>
                      <a:srgbClr val="F0F5F9"/>
                    </a:solidFill>
                  </a:tcPr>
                </a:tc>
                <a:tc>
                  <a:txBody>
                    <a:bodyPr lIns="114300" tIns="95250" rIns="114300" bIns="95250">
                      <a:noAutofit/>
                    </a:bodyPr>
                    <a:lstStyle/>
                    <a:p>
                      <a:r>
                        <a:rPr sz="1725" b="0">
                          <a:solidFill>
                            <a:srgbClr val="172D43"/>
                          </a:solidFill>
                          <a:latin typeface="Nimbus Sans"/>
                          <a:ea typeface="Nimbus Sans"/>
                          <a:cs typeface="Nimbus Sans"/>
                        </a:rPr>
                        <a:t>Widget dan layout</a:t>
                      </a:r>
                    </a:p>
                  </a:txBody>
                  <a:tcPr marL="91440" marR="91440" marT="45720" marB="45720" anchor="ctr">
                    <a:solidFill>
                      <a:srgbClr val="F0F5F9"/>
                    </a:solidFill>
                  </a:tcPr>
                </a:tc>
                <a:tc>
                  <a:txBody>
                    <a:bodyPr lIns="114300" tIns="95250" rIns="114300" bIns="95250">
                      <a:noAutofit/>
                    </a:bodyPr>
                    <a:lstStyle/>
                    <a:p>
                      <a:r>
                        <a:rPr sz="1725" b="0">
                          <a:solidFill>
                            <a:srgbClr val="172D43"/>
                          </a:solidFill>
                          <a:latin typeface="Nimbus Sans"/>
                          <a:ea typeface="Nimbus Sans"/>
                          <a:cs typeface="Nimbus Sans"/>
                        </a:rPr>
                        <a:t>Daftar dan detail</a:t>
                      </a:r>
                    </a:p>
                  </a:txBody>
                  <a:tcPr marL="91440" marR="91440" marT="45720" marB="45720" anchor="ctr">
                    <a:solidFill>
                      <a:srgbClr val="F0F5F9"/>
                    </a:solidFill>
                  </a:tcPr>
                </a:tc>
              </a:tr>
              <a:tr h="685800">
                <a:tc>
                  <a:txBody>
                    <a:bodyPr lIns="114300" tIns="95250" rIns="114300" bIns="95250">
                      <a:noAutofit/>
                    </a:bodyPr>
                    <a:lstStyle/>
                    <a:p>
                      <a:r>
                        <a:rPr sz="1725" b="0">
                          <a:solidFill>
                            <a:srgbClr val="172D43"/>
                          </a:solidFill>
                          <a:latin typeface="Nimbus Sans"/>
                          <a:ea typeface="Nimbus Sans"/>
                          <a:cs typeface="Nimbus Sans"/>
                        </a:rPr>
                        <a:t>13.00-14.30</a:t>
                      </a:r>
                    </a:p>
                  </a:txBody>
                  <a:tcPr marL="91440" marR="91440" marT="45720" marB="45720" anchor="ctr">
                    <a:solidFill>
                      <a:srgbClr val="FFFFFF"/>
                    </a:solidFill>
                  </a:tcPr>
                </a:tc>
                <a:tc>
                  <a:txBody>
                    <a:bodyPr lIns="114300" tIns="95250" rIns="114300" bIns="95250">
                      <a:noAutofit/>
                    </a:bodyPr>
                    <a:lstStyle/>
                    <a:p>
                      <a:r>
                        <a:rPr sz="1725" b="0">
                          <a:solidFill>
                            <a:srgbClr val="172D43"/>
                          </a:solidFill>
                          <a:latin typeface="Nimbus Sans"/>
                          <a:ea typeface="Nimbus Sans"/>
                          <a:cs typeface="Nimbus Sans"/>
                        </a:rPr>
                        <a:t>State, form, navigation</a:t>
                      </a:r>
                    </a:p>
                  </a:txBody>
                  <a:tcPr marL="91440" marR="91440" marT="45720" marB="45720" anchor="ctr">
                    <a:solidFill>
                      <a:srgbClr val="FFFFFF"/>
                    </a:solidFill>
                  </a:tcPr>
                </a:tc>
                <a:tc>
                  <a:txBody>
                    <a:bodyPr lIns="114300" tIns="95250" rIns="114300" bIns="95250">
                      <a:noAutofit/>
                    </a:bodyPr>
                    <a:lstStyle/>
                    <a:p>
                      <a:r>
                        <a:rPr sz="1725" b="0">
                          <a:solidFill>
                            <a:srgbClr val="172D43"/>
                          </a:solidFill>
                          <a:latin typeface="Nimbus Sans"/>
                          <a:ea typeface="Nimbus Sans"/>
                          <a:cs typeface="Nimbus Sans"/>
                        </a:rPr>
                        <a:t>Tambah record valid</a:t>
                      </a:r>
                    </a:p>
                  </a:txBody>
                  <a:tcPr marL="91440" marR="91440" marT="45720" marB="45720" anchor="ctr">
                    <a:solidFill>
                      <a:srgbClr val="FFFFFF"/>
                    </a:solidFill>
                  </a:tcPr>
                </a:tc>
              </a:tr>
              <a:tr h="685800">
                <a:tc>
                  <a:txBody>
                    <a:bodyPr lIns="114300" tIns="95250" rIns="114300" bIns="95250">
                      <a:noAutofit/>
                    </a:bodyPr>
                    <a:lstStyle/>
                    <a:p>
                      <a:r>
                        <a:rPr sz="1725" b="0">
                          <a:solidFill>
                            <a:srgbClr val="172D43"/>
                          </a:solidFill>
                          <a:latin typeface="Nimbus Sans"/>
                          <a:ea typeface="Nimbus Sans"/>
                          <a:cs typeface="Nimbus Sans"/>
                        </a:rPr>
                        <a:t>14.45-16.00</a:t>
                      </a:r>
                    </a:p>
                  </a:txBody>
                  <a:tcPr marL="91440" marR="91440" marT="45720" marB="45720" anchor="ctr">
                    <a:solidFill>
                      <a:srgbClr val="F0F5F9"/>
                    </a:solidFill>
                  </a:tcPr>
                </a:tc>
                <a:tc>
                  <a:txBody>
                    <a:bodyPr lIns="114300" tIns="95250" rIns="114300" bIns="95250">
                      <a:noAutofit/>
                    </a:bodyPr>
                    <a:lstStyle/>
                    <a:p>
                      <a:r>
                        <a:rPr sz="1725" b="0">
                          <a:solidFill>
                            <a:srgbClr val="172D43"/>
                          </a:solidFill>
                          <a:latin typeface="Nimbus Sans"/>
                          <a:ea typeface="Nimbus Sans"/>
                          <a:cs typeface="Nimbus Sans"/>
                        </a:rPr>
                        <a:t>Debugging UI</a:t>
                      </a:r>
                    </a:p>
                  </a:txBody>
                  <a:tcPr marL="91440" marR="91440" marT="45720" marB="45720" anchor="ctr">
                    <a:solidFill>
                      <a:srgbClr val="F0F5F9"/>
                    </a:solidFill>
                  </a:tcPr>
                </a:tc>
                <a:tc>
                  <a:txBody>
                    <a:bodyPr lIns="114300" tIns="95250" rIns="114300" bIns="95250">
                      <a:noAutofit/>
                    </a:bodyPr>
                    <a:lstStyle/>
                    <a:p>
                      <a:r>
                        <a:rPr sz="1725" b="0">
                          <a:solidFill>
                            <a:srgbClr val="172D43"/>
                          </a:solidFill>
                          <a:latin typeface="Nimbus Sans"/>
                          <a:ea typeface="Nimbus Sans"/>
                          <a:cs typeface="Nimbus Sans"/>
                        </a:rPr>
                        <a:t>Error dan retry stabil</a:t>
                      </a:r>
                    </a:p>
                  </a:txBody>
                  <a:tcPr marL="91440" marR="91440" marT="45720" marB="45720" anchor="ctr">
                    <a:solidFill>
                      <a:srgbClr val="F0F5F9"/>
                    </a:solidFill>
                  </a:tcPr>
                </a:tc>
              </a:tr>
              <a:tr h="685800">
                <a:tc>
                  <a:txBody>
                    <a:bodyPr lIns="114300" tIns="95250" rIns="114300" bIns="95250">
                      <a:noAutofit/>
                    </a:bodyPr>
                    <a:lstStyle/>
                    <a:p>
                      <a:r>
                        <a:rPr sz="1725" b="0">
                          <a:solidFill>
                            <a:srgbClr val="172D43"/>
                          </a:solidFill>
                          <a:latin typeface="Nimbus Sans"/>
                          <a:ea typeface="Nimbus Sans"/>
                          <a:cs typeface="Nimbus Sans"/>
                        </a:rPr>
                        <a:t>16.00-16.30</a:t>
                      </a:r>
                    </a:p>
                  </a:txBody>
                  <a:tcPr marL="91440" marR="91440" marT="45720" marB="45720" anchor="ctr">
                    <a:solidFill>
                      <a:srgbClr val="FFFFFF"/>
                    </a:solidFill>
                  </a:tcPr>
                </a:tc>
                <a:tc>
                  <a:txBody>
                    <a:bodyPr lIns="114300" tIns="95250" rIns="114300" bIns="95250">
                      <a:noAutofit/>
                    </a:bodyPr>
                    <a:lstStyle/>
                    <a:p>
                      <a:r>
                        <a:rPr sz="1725" b="0">
                          <a:solidFill>
                            <a:srgbClr val="172D43"/>
                          </a:solidFill>
                          <a:latin typeface="Nimbus Sans"/>
                          <a:ea typeface="Nimbus Sans"/>
                          <a:cs typeface="Nimbus Sans"/>
                        </a:rPr>
                        <a:t>Review</a:t>
                      </a:r>
                    </a:p>
                  </a:txBody>
                  <a:tcPr marL="91440" marR="91440" marT="45720" marB="45720" anchor="ctr">
                    <a:solidFill>
                      <a:srgbClr val="FFFFFF"/>
                    </a:solidFill>
                  </a:tcPr>
                </a:tc>
                <a:tc>
                  <a:txBody>
                    <a:bodyPr lIns="114300" tIns="95250" rIns="114300" bIns="95250">
                      <a:noAutofit/>
                    </a:bodyPr>
                    <a:lstStyle/>
                    <a:p>
                      <a:r>
                        <a:rPr sz="1725" b="0">
                          <a:solidFill>
                            <a:srgbClr val="172D43"/>
                          </a:solidFill>
                          <a:latin typeface="Nimbus Sans"/>
                          <a:ea typeface="Nimbus Sans"/>
                          <a:cs typeface="Nimbus Sans"/>
                        </a:rPr>
                        <a:t>Tag day-1</a:t>
                      </a:r>
                    </a:p>
                  </a:txBody>
                  <a:tcPr marL="91440" marR="91440" marT="45720" marB="45720" anchor="ctr">
                    <a:solidFill>
                      <a:srgbClr val="FFFFFF"/>
                    </a:solidFill>
                  </a:tcPr>
                </a:tc>
              </a:tr>
            </a:tbl>
          </a:graphicData>
        </a:graphic>
      </p:graphicFrame>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17a2296e525c4399"/>
          <a:srcRect xmlns:a="http://schemas.openxmlformats.org/drawingml/2006/main" l="4250" t="6738" r="4125" b="3546"/>
          <a:stretch xmlns:a="http://schemas.openxmlformats.org/drawingml/2006/main"/>
        </p:blipFill>
        <p:spPr>
          <a:xfrm xmlns:a="http://schemas.openxmlformats.org/drawingml/2006/main">
            <a:off x="9344025" y="219075"/>
            <a:ext cx="1428750" cy="495300"/>
          </a:xfrm>
          <a:prstGeom xmlns:a="http://schemas.openxmlformats.org/drawingml/2006/main" prst="rect">
            <a:avLst/>
          </a:prstGeom>
        </p:spPr>
      </p:pic>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9c20d0caa832437a"/>
          <a:srcRect xmlns:a="http://schemas.openxmlformats.org/drawingml/2006/main" l="32813" t="23779" r="32813" b="23779"/>
          <a:stretch xmlns:a="http://schemas.openxmlformats.org/drawingml/2006/main"/>
        </p:blipFill>
        <p:spPr>
          <a:xfrm xmlns:a="http://schemas.openxmlformats.org/drawingml/2006/main">
            <a:off x="11163300" y="161925"/>
            <a:ext cx="371475" cy="571500"/>
          </a:xfrm>
          <a:prstGeom xmlns:a="http://schemas.openxmlformats.org/drawingml/2006/main" prst="rect">
            <a:avLst/>
          </a:prstGeom>
        </p:spPr>
      </p:pic>
    </p:spTree>
    <p:extLst>
      <p:ext uri="{BB962C8B-B14F-4D97-AF65-F5344CB8AC3E}">
        <p14:creationId xmlns:p14="http://schemas.microsoft.com/office/powerpoint/2010/main" val="102364354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0-48">
            <a:extLst xmlns:a="http://schemas.openxmlformats.org/drawingml/2006/main">
              <a:ext uri="{FF2B5EF4-FFF2-40B4-BE49-F238E27FC236}">
                <a16:creationId xmlns:a16="http://schemas.microsoft.com/office/drawing/2014/main" id="{B953B17B-7C04-4C10-8246-8B07DFE277F1}"/>
              </a:ext>
            </a:extLst>
          </p:cNvPr>
          <p:cNvSpPr>
            <a:spLocks xmlns:a="http://schemas.openxmlformats.org/drawingml/2006/main" noGrp="1"/>
          </p:cNvSpPr>
          <p:nvPr/>
        </p:nvSpPr>
        <p:spPr>
          <a:xfrm xmlns:a="http://schemas.openxmlformats.org/drawingml/2006/main">
            <a:off x="609600" y="8953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0000"/>
              </a:lnSpc>
              <a:buNone/>
              <a:defRPr sz="3300" b="1">
                <a:solidFill>
                  <a:srgbClr val="0B3970"/>
                </a:solidFill>
                <a:latin typeface="Nimbus Sans"/>
                <a:ea typeface="Nimbus Sans"/>
                <a:cs typeface="Nimbus Sans"/>
              </a:defRPr>
            </a:pPr>
            <a:r>
              <a:rPr sz="3300" b="1">
                <a:solidFill>
                  <a:srgbClr val="0B3970"/>
                </a:solidFill>
                <a:latin typeface="Nimbus Sans"/>
                <a:ea typeface="Nimbus Sans"/>
                <a:cs typeface="Nimbus Sans"/>
              </a:rPr>
              <a:t>Kontrak proyek latihan</a:t>
            </a:r>
          </a:p>
        </p:txBody>
      </p:sp>
      <p:sp>
        <p:nvSpPr>
          <p:cNvPr id="2" name="text-1-674">
            <a:extLst xmlns:a="http://schemas.openxmlformats.org/drawingml/2006/main">
              <a:ext uri="{FF2B5EF4-FFF2-40B4-BE49-F238E27FC236}">
                <a16:creationId xmlns:a16="http://schemas.microsoft.com/office/drawing/2014/main" id="{6B2D5BA6-260B-456C-871B-06C03DF4DE06}"/>
              </a:ext>
            </a:extLst>
          </p:cNvPr>
          <p:cNvSpPr>
            <a:spLocks xmlns:a="http://schemas.openxmlformats.org/drawingml/2006/main" noGrp="1"/>
          </p:cNvSpPr>
          <p:nvPr/>
        </p:nvSpPr>
        <p:spPr>
          <a:xfrm xmlns:a="http://schemas.openxmlformats.org/drawingml/2006/main">
            <a:off x="609600" y="6448425"/>
            <a:ext cx="714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125" b="0">
                <a:solidFill>
                  <a:srgbClr val="5E7182"/>
                </a:solidFill>
                <a:latin typeface="Nimbus Sans"/>
                <a:ea typeface="Nimbus Sans"/>
                <a:cs typeface="Nimbus Sans"/>
              </a:defRPr>
            </a:pPr>
            <a:r>
              <a:rPr sz="1125" b="0">
                <a:solidFill>
                  <a:srgbClr val="5E7182"/>
                </a:solidFill>
                <a:latin typeface="Nimbus Sans"/>
                <a:ea typeface="Nimbus Sans"/>
                <a:cs typeface="Nimbus Sans"/>
              </a:rPr>
              <a:t>Training Flutter Android   /   Hari 1</a:t>
            </a:r>
          </a:p>
        </p:txBody>
      </p:sp>
      <p:sp>
        <p:nvSpPr>
          <p:cNvPr id="3" name="text-2-674">
            <a:extLst xmlns:a="http://schemas.openxmlformats.org/drawingml/2006/main">
              <a:ext uri="{FF2B5EF4-FFF2-40B4-BE49-F238E27FC236}">
                <a16:creationId xmlns:a16="http://schemas.microsoft.com/office/drawing/2014/main" id="{40065F4E-3151-4A2E-BB73-5BB5B3B81596}"/>
              </a:ext>
            </a:extLst>
          </p:cNvPr>
          <p:cNvSpPr>
            <a:spLocks xmlns:a="http://schemas.openxmlformats.org/drawingml/2006/main" noGrp="1"/>
          </p:cNvSpPr>
          <p:nvPr/>
        </p:nvSpPr>
        <p:spPr>
          <a:xfrm xmlns:a="http://schemas.openxmlformats.org/drawingml/2006/main">
            <a:off x="10668000" y="6448425"/>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125" b="0">
                <a:solidFill>
                  <a:srgbClr val="5E7182"/>
                </a:solidFill>
                <a:latin typeface="Nimbus Sans"/>
                <a:ea typeface="Nimbus Sans"/>
                <a:cs typeface="Nimbus Sans"/>
              </a:defRPr>
            </a:pPr>
            <a:r>
              <a:rPr sz="1125" b="0">
                <a:solidFill>
                  <a:srgbClr val="5E7182"/>
                </a:solidFill>
                <a:latin typeface="Nimbus Sans"/>
                <a:ea typeface="Nimbus Sans"/>
                <a:cs typeface="Nimbus Sans"/>
              </a:rPr>
              <a:t>04 / 44</a:t>
            </a:r>
          </a:p>
        </p:txBody>
      </p:sp>
      <p:graphicFrame>
        <p:nvGraphicFramePr>
          <p:cNvPr id="13" name=""/>
          <p:cNvGraphicFramePr/>
          <p:nvPr/>
        </p:nvGraphicFramePr>
        <p:xfrm>
          <a:off xmlns:a="http://schemas.openxmlformats.org/drawingml/2006/main" x="609600" y="1657350"/>
          <a:ext xmlns:a="http://schemas.openxmlformats.org/drawingml/2006/main" cx="10972800" cy="4114800"/>
        </p:xfrm>
        <a:graphic xmlns:a="http://schemas.openxmlformats.org/drawingml/2006/main">
          <a:graphicData uri="http://schemas.openxmlformats.org/drawingml/2006/table">
            <a:tbl>
              <a:tblPr/>
              <a:tblGrid>
                <a:gridCol w="2194560"/>
                <a:gridCol w="4389120"/>
                <a:gridCol w="4389120"/>
              </a:tblGrid>
              <a:tr h="685800">
                <a:tc>
                  <a:txBody>
                    <a:bodyPr lIns="114300" tIns="95250" rIns="114300" bIns="95250">
                      <a:noAutofit/>
                    </a:bodyPr>
                    <a:lstStyle/>
                    <a:p>
                      <a:r>
                        <a:rPr sz="1800" b="1">
                          <a:solidFill>
                            <a:srgbClr val="FFFFFF"/>
                          </a:solidFill>
                          <a:latin typeface="Nimbus Sans"/>
                          <a:ea typeface="Nimbus Sans"/>
                          <a:cs typeface="Nimbus Sans"/>
                        </a:rPr>
                        <a:t>Field</a:t>
                      </a:r>
                    </a:p>
                  </a:txBody>
                  <a:tcPr marL="91440" marR="91440" marT="45720" marB="45720" anchor="ctr">
                    <a:solidFill>
                      <a:srgbClr val="0B3970"/>
                    </a:solidFill>
                  </a:tcPr>
                </a:tc>
                <a:tc>
                  <a:txBody>
                    <a:bodyPr lIns="114300" tIns="95250" rIns="114300" bIns="95250">
                      <a:noAutofit/>
                    </a:bodyPr>
                    <a:lstStyle/>
                    <a:p>
                      <a:r>
                        <a:rPr sz="1800" b="1">
                          <a:solidFill>
                            <a:srgbClr val="FFFFFF"/>
                          </a:solidFill>
                          <a:latin typeface="Nimbus Sans"/>
                          <a:ea typeface="Nimbus Sans"/>
                          <a:cs typeface="Nimbus Sans"/>
                        </a:rPr>
                        <a:t>Aturan</a:t>
                      </a:r>
                    </a:p>
                  </a:txBody>
                  <a:tcPr marL="91440" marR="91440" marT="45720" marB="45720" anchor="ctr">
                    <a:solidFill>
                      <a:srgbClr val="0B3970"/>
                    </a:solidFill>
                  </a:tcPr>
                </a:tc>
                <a:tc>
                  <a:txBody>
                    <a:bodyPr lIns="114300" tIns="95250" rIns="114300" bIns="95250">
                      <a:noAutofit/>
                    </a:bodyPr>
                    <a:lstStyle/>
                    <a:p>
                      <a:r>
                        <a:rPr sz="1800" b="1">
                          <a:solidFill>
                            <a:srgbClr val="FFFFFF"/>
                          </a:solidFill>
                          <a:latin typeface="Nimbus Sans"/>
                          <a:ea typeface="Nimbus Sans"/>
                          <a:cs typeface="Nimbus Sans"/>
                        </a:rPr>
                        <a:t>Contoh</a:t>
                      </a:r>
                    </a:p>
                  </a:txBody>
                  <a:tcPr marL="91440" marR="91440" marT="45720" marB="45720" anchor="ctr">
                    <a:solidFill>
                      <a:srgbClr val="0B3970"/>
                    </a:solidFill>
                  </a:tcPr>
                </a:tc>
              </a:tr>
              <a:tr h="685800">
                <a:tc>
                  <a:txBody>
                    <a:bodyPr lIns="114300" tIns="95250" rIns="114300" bIns="95250">
                      <a:noAutofit/>
                    </a:bodyPr>
                    <a:lstStyle/>
                    <a:p>
                      <a:r>
                        <a:rPr sz="1725" b="0">
                          <a:solidFill>
                            <a:srgbClr val="172D43"/>
                          </a:solidFill>
                          <a:latin typeface="Nimbus Sans"/>
                          <a:ea typeface="Nimbus Sans"/>
                          <a:cs typeface="Nimbus Sans"/>
                        </a:rPr>
                        <a:t>assetCode</a:t>
                      </a:r>
                    </a:p>
                  </a:txBody>
                  <a:tcPr marL="91440" marR="91440" marT="45720" marB="45720" anchor="ctr">
                    <a:solidFill>
                      <a:srgbClr val="FFFFFF"/>
                    </a:solidFill>
                  </a:tcPr>
                </a:tc>
                <a:tc>
                  <a:txBody>
                    <a:bodyPr lIns="114300" tIns="95250" rIns="114300" bIns="95250">
                      <a:noAutofit/>
                    </a:bodyPr>
                    <a:lstStyle/>
                    <a:p>
                      <a:r>
                        <a:rPr sz="1725" b="0">
                          <a:solidFill>
                            <a:srgbClr val="172D43"/>
                          </a:solidFill>
                          <a:latin typeface="Nimbus Sans"/>
                          <a:ea typeface="Nimbus Sans"/>
                          <a:cs typeface="Nimbus Sans"/>
                        </a:rPr>
                        <a:t>Wajib, trim, maksimal 30</a:t>
                      </a:r>
                    </a:p>
                  </a:txBody>
                  <a:tcPr marL="91440" marR="91440" marT="45720" marB="45720" anchor="ctr">
                    <a:solidFill>
                      <a:srgbClr val="FFFFFF"/>
                    </a:solidFill>
                  </a:tcPr>
                </a:tc>
                <a:tc>
                  <a:txBody>
                    <a:bodyPr lIns="114300" tIns="95250" rIns="114300" bIns="95250">
                      <a:noAutofit/>
                    </a:bodyPr>
                    <a:lstStyle/>
                    <a:p>
                      <a:r>
                        <a:rPr sz="1725" b="0">
                          <a:solidFill>
                            <a:srgbClr val="172D43"/>
                          </a:solidFill>
                          <a:latin typeface="Nimbus Sans"/>
                          <a:ea typeface="Nimbus Sans"/>
                          <a:cs typeface="Nimbus Sans"/>
                        </a:rPr>
                        <a:t>PMP-001</a:t>
                      </a:r>
                    </a:p>
                  </a:txBody>
                  <a:tcPr marL="91440" marR="91440" marT="45720" marB="45720" anchor="ctr">
                    <a:solidFill>
                      <a:srgbClr val="FFFFFF"/>
                    </a:solidFill>
                  </a:tcPr>
                </a:tc>
              </a:tr>
              <a:tr h="685800">
                <a:tc>
                  <a:txBody>
                    <a:bodyPr lIns="114300" tIns="95250" rIns="114300" bIns="95250">
                      <a:noAutofit/>
                    </a:bodyPr>
                    <a:lstStyle/>
                    <a:p>
                      <a:r>
                        <a:rPr sz="1725" b="0">
                          <a:solidFill>
                            <a:srgbClr val="172D43"/>
                          </a:solidFill>
                          <a:latin typeface="Nimbus Sans"/>
                          <a:ea typeface="Nimbus Sans"/>
                          <a:cs typeface="Nimbus Sans"/>
                        </a:rPr>
                        <a:t>location</a:t>
                      </a:r>
                    </a:p>
                  </a:txBody>
                  <a:tcPr marL="91440" marR="91440" marT="45720" marB="45720" anchor="ctr">
                    <a:solidFill>
                      <a:srgbClr val="F0F5F9"/>
                    </a:solidFill>
                  </a:tcPr>
                </a:tc>
                <a:tc>
                  <a:txBody>
                    <a:bodyPr lIns="114300" tIns="95250" rIns="114300" bIns="95250">
                      <a:noAutofit/>
                    </a:bodyPr>
                    <a:lstStyle/>
                    <a:p>
                      <a:r>
                        <a:rPr sz="1725" b="0">
                          <a:solidFill>
                            <a:srgbClr val="172D43"/>
                          </a:solidFill>
                          <a:latin typeface="Nimbus Sans"/>
                          <a:ea typeface="Nimbus Sans"/>
                          <a:cs typeface="Nimbus Sans"/>
                        </a:rPr>
                        <a:t>Wajib, maksimal 80</a:t>
                      </a:r>
                    </a:p>
                  </a:txBody>
                  <a:tcPr marL="91440" marR="91440" marT="45720" marB="45720" anchor="ctr">
                    <a:solidFill>
                      <a:srgbClr val="F0F5F9"/>
                    </a:solidFill>
                  </a:tcPr>
                </a:tc>
                <a:tc>
                  <a:txBody>
                    <a:bodyPr lIns="114300" tIns="95250" rIns="114300" bIns="95250">
                      <a:noAutofit/>
                    </a:bodyPr>
                    <a:lstStyle/>
                    <a:p>
                      <a:r>
                        <a:rPr sz="1725" b="0">
                          <a:solidFill>
                            <a:srgbClr val="172D43"/>
                          </a:solidFill>
                          <a:latin typeface="Nimbus Sans"/>
                          <a:ea typeface="Nimbus Sans"/>
                          <a:cs typeface="Nimbus Sans"/>
                        </a:rPr>
                        <a:t>Workshop A</a:t>
                      </a:r>
                    </a:p>
                  </a:txBody>
                  <a:tcPr marL="91440" marR="91440" marT="45720" marB="45720" anchor="ctr">
                    <a:solidFill>
                      <a:srgbClr val="F0F5F9"/>
                    </a:solidFill>
                  </a:tcPr>
                </a:tc>
              </a:tr>
              <a:tr h="685800">
                <a:tc>
                  <a:txBody>
                    <a:bodyPr lIns="114300" tIns="95250" rIns="114300" bIns="95250">
                      <a:noAutofit/>
                    </a:bodyPr>
                    <a:lstStyle/>
                    <a:p>
                      <a:r>
                        <a:rPr sz="1725" b="0">
                          <a:solidFill>
                            <a:srgbClr val="172D43"/>
                          </a:solidFill>
                          <a:latin typeface="Nimbus Sans"/>
                          <a:ea typeface="Nimbus Sans"/>
                          <a:cs typeface="Nimbus Sans"/>
                        </a:rPr>
                        <a:t>condition</a:t>
                      </a:r>
                    </a:p>
                  </a:txBody>
                  <a:tcPr marL="91440" marR="91440" marT="45720" marB="45720" anchor="ctr">
                    <a:solidFill>
                      <a:srgbClr val="FFFFFF"/>
                    </a:solidFill>
                  </a:tcPr>
                </a:tc>
                <a:tc>
                  <a:txBody>
                    <a:bodyPr lIns="114300" tIns="95250" rIns="114300" bIns="95250">
                      <a:noAutofit/>
                    </a:bodyPr>
                    <a:lstStyle/>
                    <a:p>
                      <a:r>
                        <a:rPr sz="1725" b="0">
                          <a:solidFill>
                            <a:srgbClr val="172D43"/>
                          </a:solidFill>
                          <a:latin typeface="Nimbus Sans"/>
                          <a:ea typeface="Nimbus Sans"/>
                          <a:cs typeface="Nimbus Sans"/>
                        </a:rPr>
                        <a:t>good atau needs_action</a:t>
                      </a:r>
                    </a:p>
                  </a:txBody>
                  <a:tcPr marL="91440" marR="91440" marT="45720" marB="45720" anchor="ctr">
                    <a:solidFill>
                      <a:srgbClr val="FFFFFF"/>
                    </a:solidFill>
                  </a:tcPr>
                </a:tc>
                <a:tc>
                  <a:txBody>
                    <a:bodyPr lIns="114300" tIns="95250" rIns="114300" bIns="95250">
                      <a:noAutofit/>
                    </a:bodyPr>
                    <a:lstStyle/>
                    <a:p>
                      <a:r>
                        <a:rPr sz="1725" b="0">
                          <a:solidFill>
                            <a:srgbClr val="172D43"/>
                          </a:solidFill>
                          <a:latin typeface="Nimbus Sans"/>
                          <a:ea typeface="Nimbus Sans"/>
                          <a:cs typeface="Nimbus Sans"/>
                        </a:rPr>
                        <a:t>Perlu tindak lanjut</a:t>
                      </a:r>
                    </a:p>
                  </a:txBody>
                  <a:tcPr marL="91440" marR="91440" marT="45720" marB="45720" anchor="ctr">
                    <a:solidFill>
                      <a:srgbClr val="FFFFFF"/>
                    </a:solidFill>
                  </a:tcPr>
                </a:tc>
              </a:tr>
              <a:tr h="685800">
                <a:tc>
                  <a:txBody>
                    <a:bodyPr lIns="114300" tIns="95250" rIns="114300" bIns="95250">
                      <a:noAutofit/>
                    </a:bodyPr>
                    <a:lstStyle/>
                    <a:p>
                      <a:r>
                        <a:rPr sz="1725" b="0">
                          <a:solidFill>
                            <a:srgbClr val="172D43"/>
                          </a:solidFill>
                          <a:latin typeface="Nimbus Sans"/>
                          <a:ea typeface="Nimbus Sans"/>
                          <a:cs typeface="Nimbus Sans"/>
                        </a:rPr>
                        <a:t>note</a:t>
                      </a:r>
                    </a:p>
                  </a:txBody>
                  <a:tcPr marL="91440" marR="91440" marT="45720" marB="45720" anchor="ctr">
                    <a:solidFill>
                      <a:srgbClr val="F0F5F9"/>
                    </a:solidFill>
                  </a:tcPr>
                </a:tc>
                <a:tc>
                  <a:txBody>
                    <a:bodyPr lIns="114300" tIns="95250" rIns="114300" bIns="95250">
                      <a:noAutofit/>
                    </a:bodyPr>
                    <a:lstStyle/>
                    <a:p>
                      <a:r>
                        <a:rPr sz="1725" b="0">
                          <a:solidFill>
                            <a:srgbClr val="172D43"/>
                          </a:solidFill>
                          <a:latin typeface="Nimbus Sans"/>
                          <a:ea typeface="Nimbus Sans"/>
                          <a:cs typeface="Nimbus Sans"/>
                        </a:rPr>
                        <a:t>Maksimal 500 karakter</a:t>
                      </a:r>
                    </a:p>
                  </a:txBody>
                  <a:tcPr marL="91440" marR="91440" marT="45720" marB="45720" anchor="ctr">
                    <a:solidFill>
                      <a:srgbClr val="F0F5F9"/>
                    </a:solidFill>
                  </a:tcPr>
                </a:tc>
                <a:tc>
                  <a:txBody>
                    <a:bodyPr lIns="114300" tIns="95250" rIns="114300" bIns="95250">
                      <a:noAutofit/>
                    </a:bodyPr>
                    <a:lstStyle/>
                    <a:p>
                      <a:r>
                        <a:rPr sz="1725" b="0">
                          <a:solidFill>
                            <a:srgbClr val="172D43"/>
                          </a:solidFill>
                          <a:latin typeface="Nimbus Sans"/>
                          <a:ea typeface="Nimbus Sans"/>
                          <a:cs typeface="Nimbus Sans"/>
                        </a:rPr>
                        <a:t>Getaran motor tinggi</a:t>
                      </a:r>
                    </a:p>
                  </a:txBody>
                  <a:tcPr marL="91440" marR="91440" marT="45720" marB="45720" anchor="ctr">
                    <a:solidFill>
                      <a:srgbClr val="F0F5F9"/>
                    </a:solidFill>
                  </a:tcPr>
                </a:tc>
              </a:tr>
              <a:tr h="685800">
                <a:tc>
                  <a:txBody>
                    <a:bodyPr lIns="114300" tIns="95250" rIns="114300" bIns="95250">
                      <a:noAutofit/>
                    </a:bodyPr>
                    <a:lstStyle/>
                    <a:p>
                      <a:r>
                        <a:rPr sz="1725" b="0">
                          <a:solidFill>
                            <a:srgbClr val="172D43"/>
                          </a:solidFill>
                          <a:latin typeface="Nimbus Sans"/>
                          <a:ea typeface="Nimbus Sans"/>
                          <a:cs typeface="Nimbus Sans"/>
                        </a:rPr>
                        <a:t>createdAt</a:t>
                      </a:r>
                    </a:p>
                  </a:txBody>
                  <a:tcPr marL="91440" marR="91440" marT="45720" marB="45720" anchor="ctr">
                    <a:solidFill>
                      <a:srgbClr val="FFFFFF"/>
                    </a:solidFill>
                  </a:tcPr>
                </a:tc>
                <a:tc>
                  <a:txBody>
                    <a:bodyPr lIns="114300" tIns="95250" rIns="114300" bIns="95250">
                      <a:noAutofit/>
                    </a:bodyPr>
                    <a:lstStyle/>
                    <a:p>
                      <a:r>
                        <a:rPr sz="1725" b="0">
                          <a:solidFill>
                            <a:srgbClr val="172D43"/>
                          </a:solidFill>
                          <a:latin typeface="Nimbus Sans"/>
                          <a:ea typeface="Nimbus Sans"/>
                          <a:cs typeface="Nimbus Sans"/>
                        </a:rPr>
                        <a:t>UTC, tampil waktu lokal</a:t>
                      </a:r>
                    </a:p>
                  </a:txBody>
                  <a:tcPr marL="91440" marR="91440" marT="45720" marB="45720" anchor="ctr">
                    <a:solidFill>
                      <a:srgbClr val="FFFFFF"/>
                    </a:solidFill>
                  </a:tcPr>
                </a:tc>
                <a:tc>
                  <a:txBody>
                    <a:bodyPr lIns="114300" tIns="95250" rIns="114300" bIns="95250">
                      <a:noAutofit/>
                    </a:bodyPr>
                    <a:lstStyle/>
                    <a:p>
                      <a:r>
                        <a:rPr sz="1725" b="0">
                          <a:solidFill>
                            <a:srgbClr val="172D43"/>
                          </a:solidFill>
                          <a:latin typeface="Nimbus Sans"/>
                          <a:ea typeface="Nimbus Sans"/>
                          <a:cs typeface="Nimbus Sans"/>
                        </a:rPr>
                        <a:t>Dibuat oleh sistem</a:t>
                      </a:r>
                    </a:p>
                  </a:txBody>
                  <a:tcPr marL="91440" marR="91440" marT="45720" marB="45720" anchor="ctr">
                    <a:solidFill>
                      <a:srgbClr val="FFFFFF"/>
                    </a:solidFill>
                  </a:tcPr>
                </a:tc>
              </a:tr>
            </a:tbl>
          </a:graphicData>
        </a:graphic>
      </p:graphicFrame>
      <p:sp>
        <p:nvSpPr>
          <p:cNvPr id="5" name="text-3-618">
            <a:extLst xmlns:a="http://schemas.openxmlformats.org/drawingml/2006/main">
              <a:ext uri="{FF2B5EF4-FFF2-40B4-BE49-F238E27FC236}">
                <a16:creationId xmlns:a16="http://schemas.microsoft.com/office/drawing/2014/main" id="{AC78E664-4D86-40AB-B8FD-0DDF0D7C0AEA}"/>
              </a:ext>
            </a:extLst>
          </p:cNvPr>
          <p:cNvSpPr>
            <a:spLocks xmlns:a="http://schemas.openxmlformats.org/drawingml/2006/main" noGrp="1"/>
          </p:cNvSpPr>
          <p:nvPr/>
        </p:nvSpPr>
        <p:spPr>
          <a:xfrm xmlns:a="http://schemas.openxmlformats.org/drawingml/2006/main">
            <a:off x="609600" y="58864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800" b="1">
                <a:solidFill>
                  <a:srgbClr val="007DB7"/>
                </a:solidFill>
                <a:latin typeface="Nimbus Sans"/>
                <a:ea typeface="Nimbus Sans"/>
                <a:cs typeface="Nimbus Sans"/>
              </a:defRPr>
            </a:pPr>
            <a:r>
              <a:rPr sz="1800" b="1">
                <a:solidFill>
                  <a:srgbClr val="007DB7"/>
                </a:solidFill>
                <a:latin typeface="Nimbus Sans"/>
                <a:ea typeface="Nimbus Sans"/>
                <a:cs typeface="Nimbus Sans"/>
              </a:rPr>
              <a:t>needs_action mewajibkan catatan minimal 10 karakter setelah trim</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08b4392284864257"/>
          <a:srcRect xmlns:a="http://schemas.openxmlformats.org/drawingml/2006/main" l="4250" t="6738" r="4125" b="3546"/>
          <a:stretch xmlns:a="http://schemas.openxmlformats.org/drawingml/2006/main"/>
        </p:blipFill>
        <p:spPr>
          <a:xfrm xmlns:a="http://schemas.openxmlformats.org/drawingml/2006/main">
            <a:off x="9344025" y="219075"/>
            <a:ext cx="1428750" cy="495300"/>
          </a:xfrm>
          <a:prstGeom xmlns:a="http://schemas.openxmlformats.org/drawingml/2006/main" prst="rect">
            <a:avLst/>
          </a:prstGeom>
        </p:spPr>
      </p:pic>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94860a65442547b0"/>
          <a:srcRect xmlns:a="http://schemas.openxmlformats.org/drawingml/2006/main" l="32813" t="23779" r="32813" b="23779"/>
          <a:stretch xmlns:a="http://schemas.openxmlformats.org/drawingml/2006/main"/>
        </p:blipFill>
        <p:spPr>
          <a:xfrm xmlns:a="http://schemas.openxmlformats.org/drawingml/2006/main">
            <a:off x="11163300" y="161925"/>
            <a:ext cx="371475" cy="571500"/>
          </a:xfrm>
          <a:prstGeom xmlns:a="http://schemas.openxmlformats.org/drawingml/2006/main" prst="rect">
            <a:avLst/>
          </a:prstGeom>
        </p:spPr>
      </p:pic>
    </p:spTree>
    <p:extLst>
      <p:ext uri="{BB962C8B-B14F-4D97-AF65-F5344CB8AC3E}">
        <p14:creationId xmlns:p14="http://schemas.microsoft.com/office/powerpoint/2010/main" val="5178767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0-48">
            <a:extLst xmlns:a="http://schemas.openxmlformats.org/drawingml/2006/main">
              <a:ext uri="{FF2B5EF4-FFF2-40B4-BE49-F238E27FC236}">
                <a16:creationId xmlns:a16="http://schemas.microsoft.com/office/drawing/2014/main" id="{046FDA71-FF79-4501-B60F-1632A6611177}"/>
              </a:ext>
            </a:extLst>
          </p:cNvPr>
          <p:cNvSpPr>
            <a:spLocks xmlns:a="http://schemas.openxmlformats.org/drawingml/2006/main" noGrp="1"/>
          </p:cNvSpPr>
          <p:nvPr/>
        </p:nvSpPr>
        <p:spPr>
          <a:xfrm xmlns:a="http://schemas.openxmlformats.org/drawingml/2006/main">
            <a:off x="609600" y="8953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0000"/>
              </a:lnSpc>
              <a:buNone/>
              <a:defRPr sz="3300" b="1">
                <a:solidFill>
                  <a:srgbClr val="0B3970"/>
                </a:solidFill>
                <a:latin typeface="Nimbus Sans"/>
                <a:ea typeface="Nimbus Sans"/>
                <a:cs typeface="Nimbus Sans"/>
              </a:defRPr>
            </a:pPr>
            <a:r>
              <a:rPr sz="3300" b="1">
                <a:solidFill>
                  <a:srgbClr val="0B3970"/>
                </a:solidFill>
                <a:latin typeface="Nimbus Sans"/>
                <a:ea typeface="Nimbus Sans"/>
                <a:cs typeface="Nimbus Sans"/>
              </a:rPr>
              <a:t>Flutter dan pengalaman Kotlin</a:t>
            </a:r>
          </a:p>
        </p:txBody>
      </p:sp>
      <p:sp>
        <p:nvSpPr>
          <p:cNvPr id="2" name="text-1-674">
            <a:extLst xmlns:a="http://schemas.openxmlformats.org/drawingml/2006/main">
              <a:ext uri="{FF2B5EF4-FFF2-40B4-BE49-F238E27FC236}">
                <a16:creationId xmlns:a16="http://schemas.microsoft.com/office/drawing/2014/main" id="{6FC770DD-ACE5-4FF9-84EB-C058D6E35C59}"/>
              </a:ext>
            </a:extLst>
          </p:cNvPr>
          <p:cNvSpPr>
            <a:spLocks xmlns:a="http://schemas.openxmlformats.org/drawingml/2006/main" noGrp="1"/>
          </p:cNvSpPr>
          <p:nvPr/>
        </p:nvSpPr>
        <p:spPr>
          <a:xfrm xmlns:a="http://schemas.openxmlformats.org/drawingml/2006/main">
            <a:off x="609600" y="6448425"/>
            <a:ext cx="714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125" b="0">
                <a:solidFill>
                  <a:srgbClr val="5E7182"/>
                </a:solidFill>
                <a:latin typeface="Nimbus Sans"/>
                <a:ea typeface="Nimbus Sans"/>
                <a:cs typeface="Nimbus Sans"/>
              </a:defRPr>
            </a:pPr>
            <a:r>
              <a:rPr sz="1125" b="0">
                <a:solidFill>
                  <a:srgbClr val="5E7182"/>
                </a:solidFill>
                <a:latin typeface="Nimbus Sans"/>
                <a:ea typeface="Nimbus Sans"/>
                <a:cs typeface="Nimbus Sans"/>
              </a:rPr>
              <a:t>Training Flutter Android   /   Hari 1</a:t>
            </a:r>
          </a:p>
        </p:txBody>
      </p:sp>
      <p:sp>
        <p:nvSpPr>
          <p:cNvPr id="3" name="text-2-674">
            <a:extLst xmlns:a="http://schemas.openxmlformats.org/drawingml/2006/main">
              <a:ext uri="{FF2B5EF4-FFF2-40B4-BE49-F238E27FC236}">
                <a16:creationId xmlns:a16="http://schemas.microsoft.com/office/drawing/2014/main" id="{20839CE0-7DE6-496A-89B7-08E5ECD8540E}"/>
              </a:ext>
            </a:extLst>
          </p:cNvPr>
          <p:cNvSpPr>
            <a:spLocks xmlns:a="http://schemas.openxmlformats.org/drawingml/2006/main" noGrp="1"/>
          </p:cNvSpPr>
          <p:nvPr/>
        </p:nvSpPr>
        <p:spPr>
          <a:xfrm xmlns:a="http://schemas.openxmlformats.org/drawingml/2006/main">
            <a:off x="10668000" y="6448425"/>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125" b="0">
                <a:solidFill>
                  <a:srgbClr val="5E7182"/>
                </a:solidFill>
                <a:latin typeface="Nimbus Sans"/>
                <a:ea typeface="Nimbus Sans"/>
                <a:cs typeface="Nimbus Sans"/>
              </a:defRPr>
            </a:pPr>
            <a:r>
              <a:rPr sz="1125" b="0">
                <a:solidFill>
                  <a:srgbClr val="5E7182"/>
                </a:solidFill>
                <a:latin typeface="Nimbus Sans"/>
                <a:ea typeface="Nimbus Sans"/>
                <a:cs typeface="Nimbus Sans"/>
              </a:rPr>
              <a:t>05 / 44</a:t>
            </a:r>
          </a:p>
        </p:txBody>
      </p:sp>
      <p:sp>
        <p:nvSpPr>
          <p:cNvPr id="4" name="text-3-180">
            <a:extLst xmlns:a="http://schemas.openxmlformats.org/drawingml/2006/main">
              <a:ext uri="{FF2B5EF4-FFF2-40B4-BE49-F238E27FC236}">
                <a16:creationId xmlns:a16="http://schemas.microsoft.com/office/drawing/2014/main" id="{CD58CC40-915C-412E-9F16-18E880539A20}"/>
              </a:ext>
            </a:extLst>
          </p:cNvPr>
          <p:cNvSpPr>
            <a:spLocks xmlns:a="http://schemas.openxmlformats.org/drawingml/2006/main" noGrp="1"/>
          </p:cNvSpPr>
          <p:nvPr/>
        </p:nvSpPr>
        <p:spPr>
          <a:xfrm xmlns:a="http://schemas.openxmlformats.org/drawingml/2006/main">
            <a:off x="609600" y="1866900"/>
            <a:ext cx="5048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2175" b="1">
                <a:solidFill>
                  <a:srgbClr val="007DB7"/>
                </a:solidFill>
                <a:latin typeface="Nimbus Sans"/>
                <a:ea typeface="Nimbus Sans"/>
                <a:cs typeface="Nimbus Sans"/>
              </a:defRPr>
            </a:pPr>
            <a:r>
              <a:rPr sz="2175" b="1">
                <a:solidFill>
                  <a:srgbClr val="007DB7"/>
                </a:solidFill>
                <a:latin typeface="Nimbus Sans"/>
                <a:ea typeface="Nimbus Sans"/>
                <a:cs typeface="Nimbus Sans"/>
              </a:rPr>
              <a:t>Pengetahuan yang dapat dipakai</a:t>
            </a:r>
          </a:p>
        </p:txBody>
      </p:sp>
      <p:sp>
        <p:nvSpPr>
          <p:cNvPr id="5" name="text-4-180">
            <a:extLst xmlns:a="http://schemas.openxmlformats.org/drawingml/2006/main">
              <a:ext uri="{FF2B5EF4-FFF2-40B4-BE49-F238E27FC236}">
                <a16:creationId xmlns:a16="http://schemas.microsoft.com/office/drawing/2014/main" id="{EC44CE10-19BB-43D5-98B2-E9F31BEB5C7F}"/>
              </a:ext>
            </a:extLst>
          </p:cNvPr>
          <p:cNvSpPr>
            <a:spLocks xmlns:a="http://schemas.openxmlformats.org/drawingml/2006/main" noGrp="1"/>
          </p:cNvSpPr>
          <p:nvPr/>
        </p:nvSpPr>
        <p:spPr>
          <a:xfrm xmlns:a="http://schemas.openxmlformats.org/drawingml/2006/main">
            <a:off x="6477000" y="1866900"/>
            <a:ext cx="5105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2175" b="1">
                <a:solidFill>
                  <a:srgbClr val="007DB7"/>
                </a:solidFill>
                <a:latin typeface="Nimbus Sans"/>
                <a:ea typeface="Nimbus Sans"/>
                <a:cs typeface="Nimbus Sans"/>
              </a:defRPr>
            </a:pPr>
            <a:r>
              <a:rPr sz="2175" b="1">
                <a:solidFill>
                  <a:srgbClr val="007DB7"/>
                </a:solidFill>
                <a:latin typeface="Nimbus Sans"/>
                <a:ea typeface="Nimbus Sans"/>
                <a:cs typeface="Nimbus Sans"/>
              </a:rPr>
              <a:t>Konsep Flutter yang perlu dipelajari</a:t>
            </a:r>
          </a:p>
        </p:txBody>
      </p:sp>
      <p:sp>
        <p:nvSpPr>
          <p:cNvPr id="6" name="text-5-296">
            <a:extLst xmlns:a="http://schemas.openxmlformats.org/drawingml/2006/main">
              <a:ext uri="{FF2B5EF4-FFF2-40B4-BE49-F238E27FC236}">
                <a16:creationId xmlns:a16="http://schemas.microsoft.com/office/drawing/2014/main" id="{2A00F904-7344-4C62-ABC6-B6FF074FFAAE}"/>
              </a:ext>
            </a:extLst>
          </p:cNvPr>
          <p:cNvSpPr>
            <a:spLocks xmlns:a="http://schemas.openxmlformats.org/drawingml/2006/main" noGrp="1"/>
          </p:cNvSpPr>
          <p:nvPr/>
        </p:nvSpPr>
        <p:spPr>
          <a:xfrm xmlns:a="http://schemas.openxmlformats.org/drawingml/2006/main">
            <a:off x="609600" y="2781300"/>
            <a:ext cx="4953000"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03200" indent="-101600">
              <a:spcAft>
                <a:spcPts val="1300"/>
              </a:spcAft>
              <a:buChar char="•"/>
              <a:defRPr sz="2025">
                <a:solidFill>
                  <a:srgbClr val="172D43"/>
                </a:solidFill>
                <a:latin typeface="Nimbus Sans"/>
                <a:ea typeface="Nimbus Sans"/>
                <a:cs typeface="Nimbus Sans"/>
              </a:defRPr>
            </a:pPr>
            <a:r>
              <a:rPr sz="2025">
                <a:solidFill>
                  <a:srgbClr val="172D43"/>
                </a:solidFill>
                <a:latin typeface="Nimbus Sans"/>
                <a:ea typeface="Nimbus Sans"/>
                <a:cs typeface="Nimbus Sans"/>
              </a:rPr>
              <a:t>Class dan model data</a:t>
            </a:r>
          </a:p>
          <a:p xmlns:a="http://schemas.openxmlformats.org/drawingml/2006/main">
            <a:pPr marL="203200" indent="-101600">
              <a:spcAft>
                <a:spcPts val="1300"/>
              </a:spcAft>
              <a:buChar char="•"/>
              <a:defRPr sz="2025">
                <a:solidFill>
                  <a:srgbClr val="172D43"/>
                </a:solidFill>
                <a:latin typeface="Nimbus Sans"/>
                <a:ea typeface="Nimbus Sans"/>
                <a:cs typeface="Nimbus Sans"/>
              </a:defRPr>
            </a:pPr>
            <a:r>
              <a:rPr sz="2025">
                <a:solidFill>
                  <a:srgbClr val="172D43"/>
                </a:solidFill>
                <a:latin typeface="Nimbus Sans"/>
                <a:ea typeface="Nimbus Sans"/>
                <a:cs typeface="Nimbus Sans"/>
              </a:rPr>
              <a:t>Null safety dan tipe</a:t>
            </a:r>
          </a:p>
          <a:p xmlns:a="http://schemas.openxmlformats.org/drawingml/2006/main">
            <a:pPr marL="203200" indent="-101600">
              <a:spcAft>
                <a:spcPts val="1300"/>
              </a:spcAft>
              <a:buChar char="•"/>
              <a:defRPr sz="2025">
                <a:solidFill>
                  <a:srgbClr val="172D43"/>
                </a:solidFill>
                <a:latin typeface="Nimbus Sans"/>
                <a:ea typeface="Nimbus Sans"/>
                <a:cs typeface="Nimbus Sans"/>
              </a:defRPr>
            </a:pPr>
            <a:r>
              <a:rPr sz="2025">
                <a:solidFill>
                  <a:srgbClr val="172D43"/>
                </a:solidFill>
                <a:latin typeface="Nimbus Sans"/>
                <a:ea typeface="Nimbus Sans"/>
                <a:cs typeface="Nimbus Sans"/>
              </a:rPr>
              <a:t>Fungsi asinkron</a:t>
            </a:r>
          </a:p>
          <a:p xmlns:a="http://schemas.openxmlformats.org/drawingml/2006/main">
            <a:pPr marL="203200" indent="-101600">
              <a:spcAft>
                <a:spcPts val="1300"/>
              </a:spcAft>
              <a:buChar char="•"/>
              <a:defRPr sz="2025">
                <a:solidFill>
                  <a:srgbClr val="172D43"/>
                </a:solidFill>
                <a:latin typeface="Nimbus Sans"/>
                <a:ea typeface="Nimbus Sans"/>
                <a:cs typeface="Nimbus Sans"/>
              </a:defRPr>
            </a:pPr>
            <a:r>
              <a:rPr sz="2025">
                <a:solidFill>
                  <a:srgbClr val="172D43"/>
                </a:solidFill>
                <a:latin typeface="Nimbus Sans"/>
                <a:ea typeface="Nimbus Sans"/>
                <a:cs typeface="Nimbus Sans"/>
              </a:rPr>
              <a:t>State UI deklaratif</a:t>
            </a:r>
          </a:p>
        </p:txBody>
      </p:sp>
      <p:sp>
        <p:nvSpPr>
          <p:cNvPr id="7" name="text-6-296">
            <a:extLst xmlns:a="http://schemas.openxmlformats.org/drawingml/2006/main">
              <a:ext uri="{FF2B5EF4-FFF2-40B4-BE49-F238E27FC236}">
                <a16:creationId xmlns:a16="http://schemas.microsoft.com/office/drawing/2014/main" id="{7615D8C3-6E0B-4E57-BCE7-F1A43AAAC7A9}"/>
              </a:ext>
            </a:extLst>
          </p:cNvPr>
          <p:cNvSpPr>
            <a:spLocks xmlns:a="http://schemas.openxmlformats.org/drawingml/2006/main" noGrp="1"/>
          </p:cNvSpPr>
          <p:nvPr/>
        </p:nvSpPr>
        <p:spPr>
          <a:xfrm xmlns:a="http://schemas.openxmlformats.org/drawingml/2006/main">
            <a:off x="6477000" y="2781300"/>
            <a:ext cx="4953000"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03200" indent="-101600">
              <a:spcAft>
                <a:spcPts val="1300"/>
              </a:spcAft>
              <a:buChar char="•"/>
              <a:defRPr sz="2025">
                <a:solidFill>
                  <a:srgbClr val="172D43"/>
                </a:solidFill>
                <a:latin typeface="Nimbus Sans"/>
                <a:ea typeface="Nimbus Sans"/>
                <a:cs typeface="Nimbus Sans"/>
              </a:defRPr>
            </a:pPr>
            <a:r>
              <a:rPr sz="2025">
                <a:solidFill>
                  <a:srgbClr val="172D43"/>
                </a:solidFill>
                <a:latin typeface="Nimbus Sans"/>
                <a:ea typeface="Nimbus Sans"/>
                <a:cs typeface="Nimbus Sans"/>
              </a:rPr>
              <a:t>Widget tree dan constraint</a:t>
            </a:r>
          </a:p>
          <a:p xmlns:a="http://schemas.openxmlformats.org/drawingml/2006/main">
            <a:pPr marL="203200" indent="-101600">
              <a:spcAft>
                <a:spcPts val="1300"/>
              </a:spcAft>
              <a:buChar char="•"/>
              <a:defRPr sz="2025">
                <a:solidFill>
                  <a:srgbClr val="172D43"/>
                </a:solidFill>
                <a:latin typeface="Nimbus Sans"/>
                <a:ea typeface="Nimbus Sans"/>
                <a:cs typeface="Nimbus Sans"/>
              </a:defRPr>
            </a:pPr>
            <a:r>
              <a:rPr sz="2025">
                <a:solidFill>
                  <a:srgbClr val="172D43"/>
                </a:solidFill>
                <a:latin typeface="Nimbus Sans"/>
                <a:ea typeface="Nimbus Sans"/>
                <a:cs typeface="Nimbus Sans"/>
              </a:rPr>
              <a:t>Lifecycle State</a:t>
            </a:r>
          </a:p>
          <a:p xmlns:a="http://schemas.openxmlformats.org/drawingml/2006/main">
            <a:pPr marL="203200" indent="-101600">
              <a:spcAft>
                <a:spcPts val="1300"/>
              </a:spcAft>
              <a:buChar char="•"/>
              <a:defRPr sz="2025">
                <a:solidFill>
                  <a:srgbClr val="172D43"/>
                </a:solidFill>
                <a:latin typeface="Nimbus Sans"/>
                <a:ea typeface="Nimbus Sans"/>
                <a:cs typeface="Nimbus Sans"/>
              </a:defRPr>
            </a:pPr>
            <a:r>
              <a:rPr sz="2025">
                <a:solidFill>
                  <a:srgbClr val="172D43"/>
                </a:solidFill>
                <a:latin typeface="Nimbus Sans"/>
                <a:ea typeface="Nimbus Sans"/>
                <a:cs typeface="Nimbus Sans"/>
              </a:rPr>
              <a:t>Navigator dan hasil halaman</a:t>
            </a:r>
          </a:p>
          <a:p xmlns:a="http://schemas.openxmlformats.org/drawingml/2006/main">
            <a:pPr marL="203200" indent="-101600">
              <a:spcAft>
                <a:spcPts val="1300"/>
              </a:spcAft>
              <a:buChar char="•"/>
              <a:defRPr sz="2025">
                <a:solidFill>
                  <a:srgbClr val="172D43"/>
                </a:solidFill>
                <a:latin typeface="Nimbus Sans"/>
                <a:ea typeface="Nimbus Sans"/>
                <a:cs typeface="Nimbus Sans"/>
              </a:defRPr>
            </a:pPr>
            <a:r>
              <a:rPr sz="2025">
                <a:solidFill>
                  <a:srgbClr val="172D43"/>
                </a:solidFill>
                <a:latin typeface="Nimbus Sans"/>
                <a:ea typeface="Nimbus Sans"/>
                <a:cs typeface="Nimbus Sans"/>
              </a:rPr>
              <a:t>Package serta konfigurasi Android</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a0a61e8885e441f7"/>
          <a:srcRect xmlns:a="http://schemas.openxmlformats.org/drawingml/2006/main" l="4250" t="6738" r="4125" b="3546"/>
          <a:stretch xmlns:a="http://schemas.openxmlformats.org/drawingml/2006/main"/>
        </p:blipFill>
        <p:spPr>
          <a:xfrm xmlns:a="http://schemas.openxmlformats.org/drawingml/2006/main">
            <a:off x="9344025" y="219075"/>
            <a:ext cx="1428750" cy="495300"/>
          </a:xfrm>
          <a:prstGeom xmlns:a="http://schemas.openxmlformats.org/drawingml/2006/main" prst="rect">
            <a:avLst/>
          </a:prstGeom>
        </p:spPr>
      </p:pic>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9994f48be68245fa"/>
          <a:srcRect xmlns:a="http://schemas.openxmlformats.org/drawingml/2006/main" l="32813" t="23779" r="32813" b="23779"/>
          <a:stretch xmlns:a="http://schemas.openxmlformats.org/drawingml/2006/main"/>
        </p:blipFill>
        <p:spPr>
          <a:xfrm xmlns:a="http://schemas.openxmlformats.org/drawingml/2006/main">
            <a:off x="11163300" y="161925"/>
            <a:ext cx="371475" cy="571500"/>
          </a:xfrm>
          <a:prstGeom xmlns:a="http://schemas.openxmlformats.org/drawingml/2006/main" prst="rect">
            <a:avLst/>
          </a:prstGeom>
        </p:spPr>
      </p:pic>
    </p:spTree>
    <p:extLst>
      <p:ext uri="{BB962C8B-B14F-4D97-AF65-F5344CB8AC3E}">
        <p14:creationId xmlns:p14="http://schemas.microsoft.com/office/powerpoint/2010/main" val="41426618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0-48">
            <a:extLst xmlns:a="http://schemas.openxmlformats.org/drawingml/2006/main">
              <a:ext uri="{FF2B5EF4-FFF2-40B4-BE49-F238E27FC236}">
                <a16:creationId xmlns:a16="http://schemas.microsoft.com/office/drawing/2014/main" id="{1A8D8B94-4B32-4D26-9372-5BBB6E6D9BFA}"/>
              </a:ext>
            </a:extLst>
          </p:cNvPr>
          <p:cNvSpPr>
            <a:spLocks xmlns:a="http://schemas.openxmlformats.org/drawingml/2006/main" noGrp="1"/>
          </p:cNvSpPr>
          <p:nvPr/>
        </p:nvSpPr>
        <p:spPr>
          <a:xfrm xmlns:a="http://schemas.openxmlformats.org/drawingml/2006/main">
            <a:off x="609600" y="8953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0000"/>
              </a:lnSpc>
              <a:buNone/>
              <a:defRPr sz="3300" b="1">
                <a:solidFill>
                  <a:srgbClr val="0B3970"/>
                </a:solidFill>
                <a:latin typeface="Nimbus Sans"/>
                <a:ea typeface="Nimbus Sans"/>
                <a:cs typeface="Nimbus Sans"/>
              </a:defRPr>
            </a:pPr>
            <a:r>
              <a:rPr sz="3300" b="1">
                <a:solidFill>
                  <a:srgbClr val="0B3970"/>
                </a:solidFill>
                <a:latin typeface="Nimbus Sans"/>
                <a:ea typeface="Nimbus Sans"/>
                <a:cs typeface="Nimbus Sans"/>
              </a:rPr>
              <a:t>Pemeriksaan toolchain Android</a:t>
            </a:r>
          </a:p>
        </p:txBody>
      </p:sp>
      <p:sp>
        <p:nvSpPr>
          <p:cNvPr id="2" name="text-1-674">
            <a:extLst xmlns:a="http://schemas.openxmlformats.org/drawingml/2006/main">
              <a:ext uri="{FF2B5EF4-FFF2-40B4-BE49-F238E27FC236}">
                <a16:creationId xmlns:a16="http://schemas.microsoft.com/office/drawing/2014/main" id="{06DC25F5-406A-4141-97DA-2D7EB6A861F5}"/>
              </a:ext>
            </a:extLst>
          </p:cNvPr>
          <p:cNvSpPr>
            <a:spLocks xmlns:a="http://schemas.openxmlformats.org/drawingml/2006/main" noGrp="1"/>
          </p:cNvSpPr>
          <p:nvPr/>
        </p:nvSpPr>
        <p:spPr>
          <a:xfrm xmlns:a="http://schemas.openxmlformats.org/drawingml/2006/main">
            <a:off x="609600" y="6448425"/>
            <a:ext cx="714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125" b="0">
                <a:solidFill>
                  <a:srgbClr val="5E7182"/>
                </a:solidFill>
                <a:latin typeface="Nimbus Sans"/>
                <a:ea typeface="Nimbus Sans"/>
                <a:cs typeface="Nimbus Sans"/>
              </a:defRPr>
            </a:pPr>
            <a:r>
              <a:rPr sz="1125" b="0">
                <a:solidFill>
                  <a:srgbClr val="5E7182"/>
                </a:solidFill>
                <a:latin typeface="Nimbus Sans"/>
                <a:ea typeface="Nimbus Sans"/>
                <a:cs typeface="Nimbus Sans"/>
              </a:rPr>
              <a:t>Training Flutter Android   /   Hari 1</a:t>
            </a:r>
          </a:p>
        </p:txBody>
      </p:sp>
      <p:sp>
        <p:nvSpPr>
          <p:cNvPr id="3" name="text-2-674">
            <a:extLst xmlns:a="http://schemas.openxmlformats.org/drawingml/2006/main">
              <a:ext uri="{FF2B5EF4-FFF2-40B4-BE49-F238E27FC236}">
                <a16:creationId xmlns:a16="http://schemas.microsoft.com/office/drawing/2014/main" id="{1A43D7F3-D792-4E3D-84BC-A3488F862053}"/>
              </a:ext>
            </a:extLst>
          </p:cNvPr>
          <p:cNvSpPr>
            <a:spLocks xmlns:a="http://schemas.openxmlformats.org/drawingml/2006/main" noGrp="1"/>
          </p:cNvSpPr>
          <p:nvPr/>
        </p:nvSpPr>
        <p:spPr>
          <a:xfrm xmlns:a="http://schemas.openxmlformats.org/drawingml/2006/main">
            <a:off x="10668000" y="6448425"/>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125" b="0">
                <a:solidFill>
                  <a:srgbClr val="5E7182"/>
                </a:solidFill>
                <a:latin typeface="Nimbus Sans"/>
                <a:ea typeface="Nimbus Sans"/>
                <a:cs typeface="Nimbus Sans"/>
              </a:defRPr>
            </a:pPr>
            <a:r>
              <a:rPr sz="1125" b="0">
                <a:solidFill>
                  <a:srgbClr val="5E7182"/>
                </a:solidFill>
                <a:latin typeface="Nimbus Sans"/>
                <a:ea typeface="Nimbus Sans"/>
                <a:cs typeface="Nimbus Sans"/>
              </a:rPr>
              <a:t>06 / 44</a:t>
            </a:r>
          </a:p>
        </p:txBody>
      </p:sp>
      <p:sp>
        <p:nvSpPr>
          <p:cNvPr id="4" name="text-3-193">
            <a:extLst xmlns:a="http://schemas.openxmlformats.org/drawingml/2006/main">
              <a:ext uri="{FF2B5EF4-FFF2-40B4-BE49-F238E27FC236}">
                <a16:creationId xmlns:a16="http://schemas.microsoft.com/office/drawing/2014/main" id="{FFB028C8-3E8A-48D1-8339-BD27090A45BB}"/>
              </a:ext>
            </a:extLst>
          </p:cNvPr>
          <p:cNvSpPr>
            <a:spLocks xmlns:a="http://schemas.openxmlformats.org/drawingml/2006/main" noGrp="1"/>
          </p:cNvSpPr>
          <p:nvPr/>
        </p:nvSpPr>
        <p:spPr>
          <a:xfrm xmlns:a="http://schemas.openxmlformats.org/drawingml/2006/main">
            <a:off x="609600" y="1819275"/>
            <a:ext cx="10972800" cy="414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spcAft>
                <a:spcPts val="0"/>
              </a:spcAft>
              <a:defRPr sz="2100">
                <a:solidFill>
                  <a:srgbClr val="172D43"/>
                </a:solidFill>
                <a:latin typeface="DejaVu Sans Mono"/>
                <a:ea typeface="DejaVu Sans Mono"/>
                <a:cs typeface="DejaVu Sans Mono"/>
              </a:defRPr>
            </a:pPr>
            <a:r>
              <a:t>flutter --version</a:t>
            </a:r>
          </a:p>
          <a:p xmlns:a="http://schemas.openxmlformats.org/drawingml/2006/main">
            <a:pPr>
              <a:spcAft>
                <a:spcPts val="0"/>
              </a:spcAft>
              <a:defRPr sz="2100">
                <a:solidFill>
                  <a:srgbClr val="172D43"/>
                </a:solidFill>
                <a:latin typeface="DejaVu Sans Mono"/>
                <a:ea typeface="DejaVu Sans Mono"/>
                <a:cs typeface="DejaVu Sans Mono"/>
              </a:defRPr>
            </a:pPr>
            <a:r>
              <a:t>dart --version</a:t>
            </a:r>
          </a:p>
          <a:p xmlns:a="http://schemas.openxmlformats.org/drawingml/2006/main">
            <a:pPr>
              <a:spcAft>
                <a:spcPts val="0"/>
              </a:spcAft>
              <a:defRPr sz="2100">
                <a:solidFill>
                  <a:srgbClr val="172D43"/>
                </a:solidFill>
                <a:latin typeface="DejaVu Sans Mono"/>
                <a:ea typeface="DejaVu Sans Mono"/>
                <a:cs typeface="DejaVu Sans Mono"/>
              </a:defRPr>
            </a:pPr>
            <a:r>
              <a:t>flutter doctor -v</a:t>
            </a:r>
          </a:p>
          <a:p xmlns:a="http://schemas.openxmlformats.org/drawingml/2006/main">
            <a:pPr>
              <a:spcAft>
                <a:spcPts val="0"/>
              </a:spcAft>
              <a:defRPr sz="2100">
                <a:solidFill>
                  <a:srgbClr val="172D43"/>
                </a:solidFill>
                <a:latin typeface="DejaVu Sans Mono"/>
                <a:ea typeface="DejaVu Sans Mono"/>
                <a:cs typeface="DejaVu Sans Mono"/>
              </a:defRPr>
            </a:pPr>
            <a:r>
              <a:t>flutter devices</a:t>
            </a:r>
          </a:p>
          <a:p xmlns:a="http://schemas.openxmlformats.org/drawingml/2006/main">
            <a:pPr>
              <a:spcAft>
                <a:spcPts val="0"/>
              </a:spcAft>
              <a:defRPr sz="2100">
                <a:solidFill>
                  <a:srgbClr val="172D43"/>
                </a:solidFill>
                <a:latin typeface="DejaVu Sans Mono"/>
                <a:ea typeface="DejaVu Sans Mono"/>
                <a:cs typeface="DejaVu Sans Mono"/>
              </a:defRPr>
            </a:pPr>
            <a:r>
              <a:t>flutter create --platforms=android dpl_inspection</a:t>
            </a:r>
          </a:p>
          <a:p xmlns:a="http://schemas.openxmlformats.org/drawingml/2006/main">
            <a:pPr>
              <a:spcAft>
                <a:spcPts val="0"/>
              </a:spcAft>
              <a:defRPr sz="2100">
                <a:solidFill>
                  <a:srgbClr val="172D43"/>
                </a:solidFill>
                <a:latin typeface="DejaVu Sans Mono"/>
                <a:ea typeface="DejaVu Sans Mono"/>
                <a:cs typeface="DejaVu Sans Mono"/>
              </a:defRPr>
            </a:pPr>
            <a:r>
              <a:t>cd dpl_inspection</a:t>
            </a:r>
          </a:p>
          <a:p xmlns:a="http://schemas.openxmlformats.org/drawingml/2006/main">
            <a:pPr>
              <a:spcAft>
                <a:spcPts val="0"/>
              </a:spcAft>
              <a:defRPr sz="2100">
                <a:solidFill>
                  <a:srgbClr val="172D43"/>
                </a:solidFill>
                <a:latin typeface="DejaVu Sans Mono"/>
                <a:ea typeface="DejaVu Sans Mono"/>
                <a:cs typeface="DejaVu Sans Mono"/>
              </a:defRPr>
            </a:pPr>
            <a:r>
              <a:t>flutter run</a:t>
            </a:r>
          </a:p>
        </p:txBody>
      </p:sp>
      <p:sp>
        <p:nvSpPr>
          <p:cNvPr id="5" name="text-4-633">
            <a:extLst xmlns:a="http://schemas.openxmlformats.org/drawingml/2006/main">
              <a:ext uri="{FF2B5EF4-FFF2-40B4-BE49-F238E27FC236}">
                <a16:creationId xmlns:a16="http://schemas.microsoft.com/office/drawing/2014/main" id="{9AAF1F8C-7DAB-41F2-9F2E-2E03CD1B419D}"/>
              </a:ext>
            </a:extLst>
          </p:cNvPr>
          <p:cNvSpPr>
            <a:spLocks xmlns:a="http://schemas.openxmlformats.org/drawingml/2006/main" noGrp="1"/>
          </p:cNvSpPr>
          <p:nvPr/>
        </p:nvSpPr>
        <p:spPr>
          <a:xfrm xmlns:a="http://schemas.openxmlformats.org/drawingml/2006/main">
            <a:off x="609600" y="6029325"/>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800" b="1">
                <a:solidFill>
                  <a:srgbClr val="007DB7"/>
                </a:solidFill>
                <a:latin typeface="Nimbus Sans"/>
                <a:ea typeface="Nimbus Sans"/>
                <a:cs typeface="Nimbus Sans"/>
              </a:defRPr>
            </a:pPr>
            <a:r>
              <a:rPr sz="1800" b="1">
                <a:solidFill>
                  <a:srgbClr val="007DB7"/>
                </a:solidFill>
                <a:latin typeface="Nimbus Sans"/>
                <a:ea typeface="Nimbus Sans"/>
                <a:cs typeface="Nimbus Sans"/>
              </a:rPr>
              <a:t>Bukti awal: app template berjalan pada emulator atau device</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2021a1a6962649d5"/>
          <a:srcRect xmlns:a="http://schemas.openxmlformats.org/drawingml/2006/main" l="4250" t="6738" r="4125" b="3546"/>
          <a:stretch xmlns:a="http://schemas.openxmlformats.org/drawingml/2006/main"/>
        </p:blipFill>
        <p:spPr>
          <a:xfrm xmlns:a="http://schemas.openxmlformats.org/drawingml/2006/main">
            <a:off x="9344025" y="219075"/>
            <a:ext cx="1428750" cy="495300"/>
          </a:xfrm>
          <a:prstGeom xmlns:a="http://schemas.openxmlformats.org/drawingml/2006/main" prst="rect">
            <a:avLst/>
          </a:prstGeom>
        </p:spPr>
      </p:pic>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9a38b958c8f54041"/>
          <a:srcRect xmlns:a="http://schemas.openxmlformats.org/drawingml/2006/main" l="32813" t="23779" r="32813" b="23779"/>
          <a:stretch xmlns:a="http://schemas.openxmlformats.org/drawingml/2006/main"/>
        </p:blipFill>
        <p:spPr>
          <a:xfrm xmlns:a="http://schemas.openxmlformats.org/drawingml/2006/main">
            <a:off x="11163300" y="161925"/>
            <a:ext cx="371475" cy="571500"/>
          </a:xfrm>
          <a:prstGeom xmlns:a="http://schemas.openxmlformats.org/drawingml/2006/main" prst="rect">
            <a:avLst/>
          </a:prstGeom>
        </p:spPr>
      </p:pic>
    </p:spTree>
    <p:extLst>
      <p:ext uri="{BB962C8B-B14F-4D97-AF65-F5344CB8AC3E}">
        <p14:creationId xmlns:p14="http://schemas.microsoft.com/office/powerpoint/2010/main" val="56236811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ext-0-48">
            <a:extLst xmlns:a="http://schemas.openxmlformats.org/drawingml/2006/main">
              <a:ext uri="{FF2B5EF4-FFF2-40B4-BE49-F238E27FC236}">
                <a16:creationId xmlns:a16="http://schemas.microsoft.com/office/drawing/2014/main" id="{EAF69EDC-4003-4ABE-ACE4-4AF74D9E53EE}"/>
              </a:ext>
            </a:extLst>
          </p:cNvPr>
          <p:cNvSpPr>
            <a:spLocks xmlns:a="http://schemas.openxmlformats.org/drawingml/2006/main" noGrp="1"/>
          </p:cNvSpPr>
          <p:nvPr/>
        </p:nvSpPr>
        <p:spPr>
          <a:xfrm xmlns:a="http://schemas.openxmlformats.org/drawingml/2006/main">
            <a:off x="609600" y="8953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0000"/>
              </a:lnSpc>
              <a:buNone/>
              <a:defRPr sz="3300" b="1">
                <a:solidFill>
                  <a:srgbClr val="0B3970"/>
                </a:solidFill>
                <a:latin typeface="Nimbus Sans"/>
                <a:ea typeface="Nimbus Sans"/>
                <a:cs typeface="Nimbus Sans"/>
              </a:defRPr>
            </a:pPr>
            <a:r>
              <a:rPr sz="3300" b="1">
                <a:solidFill>
                  <a:srgbClr val="0B3970"/>
                </a:solidFill>
                <a:latin typeface="Nimbus Sans"/>
                <a:ea typeface="Nimbus Sans"/>
                <a:cs typeface="Nimbus Sans"/>
              </a:rPr>
              <a:t>Struktur proyek Flutter</a:t>
            </a:r>
          </a:p>
        </p:txBody>
      </p:sp>
      <p:sp>
        <p:nvSpPr>
          <p:cNvPr id="2" name="text-1-674">
            <a:extLst xmlns:a="http://schemas.openxmlformats.org/drawingml/2006/main">
              <a:ext uri="{FF2B5EF4-FFF2-40B4-BE49-F238E27FC236}">
                <a16:creationId xmlns:a16="http://schemas.microsoft.com/office/drawing/2014/main" id="{0D64F84C-9F40-4017-85AB-3A54DA9B717F}"/>
              </a:ext>
            </a:extLst>
          </p:cNvPr>
          <p:cNvSpPr>
            <a:spLocks xmlns:a="http://schemas.openxmlformats.org/drawingml/2006/main" noGrp="1"/>
          </p:cNvSpPr>
          <p:nvPr/>
        </p:nvSpPr>
        <p:spPr>
          <a:xfrm xmlns:a="http://schemas.openxmlformats.org/drawingml/2006/main">
            <a:off x="609600" y="6448425"/>
            <a:ext cx="714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125" b="0">
                <a:solidFill>
                  <a:srgbClr val="5E7182"/>
                </a:solidFill>
                <a:latin typeface="Nimbus Sans"/>
                <a:ea typeface="Nimbus Sans"/>
                <a:cs typeface="Nimbus Sans"/>
              </a:defRPr>
            </a:pPr>
            <a:r>
              <a:rPr sz="1125" b="0">
                <a:solidFill>
                  <a:srgbClr val="5E7182"/>
                </a:solidFill>
                <a:latin typeface="Nimbus Sans"/>
                <a:ea typeface="Nimbus Sans"/>
                <a:cs typeface="Nimbus Sans"/>
              </a:rPr>
              <a:t>Training Flutter Android   /   Hari 1</a:t>
            </a:r>
          </a:p>
        </p:txBody>
      </p:sp>
      <p:sp>
        <p:nvSpPr>
          <p:cNvPr id="3" name="text-2-674">
            <a:extLst xmlns:a="http://schemas.openxmlformats.org/drawingml/2006/main">
              <a:ext uri="{FF2B5EF4-FFF2-40B4-BE49-F238E27FC236}">
                <a16:creationId xmlns:a16="http://schemas.microsoft.com/office/drawing/2014/main" id="{9A5CA6C8-AC83-4305-8713-78F41A1CE2BF}"/>
              </a:ext>
            </a:extLst>
          </p:cNvPr>
          <p:cNvSpPr>
            <a:spLocks xmlns:a="http://schemas.openxmlformats.org/drawingml/2006/main" noGrp="1"/>
          </p:cNvSpPr>
          <p:nvPr/>
        </p:nvSpPr>
        <p:spPr>
          <a:xfrm xmlns:a="http://schemas.openxmlformats.org/drawingml/2006/main">
            <a:off x="10668000" y="6448425"/>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125" b="0">
                <a:solidFill>
                  <a:srgbClr val="5E7182"/>
                </a:solidFill>
                <a:latin typeface="Nimbus Sans"/>
                <a:ea typeface="Nimbus Sans"/>
                <a:cs typeface="Nimbus Sans"/>
              </a:defRPr>
            </a:pPr>
            <a:r>
              <a:rPr sz="1125" b="0">
                <a:solidFill>
                  <a:srgbClr val="5E7182"/>
                </a:solidFill>
                <a:latin typeface="Nimbus Sans"/>
                <a:ea typeface="Nimbus Sans"/>
                <a:cs typeface="Nimbus Sans"/>
              </a:rPr>
              <a:t>07 / 44</a:t>
            </a:r>
          </a:p>
        </p:txBody>
      </p:sp>
      <p:graphicFrame>
        <p:nvGraphicFramePr>
          <p:cNvPr id="12" name=""/>
          <p:cNvGraphicFramePr/>
          <p:nvPr/>
        </p:nvGraphicFramePr>
        <p:xfrm>
          <a:off xmlns:a="http://schemas.openxmlformats.org/drawingml/2006/main" x="609600" y="1657350"/>
          <a:ext xmlns:a="http://schemas.openxmlformats.org/drawingml/2006/main" cx="10972800" cy="4114800"/>
        </p:xfrm>
        <a:graphic xmlns:a="http://schemas.openxmlformats.org/drawingml/2006/main">
          <a:graphicData uri="http://schemas.openxmlformats.org/drawingml/2006/table">
            <a:tbl>
              <a:tblPr/>
              <a:tblGrid>
                <a:gridCol w="2743200"/>
                <a:gridCol w="8229600"/>
              </a:tblGrid>
              <a:tr h="685800">
                <a:tc>
                  <a:txBody>
                    <a:bodyPr lIns="114300" tIns="95250" rIns="114300" bIns="95250">
                      <a:noAutofit/>
                    </a:bodyPr>
                    <a:lstStyle/>
                    <a:p>
                      <a:r>
                        <a:rPr sz="1800" b="1">
                          <a:solidFill>
                            <a:srgbClr val="FFFFFF"/>
                          </a:solidFill>
                          <a:latin typeface="Nimbus Sans"/>
                          <a:ea typeface="Nimbus Sans"/>
                          <a:cs typeface="Nimbus Sans"/>
                        </a:rPr>
                        <a:t>Lokasi</a:t>
                      </a:r>
                    </a:p>
                  </a:txBody>
                  <a:tcPr marL="91440" marR="91440" marT="45720" marB="45720" anchor="ctr">
                    <a:solidFill>
                      <a:srgbClr val="0B3970"/>
                    </a:solidFill>
                  </a:tcPr>
                </a:tc>
                <a:tc>
                  <a:txBody>
                    <a:bodyPr lIns="114300" tIns="95250" rIns="114300" bIns="95250">
                      <a:noAutofit/>
                    </a:bodyPr>
                    <a:lstStyle/>
                    <a:p>
                      <a:r>
                        <a:rPr sz="1800" b="1">
                          <a:solidFill>
                            <a:srgbClr val="FFFFFF"/>
                          </a:solidFill>
                          <a:latin typeface="Nimbus Sans"/>
                          <a:ea typeface="Nimbus Sans"/>
                          <a:cs typeface="Nimbus Sans"/>
                        </a:rPr>
                        <a:t>Peran</a:t>
                      </a:r>
                    </a:p>
                  </a:txBody>
                  <a:tcPr marL="91440" marR="91440" marT="45720" marB="45720" anchor="ctr">
                    <a:solidFill>
                      <a:srgbClr val="0B3970"/>
                    </a:solidFill>
                  </a:tcPr>
                </a:tc>
              </a:tr>
              <a:tr h="685800">
                <a:tc>
                  <a:txBody>
                    <a:bodyPr lIns="114300" tIns="95250" rIns="114300" bIns="95250">
                      <a:noAutofit/>
                    </a:bodyPr>
                    <a:lstStyle/>
                    <a:p>
                      <a:r>
                        <a:rPr sz="1725" b="0">
                          <a:solidFill>
                            <a:srgbClr val="172D43"/>
                          </a:solidFill>
                          <a:latin typeface="Nimbus Sans"/>
                          <a:ea typeface="Nimbus Sans"/>
                          <a:cs typeface="Nimbus Sans"/>
                        </a:rPr>
                        <a:t>lib/</a:t>
                      </a:r>
                    </a:p>
                  </a:txBody>
                  <a:tcPr marL="91440" marR="91440" marT="45720" marB="45720" anchor="ctr">
                    <a:solidFill>
                      <a:srgbClr val="FFFFFF"/>
                    </a:solidFill>
                  </a:tcPr>
                </a:tc>
                <a:tc>
                  <a:txBody>
                    <a:bodyPr lIns="114300" tIns="95250" rIns="114300" bIns="95250">
                      <a:noAutofit/>
                    </a:bodyPr>
                    <a:lstStyle/>
                    <a:p>
                      <a:r>
                        <a:rPr sz="1725" b="0">
                          <a:solidFill>
                            <a:srgbClr val="172D43"/>
                          </a:solidFill>
                          <a:latin typeface="Nimbus Sans"/>
                          <a:ea typeface="Nimbus Sans"/>
                          <a:cs typeface="Nimbus Sans"/>
                        </a:rPr>
                        <a:t>Kode Dart aplikasi</a:t>
                      </a:r>
                    </a:p>
                  </a:txBody>
                  <a:tcPr marL="91440" marR="91440" marT="45720" marB="45720" anchor="ctr">
                    <a:solidFill>
                      <a:srgbClr val="FFFFFF"/>
                    </a:solidFill>
                  </a:tcPr>
                </a:tc>
              </a:tr>
              <a:tr h="685800">
                <a:tc>
                  <a:txBody>
                    <a:bodyPr lIns="114300" tIns="95250" rIns="114300" bIns="95250">
                      <a:noAutofit/>
                    </a:bodyPr>
                    <a:lstStyle/>
                    <a:p>
                      <a:r>
                        <a:rPr sz="1725" b="0">
                          <a:solidFill>
                            <a:srgbClr val="172D43"/>
                          </a:solidFill>
                          <a:latin typeface="Nimbus Sans"/>
                          <a:ea typeface="Nimbus Sans"/>
                          <a:cs typeface="Nimbus Sans"/>
                        </a:rPr>
                        <a:t>test/</a:t>
                      </a:r>
                    </a:p>
                  </a:txBody>
                  <a:tcPr marL="91440" marR="91440" marT="45720" marB="45720" anchor="ctr">
                    <a:solidFill>
                      <a:srgbClr val="F0F5F9"/>
                    </a:solidFill>
                  </a:tcPr>
                </a:tc>
                <a:tc>
                  <a:txBody>
                    <a:bodyPr lIns="114300" tIns="95250" rIns="114300" bIns="95250">
                      <a:noAutofit/>
                    </a:bodyPr>
                    <a:lstStyle/>
                    <a:p>
                      <a:r>
                        <a:rPr sz="1725" b="0">
                          <a:solidFill>
                            <a:srgbClr val="172D43"/>
                          </a:solidFill>
                          <a:latin typeface="Nimbus Sans"/>
                          <a:ea typeface="Nimbus Sans"/>
                          <a:cs typeface="Nimbus Sans"/>
                        </a:rPr>
                        <a:t>Unit test dan widget test</a:t>
                      </a:r>
                    </a:p>
                  </a:txBody>
                  <a:tcPr marL="91440" marR="91440" marT="45720" marB="45720" anchor="ctr">
                    <a:solidFill>
                      <a:srgbClr val="F0F5F9"/>
                    </a:solidFill>
                  </a:tcPr>
                </a:tc>
              </a:tr>
              <a:tr h="685800">
                <a:tc>
                  <a:txBody>
                    <a:bodyPr lIns="114300" tIns="95250" rIns="114300" bIns="95250">
                      <a:noAutofit/>
                    </a:bodyPr>
                    <a:lstStyle/>
                    <a:p>
                      <a:r>
                        <a:rPr sz="1725" b="0">
                          <a:solidFill>
                            <a:srgbClr val="172D43"/>
                          </a:solidFill>
                          <a:latin typeface="Nimbus Sans"/>
                          <a:ea typeface="Nimbus Sans"/>
                          <a:cs typeface="Nimbus Sans"/>
                        </a:rPr>
                        <a:t>android/</a:t>
                      </a:r>
                    </a:p>
                  </a:txBody>
                  <a:tcPr marL="91440" marR="91440" marT="45720" marB="45720" anchor="ctr">
                    <a:solidFill>
                      <a:srgbClr val="FFFFFF"/>
                    </a:solidFill>
                  </a:tcPr>
                </a:tc>
                <a:tc>
                  <a:txBody>
                    <a:bodyPr lIns="114300" tIns="95250" rIns="114300" bIns="95250">
                      <a:noAutofit/>
                    </a:bodyPr>
                    <a:lstStyle/>
                    <a:p>
                      <a:r>
                        <a:rPr sz="1725" b="0">
                          <a:solidFill>
                            <a:srgbClr val="172D43"/>
                          </a:solidFill>
                          <a:latin typeface="Nimbus Sans"/>
                          <a:ea typeface="Nimbus Sans"/>
                          <a:cs typeface="Nimbus Sans"/>
                        </a:rPr>
                        <a:t>Manifest, Gradle, native Android</a:t>
                      </a:r>
                    </a:p>
                  </a:txBody>
                  <a:tcPr marL="91440" marR="91440" marT="45720" marB="45720" anchor="ctr">
                    <a:solidFill>
                      <a:srgbClr val="FFFFFF"/>
                    </a:solidFill>
                  </a:tcPr>
                </a:tc>
              </a:tr>
              <a:tr h="685800">
                <a:tc>
                  <a:txBody>
                    <a:bodyPr lIns="114300" tIns="95250" rIns="114300" bIns="95250">
                      <a:noAutofit/>
                    </a:bodyPr>
                    <a:lstStyle/>
                    <a:p>
                      <a:r>
                        <a:rPr sz="1725" b="0">
                          <a:solidFill>
                            <a:srgbClr val="172D43"/>
                          </a:solidFill>
                          <a:latin typeface="Nimbus Sans"/>
                          <a:ea typeface="Nimbus Sans"/>
                          <a:cs typeface="Nimbus Sans"/>
                        </a:rPr>
                        <a:t>pubspec.yaml</a:t>
                      </a:r>
                    </a:p>
                  </a:txBody>
                  <a:tcPr marL="91440" marR="91440" marT="45720" marB="45720" anchor="ctr">
                    <a:solidFill>
                      <a:srgbClr val="F0F5F9"/>
                    </a:solidFill>
                  </a:tcPr>
                </a:tc>
                <a:tc>
                  <a:txBody>
                    <a:bodyPr lIns="114300" tIns="95250" rIns="114300" bIns="95250">
                      <a:noAutofit/>
                    </a:bodyPr>
                    <a:lstStyle/>
                    <a:p>
                      <a:r>
                        <a:rPr sz="1725" b="0">
                          <a:solidFill>
                            <a:srgbClr val="172D43"/>
                          </a:solidFill>
                          <a:latin typeface="Nimbus Sans"/>
                          <a:ea typeface="Nimbus Sans"/>
                          <a:cs typeface="Nimbus Sans"/>
                        </a:rPr>
                        <a:t>Dependency, asset dan versi</a:t>
                      </a:r>
                    </a:p>
                  </a:txBody>
                  <a:tcPr marL="91440" marR="91440" marT="45720" marB="45720" anchor="ctr">
                    <a:solidFill>
                      <a:srgbClr val="F0F5F9"/>
                    </a:solidFill>
                  </a:tcPr>
                </a:tc>
              </a:tr>
              <a:tr h="685800">
                <a:tc>
                  <a:txBody>
                    <a:bodyPr lIns="114300" tIns="95250" rIns="114300" bIns="95250">
                      <a:noAutofit/>
                    </a:bodyPr>
                    <a:lstStyle/>
                    <a:p>
                      <a:r>
                        <a:rPr sz="1725" b="0">
                          <a:solidFill>
                            <a:srgbClr val="172D43"/>
                          </a:solidFill>
                          <a:latin typeface="Nimbus Sans"/>
                          <a:ea typeface="Nimbus Sans"/>
                          <a:cs typeface="Nimbus Sans"/>
                        </a:rPr>
                        <a:t>pubspec.lock</a:t>
                      </a:r>
                    </a:p>
                  </a:txBody>
                  <a:tcPr marL="91440" marR="91440" marT="45720" marB="45720" anchor="ctr">
                    <a:solidFill>
                      <a:srgbClr val="FFFFFF"/>
                    </a:solidFill>
                  </a:tcPr>
                </a:tc>
                <a:tc>
                  <a:txBody>
                    <a:bodyPr lIns="114300" tIns="95250" rIns="114300" bIns="95250">
                      <a:noAutofit/>
                    </a:bodyPr>
                    <a:lstStyle/>
                    <a:p>
                      <a:r>
                        <a:rPr sz="1725" b="0">
                          <a:solidFill>
                            <a:srgbClr val="172D43"/>
                          </a:solidFill>
                          <a:latin typeface="Nimbus Sans"/>
                          <a:ea typeface="Nimbus Sans"/>
                          <a:cs typeface="Nimbus Sans"/>
                        </a:rPr>
                        <a:t>Versi dependency hasil resolver</a:t>
                      </a:r>
                    </a:p>
                  </a:txBody>
                  <a:tcPr marL="91440" marR="91440" marT="45720" marB="45720" anchor="ctr">
                    <a:solidFill>
                      <a:srgbClr val="FFFFFF"/>
                    </a:solidFill>
                  </a:tcPr>
                </a:tc>
              </a:tr>
            </a:tbl>
          </a:graphicData>
        </a:graphic>
      </p:graphicFrame>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6ed2c5cbe6084ffe"/>
          <a:srcRect xmlns:a="http://schemas.openxmlformats.org/drawingml/2006/main" l="4250" t="6738" r="4125" b="3546"/>
          <a:stretch xmlns:a="http://schemas.openxmlformats.org/drawingml/2006/main"/>
        </p:blipFill>
        <p:spPr>
          <a:xfrm xmlns:a="http://schemas.openxmlformats.org/drawingml/2006/main">
            <a:off x="9344025" y="219075"/>
            <a:ext cx="1428750" cy="495300"/>
          </a:xfrm>
          <a:prstGeom xmlns:a="http://schemas.openxmlformats.org/drawingml/2006/main" prst="rect">
            <a:avLst/>
          </a:prstGeom>
        </p:spPr>
      </p:pic>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12e836e4a08d4576"/>
          <a:srcRect xmlns:a="http://schemas.openxmlformats.org/drawingml/2006/main" l="32813" t="23779" r="32813" b="23779"/>
          <a:stretch xmlns:a="http://schemas.openxmlformats.org/drawingml/2006/main"/>
        </p:blipFill>
        <p:spPr>
          <a:xfrm xmlns:a="http://schemas.openxmlformats.org/drawingml/2006/main">
            <a:off x="11163300" y="161925"/>
            <a:ext cx="371475" cy="571500"/>
          </a:xfrm>
          <a:prstGeom xmlns:a="http://schemas.openxmlformats.org/drawingml/2006/main" prst="rect">
            <a:avLst/>
          </a:prstGeom>
        </p:spPr>
      </p:pic>
    </p:spTree>
    <p:extLst>
      <p:ext uri="{BB962C8B-B14F-4D97-AF65-F5344CB8AC3E}">
        <p14:creationId xmlns:p14="http://schemas.microsoft.com/office/powerpoint/2010/main" val="208840948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0-48">
            <a:extLst xmlns:a="http://schemas.openxmlformats.org/drawingml/2006/main">
              <a:ext uri="{FF2B5EF4-FFF2-40B4-BE49-F238E27FC236}">
                <a16:creationId xmlns:a16="http://schemas.microsoft.com/office/drawing/2014/main" id="{8AE005E4-451F-4508-B94F-D7EFECD1653B}"/>
              </a:ext>
            </a:extLst>
          </p:cNvPr>
          <p:cNvSpPr>
            <a:spLocks xmlns:a="http://schemas.openxmlformats.org/drawingml/2006/main" noGrp="1"/>
          </p:cNvSpPr>
          <p:nvPr/>
        </p:nvSpPr>
        <p:spPr>
          <a:xfrm xmlns:a="http://schemas.openxmlformats.org/drawingml/2006/main">
            <a:off x="609600" y="8953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0000"/>
              </a:lnSpc>
              <a:buNone/>
              <a:defRPr sz="3300" b="1">
                <a:solidFill>
                  <a:srgbClr val="0B3970"/>
                </a:solidFill>
                <a:latin typeface="Nimbus Sans"/>
                <a:ea typeface="Nimbus Sans"/>
                <a:cs typeface="Nimbus Sans"/>
              </a:defRPr>
            </a:pPr>
            <a:r>
              <a:rPr sz="3300" b="1">
                <a:solidFill>
                  <a:srgbClr val="0B3970"/>
                </a:solidFill>
                <a:latin typeface="Nimbus Sans"/>
                <a:ea typeface="Nimbus Sans"/>
                <a:cs typeface="Nimbus Sans"/>
              </a:rPr>
              <a:t>Hot reload dan hot restart</a:t>
            </a:r>
          </a:p>
        </p:txBody>
      </p:sp>
      <p:sp>
        <p:nvSpPr>
          <p:cNvPr id="2" name="text-1-674">
            <a:extLst xmlns:a="http://schemas.openxmlformats.org/drawingml/2006/main">
              <a:ext uri="{FF2B5EF4-FFF2-40B4-BE49-F238E27FC236}">
                <a16:creationId xmlns:a16="http://schemas.microsoft.com/office/drawing/2014/main" id="{3530CE11-3535-463A-AD2F-595DEC6F3A13}"/>
              </a:ext>
            </a:extLst>
          </p:cNvPr>
          <p:cNvSpPr>
            <a:spLocks xmlns:a="http://schemas.openxmlformats.org/drawingml/2006/main" noGrp="1"/>
          </p:cNvSpPr>
          <p:nvPr/>
        </p:nvSpPr>
        <p:spPr>
          <a:xfrm xmlns:a="http://schemas.openxmlformats.org/drawingml/2006/main">
            <a:off x="609600" y="6448425"/>
            <a:ext cx="714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125" b="0">
                <a:solidFill>
                  <a:srgbClr val="5E7182"/>
                </a:solidFill>
                <a:latin typeface="Nimbus Sans"/>
                <a:ea typeface="Nimbus Sans"/>
                <a:cs typeface="Nimbus Sans"/>
              </a:defRPr>
            </a:pPr>
            <a:r>
              <a:rPr sz="1125" b="0">
                <a:solidFill>
                  <a:srgbClr val="5E7182"/>
                </a:solidFill>
                <a:latin typeface="Nimbus Sans"/>
                <a:ea typeface="Nimbus Sans"/>
                <a:cs typeface="Nimbus Sans"/>
              </a:rPr>
              <a:t>Training Flutter Android   /   Hari 1</a:t>
            </a:r>
          </a:p>
        </p:txBody>
      </p:sp>
      <p:sp>
        <p:nvSpPr>
          <p:cNvPr id="3" name="text-2-674">
            <a:extLst xmlns:a="http://schemas.openxmlformats.org/drawingml/2006/main">
              <a:ext uri="{FF2B5EF4-FFF2-40B4-BE49-F238E27FC236}">
                <a16:creationId xmlns:a16="http://schemas.microsoft.com/office/drawing/2014/main" id="{E081277B-953A-41C9-B65A-CE1FFF11E505}"/>
              </a:ext>
            </a:extLst>
          </p:cNvPr>
          <p:cNvSpPr>
            <a:spLocks xmlns:a="http://schemas.openxmlformats.org/drawingml/2006/main" noGrp="1"/>
          </p:cNvSpPr>
          <p:nvPr/>
        </p:nvSpPr>
        <p:spPr>
          <a:xfrm xmlns:a="http://schemas.openxmlformats.org/drawingml/2006/main">
            <a:off x="10668000" y="6448425"/>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125" b="0">
                <a:solidFill>
                  <a:srgbClr val="5E7182"/>
                </a:solidFill>
                <a:latin typeface="Nimbus Sans"/>
                <a:ea typeface="Nimbus Sans"/>
                <a:cs typeface="Nimbus Sans"/>
              </a:defRPr>
            </a:pPr>
            <a:r>
              <a:rPr sz="1125" b="0">
                <a:solidFill>
                  <a:srgbClr val="5E7182"/>
                </a:solidFill>
                <a:latin typeface="Nimbus Sans"/>
                <a:ea typeface="Nimbus Sans"/>
                <a:cs typeface="Nimbus Sans"/>
              </a:rPr>
              <a:t>08 / 44</a:t>
            </a:r>
          </a:p>
        </p:txBody>
      </p:sp>
      <p:sp>
        <p:nvSpPr>
          <p:cNvPr id="4" name="text-3-180">
            <a:extLst xmlns:a="http://schemas.openxmlformats.org/drawingml/2006/main">
              <a:ext uri="{FF2B5EF4-FFF2-40B4-BE49-F238E27FC236}">
                <a16:creationId xmlns:a16="http://schemas.microsoft.com/office/drawing/2014/main" id="{9AD2F16F-8A65-4AFA-9DA1-7F84AB7FAF5B}"/>
              </a:ext>
            </a:extLst>
          </p:cNvPr>
          <p:cNvSpPr>
            <a:spLocks xmlns:a="http://schemas.openxmlformats.org/drawingml/2006/main" noGrp="1"/>
          </p:cNvSpPr>
          <p:nvPr/>
        </p:nvSpPr>
        <p:spPr>
          <a:xfrm xmlns:a="http://schemas.openxmlformats.org/drawingml/2006/main">
            <a:off x="609600" y="1866900"/>
            <a:ext cx="5048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2175" b="1">
                <a:solidFill>
                  <a:srgbClr val="007DB7"/>
                </a:solidFill>
                <a:latin typeface="Nimbus Sans"/>
                <a:ea typeface="Nimbus Sans"/>
                <a:cs typeface="Nimbus Sans"/>
              </a:defRPr>
            </a:pPr>
            <a:r>
              <a:rPr sz="2175" b="1">
                <a:solidFill>
                  <a:srgbClr val="007DB7"/>
                </a:solidFill>
                <a:latin typeface="Nimbus Sans"/>
                <a:ea typeface="Nimbus Sans"/>
                <a:cs typeface="Nimbus Sans"/>
              </a:rPr>
              <a:t>Hot reload</a:t>
            </a:r>
          </a:p>
        </p:txBody>
      </p:sp>
      <p:sp>
        <p:nvSpPr>
          <p:cNvPr id="5" name="text-4-180">
            <a:extLst xmlns:a="http://schemas.openxmlformats.org/drawingml/2006/main">
              <a:ext uri="{FF2B5EF4-FFF2-40B4-BE49-F238E27FC236}">
                <a16:creationId xmlns:a16="http://schemas.microsoft.com/office/drawing/2014/main" id="{B570A8E3-0BA1-4EF2-8EF2-8EAA1A30C051}"/>
              </a:ext>
            </a:extLst>
          </p:cNvPr>
          <p:cNvSpPr>
            <a:spLocks xmlns:a="http://schemas.openxmlformats.org/drawingml/2006/main" noGrp="1"/>
          </p:cNvSpPr>
          <p:nvPr/>
        </p:nvSpPr>
        <p:spPr>
          <a:xfrm xmlns:a="http://schemas.openxmlformats.org/drawingml/2006/main">
            <a:off x="6477000" y="1866900"/>
            <a:ext cx="5105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2175" b="1">
                <a:solidFill>
                  <a:srgbClr val="007DB7"/>
                </a:solidFill>
                <a:latin typeface="Nimbus Sans"/>
                <a:ea typeface="Nimbus Sans"/>
                <a:cs typeface="Nimbus Sans"/>
              </a:defRPr>
            </a:pPr>
            <a:r>
              <a:rPr sz="2175" b="1">
                <a:solidFill>
                  <a:srgbClr val="007DB7"/>
                </a:solidFill>
                <a:latin typeface="Nimbus Sans"/>
                <a:ea typeface="Nimbus Sans"/>
                <a:cs typeface="Nimbus Sans"/>
              </a:rPr>
              <a:t>Hot restart dan full run</a:t>
            </a:r>
          </a:p>
        </p:txBody>
      </p:sp>
      <p:sp>
        <p:nvSpPr>
          <p:cNvPr id="6" name="text-5-296">
            <a:extLst xmlns:a="http://schemas.openxmlformats.org/drawingml/2006/main">
              <a:ext uri="{FF2B5EF4-FFF2-40B4-BE49-F238E27FC236}">
                <a16:creationId xmlns:a16="http://schemas.microsoft.com/office/drawing/2014/main" id="{255C6DF2-6603-418B-A870-E30032A5BCDB}"/>
              </a:ext>
            </a:extLst>
          </p:cNvPr>
          <p:cNvSpPr>
            <a:spLocks xmlns:a="http://schemas.openxmlformats.org/drawingml/2006/main" noGrp="1"/>
          </p:cNvSpPr>
          <p:nvPr/>
        </p:nvSpPr>
        <p:spPr>
          <a:xfrm xmlns:a="http://schemas.openxmlformats.org/drawingml/2006/main">
            <a:off x="609600" y="2781300"/>
            <a:ext cx="4953000"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03200" indent="-101600">
              <a:spcAft>
                <a:spcPts val="1300"/>
              </a:spcAft>
              <a:buChar char="•"/>
              <a:defRPr sz="2025">
                <a:solidFill>
                  <a:srgbClr val="172D43"/>
                </a:solidFill>
                <a:latin typeface="Nimbus Sans"/>
                <a:ea typeface="Nimbus Sans"/>
                <a:cs typeface="Nimbus Sans"/>
              </a:defRPr>
            </a:pPr>
            <a:r>
              <a:rPr sz="2025">
                <a:solidFill>
                  <a:srgbClr val="172D43"/>
                </a:solidFill>
                <a:latin typeface="Nimbus Sans"/>
                <a:ea typeface="Nimbus Sans"/>
                <a:cs typeface="Nimbus Sans"/>
              </a:rPr>
              <a:t>Menerapkan banyak perubahan Dart</a:t>
            </a:r>
          </a:p>
          <a:p xmlns:a="http://schemas.openxmlformats.org/drawingml/2006/main">
            <a:pPr marL="203200" indent="-101600">
              <a:spcAft>
                <a:spcPts val="1300"/>
              </a:spcAft>
              <a:buChar char="•"/>
              <a:defRPr sz="2025">
                <a:solidFill>
                  <a:srgbClr val="172D43"/>
                </a:solidFill>
                <a:latin typeface="Nimbus Sans"/>
                <a:ea typeface="Nimbus Sans"/>
                <a:cs typeface="Nimbus Sans"/>
              </a:defRPr>
            </a:pPr>
            <a:r>
              <a:rPr sz="2025">
                <a:solidFill>
                  <a:srgbClr val="172D43"/>
                </a:solidFill>
                <a:latin typeface="Nimbus Sans"/>
                <a:ea typeface="Nimbus Sans"/>
                <a:cs typeface="Nimbus Sans"/>
              </a:rPr>
              <a:t>Umumnya mempertahankan State</a:t>
            </a:r>
          </a:p>
          <a:p xmlns:a="http://schemas.openxmlformats.org/drawingml/2006/main">
            <a:pPr marL="203200" indent="-101600">
              <a:spcAft>
                <a:spcPts val="1300"/>
              </a:spcAft>
              <a:buChar char="•"/>
              <a:defRPr sz="2025">
                <a:solidFill>
                  <a:srgbClr val="172D43"/>
                </a:solidFill>
                <a:latin typeface="Nimbus Sans"/>
                <a:ea typeface="Nimbus Sans"/>
                <a:cs typeface="Nimbus Sans"/>
              </a:defRPr>
            </a:pPr>
            <a:r>
              <a:rPr sz="2025">
                <a:solidFill>
                  <a:srgbClr val="172D43"/>
                </a:solidFill>
                <a:latin typeface="Nimbus Sans"/>
                <a:ea typeface="Nimbus Sans"/>
                <a:cs typeface="Nimbus Sans"/>
              </a:rPr>
              <a:t>Membantu iterasi tampilan cepat</a:t>
            </a:r>
          </a:p>
        </p:txBody>
      </p:sp>
      <p:sp>
        <p:nvSpPr>
          <p:cNvPr id="7" name="text-6-296">
            <a:extLst xmlns:a="http://schemas.openxmlformats.org/drawingml/2006/main">
              <a:ext uri="{FF2B5EF4-FFF2-40B4-BE49-F238E27FC236}">
                <a16:creationId xmlns:a16="http://schemas.microsoft.com/office/drawing/2014/main" id="{463FBCA2-10CB-452C-845D-C7EBE7D98623}"/>
              </a:ext>
            </a:extLst>
          </p:cNvPr>
          <p:cNvSpPr>
            <a:spLocks xmlns:a="http://schemas.openxmlformats.org/drawingml/2006/main" noGrp="1"/>
          </p:cNvSpPr>
          <p:nvPr/>
        </p:nvSpPr>
        <p:spPr>
          <a:xfrm xmlns:a="http://schemas.openxmlformats.org/drawingml/2006/main">
            <a:off x="6477000" y="2781300"/>
            <a:ext cx="4953000"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03200" indent="-101600">
              <a:spcAft>
                <a:spcPts val="1300"/>
              </a:spcAft>
              <a:buChar char="•"/>
              <a:defRPr sz="2025">
                <a:solidFill>
                  <a:srgbClr val="172D43"/>
                </a:solidFill>
                <a:latin typeface="Nimbus Sans"/>
                <a:ea typeface="Nimbus Sans"/>
                <a:cs typeface="Nimbus Sans"/>
              </a:defRPr>
            </a:pPr>
            <a:r>
              <a:rPr sz="2025">
                <a:solidFill>
                  <a:srgbClr val="172D43"/>
                </a:solidFill>
                <a:latin typeface="Nimbus Sans"/>
                <a:ea typeface="Nimbus Sans"/>
                <a:cs typeface="Nimbus Sans"/>
              </a:rPr>
              <a:t>Restart membuat ulang State Dart</a:t>
            </a:r>
          </a:p>
          <a:p xmlns:a="http://schemas.openxmlformats.org/drawingml/2006/main">
            <a:pPr marL="203200" indent="-101600">
              <a:spcAft>
                <a:spcPts val="1300"/>
              </a:spcAft>
              <a:buChar char="•"/>
              <a:defRPr sz="2025">
                <a:solidFill>
                  <a:srgbClr val="172D43"/>
                </a:solidFill>
                <a:latin typeface="Nimbus Sans"/>
                <a:ea typeface="Nimbus Sans"/>
                <a:cs typeface="Nimbus Sans"/>
              </a:defRPr>
            </a:pPr>
            <a:r>
              <a:rPr sz="2025">
                <a:solidFill>
                  <a:srgbClr val="172D43"/>
                </a:solidFill>
                <a:latin typeface="Nimbus Sans"/>
                <a:ea typeface="Nimbus Sans"/>
                <a:cs typeface="Nimbus Sans"/>
              </a:rPr>
              <a:t>Perubahan initial setup memerlukan restart</a:t>
            </a:r>
          </a:p>
          <a:p xmlns:a="http://schemas.openxmlformats.org/drawingml/2006/main">
            <a:pPr marL="203200" indent="-101600">
              <a:spcAft>
                <a:spcPts val="1300"/>
              </a:spcAft>
              <a:buChar char="•"/>
              <a:defRPr sz="2025">
                <a:solidFill>
                  <a:srgbClr val="172D43"/>
                </a:solidFill>
                <a:latin typeface="Nimbus Sans"/>
                <a:ea typeface="Nimbus Sans"/>
                <a:cs typeface="Nimbus Sans"/>
              </a:defRPr>
            </a:pPr>
            <a:r>
              <a:rPr sz="2025">
                <a:solidFill>
                  <a:srgbClr val="172D43"/>
                </a:solidFill>
                <a:latin typeface="Nimbus Sans"/>
                <a:ea typeface="Nimbus Sans"/>
                <a:cs typeface="Nimbus Sans"/>
              </a:rPr>
              <a:t>Plugin atau native config memerlukan full run</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0c313733b80548d6"/>
          <a:srcRect xmlns:a="http://schemas.openxmlformats.org/drawingml/2006/main" l="4250" t="6738" r="4125" b="3546"/>
          <a:stretch xmlns:a="http://schemas.openxmlformats.org/drawingml/2006/main"/>
        </p:blipFill>
        <p:spPr>
          <a:xfrm xmlns:a="http://schemas.openxmlformats.org/drawingml/2006/main">
            <a:off x="9344025" y="219075"/>
            <a:ext cx="1428750" cy="495300"/>
          </a:xfrm>
          <a:prstGeom xmlns:a="http://schemas.openxmlformats.org/drawingml/2006/main" prst="rect">
            <a:avLst/>
          </a:prstGeom>
        </p:spPr>
      </p:pic>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848cc80b9dde447b"/>
          <a:srcRect xmlns:a="http://schemas.openxmlformats.org/drawingml/2006/main" l="32813" t="23779" r="32813" b="23779"/>
          <a:stretch xmlns:a="http://schemas.openxmlformats.org/drawingml/2006/main"/>
        </p:blipFill>
        <p:spPr>
          <a:xfrm xmlns:a="http://schemas.openxmlformats.org/drawingml/2006/main">
            <a:off x="11163300" y="161925"/>
            <a:ext cx="371475" cy="571500"/>
          </a:xfrm>
          <a:prstGeom xmlns:a="http://schemas.openxmlformats.org/drawingml/2006/main" prst="rect">
            <a:avLst/>
          </a:prstGeom>
        </p:spPr>
      </p:pic>
    </p:spTree>
    <p:extLst>
      <p:ext uri="{BB962C8B-B14F-4D97-AF65-F5344CB8AC3E}">
        <p14:creationId xmlns:p14="http://schemas.microsoft.com/office/powerpoint/2010/main" val="57246182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0-48">
            <a:extLst xmlns:a="http://schemas.openxmlformats.org/drawingml/2006/main">
              <a:ext uri="{FF2B5EF4-FFF2-40B4-BE49-F238E27FC236}">
                <a16:creationId xmlns:a16="http://schemas.microsoft.com/office/drawing/2014/main" id="{F65455E0-9BAE-4DE6-AFC7-798E519BB69A}"/>
              </a:ext>
            </a:extLst>
          </p:cNvPr>
          <p:cNvSpPr>
            <a:spLocks xmlns:a="http://schemas.openxmlformats.org/drawingml/2006/main" noGrp="1"/>
          </p:cNvSpPr>
          <p:nvPr/>
        </p:nvSpPr>
        <p:spPr>
          <a:xfrm xmlns:a="http://schemas.openxmlformats.org/drawingml/2006/main">
            <a:off x="609600" y="8953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0000"/>
              </a:lnSpc>
              <a:buNone/>
              <a:defRPr sz="3300" b="1">
                <a:solidFill>
                  <a:srgbClr val="0B3970"/>
                </a:solidFill>
                <a:latin typeface="Nimbus Sans"/>
                <a:ea typeface="Nimbus Sans"/>
                <a:cs typeface="Nimbus Sans"/>
              </a:defRPr>
            </a:pPr>
            <a:r>
              <a:rPr sz="3300" b="1">
                <a:solidFill>
                  <a:srgbClr val="0B3970"/>
                </a:solidFill>
                <a:latin typeface="Nimbus Sans"/>
                <a:ea typeface="Nimbus Sans"/>
                <a:cs typeface="Nimbus Sans"/>
              </a:rPr>
              <a:t>Nilai, tipe dan null safety Dart</a:t>
            </a:r>
          </a:p>
        </p:txBody>
      </p:sp>
      <p:sp>
        <p:nvSpPr>
          <p:cNvPr id="2" name="text-1-674">
            <a:extLst xmlns:a="http://schemas.openxmlformats.org/drawingml/2006/main">
              <a:ext uri="{FF2B5EF4-FFF2-40B4-BE49-F238E27FC236}">
                <a16:creationId xmlns:a16="http://schemas.microsoft.com/office/drawing/2014/main" id="{DED5B783-506B-4F1C-BC95-8A561D6F01EB}"/>
              </a:ext>
            </a:extLst>
          </p:cNvPr>
          <p:cNvSpPr>
            <a:spLocks xmlns:a="http://schemas.openxmlformats.org/drawingml/2006/main" noGrp="1"/>
          </p:cNvSpPr>
          <p:nvPr/>
        </p:nvSpPr>
        <p:spPr>
          <a:xfrm xmlns:a="http://schemas.openxmlformats.org/drawingml/2006/main">
            <a:off x="609600" y="6448425"/>
            <a:ext cx="714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125" b="0">
                <a:solidFill>
                  <a:srgbClr val="5E7182"/>
                </a:solidFill>
                <a:latin typeface="Nimbus Sans"/>
                <a:ea typeface="Nimbus Sans"/>
                <a:cs typeface="Nimbus Sans"/>
              </a:defRPr>
            </a:pPr>
            <a:r>
              <a:rPr sz="1125" b="0">
                <a:solidFill>
                  <a:srgbClr val="5E7182"/>
                </a:solidFill>
                <a:latin typeface="Nimbus Sans"/>
                <a:ea typeface="Nimbus Sans"/>
                <a:cs typeface="Nimbus Sans"/>
              </a:rPr>
              <a:t>Training Flutter Android   /   Hari 1</a:t>
            </a:r>
          </a:p>
        </p:txBody>
      </p:sp>
      <p:sp>
        <p:nvSpPr>
          <p:cNvPr id="3" name="text-2-674">
            <a:extLst xmlns:a="http://schemas.openxmlformats.org/drawingml/2006/main">
              <a:ext uri="{FF2B5EF4-FFF2-40B4-BE49-F238E27FC236}">
                <a16:creationId xmlns:a16="http://schemas.microsoft.com/office/drawing/2014/main" id="{33AAA034-01ED-4742-9438-DB0C0F26A077}"/>
              </a:ext>
            </a:extLst>
          </p:cNvPr>
          <p:cNvSpPr>
            <a:spLocks xmlns:a="http://schemas.openxmlformats.org/drawingml/2006/main" noGrp="1"/>
          </p:cNvSpPr>
          <p:nvPr/>
        </p:nvSpPr>
        <p:spPr>
          <a:xfrm xmlns:a="http://schemas.openxmlformats.org/drawingml/2006/main">
            <a:off x="10668000" y="6448425"/>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125" b="0">
                <a:solidFill>
                  <a:srgbClr val="5E7182"/>
                </a:solidFill>
                <a:latin typeface="Nimbus Sans"/>
                <a:ea typeface="Nimbus Sans"/>
                <a:cs typeface="Nimbus Sans"/>
              </a:defRPr>
            </a:pPr>
            <a:r>
              <a:rPr sz="1125" b="0">
                <a:solidFill>
                  <a:srgbClr val="5E7182"/>
                </a:solidFill>
                <a:latin typeface="Nimbus Sans"/>
                <a:ea typeface="Nimbus Sans"/>
                <a:cs typeface="Nimbus Sans"/>
              </a:rPr>
              <a:t>09 / 44</a:t>
            </a:r>
          </a:p>
        </p:txBody>
      </p:sp>
      <p:sp>
        <p:nvSpPr>
          <p:cNvPr id="4" name="text-3-193">
            <a:extLst xmlns:a="http://schemas.openxmlformats.org/drawingml/2006/main">
              <a:ext uri="{FF2B5EF4-FFF2-40B4-BE49-F238E27FC236}">
                <a16:creationId xmlns:a16="http://schemas.microsoft.com/office/drawing/2014/main" id="{B7F4CDA4-8A08-49CA-9E9B-0DF29EFEE9B9}"/>
              </a:ext>
            </a:extLst>
          </p:cNvPr>
          <p:cNvSpPr>
            <a:spLocks xmlns:a="http://schemas.openxmlformats.org/drawingml/2006/main" noGrp="1"/>
          </p:cNvSpPr>
          <p:nvPr/>
        </p:nvSpPr>
        <p:spPr>
          <a:xfrm xmlns:a="http://schemas.openxmlformats.org/drawingml/2006/main">
            <a:off x="609600" y="1819275"/>
            <a:ext cx="10972800" cy="414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spcAft>
                <a:spcPts val="0"/>
              </a:spcAft>
              <a:defRPr sz="2100">
                <a:solidFill>
                  <a:srgbClr val="172D43"/>
                </a:solidFill>
                <a:latin typeface="DejaVu Sans Mono"/>
                <a:ea typeface="DejaVu Sans Mono"/>
                <a:cs typeface="DejaVu Sans Mono"/>
              </a:defRPr>
            </a:pPr>
            <a:r>
              <a:rPr b="1">
                <a:solidFill>
                  <a:srgbClr val="0B3970"/>
                </a:solidFill>
              </a:rPr>
              <a:t>final</a:t>
            </a:r>
            <a:r>
              <a:t> assetCode = </a:t>
            </a:r>
            <a:r>
              <a:rPr b="0">
                <a:solidFill>
                  <a:srgbClr val="007DB7"/>
                </a:solidFill>
              </a:rPr>
              <a:t>'PMP-001'</a:t>
            </a:r>
            <a:r>
              <a:t>;</a:t>
            </a:r>
          </a:p>
          <a:p xmlns:a="http://schemas.openxmlformats.org/drawingml/2006/main">
            <a:pPr>
              <a:spcAft>
                <a:spcPts val="0"/>
              </a:spcAft>
              <a:defRPr sz="2100">
                <a:solidFill>
                  <a:srgbClr val="172D43"/>
                </a:solidFill>
                <a:latin typeface="DejaVu Sans Mono"/>
                <a:ea typeface="DejaVu Sans Mono"/>
                <a:cs typeface="DejaVu Sans Mono"/>
              </a:defRPr>
            </a:pPr>
            <a:r>
              <a:rPr b="1">
                <a:solidFill>
                  <a:srgbClr val="0B3970"/>
                </a:solidFill>
              </a:rPr>
              <a:t>const</a:t>
            </a:r>
            <a:r>
              <a:t> maxNoteLength = 500;</a:t>
            </a:r>
          </a:p>
          <a:p xmlns:a="http://schemas.openxmlformats.org/drawingml/2006/main">
            <a:pPr>
              <a:spcAft>
                <a:spcPts val="0"/>
              </a:spcAft>
              <a:defRPr sz="2100">
                <a:solidFill>
                  <a:srgbClr val="172D43"/>
                </a:solidFill>
                <a:latin typeface="DejaVu Sans Mono"/>
                <a:ea typeface="DejaVu Sans Mono"/>
                <a:cs typeface="DejaVu Sans Mono"/>
              </a:defRPr>
            </a:pPr>
            <a:r>
              <a:t>String? note;</a:t>
            </a:r>
          </a:p>
          <a:p xmlns:a="http://schemas.openxmlformats.org/drawingml/2006/main">
            <a:pPr>
              <a:spcAft>
                <a:spcPts val="0"/>
              </a:spcAft>
              <a:defRPr sz="2100">
                <a:solidFill>
                  <a:srgbClr val="172D43"/>
                </a:solidFill>
                <a:latin typeface="DejaVu Sans Mono"/>
                <a:ea typeface="DejaVu Sans Mono"/>
                <a:cs typeface="DejaVu Sans Mono"/>
              </a:defRPr>
            </a:pPr>
            <a:r>
              <a:rPr b="1">
                <a:solidFill>
                  <a:srgbClr val="0B3970"/>
                </a:solidFill>
              </a:rPr>
              <a:t>final</a:t>
            </a:r>
            <a:r>
              <a:t> displayNote = note ?? </a:t>
            </a:r>
            <a:r>
              <a:rPr b="0">
                <a:solidFill>
                  <a:srgbClr val="007DB7"/>
                </a:solidFill>
              </a:rPr>
              <a:t>''</a:t>
            </a:r>
            <a:r>
              <a:t>;</a:t>
            </a:r>
          </a:p>
          <a:p xmlns:a="http://schemas.openxmlformats.org/drawingml/2006/main">
            <a:pPr>
              <a:spcAft>
                <a:spcPts val="0"/>
              </a:spcAft>
              <a:defRPr sz="2100">
                <a:solidFill>
                  <a:srgbClr val="172D43"/>
                </a:solidFill>
                <a:latin typeface="DejaVu Sans Mono"/>
                <a:ea typeface="DejaVu Sans Mono"/>
                <a:cs typeface="DejaVu Sans Mono"/>
              </a:defRPr>
            </a:pPr>
            <a:r>
              <a:t> </a:t>
            </a:r>
          </a:p>
          <a:p xmlns:a="http://schemas.openxmlformats.org/drawingml/2006/main">
            <a:pPr>
              <a:spcAft>
                <a:spcPts val="0"/>
              </a:spcAft>
              <a:defRPr sz="2100">
                <a:solidFill>
                  <a:srgbClr val="172D43"/>
                </a:solidFill>
                <a:latin typeface="DejaVu Sans Mono"/>
                <a:ea typeface="DejaVu Sans Mono"/>
                <a:cs typeface="DejaVu Sans Mono"/>
              </a:defRPr>
            </a:pPr>
            <a:r>
              <a:t>String location = </a:t>
            </a:r>
            <a:r>
              <a:rPr b="0">
                <a:solidFill>
                  <a:srgbClr val="007DB7"/>
                </a:solidFill>
              </a:rPr>
              <a:t>'Workshop A'</a:t>
            </a:r>
            <a:r>
              <a:t>;</a:t>
            </a:r>
          </a:p>
          <a:p xmlns:a="http://schemas.openxmlformats.org/drawingml/2006/main">
            <a:pPr>
              <a:spcAft>
                <a:spcPts val="0"/>
              </a:spcAft>
              <a:defRPr sz="2100">
                <a:solidFill>
                  <a:srgbClr val="172D43"/>
                </a:solidFill>
                <a:latin typeface="DejaVu Sans Mono"/>
                <a:ea typeface="DejaVu Sans Mono"/>
                <a:cs typeface="DejaVu Sans Mono"/>
              </a:defRPr>
            </a:pPr>
            <a:r>
              <a:t>List&lt;String&gt; conditions = [</a:t>
            </a:r>
            <a:r>
              <a:rPr b="0">
                <a:solidFill>
                  <a:srgbClr val="007DB7"/>
                </a:solidFill>
              </a:rPr>
              <a:t>'good'</a:t>
            </a:r>
            <a:r>
              <a:t>, </a:t>
            </a:r>
            <a:r>
              <a:rPr b="0">
                <a:solidFill>
                  <a:srgbClr val="007DB7"/>
                </a:solidFill>
              </a:rPr>
              <a:t>'needs_action'</a:t>
            </a:r>
            <a:r>
              <a:t>];</a:t>
            </a:r>
          </a:p>
          <a:p xmlns:a="http://schemas.openxmlformats.org/drawingml/2006/main">
            <a:pPr>
              <a:spcAft>
                <a:spcPts val="0"/>
              </a:spcAft>
              <a:defRPr sz="2100">
                <a:solidFill>
                  <a:srgbClr val="172D43"/>
                </a:solidFill>
                <a:latin typeface="DejaVu Sans Mono"/>
                <a:ea typeface="DejaVu Sans Mono"/>
                <a:cs typeface="DejaVu Sans Mono"/>
              </a:defRPr>
            </a:pPr>
            <a:r>
              <a:t> </a:t>
            </a:r>
          </a:p>
          <a:p xmlns:a="http://schemas.openxmlformats.org/drawingml/2006/main">
            <a:pPr>
              <a:spcAft>
                <a:spcPts val="0"/>
              </a:spcAft>
              <a:defRPr sz="2100">
                <a:solidFill>
                  <a:srgbClr val="172D43"/>
                </a:solidFill>
                <a:latin typeface="DejaVu Sans Mono"/>
                <a:ea typeface="DejaVu Sans Mono"/>
                <a:cs typeface="DejaVu Sans Mono"/>
              </a:defRPr>
            </a:pPr>
            <a:r>
              <a:rPr>
                <a:solidFill>
                  <a:srgbClr val="5E7182"/>
                </a:solidFill>
              </a:rPr>
              <a:t>// final: assignment satu kali</a:t>
            </a:r>
          </a:p>
          <a:p xmlns:a="http://schemas.openxmlformats.org/drawingml/2006/main">
            <a:pPr>
              <a:spcAft>
                <a:spcPts val="0"/>
              </a:spcAft>
              <a:defRPr sz="2100">
                <a:solidFill>
                  <a:srgbClr val="172D43"/>
                </a:solidFill>
                <a:latin typeface="DejaVu Sans Mono"/>
                <a:ea typeface="DejaVu Sans Mono"/>
                <a:cs typeface="DejaVu Sans Mono"/>
              </a:defRPr>
            </a:pPr>
            <a:r>
              <a:rPr>
                <a:solidFill>
                  <a:srgbClr val="5E7182"/>
                </a:solidFill>
              </a:rPr>
              <a:t>// const: nilai compile-time</a:t>
            </a:r>
          </a:p>
          <a:p xmlns:a="http://schemas.openxmlformats.org/drawingml/2006/main">
            <a:pPr>
              <a:spcAft>
                <a:spcPts val="0"/>
              </a:spcAft>
              <a:defRPr sz="2100">
                <a:solidFill>
                  <a:srgbClr val="172D43"/>
                </a:solidFill>
                <a:latin typeface="DejaVu Sans Mono"/>
                <a:ea typeface="DejaVu Sans Mono"/>
                <a:cs typeface="DejaVu Sans Mono"/>
              </a:defRPr>
            </a:pPr>
            <a:r>
              <a:rPr>
                <a:solidFill>
                  <a:srgbClr val="5E7182"/>
                </a:solidFill>
              </a:rPr>
              <a:t>// ?: nilai boleh null</a:t>
            </a:r>
          </a:p>
        </p:txBody>
      </p:sp>
      <p:sp>
        <p:nvSpPr>
          <p:cNvPr id="5" name="text-4-633">
            <a:extLst xmlns:a="http://schemas.openxmlformats.org/drawingml/2006/main">
              <a:ext uri="{FF2B5EF4-FFF2-40B4-BE49-F238E27FC236}">
                <a16:creationId xmlns:a16="http://schemas.microsoft.com/office/drawing/2014/main" id="{4FBCAD98-1F6F-465F-9354-9BCABE72DB5E}"/>
              </a:ext>
            </a:extLst>
          </p:cNvPr>
          <p:cNvSpPr>
            <a:spLocks xmlns:a="http://schemas.openxmlformats.org/drawingml/2006/main" noGrp="1"/>
          </p:cNvSpPr>
          <p:nvPr/>
        </p:nvSpPr>
        <p:spPr>
          <a:xfrm xmlns:a="http://schemas.openxmlformats.org/drawingml/2006/main">
            <a:off x="609600" y="6029325"/>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800" b="1">
                <a:solidFill>
                  <a:srgbClr val="007DB7"/>
                </a:solidFill>
                <a:latin typeface="Nimbus Sans"/>
                <a:ea typeface="Nimbus Sans"/>
                <a:cs typeface="Nimbus Sans"/>
              </a:defRPr>
            </a:pPr>
            <a:r>
              <a:rPr sz="1800" b="1">
                <a:solidFill>
                  <a:srgbClr val="007DB7"/>
                </a:solidFill>
                <a:latin typeface="Nimbus Sans"/>
                <a:ea typeface="Nimbus Sans"/>
                <a:cs typeface="Nimbus Sans"/>
              </a:rPr>
              <a:t>Fallback harus sesuai makna field dalam kontrak data</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54cafecfd1ee4d5e"/>
          <a:srcRect xmlns:a="http://schemas.openxmlformats.org/drawingml/2006/main" l="4250" t="6738" r="4125" b="3546"/>
          <a:stretch xmlns:a="http://schemas.openxmlformats.org/drawingml/2006/main"/>
        </p:blipFill>
        <p:spPr>
          <a:xfrm xmlns:a="http://schemas.openxmlformats.org/drawingml/2006/main">
            <a:off x="9344025" y="219075"/>
            <a:ext cx="1428750" cy="495300"/>
          </a:xfrm>
          <a:prstGeom xmlns:a="http://schemas.openxmlformats.org/drawingml/2006/main" prst="rect">
            <a:avLst/>
          </a:prstGeom>
        </p:spPr>
      </p:pic>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6378b8fb11dc45ec"/>
          <a:srcRect xmlns:a="http://schemas.openxmlformats.org/drawingml/2006/main" l="32813" t="23779" r="32813" b="23779"/>
          <a:stretch xmlns:a="http://schemas.openxmlformats.org/drawingml/2006/main"/>
        </p:blipFill>
        <p:spPr>
          <a:xfrm xmlns:a="http://schemas.openxmlformats.org/drawingml/2006/main">
            <a:off x="11163300" y="161925"/>
            <a:ext cx="371475" cy="571500"/>
          </a:xfrm>
          <a:prstGeom xmlns:a="http://schemas.openxmlformats.org/drawingml/2006/main" prst="rect">
            <a:avLst/>
          </a:prstGeom>
        </p:spPr>
      </p:pic>
    </p:spTree>
    <p:extLst>
      <p:ext uri="{BB962C8B-B14F-4D97-AF65-F5344CB8AC3E}">
        <p14:creationId xmlns:p14="http://schemas.microsoft.com/office/powerpoint/2010/main" val="146329755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ext-0-48">
            <a:extLst xmlns:a="http://schemas.openxmlformats.org/drawingml/2006/main">
              <a:ext uri="{FF2B5EF4-FFF2-40B4-BE49-F238E27FC236}">
                <a16:creationId xmlns:a16="http://schemas.microsoft.com/office/drawing/2014/main" id="{32034128-8F2D-48E0-AED9-944FBA1A5305}"/>
              </a:ext>
            </a:extLst>
          </p:cNvPr>
          <p:cNvSpPr>
            <a:spLocks xmlns:a="http://schemas.openxmlformats.org/drawingml/2006/main" noGrp="1"/>
          </p:cNvSpPr>
          <p:nvPr/>
        </p:nvSpPr>
        <p:spPr>
          <a:xfrm xmlns:a="http://schemas.openxmlformats.org/drawingml/2006/main">
            <a:off x="609600" y="8953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0000"/>
              </a:lnSpc>
              <a:buNone/>
              <a:defRPr sz="3300" b="1">
                <a:solidFill>
                  <a:srgbClr val="0B3970"/>
                </a:solidFill>
                <a:latin typeface="Nimbus Sans"/>
                <a:ea typeface="Nimbus Sans"/>
                <a:cs typeface="Nimbus Sans"/>
              </a:defRPr>
            </a:pPr>
            <a:r>
              <a:rPr sz="3300" b="1">
                <a:solidFill>
                  <a:srgbClr val="0B3970"/>
                </a:solidFill>
                <a:latin typeface="Nimbus Sans"/>
                <a:ea typeface="Nimbus Sans"/>
                <a:cs typeface="Nimbus Sans"/>
              </a:rPr>
              <a:t>Model Inspection dengan named parameter</a:t>
            </a:r>
          </a:p>
        </p:txBody>
      </p:sp>
      <p:sp>
        <p:nvSpPr>
          <p:cNvPr id="2" name="text-1-674">
            <a:extLst xmlns:a="http://schemas.openxmlformats.org/drawingml/2006/main">
              <a:ext uri="{FF2B5EF4-FFF2-40B4-BE49-F238E27FC236}">
                <a16:creationId xmlns:a16="http://schemas.microsoft.com/office/drawing/2014/main" id="{59E56C7F-E88F-447F-9B33-95B41E1DC00E}"/>
              </a:ext>
            </a:extLst>
          </p:cNvPr>
          <p:cNvSpPr>
            <a:spLocks xmlns:a="http://schemas.openxmlformats.org/drawingml/2006/main" noGrp="1"/>
          </p:cNvSpPr>
          <p:nvPr/>
        </p:nvSpPr>
        <p:spPr>
          <a:xfrm xmlns:a="http://schemas.openxmlformats.org/drawingml/2006/main">
            <a:off x="609600" y="6448425"/>
            <a:ext cx="714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125" b="0">
                <a:solidFill>
                  <a:srgbClr val="5E7182"/>
                </a:solidFill>
                <a:latin typeface="Nimbus Sans"/>
                <a:ea typeface="Nimbus Sans"/>
                <a:cs typeface="Nimbus Sans"/>
              </a:defRPr>
            </a:pPr>
            <a:r>
              <a:rPr sz="1125" b="0">
                <a:solidFill>
                  <a:srgbClr val="5E7182"/>
                </a:solidFill>
                <a:latin typeface="Nimbus Sans"/>
                <a:ea typeface="Nimbus Sans"/>
                <a:cs typeface="Nimbus Sans"/>
              </a:rPr>
              <a:t>Training Flutter Android   /   Hari 1</a:t>
            </a:r>
          </a:p>
        </p:txBody>
      </p:sp>
      <p:sp>
        <p:nvSpPr>
          <p:cNvPr id="3" name="text-2-674">
            <a:extLst xmlns:a="http://schemas.openxmlformats.org/drawingml/2006/main">
              <a:ext uri="{FF2B5EF4-FFF2-40B4-BE49-F238E27FC236}">
                <a16:creationId xmlns:a16="http://schemas.microsoft.com/office/drawing/2014/main" id="{613A2110-1646-4848-9445-9EC37546ED99}"/>
              </a:ext>
            </a:extLst>
          </p:cNvPr>
          <p:cNvSpPr>
            <a:spLocks xmlns:a="http://schemas.openxmlformats.org/drawingml/2006/main" noGrp="1"/>
          </p:cNvSpPr>
          <p:nvPr/>
        </p:nvSpPr>
        <p:spPr>
          <a:xfrm xmlns:a="http://schemas.openxmlformats.org/drawingml/2006/main">
            <a:off x="10668000" y="6448425"/>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125" b="0">
                <a:solidFill>
                  <a:srgbClr val="5E7182"/>
                </a:solidFill>
                <a:latin typeface="Nimbus Sans"/>
                <a:ea typeface="Nimbus Sans"/>
                <a:cs typeface="Nimbus Sans"/>
              </a:defRPr>
            </a:pPr>
            <a:r>
              <a:rPr sz="1125" b="0">
                <a:solidFill>
                  <a:srgbClr val="5E7182"/>
                </a:solidFill>
                <a:latin typeface="Nimbus Sans"/>
                <a:ea typeface="Nimbus Sans"/>
                <a:cs typeface="Nimbus Sans"/>
              </a:rPr>
              <a:t>10 / 44</a:t>
            </a:r>
          </a:p>
        </p:txBody>
      </p:sp>
      <p:sp>
        <p:nvSpPr>
          <p:cNvPr id="4" name="text-3-193">
            <a:extLst xmlns:a="http://schemas.openxmlformats.org/drawingml/2006/main">
              <a:ext uri="{FF2B5EF4-FFF2-40B4-BE49-F238E27FC236}">
                <a16:creationId xmlns:a16="http://schemas.microsoft.com/office/drawing/2014/main" id="{0E337F2C-FEF4-400C-BBFE-B608FE2E4043}"/>
              </a:ext>
            </a:extLst>
          </p:cNvPr>
          <p:cNvSpPr>
            <a:spLocks xmlns:a="http://schemas.openxmlformats.org/drawingml/2006/main" noGrp="1"/>
          </p:cNvSpPr>
          <p:nvPr/>
        </p:nvSpPr>
        <p:spPr>
          <a:xfrm xmlns:a="http://schemas.openxmlformats.org/drawingml/2006/main">
            <a:off x="609600" y="1819275"/>
            <a:ext cx="10972800" cy="414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spcAft>
                <a:spcPts val="0"/>
              </a:spcAft>
              <a:defRPr sz="2100">
                <a:solidFill>
                  <a:srgbClr val="172D43"/>
                </a:solidFill>
                <a:latin typeface="DejaVu Sans Mono"/>
                <a:ea typeface="DejaVu Sans Mono"/>
                <a:cs typeface="DejaVu Sans Mono"/>
              </a:defRPr>
            </a:pPr>
            <a:r>
              <a:rPr b="1">
                <a:solidFill>
                  <a:srgbClr val="0B3970"/>
                </a:solidFill>
              </a:rPr>
              <a:t>class</a:t>
            </a:r>
            <a:r>
              <a:t> Inspection {</a:t>
            </a:r>
          </a:p>
          <a:p xmlns:a="http://schemas.openxmlformats.org/drawingml/2006/main">
            <a:pPr>
              <a:spcAft>
                <a:spcPts val="0"/>
              </a:spcAft>
              <a:defRPr sz="2100">
                <a:solidFill>
                  <a:srgbClr val="172D43"/>
                </a:solidFill>
                <a:latin typeface="DejaVu Sans Mono"/>
                <a:ea typeface="DejaVu Sans Mono"/>
                <a:cs typeface="DejaVu Sans Mono"/>
              </a:defRPr>
            </a:pPr>
            <a:r>
              <a:t>  </a:t>
            </a:r>
            <a:r>
              <a:rPr b="1">
                <a:solidFill>
                  <a:srgbClr val="0B3970"/>
                </a:solidFill>
              </a:rPr>
              <a:t>final</a:t>
            </a:r>
            <a:r>
              <a:t> String id, assetCode, location;</a:t>
            </a:r>
          </a:p>
          <a:p xmlns:a="http://schemas.openxmlformats.org/drawingml/2006/main">
            <a:pPr>
              <a:spcAft>
                <a:spcPts val="0"/>
              </a:spcAft>
              <a:defRPr sz="2100">
                <a:solidFill>
                  <a:srgbClr val="172D43"/>
                </a:solidFill>
                <a:latin typeface="DejaVu Sans Mono"/>
                <a:ea typeface="DejaVu Sans Mono"/>
                <a:cs typeface="DejaVu Sans Mono"/>
              </a:defRPr>
            </a:pPr>
            <a:r>
              <a:t>  </a:t>
            </a:r>
            <a:r>
              <a:rPr b="1">
                <a:solidFill>
                  <a:srgbClr val="0B3970"/>
                </a:solidFill>
              </a:rPr>
              <a:t>final</a:t>
            </a:r>
            <a:r>
              <a:t> String condition, note;</a:t>
            </a:r>
          </a:p>
          <a:p xmlns:a="http://schemas.openxmlformats.org/drawingml/2006/main">
            <a:pPr>
              <a:spcAft>
                <a:spcPts val="0"/>
              </a:spcAft>
              <a:defRPr sz="2100">
                <a:solidFill>
                  <a:srgbClr val="172D43"/>
                </a:solidFill>
                <a:latin typeface="DejaVu Sans Mono"/>
                <a:ea typeface="DejaVu Sans Mono"/>
                <a:cs typeface="DejaVu Sans Mono"/>
              </a:defRPr>
            </a:pPr>
            <a:r>
              <a:t>  </a:t>
            </a:r>
            <a:r>
              <a:rPr b="1">
                <a:solidFill>
                  <a:srgbClr val="0B3970"/>
                </a:solidFill>
              </a:rPr>
              <a:t>final</a:t>
            </a:r>
            <a:r>
              <a:t> DateTime createdAt;</a:t>
            </a:r>
          </a:p>
          <a:p xmlns:a="http://schemas.openxmlformats.org/drawingml/2006/main">
            <a:pPr>
              <a:spcAft>
                <a:spcPts val="0"/>
              </a:spcAft>
              <a:defRPr sz="2100">
                <a:solidFill>
                  <a:srgbClr val="172D43"/>
                </a:solidFill>
                <a:latin typeface="DejaVu Sans Mono"/>
                <a:ea typeface="DejaVu Sans Mono"/>
                <a:cs typeface="DejaVu Sans Mono"/>
              </a:defRPr>
            </a:pPr>
            <a:r>
              <a:t> </a:t>
            </a:r>
          </a:p>
          <a:p xmlns:a="http://schemas.openxmlformats.org/drawingml/2006/main">
            <a:pPr>
              <a:spcAft>
                <a:spcPts val="0"/>
              </a:spcAft>
              <a:defRPr sz="2100">
                <a:solidFill>
                  <a:srgbClr val="172D43"/>
                </a:solidFill>
                <a:latin typeface="DejaVu Sans Mono"/>
                <a:ea typeface="DejaVu Sans Mono"/>
                <a:cs typeface="DejaVu Sans Mono"/>
              </a:defRPr>
            </a:pPr>
            <a:r>
              <a:t>  </a:t>
            </a:r>
            <a:r>
              <a:rPr b="1">
                <a:solidFill>
                  <a:srgbClr val="0B3970"/>
                </a:solidFill>
              </a:rPr>
              <a:t>const</a:t>
            </a:r>
            <a:r>
              <a:t> Inspection({</a:t>
            </a:r>
          </a:p>
          <a:p xmlns:a="http://schemas.openxmlformats.org/drawingml/2006/main">
            <a:pPr>
              <a:spcAft>
                <a:spcPts val="0"/>
              </a:spcAft>
              <a:defRPr sz="2100">
                <a:solidFill>
                  <a:srgbClr val="172D43"/>
                </a:solidFill>
                <a:latin typeface="DejaVu Sans Mono"/>
                <a:ea typeface="DejaVu Sans Mono"/>
                <a:cs typeface="DejaVu Sans Mono"/>
              </a:defRPr>
            </a:pPr>
            <a:r>
              <a:t>    </a:t>
            </a:r>
            <a:r>
              <a:rPr b="1">
                <a:solidFill>
                  <a:srgbClr val="0B3970"/>
                </a:solidFill>
              </a:rPr>
              <a:t>required</a:t>
            </a:r>
            <a:r>
              <a:t> this.id, </a:t>
            </a:r>
            <a:r>
              <a:rPr b="1">
                <a:solidFill>
                  <a:srgbClr val="0B3970"/>
                </a:solidFill>
              </a:rPr>
              <a:t>required</a:t>
            </a:r>
            <a:r>
              <a:t> this.assetCode,</a:t>
            </a:r>
          </a:p>
          <a:p xmlns:a="http://schemas.openxmlformats.org/drawingml/2006/main">
            <a:pPr>
              <a:spcAft>
                <a:spcPts val="0"/>
              </a:spcAft>
              <a:defRPr sz="2100">
                <a:solidFill>
                  <a:srgbClr val="172D43"/>
                </a:solidFill>
                <a:latin typeface="DejaVu Sans Mono"/>
                <a:ea typeface="DejaVu Sans Mono"/>
                <a:cs typeface="DejaVu Sans Mono"/>
              </a:defRPr>
            </a:pPr>
            <a:r>
              <a:t>    </a:t>
            </a:r>
            <a:r>
              <a:rPr b="1">
                <a:solidFill>
                  <a:srgbClr val="0B3970"/>
                </a:solidFill>
              </a:rPr>
              <a:t>required</a:t>
            </a:r>
            <a:r>
              <a:t> this.location, </a:t>
            </a:r>
            <a:r>
              <a:rPr b="1">
                <a:solidFill>
                  <a:srgbClr val="0B3970"/>
                </a:solidFill>
              </a:rPr>
              <a:t>required</a:t>
            </a:r>
            <a:r>
              <a:t> this.condition,</a:t>
            </a:r>
          </a:p>
          <a:p xmlns:a="http://schemas.openxmlformats.org/drawingml/2006/main">
            <a:pPr>
              <a:spcAft>
                <a:spcPts val="0"/>
              </a:spcAft>
              <a:defRPr sz="2100">
                <a:solidFill>
                  <a:srgbClr val="172D43"/>
                </a:solidFill>
                <a:latin typeface="DejaVu Sans Mono"/>
                <a:ea typeface="DejaVu Sans Mono"/>
                <a:cs typeface="DejaVu Sans Mono"/>
              </a:defRPr>
            </a:pPr>
            <a:r>
              <a:t>    </a:t>
            </a:r>
            <a:r>
              <a:rPr b="1">
                <a:solidFill>
                  <a:srgbClr val="0B3970"/>
                </a:solidFill>
              </a:rPr>
              <a:t>required</a:t>
            </a:r>
            <a:r>
              <a:t> this.note, </a:t>
            </a:r>
            <a:r>
              <a:rPr b="1">
                <a:solidFill>
                  <a:srgbClr val="0B3970"/>
                </a:solidFill>
              </a:rPr>
              <a:t>required</a:t>
            </a:r>
            <a:r>
              <a:t> this.createdAt,</a:t>
            </a:r>
          </a:p>
          <a:p xmlns:a="http://schemas.openxmlformats.org/drawingml/2006/main">
            <a:pPr>
              <a:spcAft>
                <a:spcPts val="0"/>
              </a:spcAft>
              <a:defRPr sz="2100">
                <a:solidFill>
                  <a:srgbClr val="172D43"/>
                </a:solidFill>
                <a:latin typeface="DejaVu Sans Mono"/>
                <a:ea typeface="DejaVu Sans Mono"/>
                <a:cs typeface="DejaVu Sans Mono"/>
              </a:defRPr>
            </a:pPr>
            <a:r>
              <a:t>  });</a:t>
            </a:r>
          </a:p>
          <a:p xmlns:a="http://schemas.openxmlformats.org/drawingml/2006/main">
            <a:pPr>
              <a:spcAft>
                <a:spcPts val="0"/>
              </a:spcAft>
              <a:defRPr sz="2100">
                <a:solidFill>
                  <a:srgbClr val="172D43"/>
                </a:solidFill>
                <a:latin typeface="DejaVu Sans Mono"/>
                <a:ea typeface="DejaVu Sans Mono"/>
                <a:cs typeface="DejaVu Sans Mono"/>
              </a:defRPr>
            </a:pPr>
            <a:r>
              <a:t>}</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658f707a305a49bf"/>
          <a:srcRect xmlns:a="http://schemas.openxmlformats.org/drawingml/2006/main" l="4250" t="6738" r="4125" b="3546"/>
          <a:stretch xmlns:a="http://schemas.openxmlformats.org/drawingml/2006/main"/>
        </p:blipFill>
        <p:spPr>
          <a:xfrm xmlns:a="http://schemas.openxmlformats.org/drawingml/2006/main">
            <a:off x="9344025" y="219075"/>
            <a:ext cx="1428750" cy="495300"/>
          </a:xfrm>
          <a:prstGeom xmlns:a="http://schemas.openxmlformats.org/drawingml/2006/main" prst="rect">
            <a:avLst/>
          </a:prstGeom>
        </p:spPr>
      </p:pic>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97efdc712b5d42c9"/>
          <a:srcRect xmlns:a="http://schemas.openxmlformats.org/drawingml/2006/main" l="32813" t="23779" r="32813" b="23779"/>
          <a:stretch xmlns:a="http://schemas.openxmlformats.org/drawingml/2006/main"/>
        </p:blipFill>
        <p:spPr>
          <a:xfrm xmlns:a="http://schemas.openxmlformats.org/drawingml/2006/main">
            <a:off x="11163300" y="161925"/>
            <a:ext cx="371475" cy="571500"/>
          </a:xfrm>
          <a:prstGeom xmlns:a="http://schemas.openxmlformats.org/drawingml/2006/main" prst="rect">
            <a:avLst/>
          </a:prstGeom>
        </p:spPr>
      </p:pic>
    </p:spTree>
    <p:extLst>
      <p:ext uri="{BB962C8B-B14F-4D97-AF65-F5344CB8AC3E}">
        <p14:creationId xmlns:p14="http://schemas.microsoft.com/office/powerpoint/2010/main" val="432839129"/>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ext-0-48">
            <a:extLst xmlns:a="http://schemas.openxmlformats.org/drawingml/2006/main">
              <a:ext uri="{FF2B5EF4-FFF2-40B4-BE49-F238E27FC236}">
                <a16:creationId xmlns:a16="http://schemas.microsoft.com/office/drawing/2014/main" id="{D96FC6C5-5ED6-4148-8030-6CEBBE857CD0}"/>
              </a:ext>
            </a:extLst>
          </p:cNvPr>
          <p:cNvSpPr>
            <a:spLocks xmlns:a="http://schemas.openxmlformats.org/drawingml/2006/main" noGrp="1"/>
          </p:cNvSpPr>
          <p:nvPr/>
        </p:nvSpPr>
        <p:spPr>
          <a:xfrm xmlns:a="http://schemas.openxmlformats.org/drawingml/2006/main">
            <a:off x="609600" y="8953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0000"/>
              </a:lnSpc>
              <a:buNone/>
              <a:defRPr sz="3300" b="1">
                <a:solidFill>
                  <a:srgbClr val="0B3970"/>
                </a:solidFill>
                <a:latin typeface="Nimbus Sans"/>
                <a:ea typeface="Nimbus Sans"/>
                <a:cs typeface="Nimbus Sans"/>
              </a:defRPr>
            </a:pPr>
            <a:r>
              <a:rPr sz="3300" b="1">
                <a:solidFill>
                  <a:srgbClr val="0B3970"/>
                </a:solidFill>
                <a:latin typeface="Nimbus Sans"/>
                <a:ea typeface="Nimbus Sans"/>
                <a:cs typeface="Nimbus Sans"/>
              </a:rPr>
              <a:t>Collection dan pemilihan data</a:t>
            </a:r>
          </a:p>
        </p:txBody>
      </p:sp>
      <p:sp>
        <p:nvSpPr>
          <p:cNvPr id="2" name="text-1-674">
            <a:extLst xmlns:a="http://schemas.openxmlformats.org/drawingml/2006/main">
              <a:ext uri="{FF2B5EF4-FFF2-40B4-BE49-F238E27FC236}">
                <a16:creationId xmlns:a16="http://schemas.microsoft.com/office/drawing/2014/main" id="{4F2C426E-230A-4C2C-942F-EF69D47B9940}"/>
              </a:ext>
            </a:extLst>
          </p:cNvPr>
          <p:cNvSpPr>
            <a:spLocks xmlns:a="http://schemas.openxmlformats.org/drawingml/2006/main" noGrp="1"/>
          </p:cNvSpPr>
          <p:nvPr/>
        </p:nvSpPr>
        <p:spPr>
          <a:xfrm xmlns:a="http://schemas.openxmlformats.org/drawingml/2006/main">
            <a:off x="609600" y="6448425"/>
            <a:ext cx="714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125" b="0">
                <a:solidFill>
                  <a:srgbClr val="5E7182"/>
                </a:solidFill>
                <a:latin typeface="Nimbus Sans"/>
                <a:ea typeface="Nimbus Sans"/>
                <a:cs typeface="Nimbus Sans"/>
              </a:defRPr>
            </a:pPr>
            <a:r>
              <a:rPr sz="1125" b="0">
                <a:solidFill>
                  <a:srgbClr val="5E7182"/>
                </a:solidFill>
                <a:latin typeface="Nimbus Sans"/>
                <a:ea typeface="Nimbus Sans"/>
                <a:cs typeface="Nimbus Sans"/>
              </a:rPr>
              <a:t>Training Flutter Android   /   Hari 1</a:t>
            </a:r>
          </a:p>
        </p:txBody>
      </p:sp>
      <p:sp>
        <p:nvSpPr>
          <p:cNvPr id="3" name="text-2-674">
            <a:extLst xmlns:a="http://schemas.openxmlformats.org/drawingml/2006/main">
              <a:ext uri="{FF2B5EF4-FFF2-40B4-BE49-F238E27FC236}">
                <a16:creationId xmlns:a16="http://schemas.microsoft.com/office/drawing/2014/main" id="{4ABCD7F3-DE85-4D5E-86D4-95E3951A1A66}"/>
              </a:ext>
            </a:extLst>
          </p:cNvPr>
          <p:cNvSpPr>
            <a:spLocks xmlns:a="http://schemas.openxmlformats.org/drawingml/2006/main" noGrp="1"/>
          </p:cNvSpPr>
          <p:nvPr/>
        </p:nvSpPr>
        <p:spPr>
          <a:xfrm xmlns:a="http://schemas.openxmlformats.org/drawingml/2006/main">
            <a:off x="10668000" y="6448425"/>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125" b="0">
                <a:solidFill>
                  <a:srgbClr val="5E7182"/>
                </a:solidFill>
                <a:latin typeface="Nimbus Sans"/>
                <a:ea typeface="Nimbus Sans"/>
                <a:cs typeface="Nimbus Sans"/>
              </a:defRPr>
            </a:pPr>
            <a:r>
              <a:rPr sz="1125" b="0">
                <a:solidFill>
                  <a:srgbClr val="5E7182"/>
                </a:solidFill>
                <a:latin typeface="Nimbus Sans"/>
                <a:ea typeface="Nimbus Sans"/>
                <a:cs typeface="Nimbus Sans"/>
              </a:rPr>
              <a:t>11 / 44</a:t>
            </a:r>
          </a:p>
        </p:txBody>
      </p:sp>
      <p:sp>
        <p:nvSpPr>
          <p:cNvPr id="4" name="text-3-193">
            <a:extLst xmlns:a="http://schemas.openxmlformats.org/drawingml/2006/main">
              <a:ext uri="{FF2B5EF4-FFF2-40B4-BE49-F238E27FC236}">
                <a16:creationId xmlns:a16="http://schemas.microsoft.com/office/drawing/2014/main" id="{01A75540-B84F-457C-BA4D-335283F878D6}"/>
              </a:ext>
            </a:extLst>
          </p:cNvPr>
          <p:cNvSpPr>
            <a:spLocks xmlns:a="http://schemas.openxmlformats.org/drawingml/2006/main" noGrp="1"/>
          </p:cNvSpPr>
          <p:nvPr/>
        </p:nvSpPr>
        <p:spPr>
          <a:xfrm xmlns:a="http://schemas.openxmlformats.org/drawingml/2006/main">
            <a:off x="609600" y="1819275"/>
            <a:ext cx="10972800" cy="414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spcAft>
                <a:spcPts val="0"/>
              </a:spcAft>
              <a:defRPr sz="2100">
                <a:solidFill>
                  <a:srgbClr val="172D43"/>
                </a:solidFill>
                <a:latin typeface="DejaVu Sans Mono"/>
                <a:ea typeface="DejaVu Sans Mono"/>
                <a:cs typeface="DejaVu Sans Mono"/>
              </a:defRPr>
            </a:pPr>
            <a:r>
              <a:rPr b="1">
                <a:solidFill>
                  <a:srgbClr val="0B3970"/>
                </a:solidFill>
              </a:rPr>
              <a:t>final</a:t>
            </a:r>
            <a:r>
              <a:t> needsAction = items.where(</a:t>
            </a:r>
          </a:p>
          <a:p xmlns:a="http://schemas.openxmlformats.org/drawingml/2006/main">
            <a:pPr>
              <a:spcAft>
                <a:spcPts val="0"/>
              </a:spcAft>
              <a:defRPr sz="2100">
                <a:solidFill>
                  <a:srgbClr val="172D43"/>
                </a:solidFill>
                <a:latin typeface="DejaVu Sans Mono"/>
                <a:ea typeface="DejaVu Sans Mono"/>
                <a:cs typeface="DejaVu Sans Mono"/>
              </a:defRPr>
            </a:pPr>
            <a:r>
              <a:t>  (item) =&gt; item.condition == </a:t>
            </a:r>
            <a:r>
              <a:rPr b="0">
                <a:solidFill>
                  <a:srgbClr val="007DB7"/>
                </a:solidFill>
              </a:rPr>
              <a:t>'needs_action'</a:t>
            </a:r>
            <a:r>
              <a:t>,</a:t>
            </a:r>
          </a:p>
          <a:p xmlns:a="http://schemas.openxmlformats.org/drawingml/2006/main">
            <a:pPr>
              <a:spcAft>
                <a:spcPts val="0"/>
              </a:spcAft>
              <a:defRPr sz="2100">
                <a:solidFill>
                  <a:srgbClr val="172D43"/>
                </a:solidFill>
                <a:latin typeface="DejaVu Sans Mono"/>
                <a:ea typeface="DejaVu Sans Mono"/>
                <a:cs typeface="DejaVu Sans Mono"/>
              </a:defRPr>
            </a:pPr>
            <a:r>
              <a:t>).toList();</a:t>
            </a:r>
          </a:p>
          <a:p xmlns:a="http://schemas.openxmlformats.org/drawingml/2006/main">
            <a:pPr>
              <a:spcAft>
                <a:spcPts val="0"/>
              </a:spcAft>
              <a:defRPr sz="2100">
                <a:solidFill>
                  <a:srgbClr val="172D43"/>
                </a:solidFill>
                <a:latin typeface="DejaVu Sans Mono"/>
                <a:ea typeface="DejaVu Sans Mono"/>
                <a:cs typeface="DejaVu Sans Mono"/>
              </a:defRPr>
            </a:pPr>
            <a:r>
              <a:t> </a:t>
            </a:r>
          </a:p>
          <a:p xmlns:a="http://schemas.openxmlformats.org/drawingml/2006/main">
            <a:pPr>
              <a:spcAft>
                <a:spcPts val="0"/>
              </a:spcAft>
              <a:defRPr sz="2100">
                <a:solidFill>
                  <a:srgbClr val="172D43"/>
                </a:solidFill>
                <a:latin typeface="DejaVu Sans Mono"/>
                <a:ea typeface="DejaVu Sans Mono"/>
                <a:cs typeface="DejaVu Sans Mono"/>
              </a:defRPr>
            </a:pPr>
            <a:r>
              <a:rPr b="1">
                <a:solidFill>
                  <a:srgbClr val="0B3970"/>
                </a:solidFill>
              </a:rPr>
              <a:t>final</a:t>
            </a:r>
            <a:r>
              <a:t> codes = items.map(</a:t>
            </a:r>
          </a:p>
          <a:p xmlns:a="http://schemas.openxmlformats.org/drawingml/2006/main">
            <a:pPr>
              <a:spcAft>
                <a:spcPts val="0"/>
              </a:spcAft>
              <a:defRPr sz="2100">
                <a:solidFill>
                  <a:srgbClr val="172D43"/>
                </a:solidFill>
                <a:latin typeface="DejaVu Sans Mono"/>
                <a:ea typeface="DejaVu Sans Mono"/>
                <a:cs typeface="DejaVu Sans Mono"/>
              </a:defRPr>
            </a:pPr>
            <a:r>
              <a:t>  (item) =&gt; item.assetCode,</a:t>
            </a:r>
          </a:p>
          <a:p xmlns:a="http://schemas.openxmlformats.org/drawingml/2006/main">
            <a:pPr>
              <a:spcAft>
                <a:spcPts val="0"/>
              </a:spcAft>
              <a:defRPr sz="2100">
                <a:solidFill>
                  <a:srgbClr val="172D43"/>
                </a:solidFill>
                <a:latin typeface="DejaVu Sans Mono"/>
                <a:ea typeface="DejaVu Sans Mono"/>
                <a:cs typeface="DejaVu Sans Mono"/>
              </a:defRPr>
            </a:pPr>
            <a:r>
              <a:t>).toList();</a:t>
            </a:r>
          </a:p>
          <a:p xmlns:a="http://schemas.openxmlformats.org/drawingml/2006/main">
            <a:pPr>
              <a:spcAft>
                <a:spcPts val="0"/>
              </a:spcAft>
              <a:defRPr sz="2100">
                <a:solidFill>
                  <a:srgbClr val="172D43"/>
                </a:solidFill>
                <a:latin typeface="DejaVu Sans Mono"/>
                <a:ea typeface="DejaVu Sans Mono"/>
                <a:cs typeface="DejaVu Sans Mono"/>
              </a:defRPr>
            </a:pPr>
            <a:r>
              <a:t> </a:t>
            </a:r>
          </a:p>
          <a:p xmlns:a="http://schemas.openxmlformats.org/drawingml/2006/main">
            <a:pPr>
              <a:spcAft>
                <a:spcPts val="0"/>
              </a:spcAft>
              <a:defRPr sz="2100">
                <a:solidFill>
                  <a:srgbClr val="172D43"/>
                </a:solidFill>
                <a:latin typeface="DejaVu Sans Mono"/>
                <a:ea typeface="DejaVu Sans Mono"/>
                <a:cs typeface="DejaVu Sans Mono"/>
              </a:defRPr>
            </a:pPr>
            <a:r>
              <a:rPr b="1">
                <a:solidFill>
                  <a:srgbClr val="0B3970"/>
                </a:solidFill>
              </a:rPr>
              <a:t>final</a:t>
            </a:r>
            <a:r>
              <a:t> count = needsAction.length;</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0cd332e9a4854034"/>
          <a:srcRect xmlns:a="http://schemas.openxmlformats.org/drawingml/2006/main" l="4250" t="6738" r="4125" b="3546"/>
          <a:stretch xmlns:a="http://schemas.openxmlformats.org/drawingml/2006/main"/>
        </p:blipFill>
        <p:spPr>
          <a:xfrm xmlns:a="http://schemas.openxmlformats.org/drawingml/2006/main">
            <a:off x="9344025" y="219075"/>
            <a:ext cx="1428750" cy="495300"/>
          </a:xfrm>
          <a:prstGeom xmlns:a="http://schemas.openxmlformats.org/drawingml/2006/main" prst="rect">
            <a:avLst/>
          </a:prstGeom>
        </p:spPr>
      </p:pic>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9086f330bc3c499c"/>
          <a:srcRect xmlns:a="http://schemas.openxmlformats.org/drawingml/2006/main" l="32813" t="23779" r="32813" b="23779"/>
          <a:stretch xmlns:a="http://schemas.openxmlformats.org/drawingml/2006/main"/>
        </p:blipFill>
        <p:spPr>
          <a:xfrm xmlns:a="http://schemas.openxmlformats.org/drawingml/2006/main">
            <a:off x="11163300" y="161925"/>
            <a:ext cx="371475" cy="571500"/>
          </a:xfrm>
          <a:prstGeom xmlns:a="http://schemas.openxmlformats.org/drawingml/2006/main" prst="rect">
            <a:avLst/>
          </a:prstGeom>
        </p:spPr>
      </p:pic>
    </p:spTree>
    <p:extLst>
      <p:ext uri="{BB962C8B-B14F-4D97-AF65-F5344CB8AC3E}">
        <p14:creationId xmlns:p14="http://schemas.microsoft.com/office/powerpoint/2010/main" val="352441271"/>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ext-0-48">
            <a:extLst xmlns:a="http://schemas.openxmlformats.org/drawingml/2006/main">
              <a:ext uri="{FF2B5EF4-FFF2-40B4-BE49-F238E27FC236}">
                <a16:creationId xmlns:a16="http://schemas.microsoft.com/office/drawing/2014/main" id="{D4C2DC89-AF1F-4BE3-A71C-0BA380E9C210}"/>
              </a:ext>
            </a:extLst>
          </p:cNvPr>
          <p:cNvSpPr>
            <a:spLocks xmlns:a="http://schemas.openxmlformats.org/drawingml/2006/main" noGrp="1"/>
          </p:cNvSpPr>
          <p:nvPr/>
        </p:nvSpPr>
        <p:spPr>
          <a:xfrm xmlns:a="http://schemas.openxmlformats.org/drawingml/2006/main">
            <a:off x="609600" y="8953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0000"/>
              </a:lnSpc>
              <a:buNone/>
              <a:defRPr sz="3300" b="1">
                <a:solidFill>
                  <a:srgbClr val="0B3970"/>
                </a:solidFill>
                <a:latin typeface="Nimbus Sans"/>
                <a:ea typeface="Nimbus Sans"/>
                <a:cs typeface="Nimbus Sans"/>
              </a:defRPr>
            </a:pPr>
            <a:r>
              <a:rPr sz="3300" b="1">
                <a:solidFill>
                  <a:srgbClr val="0B3970"/>
                </a:solidFill>
                <a:latin typeface="Nimbus Sans"/>
                <a:ea typeface="Nimbus Sans"/>
                <a:cs typeface="Nimbus Sans"/>
              </a:rPr>
              <a:t>Future dan async await</a:t>
            </a:r>
          </a:p>
        </p:txBody>
      </p:sp>
      <p:sp>
        <p:nvSpPr>
          <p:cNvPr id="2" name="text-1-674">
            <a:extLst xmlns:a="http://schemas.openxmlformats.org/drawingml/2006/main">
              <a:ext uri="{FF2B5EF4-FFF2-40B4-BE49-F238E27FC236}">
                <a16:creationId xmlns:a16="http://schemas.microsoft.com/office/drawing/2014/main" id="{F967A735-7B4B-4DE4-BC7B-3E93D9830FF3}"/>
              </a:ext>
            </a:extLst>
          </p:cNvPr>
          <p:cNvSpPr>
            <a:spLocks xmlns:a="http://schemas.openxmlformats.org/drawingml/2006/main" noGrp="1"/>
          </p:cNvSpPr>
          <p:nvPr/>
        </p:nvSpPr>
        <p:spPr>
          <a:xfrm xmlns:a="http://schemas.openxmlformats.org/drawingml/2006/main">
            <a:off x="609600" y="6448425"/>
            <a:ext cx="714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125" b="0">
                <a:solidFill>
                  <a:srgbClr val="5E7182"/>
                </a:solidFill>
                <a:latin typeface="Nimbus Sans"/>
                <a:ea typeface="Nimbus Sans"/>
                <a:cs typeface="Nimbus Sans"/>
              </a:defRPr>
            </a:pPr>
            <a:r>
              <a:rPr sz="1125" b="0">
                <a:solidFill>
                  <a:srgbClr val="5E7182"/>
                </a:solidFill>
                <a:latin typeface="Nimbus Sans"/>
                <a:ea typeface="Nimbus Sans"/>
                <a:cs typeface="Nimbus Sans"/>
              </a:rPr>
              <a:t>Training Flutter Android   /   Hari 1</a:t>
            </a:r>
          </a:p>
        </p:txBody>
      </p:sp>
      <p:sp>
        <p:nvSpPr>
          <p:cNvPr id="3" name="text-2-674">
            <a:extLst xmlns:a="http://schemas.openxmlformats.org/drawingml/2006/main">
              <a:ext uri="{FF2B5EF4-FFF2-40B4-BE49-F238E27FC236}">
                <a16:creationId xmlns:a16="http://schemas.microsoft.com/office/drawing/2014/main" id="{F2456044-D66E-4131-B777-0AA1B2E88ACE}"/>
              </a:ext>
            </a:extLst>
          </p:cNvPr>
          <p:cNvSpPr>
            <a:spLocks xmlns:a="http://schemas.openxmlformats.org/drawingml/2006/main" noGrp="1"/>
          </p:cNvSpPr>
          <p:nvPr/>
        </p:nvSpPr>
        <p:spPr>
          <a:xfrm xmlns:a="http://schemas.openxmlformats.org/drawingml/2006/main">
            <a:off x="10668000" y="6448425"/>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125" b="0">
                <a:solidFill>
                  <a:srgbClr val="5E7182"/>
                </a:solidFill>
                <a:latin typeface="Nimbus Sans"/>
                <a:ea typeface="Nimbus Sans"/>
                <a:cs typeface="Nimbus Sans"/>
              </a:defRPr>
            </a:pPr>
            <a:r>
              <a:rPr sz="1125" b="0">
                <a:solidFill>
                  <a:srgbClr val="5E7182"/>
                </a:solidFill>
                <a:latin typeface="Nimbus Sans"/>
                <a:ea typeface="Nimbus Sans"/>
                <a:cs typeface="Nimbus Sans"/>
              </a:rPr>
              <a:t>12 / 44</a:t>
            </a:r>
          </a:p>
        </p:txBody>
      </p:sp>
      <p:sp>
        <p:nvSpPr>
          <p:cNvPr id="4" name="text-3-193">
            <a:extLst xmlns:a="http://schemas.openxmlformats.org/drawingml/2006/main">
              <a:ext uri="{FF2B5EF4-FFF2-40B4-BE49-F238E27FC236}">
                <a16:creationId xmlns:a16="http://schemas.microsoft.com/office/drawing/2014/main" id="{5C88235A-9E6C-45BA-B782-D587F739EB2E}"/>
              </a:ext>
            </a:extLst>
          </p:cNvPr>
          <p:cNvSpPr>
            <a:spLocks xmlns:a="http://schemas.openxmlformats.org/drawingml/2006/main" noGrp="1"/>
          </p:cNvSpPr>
          <p:nvPr/>
        </p:nvSpPr>
        <p:spPr>
          <a:xfrm xmlns:a="http://schemas.openxmlformats.org/drawingml/2006/main">
            <a:off x="609600" y="1819275"/>
            <a:ext cx="10972800" cy="414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spcAft>
                <a:spcPts val="0"/>
              </a:spcAft>
              <a:defRPr sz="2100">
                <a:solidFill>
                  <a:srgbClr val="172D43"/>
                </a:solidFill>
                <a:latin typeface="DejaVu Sans Mono"/>
                <a:ea typeface="DejaVu Sans Mono"/>
                <a:cs typeface="DejaVu Sans Mono"/>
              </a:defRPr>
            </a:pPr>
            <a:r>
              <a:t>Future&lt;List&lt;Inspection&gt;&gt; loadDemoItems() </a:t>
            </a:r>
            <a:r>
              <a:rPr b="1">
                <a:solidFill>
                  <a:srgbClr val="0B3970"/>
                </a:solidFill>
              </a:rPr>
              <a:t>async</a:t>
            </a:r>
            <a:r>
              <a:t> {</a:t>
            </a:r>
          </a:p>
          <a:p xmlns:a="http://schemas.openxmlformats.org/drawingml/2006/main">
            <a:pPr>
              <a:spcAft>
                <a:spcPts val="0"/>
              </a:spcAft>
              <a:defRPr sz="2100">
                <a:solidFill>
                  <a:srgbClr val="172D43"/>
                </a:solidFill>
                <a:latin typeface="DejaVu Sans Mono"/>
                <a:ea typeface="DejaVu Sans Mono"/>
                <a:cs typeface="DejaVu Sans Mono"/>
              </a:defRPr>
            </a:pPr>
            <a:r>
              <a:t>  </a:t>
            </a:r>
            <a:r>
              <a:rPr b="1">
                <a:solidFill>
                  <a:srgbClr val="0B3970"/>
                </a:solidFill>
              </a:rPr>
              <a:t>await</a:t>
            </a:r>
            <a:r>
              <a:t> Future&lt;</a:t>
            </a:r>
            <a:r>
              <a:rPr b="1">
                <a:solidFill>
                  <a:srgbClr val="0B3970"/>
                </a:solidFill>
              </a:rPr>
              <a:t>void</a:t>
            </a:r>
            <a:r>
              <a:t>&gt;.delayed(</a:t>
            </a:r>
          </a:p>
          <a:p xmlns:a="http://schemas.openxmlformats.org/drawingml/2006/main">
            <a:pPr>
              <a:spcAft>
                <a:spcPts val="0"/>
              </a:spcAft>
              <a:defRPr sz="2100">
                <a:solidFill>
                  <a:srgbClr val="172D43"/>
                </a:solidFill>
                <a:latin typeface="DejaVu Sans Mono"/>
                <a:ea typeface="DejaVu Sans Mono"/>
                <a:cs typeface="DejaVu Sans Mono"/>
              </a:defRPr>
            </a:pPr>
            <a:r>
              <a:t>    </a:t>
            </a:r>
            <a:r>
              <a:rPr b="1">
                <a:solidFill>
                  <a:srgbClr val="0B3970"/>
                </a:solidFill>
              </a:rPr>
              <a:t>const</a:t>
            </a:r>
            <a:r>
              <a:t> Duration(milliseconds: 600),</a:t>
            </a:r>
          </a:p>
          <a:p xmlns:a="http://schemas.openxmlformats.org/drawingml/2006/main">
            <a:pPr>
              <a:spcAft>
                <a:spcPts val="0"/>
              </a:spcAft>
              <a:defRPr sz="2100">
                <a:solidFill>
                  <a:srgbClr val="172D43"/>
                </a:solidFill>
                <a:latin typeface="DejaVu Sans Mono"/>
                <a:ea typeface="DejaVu Sans Mono"/>
                <a:cs typeface="DejaVu Sans Mono"/>
              </a:defRPr>
            </a:pPr>
            <a:r>
              <a:t>  );</a:t>
            </a:r>
          </a:p>
          <a:p xmlns:a="http://schemas.openxmlformats.org/drawingml/2006/main">
            <a:pPr>
              <a:spcAft>
                <a:spcPts val="0"/>
              </a:spcAft>
              <a:defRPr sz="2100">
                <a:solidFill>
                  <a:srgbClr val="172D43"/>
                </a:solidFill>
                <a:latin typeface="DejaVu Sans Mono"/>
                <a:ea typeface="DejaVu Sans Mono"/>
                <a:cs typeface="DejaVu Sans Mono"/>
              </a:defRPr>
            </a:pPr>
            <a:r>
              <a:t>  </a:t>
            </a:r>
            <a:r>
              <a:rPr b="1">
                <a:solidFill>
                  <a:srgbClr val="0B3970"/>
                </a:solidFill>
              </a:rPr>
              <a:t>return</a:t>
            </a:r>
            <a:r>
              <a:t> seed();</a:t>
            </a:r>
          </a:p>
          <a:p xmlns:a="http://schemas.openxmlformats.org/drawingml/2006/main">
            <a:pPr>
              <a:spcAft>
                <a:spcPts val="0"/>
              </a:spcAft>
              <a:defRPr sz="2100">
                <a:solidFill>
                  <a:srgbClr val="172D43"/>
                </a:solidFill>
                <a:latin typeface="DejaVu Sans Mono"/>
                <a:ea typeface="DejaVu Sans Mono"/>
                <a:cs typeface="DejaVu Sans Mono"/>
              </a:defRPr>
            </a:pPr>
            <a:r>
              <a:t>}</a:t>
            </a:r>
          </a:p>
          <a:p xmlns:a="http://schemas.openxmlformats.org/drawingml/2006/main">
            <a:pPr>
              <a:spcAft>
                <a:spcPts val="0"/>
              </a:spcAft>
              <a:defRPr sz="2100">
                <a:solidFill>
                  <a:srgbClr val="172D43"/>
                </a:solidFill>
                <a:latin typeface="DejaVu Sans Mono"/>
                <a:ea typeface="DejaVu Sans Mono"/>
                <a:cs typeface="DejaVu Sans Mono"/>
              </a:defRPr>
            </a:pPr>
            <a:r>
              <a:t> </a:t>
            </a:r>
          </a:p>
          <a:p xmlns:a="http://schemas.openxmlformats.org/drawingml/2006/main">
            <a:pPr>
              <a:spcAft>
                <a:spcPts val="0"/>
              </a:spcAft>
              <a:defRPr sz="2100">
                <a:solidFill>
                  <a:srgbClr val="172D43"/>
                </a:solidFill>
                <a:latin typeface="DejaVu Sans Mono"/>
                <a:ea typeface="DejaVu Sans Mono"/>
                <a:cs typeface="DejaVu Sans Mono"/>
              </a:defRPr>
            </a:pPr>
            <a:r>
              <a:rPr b="1">
                <a:solidFill>
                  <a:srgbClr val="0B3970"/>
                </a:solidFill>
              </a:rPr>
              <a:t>final</a:t>
            </a:r>
            <a:r>
              <a:t> result = </a:t>
            </a:r>
            <a:r>
              <a:rPr b="1">
                <a:solidFill>
                  <a:srgbClr val="0B3970"/>
                </a:solidFill>
              </a:rPr>
              <a:t>await</a:t>
            </a:r>
            <a:r>
              <a:t> loadDemoItems();</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4e0edc3aa1b94d83"/>
          <a:srcRect xmlns:a="http://schemas.openxmlformats.org/drawingml/2006/main" l="4250" t="6738" r="4125" b="3546"/>
          <a:stretch xmlns:a="http://schemas.openxmlformats.org/drawingml/2006/main"/>
        </p:blipFill>
        <p:spPr>
          <a:xfrm xmlns:a="http://schemas.openxmlformats.org/drawingml/2006/main">
            <a:off x="9344025" y="219075"/>
            <a:ext cx="1428750" cy="495300"/>
          </a:xfrm>
          <a:prstGeom xmlns:a="http://schemas.openxmlformats.org/drawingml/2006/main" prst="rect">
            <a:avLst/>
          </a:prstGeom>
        </p:spPr>
      </p:pic>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a546fb27550047ba"/>
          <a:srcRect xmlns:a="http://schemas.openxmlformats.org/drawingml/2006/main" l="32813" t="23779" r="32813" b="23779"/>
          <a:stretch xmlns:a="http://schemas.openxmlformats.org/drawingml/2006/main"/>
        </p:blipFill>
        <p:spPr>
          <a:xfrm xmlns:a="http://schemas.openxmlformats.org/drawingml/2006/main">
            <a:off x="11163300" y="161925"/>
            <a:ext cx="371475" cy="571500"/>
          </a:xfrm>
          <a:prstGeom xmlns:a="http://schemas.openxmlformats.org/drawingml/2006/main" prst="rect">
            <a:avLst/>
          </a:prstGeom>
        </p:spPr>
      </p:pic>
    </p:spTree>
    <p:extLst>
      <p:ext uri="{BB962C8B-B14F-4D97-AF65-F5344CB8AC3E}">
        <p14:creationId xmlns:p14="http://schemas.microsoft.com/office/powerpoint/2010/main" val="1393142206"/>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0-48">
            <a:extLst xmlns:a="http://schemas.openxmlformats.org/drawingml/2006/main">
              <a:ext uri="{FF2B5EF4-FFF2-40B4-BE49-F238E27FC236}">
                <a16:creationId xmlns:a16="http://schemas.microsoft.com/office/drawing/2014/main" id="{470E4E3D-A785-4437-A08B-69125CFF56F1}"/>
              </a:ext>
            </a:extLst>
          </p:cNvPr>
          <p:cNvSpPr>
            <a:spLocks xmlns:a="http://schemas.openxmlformats.org/drawingml/2006/main" noGrp="1"/>
          </p:cNvSpPr>
          <p:nvPr/>
        </p:nvSpPr>
        <p:spPr>
          <a:xfrm xmlns:a="http://schemas.openxmlformats.org/drawingml/2006/main">
            <a:off x="609600" y="8953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0000"/>
              </a:lnSpc>
              <a:buNone/>
              <a:defRPr sz="3300" b="1">
                <a:solidFill>
                  <a:srgbClr val="0B3970"/>
                </a:solidFill>
                <a:latin typeface="Nimbus Sans"/>
                <a:ea typeface="Nimbus Sans"/>
                <a:cs typeface="Nimbus Sans"/>
              </a:defRPr>
            </a:pPr>
            <a:r>
              <a:rPr sz="3300" b="1">
                <a:solidFill>
                  <a:srgbClr val="0B3970"/>
                </a:solidFill>
                <a:latin typeface="Nimbus Sans"/>
                <a:ea typeface="Nimbus Sans"/>
                <a:cs typeface="Nimbus Sans"/>
              </a:rPr>
              <a:t>Praktik 1 model dan data lokal</a:t>
            </a:r>
          </a:p>
        </p:txBody>
      </p:sp>
      <p:sp>
        <p:nvSpPr>
          <p:cNvPr id="2" name="text-1-674">
            <a:extLst xmlns:a="http://schemas.openxmlformats.org/drawingml/2006/main">
              <a:ext uri="{FF2B5EF4-FFF2-40B4-BE49-F238E27FC236}">
                <a16:creationId xmlns:a16="http://schemas.microsoft.com/office/drawing/2014/main" id="{6D9B38D7-3F34-4994-AA30-68DFB2DE8026}"/>
              </a:ext>
            </a:extLst>
          </p:cNvPr>
          <p:cNvSpPr>
            <a:spLocks xmlns:a="http://schemas.openxmlformats.org/drawingml/2006/main" noGrp="1"/>
          </p:cNvSpPr>
          <p:nvPr/>
        </p:nvSpPr>
        <p:spPr>
          <a:xfrm xmlns:a="http://schemas.openxmlformats.org/drawingml/2006/main">
            <a:off x="609600" y="6448425"/>
            <a:ext cx="714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125" b="0">
                <a:solidFill>
                  <a:srgbClr val="5E7182"/>
                </a:solidFill>
                <a:latin typeface="Nimbus Sans"/>
                <a:ea typeface="Nimbus Sans"/>
                <a:cs typeface="Nimbus Sans"/>
              </a:defRPr>
            </a:pPr>
            <a:r>
              <a:rPr sz="1125" b="0">
                <a:solidFill>
                  <a:srgbClr val="5E7182"/>
                </a:solidFill>
                <a:latin typeface="Nimbus Sans"/>
                <a:ea typeface="Nimbus Sans"/>
                <a:cs typeface="Nimbus Sans"/>
              </a:rPr>
              <a:t>Training Flutter Android   /   Hari 1</a:t>
            </a:r>
          </a:p>
        </p:txBody>
      </p:sp>
      <p:sp>
        <p:nvSpPr>
          <p:cNvPr id="3" name="text-2-674">
            <a:extLst xmlns:a="http://schemas.openxmlformats.org/drawingml/2006/main">
              <a:ext uri="{FF2B5EF4-FFF2-40B4-BE49-F238E27FC236}">
                <a16:creationId xmlns:a16="http://schemas.microsoft.com/office/drawing/2014/main" id="{C503BB66-5534-419E-9A4D-4897311133FA}"/>
              </a:ext>
            </a:extLst>
          </p:cNvPr>
          <p:cNvSpPr>
            <a:spLocks xmlns:a="http://schemas.openxmlformats.org/drawingml/2006/main" noGrp="1"/>
          </p:cNvSpPr>
          <p:nvPr/>
        </p:nvSpPr>
        <p:spPr>
          <a:xfrm xmlns:a="http://schemas.openxmlformats.org/drawingml/2006/main">
            <a:off x="10668000" y="6448425"/>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125" b="0">
                <a:solidFill>
                  <a:srgbClr val="5E7182"/>
                </a:solidFill>
                <a:latin typeface="Nimbus Sans"/>
                <a:ea typeface="Nimbus Sans"/>
                <a:cs typeface="Nimbus Sans"/>
              </a:defRPr>
            </a:pPr>
            <a:r>
              <a:rPr sz="1125" b="0">
                <a:solidFill>
                  <a:srgbClr val="5E7182"/>
                </a:solidFill>
                <a:latin typeface="Nimbus Sans"/>
                <a:ea typeface="Nimbus Sans"/>
                <a:cs typeface="Nimbus Sans"/>
              </a:rPr>
              <a:t>13 / 44</a:t>
            </a:r>
          </a:p>
        </p:txBody>
      </p:sp>
      <p:sp>
        <p:nvSpPr>
          <p:cNvPr id="4" name="text-3-174">
            <a:extLst xmlns:a="http://schemas.openxmlformats.org/drawingml/2006/main">
              <a:ext uri="{FF2B5EF4-FFF2-40B4-BE49-F238E27FC236}">
                <a16:creationId xmlns:a16="http://schemas.microsoft.com/office/drawing/2014/main" id="{FE58B540-0CA8-4EBE-ADD6-747D1C904843}"/>
              </a:ext>
            </a:extLst>
          </p:cNvPr>
          <p:cNvSpPr>
            <a:spLocks xmlns:a="http://schemas.openxmlformats.org/drawingml/2006/main" noGrp="1"/>
          </p:cNvSpPr>
          <p:nvPr/>
        </p:nvSpPr>
        <p:spPr>
          <a:xfrm xmlns:a="http://schemas.openxmlformats.org/drawingml/2006/main">
            <a:off x="609600" y="185737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2400" b="1">
                <a:solidFill>
                  <a:srgbClr val="007DB7"/>
                </a:solidFill>
                <a:latin typeface="Nimbus Sans"/>
                <a:ea typeface="Nimbus Sans"/>
                <a:cs typeface="Nimbus Sans"/>
              </a:defRPr>
            </a:pPr>
            <a:r>
              <a:rPr sz="2400" b="1">
                <a:solidFill>
                  <a:srgbClr val="007DB7"/>
                </a:solidFill>
                <a:latin typeface="Nimbus Sans"/>
                <a:ea typeface="Nimbus Sans"/>
                <a:cs typeface="Nimbus Sans"/>
              </a:rPr>
              <a:t>Model dan tiga record dummy siap dipakai UI</a:t>
            </a:r>
          </a:p>
        </p:txBody>
      </p:sp>
      <p:sp>
        <p:nvSpPr>
          <p:cNvPr id="5" name="text-4-292">
            <a:extLst xmlns:a="http://schemas.openxmlformats.org/drawingml/2006/main">
              <a:ext uri="{FF2B5EF4-FFF2-40B4-BE49-F238E27FC236}">
                <a16:creationId xmlns:a16="http://schemas.microsoft.com/office/drawing/2014/main" id="{9F8B0CE8-A17C-4276-B4AD-7DB0D18DD9A4}"/>
              </a:ext>
            </a:extLst>
          </p:cNvPr>
          <p:cNvSpPr>
            <a:spLocks xmlns:a="http://schemas.openxmlformats.org/drawingml/2006/main" noGrp="1"/>
          </p:cNvSpPr>
          <p:nvPr/>
        </p:nvSpPr>
        <p:spPr>
          <a:xfrm xmlns:a="http://schemas.openxmlformats.org/drawingml/2006/main">
            <a:off x="609600" y="2809875"/>
            <a:ext cx="10572750"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14300">
              <a:spcAft>
                <a:spcPts val="1800"/>
              </a:spcAft>
              <a:buChar char="•"/>
              <a:defRPr sz="2175">
                <a:solidFill>
                  <a:srgbClr val="172D43"/>
                </a:solidFill>
                <a:latin typeface="Nimbus Sans"/>
                <a:ea typeface="Nimbus Sans"/>
                <a:cs typeface="Nimbus Sans"/>
              </a:defRPr>
            </a:pPr>
            <a:r>
              <a:rPr sz="2175">
                <a:solidFill>
                  <a:srgbClr val="172D43"/>
                </a:solidFill>
                <a:latin typeface="Nimbus Sans"/>
                <a:ea typeface="Nimbus Sans"/>
                <a:cs typeface="Nimbus Sans"/>
              </a:rPr>
              <a:t>Jalankan starter pada Android dan catat versi SDK</a:t>
            </a:r>
          </a:p>
          <a:p xmlns:a="http://schemas.openxmlformats.org/drawingml/2006/main">
            <a:pPr marL="228600" indent="-114300">
              <a:spcAft>
                <a:spcPts val="1800"/>
              </a:spcAft>
              <a:buChar char="•"/>
              <a:defRPr sz="2175">
                <a:solidFill>
                  <a:srgbClr val="172D43"/>
                </a:solidFill>
                <a:latin typeface="Nimbus Sans"/>
                <a:ea typeface="Nimbus Sans"/>
                <a:cs typeface="Nimbus Sans"/>
              </a:defRPr>
            </a:pPr>
            <a:r>
              <a:rPr sz="2175">
                <a:solidFill>
                  <a:srgbClr val="172D43"/>
                </a:solidFill>
                <a:latin typeface="Nimbus Sans"/>
                <a:ea typeface="Nimbus Sans"/>
                <a:cs typeface="Nimbus Sans"/>
              </a:rPr>
              <a:t>Buat tiga Inspection dengan kondisi berbeda</a:t>
            </a:r>
          </a:p>
          <a:p xmlns:a="http://schemas.openxmlformats.org/drawingml/2006/main">
            <a:pPr marL="228600" indent="-114300">
              <a:spcAft>
                <a:spcPts val="1800"/>
              </a:spcAft>
              <a:buChar char="•"/>
              <a:defRPr sz="2175">
                <a:solidFill>
                  <a:srgbClr val="172D43"/>
                </a:solidFill>
                <a:latin typeface="Nimbus Sans"/>
                <a:ea typeface="Nimbus Sans"/>
                <a:cs typeface="Nimbus Sans"/>
              </a:defRPr>
            </a:pPr>
            <a:r>
              <a:rPr sz="2175">
                <a:solidFill>
                  <a:srgbClr val="172D43"/>
                </a:solidFill>
                <a:latin typeface="Nimbus Sans"/>
                <a:ea typeface="Nimbus Sans"/>
                <a:cs typeface="Nimbus Sans"/>
              </a:rPr>
              <a:t>Hitung record needs_action dengan where</a:t>
            </a:r>
          </a:p>
          <a:p xmlns:a="http://schemas.openxmlformats.org/drawingml/2006/main">
            <a:pPr marL="228600" indent="-114300">
              <a:spcAft>
                <a:spcPts val="1800"/>
              </a:spcAft>
              <a:buChar char="•"/>
              <a:defRPr sz="2175">
                <a:solidFill>
                  <a:srgbClr val="172D43"/>
                </a:solidFill>
                <a:latin typeface="Nimbus Sans"/>
                <a:ea typeface="Nimbus Sans"/>
                <a:cs typeface="Nimbus Sans"/>
              </a:defRPr>
            </a:pPr>
            <a:r>
              <a:rPr sz="2175">
                <a:solidFill>
                  <a:srgbClr val="172D43"/>
                </a:solidFill>
                <a:latin typeface="Nimbus Sans"/>
                <a:ea typeface="Nimbus Sans"/>
                <a:cs typeface="Nimbus Sans"/>
              </a:rPr>
              <a:t>Buat fungsi Future yang mengembalikan daftar</a:t>
            </a:r>
          </a:p>
        </p:txBody>
      </p:sp>
      <p:sp>
        <p:nvSpPr>
          <p:cNvPr id="6" name="text-5-604">
            <a:extLst xmlns:a="http://schemas.openxmlformats.org/drawingml/2006/main">
              <a:ext uri="{FF2B5EF4-FFF2-40B4-BE49-F238E27FC236}">
                <a16:creationId xmlns:a16="http://schemas.microsoft.com/office/drawing/2014/main" id="{C0277A24-95BD-474A-9522-D1C4069A9461}"/>
              </a:ext>
            </a:extLst>
          </p:cNvPr>
          <p:cNvSpPr>
            <a:spLocks xmlns:a="http://schemas.openxmlformats.org/drawingml/2006/main" noGrp="1"/>
          </p:cNvSpPr>
          <p:nvPr/>
        </p:nvSpPr>
        <p:spPr>
          <a:xfrm xmlns:a="http://schemas.openxmlformats.org/drawingml/2006/main">
            <a:off x="609600" y="5810250"/>
            <a:ext cx="171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650" b="1">
                <a:solidFill>
                  <a:srgbClr val="0B3970"/>
                </a:solidFill>
                <a:latin typeface="Nimbus Sans"/>
                <a:ea typeface="Nimbus Sans"/>
                <a:cs typeface="Nimbus Sans"/>
              </a:defRPr>
            </a:pPr>
            <a:r>
              <a:rPr sz="1650" b="1">
                <a:solidFill>
                  <a:srgbClr val="0B3970"/>
                </a:solidFill>
                <a:latin typeface="Nimbus Sans"/>
                <a:ea typeface="Nimbus Sans"/>
                <a:cs typeface="Nimbus Sans"/>
              </a:rPr>
              <a:t>Bukti hasil</a:t>
            </a:r>
          </a:p>
        </p:txBody>
      </p:sp>
      <p:sp>
        <p:nvSpPr>
          <p:cNvPr id="7" name="text-6-604">
            <a:extLst xmlns:a="http://schemas.openxmlformats.org/drawingml/2006/main">
              <a:ext uri="{FF2B5EF4-FFF2-40B4-BE49-F238E27FC236}">
                <a16:creationId xmlns:a16="http://schemas.microsoft.com/office/drawing/2014/main" id="{A2F1F1A3-2C4F-4840-AEFE-349B51D9B648}"/>
              </a:ext>
            </a:extLst>
          </p:cNvPr>
          <p:cNvSpPr>
            <a:spLocks xmlns:a="http://schemas.openxmlformats.org/drawingml/2006/main" noGrp="1"/>
          </p:cNvSpPr>
          <p:nvPr/>
        </p:nvSpPr>
        <p:spPr>
          <a:xfrm xmlns:a="http://schemas.openxmlformats.org/drawingml/2006/main">
            <a:off x="2419350" y="5810250"/>
            <a:ext cx="91630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725" b="0">
                <a:solidFill>
                  <a:srgbClr val="5E7182"/>
                </a:solidFill>
                <a:latin typeface="Nimbus Sans"/>
                <a:ea typeface="Nimbus Sans"/>
                <a:cs typeface="Nimbus Sans"/>
              </a:defRPr>
            </a:pPr>
            <a:r>
              <a:rPr sz="1725" b="0">
                <a:solidFill>
                  <a:srgbClr val="5E7182"/>
                </a:solidFill>
                <a:latin typeface="Nimbus Sans"/>
                <a:ea typeface="Nimbus Sans"/>
                <a:cs typeface="Nimbus Sans"/>
              </a:rPr>
              <a:t>App berjalan, model bertipe, dan hasil filter benar</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28c0611f850b41af"/>
          <a:srcRect xmlns:a="http://schemas.openxmlformats.org/drawingml/2006/main" l="4250" t="6738" r="4125" b="3546"/>
          <a:stretch xmlns:a="http://schemas.openxmlformats.org/drawingml/2006/main"/>
        </p:blipFill>
        <p:spPr>
          <a:xfrm xmlns:a="http://schemas.openxmlformats.org/drawingml/2006/main">
            <a:off x="9344025" y="219075"/>
            <a:ext cx="1428750" cy="495300"/>
          </a:xfrm>
          <a:prstGeom xmlns:a="http://schemas.openxmlformats.org/drawingml/2006/main" prst="rect">
            <a:avLst/>
          </a:prstGeom>
        </p:spPr>
      </p:pic>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b3353b612861445c"/>
          <a:srcRect xmlns:a="http://schemas.openxmlformats.org/drawingml/2006/main" l="32813" t="23779" r="32813" b="23779"/>
          <a:stretch xmlns:a="http://schemas.openxmlformats.org/drawingml/2006/main"/>
        </p:blipFill>
        <p:spPr>
          <a:xfrm xmlns:a="http://schemas.openxmlformats.org/drawingml/2006/main">
            <a:off x="11163300" y="161925"/>
            <a:ext cx="371475" cy="571500"/>
          </a:xfrm>
          <a:prstGeom xmlns:a="http://schemas.openxmlformats.org/drawingml/2006/main" prst="rect">
            <a:avLst/>
          </a:prstGeom>
        </p:spPr>
      </p:pic>
    </p:spTree>
    <p:extLst>
      <p:ext uri="{BB962C8B-B14F-4D97-AF65-F5344CB8AC3E}">
        <p14:creationId xmlns:p14="http://schemas.microsoft.com/office/powerpoint/2010/main" val="427066558"/>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48">
            <a:extLst xmlns:a="http://schemas.openxmlformats.org/drawingml/2006/main">
              <a:ext uri="{FF2B5EF4-FFF2-40B4-BE49-F238E27FC236}">
                <a16:creationId xmlns:a16="http://schemas.microsoft.com/office/drawing/2014/main" id="{5AC81374-2AEA-4481-A0D4-DF428D12EDB4}"/>
              </a:ext>
            </a:extLst>
          </p:cNvPr>
          <p:cNvSpPr>
            <a:spLocks xmlns:a="http://schemas.openxmlformats.org/drawingml/2006/main" noGrp="1"/>
          </p:cNvSpPr>
          <p:nvPr/>
        </p:nvSpPr>
        <p:spPr>
          <a:xfrm xmlns:a="http://schemas.openxmlformats.org/drawingml/2006/main">
            <a:off x="609600" y="8953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0000"/>
              </a:lnSpc>
              <a:buNone/>
              <a:defRPr sz="3300" b="1">
                <a:solidFill>
                  <a:srgbClr val="0B3970"/>
                </a:solidFill>
                <a:latin typeface="Nimbus Sans"/>
                <a:ea typeface="Nimbus Sans"/>
                <a:cs typeface="Nimbus Sans"/>
              </a:defRPr>
            </a:pPr>
            <a:r>
              <a:rPr sz="3300" b="1">
                <a:solidFill>
                  <a:srgbClr val="0B3970"/>
                </a:solidFill>
                <a:latin typeface="Nimbus Sans"/>
                <a:ea typeface="Nimbus Sans"/>
                <a:cs typeface="Nimbus Sans"/>
              </a:rPr>
              <a:t>Widget tree pada layar daftar</a:t>
            </a:r>
          </a:p>
        </p:txBody>
      </p:sp>
      <p:sp>
        <p:nvSpPr>
          <p:cNvPr id="2" name="text-1-674">
            <a:extLst xmlns:a="http://schemas.openxmlformats.org/drawingml/2006/main">
              <a:ext uri="{FF2B5EF4-FFF2-40B4-BE49-F238E27FC236}">
                <a16:creationId xmlns:a16="http://schemas.microsoft.com/office/drawing/2014/main" id="{9225A693-BB84-453D-A5BA-B9124FE787B9}"/>
              </a:ext>
            </a:extLst>
          </p:cNvPr>
          <p:cNvSpPr>
            <a:spLocks xmlns:a="http://schemas.openxmlformats.org/drawingml/2006/main" noGrp="1"/>
          </p:cNvSpPr>
          <p:nvPr/>
        </p:nvSpPr>
        <p:spPr>
          <a:xfrm xmlns:a="http://schemas.openxmlformats.org/drawingml/2006/main">
            <a:off x="609600" y="6448425"/>
            <a:ext cx="714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125" b="0">
                <a:solidFill>
                  <a:srgbClr val="5E7182"/>
                </a:solidFill>
                <a:latin typeface="Nimbus Sans"/>
                <a:ea typeface="Nimbus Sans"/>
                <a:cs typeface="Nimbus Sans"/>
              </a:defRPr>
            </a:pPr>
            <a:r>
              <a:rPr sz="1125" b="0">
                <a:solidFill>
                  <a:srgbClr val="5E7182"/>
                </a:solidFill>
                <a:latin typeface="Nimbus Sans"/>
                <a:ea typeface="Nimbus Sans"/>
                <a:cs typeface="Nimbus Sans"/>
              </a:rPr>
              <a:t>Training Flutter Android   /   Hari 1</a:t>
            </a:r>
          </a:p>
        </p:txBody>
      </p:sp>
      <p:sp>
        <p:nvSpPr>
          <p:cNvPr id="3" name="text-2-674">
            <a:extLst xmlns:a="http://schemas.openxmlformats.org/drawingml/2006/main">
              <a:ext uri="{FF2B5EF4-FFF2-40B4-BE49-F238E27FC236}">
                <a16:creationId xmlns:a16="http://schemas.microsoft.com/office/drawing/2014/main" id="{68BF7E54-D6D3-48A4-9301-BE4CB384AA43}"/>
              </a:ext>
            </a:extLst>
          </p:cNvPr>
          <p:cNvSpPr>
            <a:spLocks xmlns:a="http://schemas.openxmlformats.org/drawingml/2006/main" noGrp="1"/>
          </p:cNvSpPr>
          <p:nvPr/>
        </p:nvSpPr>
        <p:spPr>
          <a:xfrm xmlns:a="http://schemas.openxmlformats.org/drawingml/2006/main">
            <a:off x="10668000" y="6448425"/>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125" b="0">
                <a:solidFill>
                  <a:srgbClr val="5E7182"/>
                </a:solidFill>
                <a:latin typeface="Nimbus Sans"/>
                <a:ea typeface="Nimbus Sans"/>
                <a:cs typeface="Nimbus Sans"/>
              </a:defRPr>
            </a:pPr>
            <a:r>
              <a:rPr sz="1125" b="0">
                <a:solidFill>
                  <a:srgbClr val="5E7182"/>
                </a:solidFill>
                <a:latin typeface="Nimbus Sans"/>
                <a:ea typeface="Nimbus Sans"/>
                <a:cs typeface="Nimbus Sans"/>
              </a:rPr>
              <a:t>14 / 44</a:t>
            </a:r>
          </a:p>
        </p:txBody>
      </p:sp>
      <p:sp>
        <p:nvSpPr>
          <p:cNvPr id="4" name="">
            <a:extLst xmlns:a="http://schemas.openxmlformats.org/drawingml/2006/main">
              <a:ext uri="{FF2B5EF4-FFF2-40B4-BE49-F238E27FC236}">
                <a16:creationId xmlns:a16="http://schemas.microsoft.com/office/drawing/2014/main" id="{0E1B9C39-A9E9-43D2-B721-C41B0E076EF1}"/>
              </a:ext>
            </a:extLst>
          </p:cNvPr>
          <p:cNvSpPr>
            <a:spLocks xmlns:a="http://schemas.openxmlformats.org/drawingml/2006/main" noGrp="1"/>
          </p:cNvSpPr>
          <p:nvPr/>
        </p:nvSpPr>
        <p:spPr>
          <a:xfrm xmlns:a="http://schemas.openxmlformats.org/drawingml/2006/main">
            <a:off x="6000750" y="2286000"/>
            <a:ext cx="9525" cy="285750"/>
          </a:xfrm>
          <a:prstGeom xmlns:a="http://schemas.openxmlformats.org/drawingml/2006/main" prst="line">
            <a:avLst/>
          </a:prstGeom>
          <a:solidFill xmlns:a="http://schemas.openxmlformats.org/drawingml/2006/main">
            <a:srgbClr val="007DB7"/>
          </a:solidFill>
          <a:ln xmlns:a="http://schemas.openxmlformats.org/drawingml/2006/main" w="14288">
            <a:solidFill>
              <a:srgbClr val="007DB7"/>
            </a:solidFill>
          </a:ln>
        </p:spPr>
      </p:sp>
      <p:sp>
        <p:nvSpPr>
          <p:cNvPr id="5" name="">
            <a:extLst xmlns:a="http://schemas.openxmlformats.org/drawingml/2006/main">
              <a:ext uri="{FF2B5EF4-FFF2-40B4-BE49-F238E27FC236}">
                <a16:creationId xmlns:a16="http://schemas.microsoft.com/office/drawing/2014/main" id="{6BBC04C5-2038-414A-8C18-A26F8EE36228}"/>
              </a:ext>
            </a:extLst>
          </p:cNvPr>
          <p:cNvSpPr>
            <a:spLocks xmlns:a="http://schemas.openxmlformats.org/drawingml/2006/main" noGrp="1"/>
          </p:cNvSpPr>
          <p:nvPr/>
        </p:nvSpPr>
        <p:spPr>
          <a:xfrm xmlns:a="http://schemas.openxmlformats.org/drawingml/2006/main">
            <a:off x="3000375" y="2571750"/>
            <a:ext cx="4762500" cy="9525"/>
          </a:xfrm>
          <a:prstGeom xmlns:a="http://schemas.openxmlformats.org/drawingml/2006/main" prst="line">
            <a:avLst/>
          </a:prstGeom>
          <a:solidFill xmlns:a="http://schemas.openxmlformats.org/drawingml/2006/main">
            <a:srgbClr val="007DB7"/>
          </a:solidFill>
          <a:ln xmlns:a="http://schemas.openxmlformats.org/drawingml/2006/main" w="14288">
            <a:solidFill>
              <a:srgbClr val="007DB7"/>
            </a:solidFill>
          </a:ln>
        </p:spPr>
      </p:sp>
      <p:sp>
        <p:nvSpPr>
          <p:cNvPr id="6" name="">
            <a:extLst xmlns:a="http://schemas.openxmlformats.org/drawingml/2006/main">
              <a:ext uri="{FF2B5EF4-FFF2-40B4-BE49-F238E27FC236}">
                <a16:creationId xmlns:a16="http://schemas.microsoft.com/office/drawing/2014/main" id="{6D0F2B46-A082-42DE-9F30-8E7BC361B09E}"/>
              </a:ext>
            </a:extLst>
          </p:cNvPr>
          <p:cNvSpPr>
            <a:spLocks xmlns:a="http://schemas.openxmlformats.org/drawingml/2006/main" noGrp="1"/>
          </p:cNvSpPr>
          <p:nvPr/>
        </p:nvSpPr>
        <p:spPr>
          <a:xfrm xmlns:a="http://schemas.openxmlformats.org/drawingml/2006/main">
            <a:off x="3000375" y="2571750"/>
            <a:ext cx="9525" cy="285750"/>
          </a:xfrm>
          <a:prstGeom xmlns:a="http://schemas.openxmlformats.org/drawingml/2006/main" prst="line">
            <a:avLst/>
          </a:prstGeom>
          <a:solidFill xmlns:a="http://schemas.openxmlformats.org/drawingml/2006/main">
            <a:srgbClr val="007DB7"/>
          </a:solidFill>
          <a:ln xmlns:a="http://schemas.openxmlformats.org/drawingml/2006/main" w="14288">
            <a:solidFill>
              <a:srgbClr val="007DB7"/>
            </a:solidFill>
          </a:ln>
        </p:spPr>
      </p:sp>
      <p:sp>
        <p:nvSpPr>
          <p:cNvPr id="7" name="">
            <a:extLst xmlns:a="http://schemas.openxmlformats.org/drawingml/2006/main">
              <a:ext uri="{FF2B5EF4-FFF2-40B4-BE49-F238E27FC236}">
                <a16:creationId xmlns:a16="http://schemas.microsoft.com/office/drawing/2014/main" id="{955ED01B-33D5-4141-B80F-5FCF39410FB5}"/>
              </a:ext>
            </a:extLst>
          </p:cNvPr>
          <p:cNvSpPr>
            <a:spLocks xmlns:a="http://schemas.openxmlformats.org/drawingml/2006/main" noGrp="1"/>
          </p:cNvSpPr>
          <p:nvPr/>
        </p:nvSpPr>
        <p:spPr>
          <a:xfrm xmlns:a="http://schemas.openxmlformats.org/drawingml/2006/main">
            <a:off x="7762875" y="2571750"/>
            <a:ext cx="9525" cy="285750"/>
          </a:xfrm>
          <a:prstGeom xmlns:a="http://schemas.openxmlformats.org/drawingml/2006/main" prst="line">
            <a:avLst/>
          </a:prstGeom>
          <a:solidFill xmlns:a="http://schemas.openxmlformats.org/drawingml/2006/main">
            <a:srgbClr val="007DB7"/>
          </a:solidFill>
          <a:ln xmlns:a="http://schemas.openxmlformats.org/drawingml/2006/main" w="14288">
            <a:solidFill>
              <a:srgbClr val="007DB7"/>
            </a:solidFill>
          </a:ln>
        </p:spPr>
      </p:sp>
      <p:sp>
        <p:nvSpPr>
          <p:cNvPr id="8" name="">
            <a:extLst xmlns:a="http://schemas.openxmlformats.org/drawingml/2006/main">
              <a:ext uri="{FF2B5EF4-FFF2-40B4-BE49-F238E27FC236}">
                <a16:creationId xmlns:a16="http://schemas.microsoft.com/office/drawing/2014/main" id="{D1048ADD-1459-46A0-9BEE-6734F76118EC}"/>
              </a:ext>
            </a:extLst>
          </p:cNvPr>
          <p:cNvSpPr>
            <a:spLocks xmlns:a="http://schemas.openxmlformats.org/drawingml/2006/main" noGrp="1"/>
          </p:cNvSpPr>
          <p:nvPr/>
        </p:nvSpPr>
        <p:spPr>
          <a:xfrm xmlns:a="http://schemas.openxmlformats.org/drawingml/2006/main">
            <a:off x="7762875" y="3429000"/>
            <a:ext cx="9525" cy="476250"/>
          </a:xfrm>
          <a:prstGeom xmlns:a="http://schemas.openxmlformats.org/drawingml/2006/main" prst="line">
            <a:avLst/>
          </a:prstGeom>
          <a:solidFill xmlns:a="http://schemas.openxmlformats.org/drawingml/2006/main">
            <a:srgbClr val="007DB7"/>
          </a:solidFill>
          <a:ln xmlns:a="http://schemas.openxmlformats.org/drawingml/2006/main" w="14288">
            <a:solidFill>
              <a:srgbClr val="007DB7"/>
            </a:solidFill>
          </a:ln>
        </p:spPr>
      </p:sp>
      <p:sp>
        <p:nvSpPr>
          <p:cNvPr id="9" name="">
            <a:extLst xmlns:a="http://schemas.openxmlformats.org/drawingml/2006/main">
              <a:ext uri="{FF2B5EF4-FFF2-40B4-BE49-F238E27FC236}">
                <a16:creationId xmlns:a16="http://schemas.microsoft.com/office/drawing/2014/main" id="{AE645E9F-58C3-459A-8D8D-D10998F4BDCD}"/>
              </a:ext>
            </a:extLst>
          </p:cNvPr>
          <p:cNvSpPr>
            <a:spLocks xmlns:a="http://schemas.openxmlformats.org/drawingml/2006/main" noGrp="1"/>
          </p:cNvSpPr>
          <p:nvPr/>
        </p:nvSpPr>
        <p:spPr>
          <a:xfrm xmlns:a="http://schemas.openxmlformats.org/drawingml/2006/main">
            <a:off x="7762875" y="4476750"/>
            <a:ext cx="9525" cy="381000"/>
          </a:xfrm>
          <a:prstGeom xmlns:a="http://schemas.openxmlformats.org/drawingml/2006/main" prst="line">
            <a:avLst/>
          </a:prstGeom>
          <a:solidFill xmlns:a="http://schemas.openxmlformats.org/drawingml/2006/main">
            <a:srgbClr val="007DB7"/>
          </a:solidFill>
          <a:ln xmlns:a="http://schemas.openxmlformats.org/drawingml/2006/main" w="14288">
            <a:solidFill>
              <a:srgbClr val="007DB7"/>
            </a:solidFill>
          </a:ln>
        </p:spPr>
      </p:sp>
      <p:sp>
        <p:nvSpPr>
          <p:cNvPr id="10" name="">
            <a:extLst xmlns:a="http://schemas.openxmlformats.org/drawingml/2006/main">
              <a:ext uri="{FF2B5EF4-FFF2-40B4-BE49-F238E27FC236}">
                <a16:creationId xmlns:a16="http://schemas.microsoft.com/office/drawing/2014/main" id="{738470C3-25F5-49CB-9CAD-EC2DCA34DCA5}"/>
              </a:ext>
            </a:extLst>
          </p:cNvPr>
          <p:cNvSpPr>
            <a:spLocks xmlns:a="http://schemas.openxmlformats.org/drawingml/2006/main" noGrp="1"/>
          </p:cNvSpPr>
          <p:nvPr/>
        </p:nvSpPr>
        <p:spPr>
          <a:xfrm xmlns:a="http://schemas.openxmlformats.org/drawingml/2006/main">
            <a:off x="5857875" y="4857750"/>
            <a:ext cx="3952875" cy="9525"/>
          </a:xfrm>
          <a:prstGeom xmlns:a="http://schemas.openxmlformats.org/drawingml/2006/main" prst="line">
            <a:avLst/>
          </a:prstGeom>
          <a:solidFill xmlns:a="http://schemas.openxmlformats.org/drawingml/2006/main">
            <a:srgbClr val="007DB7"/>
          </a:solidFill>
          <a:ln xmlns:a="http://schemas.openxmlformats.org/drawingml/2006/main" w="14288">
            <a:solidFill>
              <a:srgbClr val="007DB7"/>
            </a:solidFill>
          </a:ln>
        </p:spPr>
      </p:sp>
      <p:sp>
        <p:nvSpPr>
          <p:cNvPr id="11" name="">
            <a:extLst xmlns:a="http://schemas.openxmlformats.org/drawingml/2006/main">
              <a:ext uri="{FF2B5EF4-FFF2-40B4-BE49-F238E27FC236}">
                <a16:creationId xmlns:a16="http://schemas.microsoft.com/office/drawing/2014/main" id="{E0D64D10-C26B-4BA9-949B-3AC4AE022C23}"/>
              </a:ext>
            </a:extLst>
          </p:cNvPr>
          <p:cNvSpPr>
            <a:spLocks xmlns:a="http://schemas.openxmlformats.org/drawingml/2006/main" noGrp="1"/>
          </p:cNvSpPr>
          <p:nvPr/>
        </p:nvSpPr>
        <p:spPr>
          <a:xfrm xmlns:a="http://schemas.openxmlformats.org/drawingml/2006/main">
            <a:off x="5857875" y="4857750"/>
            <a:ext cx="9525" cy="285750"/>
          </a:xfrm>
          <a:prstGeom xmlns:a="http://schemas.openxmlformats.org/drawingml/2006/main" prst="line">
            <a:avLst/>
          </a:prstGeom>
          <a:solidFill xmlns:a="http://schemas.openxmlformats.org/drawingml/2006/main">
            <a:srgbClr val="007DB7"/>
          </a:solidFill>
          <a:ln xmlns:a="http://schemas.openxmlformats.org/drawingml/2006/main" w="14288">
            <a:solidFill>
              <a:srgbClr val="007DB7"/>
            </a:solidFill>
          </a:ln>
        </p:spPr>
      </p:sp>
      <p:sp>
        <p:nvSpPr>
          <p:cNvPr id="12" name="">
            <a:extLst xmlns:a="http://schemas.openxmlformats.org/drawingml/2006/main">
              <a:ext uri="{FF2B5EF4-FFF2-40B4-BE49-F238E27FC236}">
                <a16:creationId xmlns:a16="http://schemas.microsoft.com/office/drawing/2014/main" id="{1560E1FF-B14E-49A5-9E36-DE5581CC8696}"/>
              </a:ext>
            </a:extLst>
          </p:cNvPr>
          <p:cNvSpPr>
            <a:spLocks xmlns:a="http://schemas.openxmlformats.org/drawingml/2006/main" noGrp="1"/>
          </p:cNvSpPr>
          <p:nvPr/>
        </p:nvSpPr>
        <p:spPr>
          <a:xfrm xmlns:a="http://schemas.openxmlformats.org/drawingml/2006/main">
            <a:off x="9810750" y="4857750"/>
            <a:ext cx="9525" cy="285750"/>
          </a:xfrm>
          <a:prstGeom xmlns:a="http://schemas.openxmlformats.org/drawingml/2006/main" prst="line">
            <a:avLst/>
          </a:prstGeom>
          <a:solidFill xmlns:a="http://schemas.openxmlformats.org/drawingml/2006/main">
            <a:srgbClr val="007DB7"/>
          </a:solidFill>
          <a:ln xmlns:a="http://schemas.openxmlformats.org/drawingml/2006/main" w="14288">
            <a:solidFill>
              <a:srgbClr val="007DB7"/>
            </a:solidFill>
          </a:ln>
        </p:spPr>
      </p:sp>
      <p:sp>
        <p:nvSpPr>
          <p:cNvPr id="13" name="text-12-180">
            <a:extLst xmlns:a="http://schemas.openxmlformats.org/drawingml/2006/main">
              <a:ext uri="{FF2B5EF4-FFF2-40B4-BE49-F238E27FC236}">
                <a16:creationId xmlns:a16="http://schemas.microsoft.com/office/drawing/2014/main" id="{5C660819-A642-4AF8-97CE-04B2FDCCE4CF}"/>
              </a:ext>
            </a:extLst>
          </p:cNvPr>
          <p:cNvSpPr>
            <a:spLocks xmlns:a="http://schemas.openxmlformats.org/drawingml/2006/main" noGrp="1"/>
          </p:cNvSpPr>
          <p:nvPr/>
        </p:nvSpPr>
        <p:spPr>
          <a:xfrm xmlns:a="http://schemas.openxmlformats.org/drawingml/2006/main">
            <a:off x="4572000" y="1714500"/>
            <a:ext cx="285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12000"/>
              </a:lnSpc>
              <a:buNone/>
              <a:defRPr sz="2100" b="1">
                <a:solidFill>
                  <a:srgbClr val="007DB7"/>
                </a:solidFill>
                <a:latin typeface="Nimbus Sans"/>
                <a:ea typeface="Nimbus Sans"/>
                <a:cs typeface="Nimbus Sans"/>
              </a:defRPr>
            </a:pPr>
            <a:r>
              <a:rPr sz="2100" b="1">
                <a:solidFill>
                  <a:srgbClr val="007DB7"/>
                </a:solidFill>
                <a:latin typeface="Nimbus Sans"/>
                <a:ea typeface="Nimbus Sans"/>
                <a:cs typeface="Nimbus Sans"/>
              </a:rPr>
              <a:t>Scaffold</a:t>
            </a:r>
          </a:p>
        </p:txBody>
      </p:sp>
      <p:sp>
        <p:nvSpPr>
          <p:cNvPr id="14" name="text-13-300">
            <a:extLst xmlns:a="http://schemas.openxmlformats.org/drawingml/2006/main">
              <a:ext uri="{FF2B5EF4-FFF2-40B4-BE49-F238E27FC236}">
                <a16:creationId xmlns:a16="http://schemas.microsoft.com/office/drawing/2014/main" id="{6B5087CC-B121-493D-967A-70DB7A74C626}"/>
              </a:ext>
            </a:extLst>
          </p:cNvPr>
          <p:cNvSpPr>
            <a:spLocks xmlns:a="http://schemas.openxmlformats.org/drawingml/2006/main" noGrp="1"/>
          </p:cNvSpPr>
          <p:nvPr/>
        </p:nvSpPr>
        <p:spPr>
          <a:xfrm xmlns:a="http://schemas.openxmlformats.org/drawingml/2006/main">
            <a:off x="1714500" y="2857500"/>
            <a:ext cx="2571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12000"/>
              </a:lnSpc>
              <a:buNone/>
              <a:defRPr sz="2100" b="1">
                <a:solidFill>
                  <a:srgbClr val="007DB7"/>
                </a:solidFill>
                <a:latin typeface="Nimbus Sans"/>
                <a:ea typeface="Nimbus Sans"/>
                <a:cs typeface="Nimbus Sans"/>
              </a:defRPr>
            </a:pPr>
            <a:r>
              <a:rPr sz="2100" b="1">
                <a:solidFill>
                  <a:srgbClr val="007DB7"/>
                </a:solidFill>
                <a:latin typeface="Nimbus Sans"/>
                <a:ea typeface="Nimbus Sans"/>
                <a:cs typeface="Nimbus Sans"/>
              </a:rPr>
              <a:t>AppBar</a:t>
            </a:r>
          </a:p>
        </p:txBody>
      </p:sp>
      <p:sp>
        <p:nvSpPr>
          <p:cNvPr id="15" name="text-14-300">
            <a:extLst xmlns:a="http://schemas.openxmlformats.org/drawingml/2006/main">
              <a:ext uri="{FF2B5EF4-FFF2-40B4-BE49-F238E27FC236}">
                <a16:creationId xmlns:a16="http://schemas.microsoft.com/office/drawing/2014/main" id="{E2388AFA-F1CD-446B-876D-6E5E2918DE88}"/>
              </a:ext>
            </a:extLst>
          </p:cNvPr>
          <p:cNvSpPr>
            <a:spLocks xmlns:a="http://schemas.openxmlformats.org/drawingml/2006/main" noGrp="1"/>
          </p:cNvSpPr>
          <p:nvPr/>
        </p:nvSpPr>
        <p:spPr>
          <a:xfrm xmlns:a="http://schemas.openxmlformats.org/drawingml/2006/main">
            <a:off x="6477000" y="2857500"/>
            <a:ext cx="2571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12000"/>
              </a:lnSpc>
              <a:buNone/>
              <a:defRPr sz="2100" b="1">
                <a:solidFill>
                  <a:srgbClr val="007DB7"/>
                </a:solidFill>
                <a:latin typeface="Nimbus Sans"/>
                <a:ea typeface="Nimbus Sans"/>
                <a:cs typeface="Nimbus Sans"/>
              </a:defRPr>
            </a:pPr>
            <a:r>
              <a:rPr sz="2100" b="1">
                <a:solidFill>
                  <a:srgbClr val="007DB7"/>
                </a:solidFill>
                <a:latin typeface="Nimbus Sans"/>
                <a:ea typeface="Nimbus Sans"/>
                <a:cs typeface="Nimbus Sans"/>
              </a:rPr>
              <a:t>Body</a:t>
            </a:r>
          </a:p>
        </p:txBody>
      </p:sp>
      <p:sp>
        <p:nvSpPr>
          <p:cNvPr id="16" name="text-15-410">
            <a:extLst xmlns:a="http://schemas.openxmlformats.org/drawingml/2006/main">
              <a:ext uri="{FF2B5EF4-FFF2-40B4-BE49-F238E27FC236}">
                <a16:creationId xmlns:a16="http://schemas.microsoft.com/office/drawing/2014/main" id="{30E0436D-71EC-4601-83FD-BD9CC3881236}"/>
              </a:ext>
            </a:extLst>
          </p:cNvPr>
          <p:cNvSpPr>
            <a:spLocks xmlns:a="http://schemas.openxmlformats.org/drawingml/2006/main" noGrp="1"/>
          </p:cNvSpPr>
          <p:nvPr/>
        </p:nvSpPr>
        <p:spPr>
          <a:xfrm xmlns:a="http://schemas.openxmlformats.org/drawingml/2006/main">
            <a:off x="6477000" y="3905250"/>
            <a:ext cx="2571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12000"/>
              </a:lnSpc>
              <a:buNone/>
              <a:defRPr sz="2100" b="1">
                <a:solidFill>
                  <a:srgbClr val="007DB7"/>
                </a:solidFill>
                <a:latin typeface="Nimbus Sans"/>
                <a:ea typeface="Nimbus Sans"/>
                <a:cs typeface="Nimbus Sans"/>
              </a:defRPr>
            </a:pPr>
            <a:r>
              <a:rPr sz="2100" b="1">
                <a:solidFill>
                  <a:srgbClr val="007DB7"/>
                </a:solidFill>
                <a:latin typeface="Nimbus Sans"/>
                <a:ea typeface="Nimbus Sans"/>
                <a:cs typeface="Nimbus Sans"/>
              </a:rPr>
              <a:t>Column</a:t>
            </a:r>
          </a:p>
        </p:txBody>
      </p:sp>
      <p:sp>
        <p:nvSpPr>
          <p:cNvPr id="17" name="text-16-540">
            <a:extLst xmlns:a="http://schemas.openxmlformats.org/drawingml/2006/main">
              <a:ext uri="{FF2B5EF4-FFF2-40B4-BE49-F238E27FC236}">
                <a16:creationId xmlns:a16="http://schemas.microsoft.com/office/drawing/2014/main" id="{3DCB450E-EDE2-430D-B127-B7CFF7F773F5}"/>
              </a:ext>
            </a:extLst>
          </p:cNvPr>
          <p:cNvSpPr>
            <a:spLocks xmlns:a="http://schemas.openxmlformats.org/drawingml/2006/main" noGrp="1"/>
          </p:cNvSpPr>
          <p:nvPr/>
        </p:nvSpPr>
        <p:spPr>
          <a:xfrm xmlns:a="http://schemas.openxmlformats.org/drawingml/2006/main">
            <a:off x="4572000" y="5143500"/>
            <a:ext cx="2571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12000"/>
              </a:lnSpc>
              <a:buNone/>
              <a:defRPr sz="2100" b="1">
                <a:solidFill>
                  <a:srgbClr val="007DB7"/>
                </a:solidFill>
                <a:latin typeface="Nimbus Sans"/>
                <a:ea typeface="Nimbus Sans"/>
                <a:cs typeface="Nimbus Sans"/>
              </a:defRPr>
            </a:pPr>
            <a:r>
              <a:rPr sz="2100" b="1">
                <a:solidFill>
                  <a:srgbClr val="007DB7"/>
                </a:solidFill>
                <a:latin typeface="Nimbus Sans"/>
                <a:ea typeface="Nimbus Sans"/>
                <a:cs typeface="Nimbus Sans"/>
              </a:rPr>
              <a:t>Text</a:t>
            </a:r>
          </a:p>
        </p:txBody>
      </p:sp>
      <p:sp>
        <p:nvSpPr>
          <p:cNvPr id="18" name="text-17-540">
            <a:extLst xmlns:a="http://schemas.openxmlformats.org/drawingml/2006/main">
              <a:ext uri="{FF2B5EF4-FFF2-40B4-BE49-F238E27FC236}">
                <a16:creationId xmlns:a16="http://schemas.microsoft.com/office/drawing/2014/main" id="{7EF70FCC-1EF9-4109-80EA-A7DEE48BF2CF}"/>
              </a:ext>
            </a:extLst>
          </p:cNvPr>
          <p:cNvSpPr>
            <a:spLocks xmlns:a="http://schemas.openxmlformats.org/drawingml/2006/main" noGrp="1"/>
          </p:cNvSpPr>
          <p:nvPr/>
        </p:nvSpPr>
        <p:spPr>
          <a:xfrm xmlns:a="http://schemas.openxmlformats.org/drawingml/2006/main">
            <a:off x="8191500" y="5143500"/>
            <a:ext cx="323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12000"/>
              </a:lnSpc>
              <a:buNone/>
              <a:defRPr sz="2100" b="1">
                <a:solidFill>
                  <a:srgbClr val="007DB7"/>
                </a:solidFill>
                <a:latin typeface="Nimbus Sans"/>
                <a:ea typeface="Nimbus Sans"/>
                <a:cs typeface="Nimbus Sans"/>
              </a:defRPr>
            </a:pPr>
            <a:r>
              <a:rPr sz="2100" b="1">
                <a:solidFill>
                  <a:srgbClr val="007DB7"/>
                </a:solidFill>
                <a:latin typeface="Nimbus Sans"/>
                <a:ea typeface="Nimbus Sans"/>
                <a:cs typeface="Nimbus Sans"/>
              </a:rPr>
              <a:t>Expanded + ListView</a:t>
            </a:r>
          </a:p>
        </p:txBody>
      </p:sp>
      <p:pic>
        <p:nvPicPr>
          <p:cNvPr id="40" name=""/>
          <p:cNvPicPr>
            <a:picLocks xmlns:a="http://schemas.openxmlformats.org/drawingml/2006/main" noChangeAspect="1"/>
          </p:cNvPicPr>
          <p:nvPr/>
        </p:nvPicPr>
        <p:blipFill>
          <a:blip xmlns:r="http://schemas.openxmlformats.org/officeDocument/2006/relationships" xmlns:a="http://schemas.openxmlformats.org/drawingml/2006/main" r:embed="R1598c33380264062"/>
          <a:srcRect xmlns:a="http://schemas.openxmlformats.org/drawingml/2006/main" l="4250" t="6738" r="4125" b="3546"/>
          <a:stretch xmlns:a="http://schemas.openxmlformats.org/drawingml/2006/main"/>
        </p:blipFill>
        <p:spPr>
          <a:xfrm xmlns:a="http://schemas.openxmlformats.org/drawingml/2006/main">
            <a:off x="9344025" y="219075"/>
            <a:ext cx="1428750" cy="495300"/>
          </a:xfrm>
          <a:prstGeom xmlns:a="http://schemas.openxmlformats.org/drawingml/2006/main" prst="rect">
            <a:avLst/>
          </a:prstGeom>
        </p:spPr>
      </p:pic>
      <p:pic>
        <p:nvPicPr>
          <p:cNvPr id="41" name=""/>
          <p:cNvPicPr>
            <a:picLocks xmlns:a="http://schemas.openxmlformats.org/drawingml/2006/main" noChangeAspect="1"/>
          </p:cNvPicPr>
          <p:nvPr/>
        </p:nvPicPr>
        <p:blipFill>
          <a:blip xmlns:r="http://schemas.openxmlformats.org/officeDocument/2006/relationships" xmlns:a="http://schemas.openxmlformats.org/drawingml/2006/main" r:embed="R96ae65fd685f48db"/>
          <a:srcRect xmlns:a="http://schemas.openxmlformats.org/drawingml/2006/main" l="32813" t="23779" r="32813" b="23779"/>
          <a:stretch xmlns:a="http://schemas.openxmlformats.org/drawingml/2006/main"/>
        </p:blipFill>
        <p:spPr>
          <a:xfrm xmlns:a="http://schemas.openxmlformats.org/drawingml/2006/main">
            <a:off x="11163300" y="161925"/>
            <a:ext cx="371475" cy="571500"/>
          </a:xfrm>
          <a:prstGeom xmlns:a="http://schemas.openxmlformats.org/drawingml/2006/main" prst="rect">
            <a:avLst/>
          </a:prstGeom>
        </p:spPr>
      </p:pic>
    </p:spTree>
    <p:extLst>
      <p:ext uri="{BB962C8B-B14F-4D97-AF65-F5344CB8AC3E}">
        <p14:creationId xmlns:p14="http://schemas.microsoft.com/office/powerpoint/2010/main" val="578588367"/>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0-48">
            <a:extLst xmlns:a="http://schemas.openxmlformats.org/drawingml/2006/main">
              <a:ext uri="{FF2B5EF4-FFF2-40B4-BE49-F238E27FC236}">
                <a16:creationId xmlns:a16="http://schemas.microsoft.com/office/drawing/2014/main" id="{ADED3F6C-5FFD-4EEE-AC53-CE8EDB7D4FA5}"/>
              </a:ext>
            </a:extLst>
          </p:cNvPr>
          <p:cNvSpPr>
            <a:spLocks xmlns:a="http://schemas.openxmlformats.org/drawingml/2006/main" noGrp="1"/>
          </p:cNvSpPr>
          <p:nvPr/>
        </p:nvSpPr>
        <p:spPr>
          <a:xfrm xmlns:a="http://schemas.openxmlformats.org/drawingml/2006/main">
            <a:off x="609600" y="8953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0000"/>
              </a:lnSpc>
              <a:buNone/>
              <a:defRPr sz="3300" b="1">
                <a:solidFill>
                  <a:srgbClr val="0B3970"/>
                </a:solidFill>
                <a:latin typeface="Nimbus Sans"/>
                <a:ea typeface="Nimbus Sans"/>
                <a:cs typeface="Nimbus Sans"/>
              </a:defRPr>
            </a:pPr>
            <a:r>
              <a:rPr sz="3300" b="1">
                <a:solidFill>
                  <a:srgbClr val="0B3970"/>
                </a:solidFill>
                <a:latin typeface="Nimbus Sans"/>
                <a:ea typeface="Nimbus Sans"/>
                <a:cs typeface="Nimbus Sans"/>
              </a:rPr>
              <a:t>StatelessWidget dan StatefulWidget</a:t>
            </a:r>
          </a:p>
        </p:txBody>
      </p:sp>
      <p:sp>
        <p:nvSpPr>
          <p:cNvPr id="2" name="text-1-674">
            <a:extLst xmlns:a="http://schemas.openxmlformats.org/drawingml/2006/main">
              <a:ext uri="{FF2B5EF4-FFF2-40B4-BE49-F238E27FC236}">
                <a16:creationId xmlns:a16="http://schemas.microsoft.com/office/drawing/2014/main" id="{592A5C15-114A-43C7-89E0-041742BD9BA0}"/>
              </a:ext>
            </a:extLst>
          </p:cNvPr>
          <p:cNvSpPr>
            <a:spLocks xmlns:a="http://schemas.openxmlformats.org/drawingml/2006/main" noGrp="1"/>
          </p:cNvSpPr>
          <p:nvPr/>
        </p:nvSpPr>
        <p:spPr>
          <a:xfrm xmlns:a="http://schemas.openxmlformats.org/drawingml/2006/main">
            <a:off x="609600" y="6448425"/>
            <a:ext cx="714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125" b="0">
                <a:solidFill>
                  <a:srgbClr val="5E7182"/>
                </a:solidFill>
                <a:latin typeface="Nimbus Sans"/>
                <a:ea typeface="Nimbus Sans"/>
                <a:cs typeface="Nimbus Sans"/>
              </a:defRPr>
            </a:pPr>
            <a:r>
              <a:rPr sz="1125" b="0">
                <a:solidFill>
                  <a:srgbClr val="5E7182"/>
                </a:solidFill>
                <a:latin typeface="Nimbus Sans"/>
                <a:ea typeface="Nimbus Sans"/>
                <a:cs typeface="Nimbus Sans"/>
              </a:rPr>
              <a:t>Training Flutter Android   /   Hari 1</a:t>
            </a:r>
          </a:p>
        </p:txBody>
      </p:sp>
      <p:sp>
        <p:nvSpPr>
          <p:cNvPr id="3" name="text-2-674">
            <a:extLst xmlns:a="http://schemas.openxmlformats.org/drawingml/2006/main">
              <a:ext uri="{FF2B5EF4-FFF2-40B4-BE49-F238E27FC236}">
                <a16:creationId xmlns:a16="http://schemas.microsoft.com/office/drawing/2014/main" id="{E570390A-385A-4D4C-9E28-EFAB3935DBCB}"/>
              </a:ext>
            </a:extLst>
          </p:cNvPr>
          <p:cNvSpPr>
            <a:spLocks xmlns:a="http://schemas.openxmlformats.org/drawingml/2006/main" noGrp="1"/>
          </p:cNvSpPr>
          <p:nvPr/>
        </p:nvSpPr>
        <p:spPr>
          <a:xfrm xmlns:a="http://schemas.openxmlformats.org/drawingml/2006/main">
            <a:off x="10668000" y="6448425"/>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125" b="0">
                <a:solidFill>
                  <a:srgbClr val="5E7182"/>
                </a:solidFill>
                <a:latin typeface="Nimbus Sans"/>
                <a:ea typeface="Nimbus Sans"/>
                <a:cs typeface="Nimbus Sans"/>
              </a:defRPr>
            </a:pPr>
            <a:r>
              <a:rPr sz="1125" b="0">
                <a:solidFill>
                  <a:srgbClr val="5E7182"/>
                </a:solidFill>
                <a:latin typeface="Nimbus Sans"/>
                <a:ea typeface="Nimbus Sans"/>
                <a:cs typeface="Nimbus Sans"/>
              </a:rPr>
              <a:t>15 / 44</a:t>
            </a:r>
          </a:p>
        </p:txBody>
      </p:sp>
      <p:sp>
        <p:nvSpPr>
          <p:cNvPr id="4" name="text-3-180">
            <a:extLst xmlns:a="http://schemas.openxmlformats.org/drawingml/2006/main">
              <a:ext uri="{FF2B5EF4-FFF2-40B4-BE49-F238E27FC236}">
                <a16:creationId xmlns:a16="http://schemas.microsoft.com/office/drawing/2014/main" id="{92F8C273-C034-485C-9626-A6EB57148DFF}"/>
              </a:ext>
            </a:extLst>
          </p:cNvPr>
          <p:cNvSpPr>
            <a:spLocks xmlns:a="http://schemas.openxmlformats.org/drawingml/2006/main" noGrp="1"/>
          </p:cNvSpPr>
          <p:nvPr/>
        </p:nvSpPr>
        <p:spPr>
          <a:xfrm xmlns:a="http://schemas.openxmlformats.org/drawingml/2006/main">
            <a:off x="609600" y="1866900"/>
            <a:ext cx="5048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2175" b="1">
                <a:solidFill>
                  <a:srgbClr val="007DB7"/>
                </a:solidFill>
                <a:latin typeface="Nimbus Sans"/>
                <a:ea typeface="Nimbus Sans"/>
                <a:cs typeface="Nimbus Sans"/>
              </a:defRPr>
            </a:pPr>
            <a:r>
              <a:rPr sz="2175" b="1">
                <a:solidFill>
                  <a:srgbClr val="007DB7"/>
                </a:solidFill>
                <a:latin typeface="Nimbus Sans"/>
                <a:ea typeface="Nimbus Sans"/>
                <a:cs typeface="Nimbus Sans"/>
              </a:rPr>
              <a:t>StatelessWidget</a:t>
            </a:r>
          </a:p>
        </p:txBody>
      </p:sp>
      <p:sp>
        <p:nvSpPr>
          <p:cNvPr id="5" name="text-4-180">
            <a:extLst xmlns:a="http://schemas.openxmlformats.org/drawingml/2006/main">
              <a:ext uri="{FF2B5EF4-FFF2-40B4-BE49-F238E27FC236}">
                <a16:creationId xmlns:a16="http://schemas.microsoft.com/office/drawing/2014/main" id="{88E1F8FD-30B8-451E-99EB-99CAC202FD5D}"/>
              </a:ext>
            </a:extLst>
          </p:cNvPr>
          <p:cNvSpPr>
            <a:spLocks xmlns:a="http://schemas.openxmlformats.org/drawingml/2006/main" noGrp="1"/>
          </p:cNvSpPr>
          <p:nvPr/>
        </p:nvSpPr>
        <p:spPr>
          <a:xfrm xmlns:a="http://schemas.openxmlformats.org/drawingml/2006/main">
            <a:off x="6477000" y="1866900"/>
            <a:ext cx="5105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2175" b="1">
                <a:solidFill>
                  <a:srgbClr val="007DB7"/>
                </a:solidFill>
                <a:latin typeface="Nimbus Sans"/>
                <a:ea typeface="Nimbus Sans"/>
                <a:cs typeface="Nimbus Sans"/>
              </a:defRPr>
            </a:pPr>
            <a:r>
              <a:rPr sz="2175" b="1">
                <a:solidFill>
                  <a:srgbClr val="007DB7"/>
                </a:solidFill>
                <a:latin typeface="Nimbus Sans"/>
                <a:ea typeface="Nimbus Sans"/>
                <a:cs typeface="Nimbus Sans"/>
              </a:rPr>
              <a:t>StatefulWidget</a:t>
            </a:r>
          </a:p>
        </p:txBody>
      </p:sp>
      <p:sp>
        <p:nvSpPr>
          <p:cNvPr id="6" name="text-5-296">
            <a:extLst xmlns:a="http://schemas.openxmlformats.org/drawingml/2006/main">
              <a:ext uri="{FF2B5EF4-FFF2-40B4-BE49-F238E27FC236}">
                <a16:creationId xmlns:a16="http://schemas.microsoft.com/office/drawing/2014/main" id="{88AD64AE-11FF-49A4-B461-FF3298A6E105}"/>
              </a:ext>
            </a:extLst>
          </p:cNvPr>
          <p:cNvSpPr>
            <a:spLocks xmlns:a="http://schemas.openxmlformats.org/drawingml/2006/main" noGrp="1"/>
          </p:cNvSpPr>
          <p:nvPr/>
        </p:nvSpPr>
        <p:spPr>
          <a:xfrm xmlns:a="http://schemas.openxmlformats.org/drawingml/2006/main">
            <a:off x="609600" y="2781300"/>
            <a:ext cx="4953000"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03200" indent="-101600">
              <a:spcAft>
                <a:spcPts val="1300"/>
              </a:spcAft>
              <a:buChar char="•"/>
              <a:defRPr sz="2025">
                <a:solidFill>
                  <a:srgbClr val="172D43"/>
                </a:solidFill>
                <a:latin typeface="Nimbus Sans"/>
                <a:ea typeface="Nimbus Sans"/>
                <a:cs typeface="Nimbus Sans"/>
              </a:defRPr>
            </a:pPr>
            <a:r>
              <a:rPr sz="2025">
                <a:solidFill>
                  <a:srgbClr val="172D43"/>
                </a:solidFill>
                <a:latin typeface="Nimbus Sans"/>
                <a:ea typeface="Nimbus Sans"/>
                <a:cs typeface="Nimbus Sans"/>
              </a:rPr>
              <a:t>Tampilan berasal dari input constructor</a:t>
            </a:r>
          </a:p>
          <a:p xmlns:a="http://schemas.openxmlformats.org/drawingml/2006/main">
            <a:pPr marL="203200" indent="-101600">
              <a:spcAft>
                <a:spcPts val="1300"/>
              </a:spcAft>
              <a:buChar char="•"/>
              <a:defRPr sz="2025">
                <a:solidFill>
                  <a:srgbClr val="172D43"/>
                </a:solidFill>
                <a:latin typeface="Nimbus Sans"/>
                <a:ea typeface="Nimbus Sans"/>
                <a:cs typeface="Nimbus Sans"/>
              </a:defRPr>
            </a:pPr>
            <a:r>
              <a:rPr sz="2025">
                <a:solidFill>
                  <a:srgbClr val="172D43"/>
                </a:solidFill>
                <a:latin typeface="Nimbus Sans"/>
                <a:ea typeface="Nimbus Sans"/>
                <a:cs typeface="Nimbus Sans"/>
              </a:rPr>
              <a:t>Cocok untuk tile atau badge</a:t>
            </a:r>
          </a:p>
          <a:p xmlns:a="http://schemas.openxmlformats.org/drawingml/2006/main">
            <a:pPr marL="203200" indent="-101600">
              <a:spcAft>
                <a:spcPts val="1300"/>
              </a:spcAft>
              <a:buChar char="•"/>
              <a:defRPr sz="2025">
                <a:solidFill>
                  <a:srgbClr val="172D43"/>
                </a:solidFill>
                <a:latin typeface="Nimbus Sans"/>
                <a:ea typeface="Nimbus Sans"/>
                <a:cs typeface="Nimbus Sans"/>
              </a:defRPr>
            </a:pPr>
            <a:r>
              <a:rPr sz="2025">
                <a:solidFill>
                  <a:srgbClr val="172D43"/>
                </a:solidFill>
                <a:latin typeface="Nimbus Sans"/>
                <a:ea typeface="Nimbus Sans"/>
                <a:cs typeface="Nimbus Sans"/>
              </a:rPr>
              <a:t>Perubahan input membangun konfigurasi baru</a:t>
            </a:r>
          </a:p>
        </p:txBody>
      </p:sp>
      <p:sp>
        <p:nvSpPr>
          <p:cNvPr id="7" name="text-6-296">
            <a:extLst xmlns:a="http://schemas.openxmlformats.org/drawingml/2006/main">
              <a:ext uri="{FF2B5EF4-FFF2-40B4-BE49-F238E27FC236}">
                <a16:creationId xmlns:a16="http://schemas.microsoft.com/office/drawing/2014/main" id="{C3083702-CCCA-4780-80FA-29E890C02387}"/>
              </a:ext>
            </a:extLst>
          </p:cNvPr>
          <p:cNvSpPr>
            <a:spLocks xmlns:a="http://schemas.openxmlformats.org/drawingml/2006/main" noGrp="1"/>
          </p:cNvSpPr>
          <p:nvPr/>
        </p:nvSpPr>
        <p:spPr>
          <a:xfrm xmlns:a="http://schemas.openxmlformats.org/drawingml/2006/main">
            <a:off x="6477000" y="2781300"/>
            <a:ext cx="4953000"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03200" indent="-101600">
              <a:spcAft>
                <a:spcPts val="1300"/>
              </a:spcAft>
              <a:buChar char="•"/>
              <a:defRPr sz="2025">
                <a:solidFill>
                  <a:srgbClr val="172D43"/>
                </a:solidFill>
                <a:latin typeface="Nimbus Sans"/>
                <a:ea typeface="Nimbus Sans"/>
                <a:cs typeface="Nimbus Sans"/>
              </a:defRPr>
            </a:pPr>
            <a:r>
              <a:rPr sz="2025">
                <a:solidFill>
                  <a:srgbClr val="172D43"/>
                </a:solidFill>
                <a:latin typeface="Nimbus Sans"/>
                <a:ea typeface="Nimbus Sans"/>
                <a:cs typeface="Nimbus Sans"/>
              </a:rPr>
              <a:t>State berubah sepanjang hidup layar</a:t>
            </a:r>
          </a:p>
          <a:p xmlns:a="http://schemas.openxmlformats.org/drawingml/2006/main">
            <a:pPr marL="203200" indent="-101600">
              <a:spcAft>
                <a:spcPts val="1300"/>
              </a:spcAft>
              <a:buChar char="•"/>
              <a:defRPr sz="2025">
                <a:solidFill>
                  <a:srgbClr val="172D43"/>
                </a:solidFill>
                <a:latin typeface="Nimbus Sans"/>
                <a:ea typeface="Nimbus Sans"/>
                <a:cs typeface="Nimbus Sans"/>
              </a:defRPr>
            </a:pPr>
            <a:r>
              <a:rPr sz="2025">
                <a:solidFill>
                  <a:srgbClr val="172D43"/>
                </a:solidFill>
                <a:latin typeface="Nimbus Sans"/>
                <a:ea typeface="Nimbus Sans"/>
                <a:cs typeface="Nimbus Sans"/>
              </a:rPr>
              <a:t>Memiliki controller atau selection</a:t>
            </a:r>
          </a:p>
          <a:p xmlns:a="http://schemas.openxmlformats.org/drawingml/2006/main">
            <a:pPr marL="203200" indent="-101600">
              <a:spcAft>
                <a:spcPts val="1300"/>
              </a:spcAft>
              <a:buChar char="•"/>
              <a:defRPr sz="2025">
                <a:solidFill>
                  <a:srgbClr val="172D43"/>
                </a:solidFill>
                <a:latin typeface="Nimbus Sans"/>
                <a:ea typeface="Nimbus Sans"/>
                <a:cs typeface="Nimbus Sans"/>
              </a:defRPr>
            </a:pPr>
            <a:r>
              <a:rPr sz="2025">
                <a:solidFill>
                  <a:srgbClr val="172D43"/>
                </a:solidFill>
                <a:latin typeface="Nimbus Sans"/>
                <a:ea typeface="Nimbus Sans"/>
                <a:cs typeface="Nimbus Sans"/>
              </a:rPr>
              <a:t>Mengelola initState dan dispose</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a26d19186ac9487b"/>
          <a:srcRect xmlns:a="http://schemas.openxmlformats.org/drawingml/2006/main" l="4250" t="6738" r="4125" b="3546"/>
          <a:stretch xmlns:a="http://schemas.openxmlformats.org/drawingml/2006/main"/>
        </p:blipFill>
        <p:spPr>
          <a:xfrm xmlns:a="http://schemas.openxmlformats.org/drawingml/2006/main">
            <a:off x="9344025" y="219075"/>
            <a:ext cx="1428750" cy="495300"/>
          </a:xfrm>
          <a:prstGeom xmlns:a="http://schemas.openxmlformats.org/drawingml/2006/main" prst="rect">
            <a:avLst/>
          </a:prstGeom>
        </p:spPr>
      </p:pic>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f7f32b6ae22f4c23"/>
          <a:srcRect xmlns:a="http://schemas.openxmlformats.org/drawingml/2006/main" l="32813" t="23779" r="32813" b="23779"/>
          <a:stretch xmlns:a="http://schemas.openxmlformats.org/drawingml/2006/main"/>
        </p:blipFill>
        <p:spPr>
          <a:xfrm xmlns:a="http://schemas.openxmlformats.org/drawingml/2006/main">
            <a:off x="11163300" y="161925"/>
            <a:ext cx="371475" cy="571500"/>
          </a:xfrm>
          <a:prstGeom xmlns:a="http://schemas.openxmlformats.org/drawingml/2006/main" prst="rect">
            <a:avLst/>
          </a:prstGeom>
        </p:spPr>
      </p:pic>
    </p:spTree>
    <p:extLst>
      <p:ext uri="{BB962C8B-B14F-4D97-AF65-F5344CB8AC3E}">
        <p14:creationId xmlns:p14="http://schemas.microsoft.com/office/powerpoint/2010/main" val="1293723115"/>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ext-0-48">
            <a:extLst xmlns:a="http://schemas.openxmlformats.org/drawingml/2006/main">
              <a:ext uri="{FF2B5EF4-FFF2-40B4-BE49-F238E27FC236}">
                <a16:creationId xmlns:a16="http://schemas.microsoft.com/office/drawing/2014/main" id="{94BAD5B5-6695-4093-9756-01649DBA5712}"/>
              </a:ext>
            </a:extLst>
          </p:cNvPr>
          <p:cNvSpPr>
            <a:spLocks xmlns:a="http://schemas.openxmlformats.org/drawingml/2006/main" noGrp="1"/>
          </p:cNvSpPr>
          <p:nvPr/>
        </p:nvSpPr>
        <p:spPr>
          <a:xfrm xmlns:a="http://schemas.openxmlformats.org/drawingml/2006/main">
            <a:off x="609600" y="8953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0000"/>
              </a:lnSpc>
              <a:buNone/>
              <a:defRPr sz="3300" b="1">
                <a:solidFill>
                  <a:srgbClr val="0B3970"/>
                </a:solidFill>
                <a:latin typeface="Nimbus Sans"/>
                <a:ea typeface="Nimbus Sans"/>
                <a:cs typeface="Nimbus Sans"/>
              </a:defRPr>
            </a:pPr>
            <a:r>
              <a:rPr sz="3300" b="1">
                <a:solidFill>
                  <a:srgbClr val="0B3970"/>
                </a:solidFill>
                <a:latin typeface="Nimbus Sans"/>
                <a:ea typeface="Nimbus Sans"/>
                <a:cs typeface="Nimbus Sans"/>
              </a:rPr>
              <a:t>Scaffold dan struktur layar</a:t>
            </a:r>
          </a:p>
        </p:txBody>
      </p:sp>
      <p:sp>
        <p:nvSpPr>
          <p:cNvPr id="2" name="text-1-674">
            <a:extLst xmlns:a="http://schemas.openxmlformats.org/drawingml/2006/main">
              <a:ext uri="{FF2B5EF4-FFF2-40B4-BE49-F238E27FC236}">
                <a16:creationId xmlns:a16="http://schemas.microsoft.com/office/drawing/2014/main" id="{A732433F-B274-49CE-BEDB-E34F6367F16E}"/>
              </a:ext>
            </a:extLst>
          </p:cNvPr>
          <p:cNvSpPr>
            <a:spLocks xmlns:a="http://schemas.openxmlformats.org/drawingml/2006/main" noGrp="1"/>
          </p:cNvSpPr>
          <p:nvPr/>
        </p:nvSpPr>
        <p:spPr>
          <a:xfrm xmlns:a="http://schemas.openxmlformats.org/drawingml/2006/main">
            <a:off x="609600" y="6448425"/>
            <a:ext cx="714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125" b="0">
                <a:solidFill>
                  <a:srgbClr val="5E7182"/>
                </a:solidFill>
                <a:latin typeface="Nimbus Sans"/>
                <a:ea typeface="Nimbus Sans"/>
                <a:cs typeface="Nimbus Sans"/>
              </a:defRPr>
            </a:pPr>
            <a:r>
              <a:rPr sz="1125" b="0">
                <a:solidFill>
                  <a:srgbClr val="5E7182"/>
                </a:solidFill>
                <a:latin typeface="Nimbus Sans"/>
                <a:ea typeface="Nimbus Sans"/>
                <a:cs typeface="Nimbus Sans"/>
              </a:rPr>
              <a:t>Training Flutter Android   /   Hari 1</a:t>
            </a:r>
          </a:p>
        </p:txBody>
      </p:sp>
      <p:sp>
        <p:nvSpPr>
          <p:cNvPr id="3" name="text-2-674">
            <a:extLst xmlns:a="http://schemas.openxmlformats.org/drawingml/2006/main">
              <a:ext uri="{FF2B5EF4-FFF2-40B4-BE49-F238E27FC236}">
                <a16:creationId xmlns:a16="http://schemas.microsoft.com/office/drawing/2014/main" id="{10DC32E3-46F7-459C-A2E4-462DF457017C}"/>
              </a:ext>
            </a:extLst>
          </p:cNvPr>
          <p:cNvSpPr>
            <a:spLocks xmlns:a="http://schemas.openxmlformats.org/drawingml/2006/main" noGrp="1"/>
          </p:cNvSpPr>
          <p:nvPr/>
        </p:nvSpPr>
        <p:spPr>
          <a:xfrm xmlns:a="http://schemas.openxmlformats.org/drawingml/2006/main">
            <a:off x="10668000" y="6448425"/>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125" b="0">
                <a:solidFill>
                  <a:srgbClr val="5E7182"/>
                </a:solidFill>
                <a:latin typeface="Nimbus Sans"/>
                <a:ea typeface="Nimbus Sans"/>
                <a:cs typeface="Nimbus Sans"/>
              </a:defRPr>
            </a:pPr>
            <a:r>
              <a:rPr sz="1125" b="0">
                <a:solidFill>
                  <a:srgbClr val="5E7182"/>
                </a:solidFill>
                <a:latin typeface="Nimbus Sans"/>
                <a:ea typeface="Nimbus Sans"/>
                <a:cs typeface="Nimbus Sans"/>
              </a:rPr>
              <a:t>16 / 44</a:t>
            </a:r>
          </a:p>
        </p:txBody>
      </p:sp>
      <p:sp>
        <p:nvSpPr>
          <p:cNvPr id="4" name="text-3-193">
            <a:extLst xmlns:a="http://schemas.openxmlformats.org/drawingml/2006/main">
              <a:ext uri="{FF2B5EF4-FFF2-40B4-BE49-F238E27FC236}">
                <a16:creationId xmlns:a16="http://schemas.microsoft.com/office/drawing/2014/main" id="{3691F354-518E-434D-A230-25CA3782C18B}"/>
              </a:ext>
            </a:extLst>
          </p:cNvPr>
          <p:cNvSpPr>
            <a:spLocks xmlns:a="http://schemas.openxmlformats.org/drawingml/2006/main" noGrp="1"/>
          </p:cNvSpPr>
          <p:nvPr/>
        </p:nvSpPr>
        <p:spPr>
          <a:xfrm xmlns:a="http://schemas.openxmlformats.org/drawingml/2006/main">
            <a:off x="609600" y="1819275"/>
            <a:ext cx="10972800" cy="414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spcAft>
                <a:spcPts val="0"/>
              </a:spcAft>
              <a:defRPr sz="1950">
                <a:solidFill>
                  <a:srgbClr val="172D43"/>
                </a:solidFill>
                <a:latin typeface="DejaVu Sans Mono"/>
                <a:ea typeface="DejaVu Sans Mono"/>
                <a:cs typeface="DejaVu Sans Mono"/>
              </a:defRPr>
            </a:pPr>
            <a:r>
              <a:t>Scaffold(</a:t>
            </a:r>
          </a:p>
          <a:p xmlns:a="http://schemas.openxmlformats.org/drawingml/2006/main">
            <a:pPr>
              <a:spcAft>
                <a:spcPts val="0"/>
              </a:spcAft>
              <a:defRPr sz="1950">
                <a:solidFill>
                  <a:srgbClr val="172D43"/>
                </a:solidFill>
                <a:latin typeface="DejaVu Sans Mono"/>
                <a:ea typeface="DejaVu Sans Mono"/>
                <a:cs typeface="DejaVu Sans Mono"/>
              </a:defRPr>
            </a:pPr>
            <a:r>
              <a:t>  appBar: AppBar(</a:t>
            </a:r>
          </a:p>
          <a:p xmlns:a="http://schemas.openxmlformats.org/drawingml/2006/main">
            <a:pPr>
              <a:spcAft>
                <a:spcPts val="0"/>
              </a:spcAft>
              <a:defRPr sz="1950">
                <a:solidFill>
                  <a:srgbClr val="172D43"/>
                </a:solidFill>
                <a:latin typeface="DejaVu Sans Mono"/>
                <a:ea typeface="DejaVu Sans Mono"/>
                <a:cs typeface="DejaVu Sans Mono"/>
              </a:defRPr>
            </a:pPr>
            <a:r>
              <a:t>    title: </a:t>
            </a:r>
            <a:r>
              <a:rPr b="1">
                <a:solidFill>
                  <a:srgbClr val="0B3970"/>
                </a:solidFill>
              </a:rPr>
              <a:t>const</a:t>
            </a:r>
            <a:r>
              <a:t> Text(</a:t>
            </a:r>
            <a:r>
              <a:rPr b="0">
                <a:solidFill>
                  <a:srgbClr val="007DB7"/>
                </a:solidFill>
              </a:rPr>
              <a:t>'Daftar inspeksi'</a:t>
            </a:r>
            <a:r>
              <a:t>),</a:t>
            </a:r>
          </a:p>
          <a:p xmlns:a="http://schemas.openxmlformats.org/drawingml/2006/main">
            <a:pPr>
              <a:spcAft>
                <a:spcPts val="0"/>
              </a:spcAft>
              <a:defRPr sz="1950">
                <a:solidFill>
                  <a:srgbClr val="172D43"/>
                </a:solidFill>
                <a:latin typeface="DejaVu Sans Mono"/>
                <a:ea typeface="DejaVu Sans Mono"/>
                <a:cs typeface="DejaVu Sans Mono"/>
              </a:defRPr>
            </a:pPr>
            <a:r>
              <a:t>  ),</a:t>
            </a:r>
          </a:p>
          <a:p xmlns:a="http://schemas.openxmlformats.org/drawingml/2006/main">
            <a:pPr>
              <a:spcAft>
                <a:spcPts val="0"/>
              </a:spcAft>
              <a:defRPr sz="1950">
                <a:solidFill>
                  <a:srgbClr val="172D43"/>
                </a:solidFill>
                <a:latin typeface="DejaVu Sans Mono"/>
                <a:ea typeface="DejaVu Sans Mono"/>
                <a:cs typeface="DejaVu Sans Mono"/>
              </a:defRPr>
            </a:pPr>
            <a:r>
              <a:t>  body: SafeArea(</a:t>
            </a:r>
          </a:p>
          <a:p xmlns:a="http://schemas.openxmlformats.org/drawingml/2006/main">
            <a:pPr>
              <a:spcAft>
                <a:spcPts val="0"/>
              </a:spcAft>
              <a:defRPr sz="1950">
                <a:solidFill>
                  <a:srgbClr val="172D43"/>
                </a:solidFill>
                <a:latin typeface="DejaVu Sans Mono"/>
                <a:ea typeface="DejaVu Sans Mono"/>
                <a:cs typeface="DejaVu Sans Mono"/>
              </a:defRPr>
            </a:pPr>
            <a:r>
              <a:t>    child: buildBody(),</a:t>
            </a:r>
          </a:p>
          <a:p xmlns:a="http://schemas.openxmlformats.org/drawingml/2006/main">
            <a:pPr>
              <a:spcAft>
                <a:spcPts val="0"/>
              </a:spcAft>
              <a:defRPr sz="1950">
                <a:solidFill>
                  <a:srgbClr val="172D43"/>
                </a:solidFill>
                <a:latin typeface="DejaVu Sans Mono"/>
                <a:ea typeface="DejaVu Sans Mono"/>
                <a:cs typeface="DejaVu Sans Mono"/>
              </a:defRPr>
            </a:pPr>
            <a:r>
              <a:t>  ),</a:t>
            </a:r>
          </a:p>
          <a:p xmlns:a="http://schemas.openxmlformats.org/drawingml/2006/main">
            <a:pPr>
              <a:spcAft>
                <a:spcPts val="0"/>
              </a:spcAft>
              <a:defRPr sz="1950">
                <a:solidFill>
                  <a:srgbClr val="172D43"/>
                </a:solidFill>
                <a:latin typeface="DejaVu Sans Mono"/>
                <a:ea typeface="DejaVu Sans Mono"/>
                <a:cs typeface="DejaVu Sans Mono"/>
              </a:defRPr>
            </a:pPr>
            <a:r>
              <a:t>  floatingActionButton: FloatingActionButton(</a:t>
            </a:r>
          </a:p>
          <a:p xmlns:a="http://schemas.openxmlformats.org/drawingml/2006/main">
            <a:pPr>
              <a:spcAft>
                <a:spcPts val="0"/>
              </a:spcAft>
              <a:defRPr sz="1950">
                <a:solidFill>
                  <a:srgbClr val="172D43"/>
                </a:solidFill>
                <a:latin typeface="DejaVu Sans Mono"/>
                <a:ea typeface="DejaVu Sans Mono"/>
                <a:cs typeface="DejaVu Sans Mono"/>
              </a:defRPr>
            </a:pPr>
            <a:r>
              <a:t>    onPressed: openForm,</a:t>
            </a:r>
          </a:p>
          <a:p xmlns:a="http://schemas.openxmlformats.org/drawingml/2006/main">
            <a:pPr>
              <a:spcAft>
                <a:spcPts val="0"/>
              </a:spcAft>
              <a:defRPr sz="1950">
                <a:solidFill>
                  <a:srgbClr val="172D43"/>
                </a:solidFill>
                <a:latin typeface="DejaVu Sans Mono"/>
                <a:ea typeface="DejaVu Sans Mono"/>
                <a:cs typeface="DejaVu Sans Mono"/>
              </a:defRPr>
            </a:pPr>
            <a:r>
              <a:t>    child: </a:t>
            </a:r>
            <a:r>
              <a:rPr b="1">
                <a:solidFill>
                  <a:srgbClr val="0B3970"/>
                </a:solidFill>
              </a:rPr>
              <a:t>const</a:t>
            </a:r>
            <a:r>
              <a:t> Icon(Icons.add),</a:t>
            </a:r>
          </a:p>
          <a:p xmlns:a="http://schemas.openxmlformats.org/drawingml/2006/main">
            <a:pPr>
              <a:spcAft>
                <a:spcPts val="0"/>
              </a:spcAft>
              <a:defRPr sz="1950">
                <a:solidFill>
                  <a:srgbClr val="172D43"/>
                </a:solidFill>
                <a:latin typeface="DejaVu Sans Mono"/>
                <a:ea typeface="DejaVu Sans Mono"/>
                <a:cs typeface="DejaVu Sans Mono"/>
              </a:defRPr>
            </a:pPr>
            <a:r>
              <a:t>  ),</a:t>
            </a:r>
          </a:p>
          <a:p xmlns:a="http://schemas.openxmlformats.org/drawingml/2006/main">
            <a:pPr>
              <a:spcAft>
                <a:spcPts val="0"/>
              </a:spcAft>
              <a:defRPr sz="1950">
                <a:solidFill>
                  <a:srgbClr val="172D43"/>
                </a:solidFill>
                <a:latin typeface="DejaVu Sans Mono"/>
                <a:ea typeface="DejaVu Sans Mono"/>
                <a:cs typeface="DejaVu Sans Mono"/>
              </a:defRPr>
            </a:pPr>
            <a:r>
              <a:t>)</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cc25ef04f8914259"/>
          <a:srcRect xmlns:a="http://schemas.openxmlformats.org/drawingml/2006/main" l="4250" t="6738" r="4125" b="3546"/>
          <a:stretch xmlns:a="http://schemas.openxmlformats.org/drawingml/2006/main"/>
        </p:blipFill>
        <p:spPr>
          <a:xfrm xmlns:a="http://schemas.openxmlformats.org/drawingml/2006/main">
            <a:off x="9344025" y="219075"/>
            <a:ext cx="1428750" cy="495300"/>
          </a:xfrm>
          <a:prstGeom xmlns:a="http://schemas.openxmlformats.org/drawingml/2006/main" prst="rect">
            <a:avLst/>
          </a:prstGeom>
        </p:spPr>
      </p:pic>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40ff92ed02684e74"/>
          <a:srcRect xmlns:a="http://schemas.openxmlformats.org/drawingml/2006/main" l="32813" t="23779" r="32813" b="23779"/>
          <a:stretch xmlns:a="http://schemas.openxmlformats.org/drawingml/2006/main"/>
        </p:blipFill>
        <p:spPr>
          <a:xfrm xmlns:a="http://schemas.openxmlformats.org/drawingml/2006/main">
            <a:off x="11163300" y="161925"/>
            <a:ext cx="371475" cy="571500"/>
          </a:xfrm>
          <a:prstGeom xmlns:a="http://schemas.openxmlformats.org/drawingml/2006/main" prst="rect">
            <a:avLst/>
          </a:prstGeom>
        </p:spPr>
      </p:pic>
    </p:spTree>
    <p:extLst>
      <p:ext uri="{BB962C8B-B14F-4D97-AF65-F5344CB8AC3E}">
        <p14:creationId xmlns:p14="http://schemas.microsoft.com/office/powerpoint/2010/main" val="123701492"/>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0-48">
            <a:extLst xmlns:a="http://schemas.openxmlformats.org/drawingml/2006/main">
              <a:ext uri="{FF2B5EF4-FFF2-40B4-BE49-F238E27FC236}">
                <a16:creationId xmlns:a16="http://schemas.microsoft.com/office/drawing/2014/main" id="{80CFD250-54C9-4080-86BE-D055E6AF9C21}"/>
              </a:ext>
            </a:extLst>
          </p:cNvPr>
          <p:cNvSpPr>
            <a:spLocks xmlns:a="http://schemas.openxmlformats.org/drawingml/2006/main" noGrp="1"/>
          </p:cNvSpPr>
          <p:nvPr/>
        </p:nvSpPr>
        <p:spPr>
          <a:xfrm xmlns:a="http://schemas.openxmlformats.org/drawingml/2006/main">
            <a:off x="609600" y="8953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0000"/>
              </a:lnSpc>
              <a:buNone/>
              <a:defRPr sz="3300" b="1">
                <a:solidFill>
                  <a:srgbClr val="0B3970"/>
                </a:solidFill>
                <a:latin typeface="Nimbus Sans"/>
                <a:ea typeface="Nimbus Sans"/>
                <a:cs typeface="Nimbus Sans"/>
              </a:defRPr>
            </a:pPr>
            <a:r>
              <a:rPr sz="3300" b="1">
                <a:solidFill>
                  <a:srgbClr val="0B3970"/>
                </a:solidFill>
                <a:latin typeface="Nimbus Sans"/>
                <a:ea typeface="Nimbus Sans"/>
                <a:cs typeface="Nimbus Sans"/>
              </a:rPr>
              <a:t>Constraint dan ukuran widget</a:t>
            </a:r>
          </a:p>
        </p:txBody>
      </p:sp>
      <p:sp>
        <p:nvSpPr>
          <p:cNvPr id="2" name="text-1-674">
            <a:extLst xmlns:a="http://schemas.openxmlformats.org/drawingml/2006/main">
              <a:ext uri="{FF2B5EF4-FFF2-40B4-BE49-F238E27FC236}">
                <a16:creationId xmlns:a16="http://schemas.microsoft.com/office/drawing/2014/main" id="{76620F43-CDE0-494D-8874-46223538B256}"/>
              </a:ext>
            </a:extLst>
          </p:cNvPr>
          <p:cNvSpPr>
            <a:spLocks xmlns:a="http://schemas.openxmlformats.org/drawingml/2006/main" noGrp="1"/>
          </p:cNvSpPr>
          <p:nvPr/>
        </p:nvSpPr>
        <p:spPr>
          <a:xfrm xmlns:a="http://schemas.openxmlformats.org/drawingml/2006/main">
            <a:off x="609600" y="6448425"/>
            <a:ext cx="714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125" b="0">
                <a:solidFill>
                  <a:srgbClr val="5E7182"/>
                </a:solidFill>
                <a:latin typeface="Nimbus Sans"/>
                <a:ea typeface="Nimbus Sans"/>
                <a:cs typeface="Nimbus Sans"/>
              </a:defRPr>
            </a:pPr>
            <a:r>
              <a:rPr sz="1125" b="0">
                <a:solidFill>
                  <a:srgbClr val="5E7182"/>
                </a:solidFill>
                <a:latin typeface="Nimbus Sans"/>
                <a:ea typeface="Nimbus Sans"/>
                <a:cs typeface="Nimbus Sans"/>
              </a:rPr>
              <a:t>Training Flutter Android   /   Hari 1</a:t>
            </a:r>
          </a:p>
        </p:txBody>
      </p:sp>
      <p:sp>
        <p:nvSpPr>
          <p:cNvPr id="3" name="text-2-674">
            <a:extLst xmlns:a="http://schemas.openxmlformats.org/drawingml/2006/main">
              <a:ext uri="{FF2B5EF4-FFF2-40B4-BE49-F238E27FC236}">
                <a16:creationId xmlns:a16="http://schemas.microsoft.com/office/drawing/2014/main" id="{7735D903-15DC-4370-8B67-48F24F3B02BF}"/>
              </a:ext>
            </a:extLst>
          </p:cNvPr>
          <p:cNvSpPr>
            <a:spLocks xmlns:a="http://schemas.openxmlformats.org/drawingml/2006/main" noGrp="1"/>
          </p:cNvSpPr>
          <p:nvPr/>
        </p:nvSpPr>
        <p:spPr>
          <a:xfrm xmlns:a="http://schemas.openxmlformats.org/drawingml/2006/main">
            <a:off x="10668000" y="6448425"/>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125" b="0">
                <a:solidFill>
                  <a:srgbClr val="5E7182"/>
                </a:solidFill>
                <a:latin typeface="Nimbus Sans"/>
                <a:ea typeface="Nimbus Sans"/>
                <a:cs typeface="Nimbus Sans"/>
              </a:defRPr>
            </a:pPr>
            <a:r>
              <a:rPr sz="1125" b="0">
                <a:solidFill>
                  <a:srgbClr val="5E7182"/>
                </a:solidFill>
                <a:latin typeface="Nimbus Sans"/>
                <a:ea typeface="Nimbus Sans"/>
                <a:cs typeface="Nimbus Sans"/>
              </a:rPr>
              <a:t>17 / 44</a:t>
            </a:r>
          </a:p>
        </p:txBody>
      </p:sp>
      <p:graphicFrame>
        <p:nvGraphicFramePr>
          <p:cNvPr id="13" name=""/>
          <p:cNvGraphicFramePr/>
          <p:nvPr/>
        </p:nvGraphicFramePr>
        <p:xfrm>
          <a:off xmlns:a="http://schemas.openxmlformats.org/drawingml/2006/main" x="609600" y="1657350"/>
          <a:ext xmlns:a="http://schemas.openxmlformats.org/drawingml/2006/main" cx="10972800" cy="4114800"/>
        </p:xfrm>
        <a:graphic xmlns:a="http://schemas.openxmlformats.org/drawingml/2006/main">
          <a:graphicData uri="http://schemas.openxmlformats.org/drawingml/2006/table">
            <a:tbl>
              <a:tblPr/>
              <a:tblGrid>
                <a:gridCol w="2194560"/>
                <a:gridCol w="4389120"/>
                <a:gridCol w="4389120"/>
              </a:tblGrid>
              <a:tr h="1028700">
                <a:tc>
                  <a:txBody>
                    <a:bodyPr lIns="114300" tIns="95250" rIns="114300" bIns="95250">
                      <a:noAutofit/>
                    </a:bodyPr>
                    <a:lstStyle/>
                    <a:p>
                      <a:r>
                        <a:rPr sz="1800" b="1">
                          <a:solidFill>
                            <a:srgbClr val="FFFFFF"/>
                          </a:solidFill>
                          <a:latin typeface="Nimbus Sans"/>
                          <a:ea typeface="Nimbus Sans"/>
                          <a:cs typeface="Nimbus Sans"/>
                        </a:rPr>
                        <a:t>Tahap</a:t>
                      </a:r>
                    </a:p>
                  </a:txBody>
                  <a:tcPr marL="91440" marR="91440" marT="45720" marB="45720" anchor="ctr">
                    <a:solidFill>
                      <a:srgbClr val="0B3970"/>
                    </a:solidFill>
                  </a:tcPr>
                </a:tc>
                <a:tc>
                  <a:txBody>
                    <a:bodyPr lIns="114300" tIns="95250" rIns="114300" bIns="95250">
                      <a:noAutofit/>
                    </a:bodyPr>
                    <a:lstStyle/>
                    <a:p>
                      <a:r>
                        <a:rPr sz="1800" b="1">
                          <a:solidFill>
                            <a:srgbClr val="FFFFFF"/>
                          </a:solidFill>
                          <a:latin typeface="Nimbus Sans"/>
                          <a:ea typeface="Nimbus Sans"/>
                          <a:cs typeface="Nimbus Sans"/>
                        </a:rPr>
                        <a:t>Tanggung jawab</a:t>
                      </a:r>
                    </a:p>
                  </a:txBody>
                  <a:tcPr marL="91440" marR="91440" marT="45720" marB="45720" anchor="ctr">
                    <a:solidFill>
                      <a:srgbClr val="0B3970"/>
                    </a:solidFill>
                  </a:tcPr>
                </a:tc>
                <a:tc>
                  <a:txBody>
                    <a:bodyPr lIns="114300" tIns="95250" rIns="114300" bIns="95250">
                      <a:noAutofit/>
                    </a:bodyPr>
                    <a:lstStyle/>
                    <a:p>
                      <a:r>
                        <a:rPr sz="1800" b="1">
                          <a:solidFill>
                            <a:srgbClr val="FFFFFF"/>
                          </a:solidFill>
                          <a:latin typeface="Nimbus Sans"/>
                          <a:ea typeface="Nimbus Sans"/>
                          <a:cs typeface="Nimbus Sans"/>
                        </a:rPr>
                        <a:t>Contoh latihan</a:t>
                      </a:r>
                    </a:p>
                  </a:txBody>
                  <a:tcPr marL="91440" marR="91440" marT="45720" marB="45720" anchor="ctr">
                    <a:solidFill>
                      <a:srgbClr val="0B3970"/>
                    </a:solidFill>
                  </a:tcPr>
                </a:tc>
              </a:tr>
              <a:tr h="1028700">
                <a:tc>
                  <a:txBody>
                    <a:bodyPr lIns="114300" tIns="95250" rIns="114300" bIns="95250">
                      <a:noAutofit/>
                    </a:bodyPr>
                    <a:lstStyle/>
                    <a:p>
                      <a:r>
                        <a:rPr sz="1725" b="0">
                          <a:solidFill>
                            <a:srgbClr val="172D43"/>
                          </a:solidFill>
                          <a:latin typeface="Nimbus Sans"/>
                          <a:ea typeface="Nimbus Sans"/>
                          <a:cs typeface="Nimbus Sans"/>
                        </a:rPr>
                        <a:t>Parent</a:t>
                      </a:r>
                    </a:p>
                  </a:txBody>
                  <a:tcPr marL="91440" marR="91440" marT="45720" marB="45720" anchor="ctr">
                    <a:solidFill>
                      <a:srgbClr val="FFFFFF"/>
                    </a:solidFill>
                  </a:tcPr>
                </a:tc>
                <a:tc>
                  <a:txBody>
                    <a:bodyPr lIns="114300" tIns="95250" rIns="114300" bIns="95250">
                      <a:noAutofit/>
                    </a:bodyPr>
                    <a:lstStyle/>
                    <a:p>
                      <a:r>
                        <a:rPr sz="1725" b="0">
                          <a:solidFill>
                            <a:srgbClr val="172D43"/>
                          </a:solidFill>
                          <a:latin typeface="Nimbus Sans"/>
                          <a:ea typeface="Nimbus Sans"/>
                          <a:cs typeface="Nimbus Sans"/>
                        </a:rPr>
                        <a:t>Memberi batas min dan max</a:t>
                      </a:r>
                    </a:p>
                  </a:txBody>
                  <a:tcPr marL="91440" marR="91440" marT="45720" marB="45720" anchor="ctr">
                    <a:solidFill>
                      <a:srgbClr val="FFFFFF"/>
                    </a:solidFill>
                  </a:tcPr>
                </a:tc>
                <a:tc>
                  <a:txBody>
                    <a:bodyPr lIns="114300" tIns="95250" rIns="114300" bIns="95250">
                      <a:noAutofit/>
                    </a:bodyPr>
                    <a:lstStyle/>
                    <a:p>
                      <a:r>
                        <a:rPr sz="1725" b="0">
                          <a:solidFill>
                            <a:srgbClr val="172D43"/>
                          </a:solidFill>
                          <a:latin typeface="Nimbus Sans"/>
                          <a:ea typeface="Nimbus Sans"/>
                          <a:cs typeface="Nimbus Sans"/>
                        </a:rPr>
                        <a:t>Area body Scaffold</a:t>
                      </a:r>
                    </a:p>
                  </a:txBody>
                  <a:tcPr marL="91440" marR="91440" marT="45720" marB="45720" anchor="ctr">
                    <a:solidFill>
                      <a:srgbClr val="FFFFFF"/>
                    </a:solidFill>
                  </a:tcPr>
                </a:tc>
              </a:tr>
              <a:tr h="1028700">
                <a:tc>
                  <a:txBody>
                    <a:bodyPr lIns="114300" tIns="95250" rIns="114300" bIns="95250">
                      <a:noAutofit/>
                    </a:bodyPr>
                    <a:lstStyle/>
                    <a:p>
                      <a:r>
                        <a:rPr sz="1725" b="0">
                          <a:solidFill>
                            <a:srgbClr val="172D43"/>
                          </a:solidFill>
                          <a:latin typeface="Nimbus Sans"/>
                          <a:ea typeface="Nimbus Sans"/>
                          <a:cs typeface="Nimbus Sans"/>
                        </a:rPr>
                        <a:t>Child</a:t>
                      </a:r>
                    </a:p>
                  </a:txBody>
                  <a:tcPr marL="91440" marR="91440" marT="45720" marB="45720" anchor="ctr">
                    <a:solidFill>
                      <a:srgbClr val="F0F5F9"/>
                    </a:solidFill>
                  </a:tcPr>
                </a:tc>
                <a:tc>
                  <a:txBody>
                    <a:bodyPr lIns="114300" tIns="95250" rIns="114300" bIns="95250">
                      <a:noAutofit/>
                    </a:bodyPr>
                    <a:lstStyle/>
                    <a:p>
                      <a:r>
                        <a:rPr sz="1725" b="0">
                          <a:solidFill>
                            <a:srgbClr val="172D43"/>
                          </a:solidFill>
                          <a:latin typeface="Nimbus Sans"/>
                          <a:ea typeface="Nimbus Sans"/>
                          <a:cs typeface="Nimbus Sans"/>
                        </a:rPr>
                        <a:t>Memilih ukuran dalam batas</a:t>
                      </a:r>
                    </a:p>
                  </a:txBody>
                  <a:tcPr marL="91440" marR="91440" marT="45720" marB="45720" anchor="ctr">
                    <a:solidFill>
                      <a:srgbClr val="F0F5F9"/>
                    </a:solidFill>
                  </a:tcPr>
                </a:tc>
                <a:tc>
                  <a:txBody>
                    <a:bodyPr lIns="114300" tIns="95250" rIns="114300" bIns="95250">
                      <a:noAutofit/>
                    </a:bodyPr>
                    <a:lstStyle/>
                    <a:p>
                      <a:r>
                        <a:rPr sz="1725" b="0">
                          <a:solidFill>
                            <a:srgbClr val="172D43"/>
                          </a:solidFill>
                          <a:latin typeface="Nimbus Sans"/>
                          <a:ea typeface="Nimbus Sans"/>
                          <a:cs typeface="Nimbus Sans"/>
                        </a:rPr>
                        <a:t>ListView mengambil ruang</a:t>
                      </a:r>
                    </a:p>
                  </a:txBody>
                  <a:tcPr marL="91440" marR="91440" marT="45720" marB="45720" anchor="ctr">
                    <a:solidFill>
                      <a:srgbClr val="F0F5F9"/>
                    </a:solidFill>
                  </a:tcPr>
                </a:tc>
              </a:tr>
              <a:tr h="1028700">
                <a:tc>
                  <a:txBody>
                    <a:bodyPr lIns="114300" tIns="95250" rIns="114300" bIns="95250">
                      <a:noAutofit/>
                    </a:bodyPr>
                    <a:lstStyle/>
                    <a:p>
                      <a:r>
                        <a:rPr sz="1725" b="0">
                          <a:solidFill>
                            <a:srgbClr val="172D43"/>
                          </a:solidFill>
                          <a:latin typeface="Nimbus Sans"/>
                          <a:ea typeface="Nimbus Sans"/>
                          <a:cs typeface="Nimbus Sans"/>
                        </a:rPr>
                        <a:t>Parent</a:t>
                      </a:r>
                    </a:p>
                  </a:txBody>
                  <a:tcPr marL="91440" marR="91440" marT="45720" marB="45720" anchor="ctr">
                    <a:solidFill>
                      <a:srgbClr val="FFFFFF"/>
                    </a:solidFill>
                  </a:tcPr>
                </a:tc>
                <a:tc>
                  <a:txBody>
                    <a:bodyPr lIns="114300" tIns="95250" rIns="114300" bIns="95250">
                      <a:noAutofit/>
                    </a:bodyPr>
                    <a:lstStyle/>
                    <a:p>
                      <a:r>
                        <a:rPr sz="1725" b="0">
                          <a:solidFill>
                            <a:srgbClr val="172D43"/>
                          </a:solidFill>
                          <a:latin typeface="Nimbus Sans"/>
                          <a:ea typeface="Nimbus Sans"/>
                          <a:cs typeface="Nimbus Sans"/>
                        </a:rPr>
                        <a:t>Menempatkan child</a:t>
                      </a:r>
                    </a:p>
                  </a:txBody>
                  <a:tcPr marL="91440" marR="91440" marT="45720" marB="45720" anchor="ctr">
                    <a:solidFill>
                      <a:srgbClr val="FFFFFF"/>
                    </a:solidFill>
                  </a:tcPr>
                </a:tc>
                <a:tc>
                  <a:txBody>
                    <a:bodyPr lIns="114300" tIns="95250" rIns="114300" bIns="95250">
                      <a:noAutofit/>
                    </a:bodyPr>
                    <a:lstStyle/>
                    <a:p>
                      <a:r>
                        <a:rPr sz="1725" b="0">
                          <a:solidFill>
                            <a:srgbClr val="172D43"/>
                          </a:solidFill>
                          <a:latin typeface="Nimbus Sans"/>
                          <a:ea typeface="Nimbus Sans"/>
                          <a:cs typeface="Nimbus Sans"/>
                        </a:rPr>
                        <a:t>Column menata vertikal</a:t>
                      </a:r>
                    </a:p>
                  </a:txBody>
                  <a:tcPr marL="91440" marR="91440" marT="45720" marB="45720" anchor="ctr">
                    <a:solidFill>
                      <a:srgbClr val="FFFFFF"/>
                    </a:solidFill>
                  </a:tcPr>
                </a:tc>
              </a:tr>
            </a:tbl>
          </a:graphicData>
        </a:graphic>
      </p:graphicFrame>
      <p:sp>
        <p:nvSpPr>
          <p:cNvPr id="5" name="text-3-618">
            <a:extLst xmlns:a="http://schemas.openxmlformats.org/drawingml/2006/main">
              <a:ext uri="{FF2B5EF4-FFF2-40B4-BE49-F238E27FC236}">
                <a16:creationId xmlns:a16="http://schemas.microsoft.com/office/drawing/2014/main" id="{F068AABA-2CDC-44D4-B197-BE3515A5376A}"/>
              </a:ext>
            </a:extLst>
          </p:cNvPr>
          <p:cNvSpPr>
            <a:spLocks xmlns:a="http://schemas.openxmlformats.org/drawingml/2006/main" noGrp="1"/>
          </p:cNvSpPr>
          <p:nvPr/>
        </p:nvSpPr>
        <p:spPr>
          <a:xfrm xmlns:a="http://schemas.openxmlformats.org/drawingml/2006/main">
            <a:off x="609600" y="58864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800" b="1">
                <a:solidFill>
                  <a:srgbClr val="007DB7"/>
                </a:solidFill>
                <a:latin typeface="Nimbus Sans"/>
                <a:ea typeface="Nimbus Sans"/>
                <a:cs typeface="Nimbus Sans"/>
              </a:defRPr>
            </a:pPr>
            <a:r>
              <a:rPr sz="1800" b="1">
                <a:solidFill>
                  <a:srgbClr val="007DB7"/>
                </a:solidFill>
                <a:latin typeface="Nimbus Sans"/>
                <a:ea typeface="Nimbus Sans"/>
                <a:cs typeface="Nimbus Sans"/>
              </a:rPr>
              <a:t>Perbaikan layout dimulai dari batas ukuran parent</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a47a4242419d46a8"/>
          <a:srcRect xmlns:a="http://schemas.openxmlformats.org/drawingml/2006/main" l="4250" t="6738" r="4125" b="3546"/>
          <a:stretch xmlns:a="http://schemas.openxmlformats.org/drawingml/2006/main"/>
        </p:blipFill>
        <p:spPr>
          <a:xfrm xmlns:a="http://schemas.openxmlformats.org/drawingml/2006/main">
            <a:off x="9344025" y="219075"/>
            <a:ext cx="1428750" cy="495300"/>
          </a:xfrm>
          <a:prstGeom xmlns:a="http://schemas.openxmlformats.org/drawingml/2006/main" prst="rect">
            <a:avLst/>
          </a:prstGeom>
        </p:spPr>
      </p:pic>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26c6fee2faf2420f"/>
          <a:srcRect xmlns:a="http://schemas.openxmlformats.org/drawingml/2006/main" l="32813" t="23779" r="32813" b="23779"/>
          <a:stretch xmlns:a="http://schemas.openxmlformats.org/drawingml/2006/main"/>
        </p:blipFill>
        <p:spPr>
          <a:xfrm xmlns:a="http://schemas.openxmlformats.org/drawingml/2006/main">
            <a:off x="11163300" y="161925"/>
            <a:ext cx="371475" cy="571500"/>
          </a:xfrm>
          <a:prstGeom xmlns:a="http://schemas.openxmlformats.org/drawingml/2006/main" prst="rect">
            <a:avLst/>
          </a:prstGeom>
        </p:spPr>
      </p:pic>
    </p:spTree>
    <p:extLst>
      <p:ext uri="{BB962C8B-B14F-4D97-AF65-F5344CB8AC3E}">
        <p14:creationId xmlns:p14="http://schemas.microsoft.com/office/powerpoint/2010/main" val="1310035294"/>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0-48">
            <a:extLst xmlns:a="http://schemas.openxmlformats.org/drawingml/2006/main">
              <a:ext uri="{FF2B5EF4-FFF2-40B4-BE49-F238E27FC236}">
                <a16:creationId xmlns:a16="http://schemas.microsoft.com/office/drawing/2014/main" id="{8CD1B834-D074-4AF6-A33B-AA4D4565CA5B}"/>
              </a:ext>
            </a:extLst>
          </p:cNvPr>
          <p:cNvSpPr>
            <a:spLocks xmlns:a="http://schemas.openxmlformats.org/drawingml/2006/main" noGrp="1"/>
          </p:cNvSpPr>
          <p:nvPr/>
        </p:nvSpPr>
        <p:spPr>
          <a:xfrm xmlns:a="http://schemas.openxmlformats.org/drawingml/2006/main">
            <a:off x="609600" y="8953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0000"/>
              </a:lnSpc>
              <a:buNone/>
              <a:defRPr sz="3300" b="1">
                <a:solidFill>
                  <a:srgbClr val="0B3970"/>
                </a:solidFill>
                <a:latin typeface="Nimbus Sans"/>
                <a:ea typeface="Nimbus Sans"/>
                <a:cs typeface="Nimbus Sans"/>
              </a:defRPr>
            </a:pPr>
            <a:r>
              <a:rPr sz="3300" b="1">
                <a:solidFill>
                  <a:srgbClr val="0B3970"/>
                </a:solidFill>
                <a:latin typeface="Nimbus Sans"/>
                <a:ea typeface="Nimbus Sans"/>
                <a:cs typeface="Nimbus Sans"/>
              </a:rPr>
              <a:t>Row, Column dan teks panjang</a:t>
            </a:r>
          </a:p>
        </p:txBody>
      </p:sp>
      <p:sp>
        <p:nvSpPr>
          <p:cNvPr id="2" name="text-1-674">
            <a:extLst xmlns:a="http://schemas.openxmlformats.org/drawingml/2006/main">
              <a:ext uri="{FF2B5EF4-FFF2-40B4-BE49-F238E27FC236}">
                <a16:creationId xmlns:a16="http://schemas.microsoft.com/office/drawing/2014/main" id="{7FF633BA-5DC2-4481-B085-42C8BA7B62CD}"/>
              </a:ext>
            </a:extLst>
          </p:cNvPr>
          <p:cNvSpPr>
            <a:spLocks xmlns:a="http://schemas.openxmlformats.org/drawingml/2006/main" noGrp="1"/>
          </p:cNvSpPr>
          <p:nvPr/>
        </p:nvSpPr>
        <p:spPr>
          <a:xfrm xmlns:a="http://schemas.openxmlformats.org/drawingml/2006/main">
            <a:off x="609600" y="6448425"/>
            <a:ext cx="714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125" b="0">
                <a:solidFill>
                  <a:srgbClr val="5E7182"/>
                </a:solidFill>
                <a:latin typeface="Nimbus Sans"/>
                <a:ea typeface="Nimbus Sans"/>
                <a:cs typeface="Nimbus Sans"/>
              </a:defRPr>
            </a:pPr>
            <a:r>
              <a:rPr sz="1125" b="0">
                <a:solidFill>
                  <a:srgbClr val="5E7182"/>
                </a:solidFill>
                <a:latin typeface="Nimbus Sans"/>
                <a:ea typeface="Nimbus Sans"/>
                <a:cs typeface="Nimbus Sans"/>
              </a:rPr>
              <a:t>Training Flutter Android   /   Hari 1</a:t>
            </a:r>
          </a:p>
        </p:txBody>
      </p:sp>
      <p:sp>
        <p:nvSpPr>
          <p:cNvPr id="3" name="text-2-674">
            <a:extLst xmlns:a="http://schemas.openxmlformats.org/drawingml/2006/main">
              <a:ext uri="{FF2B5EF4-FFF2-40B4-BE49-F238E27FC236}">
                <a16:creationId xmlns:a16="http://schemas.microsoft.com/office/drawing/2014/main" id="{CA3CFAB6-2252-4ADA-8065-EB71CCD4534C}"/>
              </a:ext>
            </a:extLst>
          </p:cNvPr>
          <p:cNvSpPr>
            <a:spLocks xmlns:a="http://schemas.openxmlformats.org/drawingml/2006/main" noGrp="1"/>
          </p:cNvSpPr>
          <p:nvPr/>
        </p:nvSpPr>
        <p:spPr>
          <a:xfrm xmlns:a="http://schemas.openxmlformats.org/drawingml/2006/main">
            <a:off x="10668000" y="6448425"/>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125" b="0">
                <a:solidFill>
                  <a:srgbClr val="5E7182"/>
                </a:solidFill>
                <a:latin typeface="Nimbus Sans"/>
                <a:ea typeface="Nimbus Sans"/>
                <a:cs typeface="Nimbus Sans"/>
              </a:defRPr>
            </a:pPr>
            <a:r>
              <a:rPr sz="1125" b="0">
                <a:solidFill>
                  <a:srgbClr val="5E7182"/>
                </a:solidFill>
                <a:latin typeface="Nimbus Sans"/>
                <a:ea typeface="Nimbus Sans"/>
                <a:cs typeface="Nimbus Sans"/>
              </a:rPr>
              <a:t>18 / 44</a:t>
            </a:r>
          </a:p>
        </p:txBody>
      </p:sp>
      <p:sp>
        <p:nvSpPr>
          <p:cNvPr id="4" name="text-3-180">
            <a:extLst xmlns:a="http://schemas.openxmlformats.org/drawingml/2006/main">
              <a:ext uri="{FF2B5EF4-FFF2-40B4-BE49-F238E27FC236}">
                <a16:creationId xmlns:a16="http://schemas.microsoft.com/office/drawing/2014/main" id="{3BEE1EB4-8668-4319-9E9B-9A8A4B447B21}"/>
              </a:ext>
            </a:extLst>
          </p:cNvPr>
          <p:cNvSpPr>
            <a:spLocks xmlns:a="http://schemas.openxmlformats.org/drawingml/2006/main" noGrp="1"/>
          </p:cNvSpPr>
          <p:nvPr/>
        </p:nvSpPr>
        <p:spPr>
          <a:xfrm xmlns:a="http://schemas.openxmlformats.org/drawingml/2006/main">
            <a:off x="609600" y="1866900"/>
            <a:ext cx="5048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2175" b="1">
                <a:solidFill>
                  <a:srgbClr val="007DB7"/>
                </a:solidFill>
                <a:latin typeface="Nimbus Sans"/>
                <a:ea typeface="Nimbus Sans"/>
                <a:cs typeface="Nimbus Sans"/>
              </a:defRPr>
            </a:pPr>
            <a:r>
              <a:rPr sz="2175" b="1">
                <a:solidFill>
                  <a:srgbClr val="007DB7"/>
                </a:solidFill>
                <a:latin typeface="Nimbus Sans"/>
                <a:ea typeface="Nimbus Sans"/>
                <a:cs typeface="Nimbus Sans"/>
              </a:rPr>
              <a:t>Arah layout</a:t>
            </a:r>
          </a:p>
        </p:txBody>
      </p:sp>
      <p:sp>
        <p:nvSpPr>
          <p:cNvPr id="5" name="text-4-180">
            <a:extLst xmlns:a="http://schemas.openxmlformats.org/drawingml/2006/main">
              <a:ext uri="{FF2B5EF4-FFF2-40B4-BE49-F238E27FC236}">
                <a16:creationId xmlns:a16="http://schemas.microsoft.com/office/drawing/2014/main" id="{2275105C-C563-4D50-A8A3-60C5A863A625}"/>
              </a:ext>
            </a:extLst>
          </p:cNvPr>
          <p:cNvSpPr>
            <a:spLocks xmlns:a="http://schemas.openxmlformats.org/drawingml/2006/main" noGrp="1"/>
          </p:cNvSpPr>
          <p:nvPr/>
        </p:nvSpPr>
        <p:spPr>
          <a:xfrm xmlns:a="http://schemas.openxmlformats.org/drawingml/2006/main">
            <a:off x="6477000" y="1866900"/>
            <a:ext cx="5105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2175" b="1">
                <a:solidFill>
                  <a:srgbClr val="007DB7"/>
                </a:solidFill>
                <a:latin typeface="Nimbus Sans"/>
                <a:ea typeface="Nimbus Sans"/>
                <a:cs typeface="Nimbus Sans"/>
              </a:defRPr>
            </a:pPr>
            <a:r>
              <a:rPr sz="2175" b="1">
                <a:solidFill>
                  <a:srgbClr val="007DB7"/>
                </a:solidFill>
                <a:latin typeface="Nimbus Sans"/>
                <a:ea typeface="Nimbus Sans"/>
                <a:cs typeface="Nimbus Sans"/>
              </a:rPr>
              <a:t>Ruang yang tersedia</a:t>
            </a:r>
          </a:p>
        </p:txBody>
      </p:sp>
      <p:sp>
        <p:nvSpPr>
          <p:cNvPr id="6" name="text-5-296">
            <a:extLst xmlns:a="http://schemas.openxmlformats.org/drawingml/2006/main">
              <a:ext uri="{FF2B5EF4-FFF2-40B4-BE49-F238E27FC236}">
                <a16:creationId xmlns:a16="http://schemas.microsoft.com/office/drawing/2014/main" id="{1F9CF964-E3D1-48FE-8A6E-4675314AEEE7}"/>
              </a:ext>
            </a:extLst>
          </p:cNvPr>
          <p:cNvSpPr>
            <a:spLocks xmlns:a="http://schemas.openxmlformats.org/drawingml/2006/main" noGrp="1"/>
          </p:cNvSpPr>
          <p:nvPr/>
        </p:nvSpPr>
        <p:spPr>
          <a:xfrm xmlns:a="http://schemas.openxmlformats.org/drawingml/2006/main">
            <a:off x="609600" y="2781300"/>
            <a:ext cx="4953000"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03200" indent="-101600">
              <a:spcAft>
                <a:spcPts val="1300"/>
              </a:spcAft>
              <a:buChar char="•"/>
              <a:defRPr sz="2025">
                <a:solidFill>
                  <a:srgbClr val="172D43"/>
                </a:solidFill>
                <a:latin typeface="Nimbus Sans"/>
                <a:ea typeface="Nimbus Sans"/>
                <a:cs typeface="Nimbus Sans"/>
              </a:defRPr>
            </a:pPr>
            <a:r>
              <a:rPr sz="2025">
                <a:solidFill>
                  <a:srgbClr val="172D43"/>
                </a:solidFill>
                <a:latin typeface="Nimbus Sans"/>
                <a:ea typeface="Nimbus Sans"/>
                <a:cs typeface="Nimbus Sans"/>
              </a:rPr>
              <a:t>Row menyusun child horizontal</a:t>
            </a:r>
          </a:p>
          <a:p xmlns:a="http://schemas.openxmlformats.org/drawingml/2006/main">
            <a:pPr marL="203200" indent="-101600">
              <a:spcAft>
                <a:spcPts val="1300"/>
              </a:spcAft>
              <a:buChar char="•"/>
              <a:defRPr sz="2025">
                <a:solidFill>
                  <a:srgbClr val="172D43"/>
                </a:solidFill>
                <a:latin typeface="Nimbus Sans"/>
                <a:ea typeface="Nimbus Sans"/>
                <a:cs typeface="Nimbus Sans"/>
              </a:defRPr>
            </a:pPr>
            <a:r>
              <a:rPr sz="2025">
                <a:solidFill>
                  <a:srgbClr val="172D43"/>
                </a:solidFill>
                <a:latin typeface="Nimbus Sans"/>
                <a:ea typeface="Nimbus Sans"/>
                <a:cs typeface="Nimbus Sans"/>
              </a:rPr>
              <a:t>Column menyusun child vertikal</a:t>
            </a:r>
          </a:p>
          <a:p xmlns:a="http://schemas.openxmlformats.org/drawingml/2006/main">
            <a:pPr marL="203200" indent="-101600">
              <a:spcAft>
                <a:spcPts val="1300"/>
              </a:spcAft>
              <a:buChar char="•"/>
              <a:defRPr sz="2025">
                <a:solidFill>
                  <a:srgbClr val="172D43"/>
                </a:solidFill>
                <a:latin typeface="Nimbus Sans"/>
                <a:ea typeface="Nimbus Sans"/>
                <a:cs typeface="Nimbus Sans"/>
              </a:defRPr>
            </a:pPr>
            <a:r>
              <a:rPr sz="2025">
                <a:solidFill>
                  <a:srgbClr val="172D43"/>
                </a:solidFill>
                <a:latin typeface="Nimbus Sans"/>
                <a:ea typeface="Nimbus Sans"/>
                <a:cs typeface="Nimbus Sans"/>
              </a:rPr>
              <a:t>Padding memberi jarak tepi</a:t>
            </a:r>
          </a:p>
        </p:txBody>
      </p:sp>
      <p:sp>
        <p:nvSpPr>
          <p:cNvPr id="7" name="text-6-296">
            <a:extLst xmlns:a="http://schemas.openxmlformats.org/drawingml/2006/main">
              <a:ext uri="{FF2B5EF4-FFF2-40B4-BE49-F238E27FC236}">
                <a16:creationId xmlns:a16="http://schemas.microsoft.com/office/drawing/2014/main" id="{8234D3F2-F9C2-4835-BEB5-3A0926D68CEA}"/>
              </a:ext>
            </a:extLst>
          </p:cNvPr>
          <p:cNvSpPr>
            <a:spLocks xmlns:a="http://schemas.openxmlformats.org/drawingml/2006/main" noGrp="1"/>
          </p:cNvSpPr>
          <p:nvPr/>
        </p:nvSpPr>
        <p:spPr>
          <a:xfrm xmlns:a="http://schemas.openxmlformats.org/drawingml/2006/main">
            <a:off x="6477000" y="2781300"/>
            <a:ext cx="4953000"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03200" indent="-101600">
              <a:spcAft>
                <a:spcPts val="1300"/>
              </a:spcAft>
              <a:buChar char="•"/>
              <a:defRPr sz="2025">
                <a:solidFill>
                  <a:srgbClr val="172D43"/>
                </a:solidFill>
                <a:latin typeface="Nimbus Sans"/>
                <a:ea typeface="Nimbus Sans"/>
                <a:cs typeface="Nimbus Sans"/>
              </a:defRPr>
            </a:pPr>
            <a:r>
              <a:rPr sz="2025">
                <a:solidFill>
                  <a:srgbClr val="172D43"/>
                </a:solidFill>
                <a:latin typeface="Nimbus Sans"/>
                <a:ea typeface="Nimbus Sans"/>
                <a:cs typeface="Nimbus Sans"/>
              </a:rPr>
              <a:t>Teks dapat meminta lebar besar</a:t>
            </a:r>
          </a:p>
          <a:p xmlns:a="http://schemas.openxmlformats.org/drawingml/2006/main">
            <a:pPr marL="203200" indent="-101600">
              <a:spcAft>
                <a:spcPts val="1300"/>
              </a:spcAft>
              <a:buChar char="•"/>
              <a:defRPr sz="2025">
                <a:solidFill>
                  <a:srgbClr val="172D43"/>
                </a:solidFill>
                <a:latin typeface="Nimbus Sans"/>
                <a:ea typeface="Nimbus Sans"/>
                <a:cs typeface="Nimbus Sans"/>
              </a:defRPr>
            </a:pPr>
            <a:r>
              <a:rPr sz="2025">
                <a:solidFill>
                  <a:srgbClr val="172D43"/>
                </a:solidFill>
                <a:latin typeface="Nimbus Sans"/>
                <a:ea typeface="Nimbus Sans"/>
                <a:cs typeface="Nimbus Sans"/>
              </a:rPr>
              <a:t>Flexible membantu teks membungkus</a:t>
            </a:r>
          </a:p>
          <a:p xmlns:a="http://schemas.openxmlformats.org/drawingml/2006/main">
            <a:pPr marL="203200" indent="-101600">
              <a:spcAft>
                <a:spcPts val="1300"/>
              </a:spcAft>
              <a:buChar char="•"/>
              <a:defRPr sz="2025">
                <a:solidFill>
                  <a:srgbClr val="172D43"/>
                </a:solidFill>
                <a:latin typeface="Nimbus Sans"/>
                <a:ea typeface="Nimbus Sans"/>
                <a:cs typeface="Nimbus Sans"/>
              </a:defRPr>
            </a:pPr>
            <a:r>
              <a:rPr sz="2025">
                <a:solidFill>
                  <a:srgbClr val="172D43"/>
                </a:solidFill>
                <a:latin typeface="Nimbus Sans"/>
                <a:ea typeface="Nimbus Sans"/>
                <a:cs typeface="Nimbus Sans"/>
              </a:rPr>
              <a:t>Expanded membagi sisa ruang</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9bcbcd2e96d04dcc"/>
          <a:srcRect xmlns:a="http://schemas.openxmlformats.org/drawingml/2006/main" l="4250" t="6738" r="4125" b="3546"/>
          <a:stretch xmlns:a="http://schemas.openxmlformats.org/drawingml/2006/main"/>
        </p:blipFill>
        <p:spPr>
          <a:xfrm xmlns:a="http://schemas.openxmlformats.org/drawingml/2006/main">
            <a:off x="9344025" y="219075"/>
            <a:ext cx="1428750" cy="495300"/>
          </a:xfrm>
          <a:prstGeom xmlns:a="http://schemas.openxmlformats.org/drawingml/2006/main" prst="rect">
            <a:avLst/>
          </a:prstGeom>
        </p:spPr>
      </p:pic>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d9341899fd4d4019"/>
          <a:srcRect xmlns:a="http://schemas.openxmlformats.org/drawingml/2006/main" l="32813" t="23779" r="32813" b="23779"/>
          <a:stretch xmlns:a="http://schemas.openxmlformats.org/drawingml/2006/main"/>
        </p:blipFill>
        <p:spPr>
          <a:xfrm xmlns:a="http://schemas.openxmlformats.org/drawingml/2006/main">
            <a:off x="11163300" y="161925"/>
            <a:ext cx="371475" cy="571500"/>
          </a:xfrm>
          <a:prstGeom xmlns:a="http://schemas.openxmlformats.org/drawingml/2006/main" prst="rect">
            <a:avLst/>
          </a:prstGeom>
        </p:spPr>
      </p:pic>
    </p:spTree>
    <p:extLst>
      <p:ext uri="{BB962C8B-B14F-4D97-AF65-F5344CB8AC3E}">
        <p14:creationId xmlns:p14="http://schemas.microsoft.com/office/powerpoint/2010/main" val="1864239691"/>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ext-0-48">
            <a:extLst xmlns:a="http://schemas.openxmlformats.org/drawingml/2006/main">
              <a:ext uri="{FF2B5EF4-FFF2-40B4-BE49-F238E27FC236}">
                <a16:creationId xmlns:a16="http://schemas.microsoft.com/office/drawing/2014/main" id="{21ECD7C5-7522-44C5-BCB8-5E1494F538EE}"/>
              </a:ext>
            </a:extLst>
          </p:cNvPr>
          <p:cNvSpPr>
            <a:spLocks xmlns:a="http://schemas.openxmlformats.org/drawingml/2006/main" noGrp="1"/>
          </p:cNvSpPr>
          <p:nvPr/>
        </p:nvSpPr>
        <p:spPr>
          <a:xfrm xmlns:a="http://schemas.openxmlformats.org/drawingml/2006/main">
            <a:off x="609600" y="8953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0000"/>
              </a:lnSpc>
              <a:buNone/>
              <a:defRPr sz="3300" b="1">
                <a:solidFill>
                  <a:srgbClr val="0B3970"/>
                </a:solidFill>
                <a:latin typeface="Nimbus Sans"/>
                <a:ea typeface="Nimbus Sans"/>
                <a:cs typeface="Nimbus Sans"/>
              </a:defRPr>
            </a:pPr>
            <a:r>
              <a:rPr sz="3300" b="1">
                <a:solidFill>
                  <a:srgbClr val="0B3970"/>
                </a:solidFill>
                <a:latin typeface="Nimbus Sans"/>
                <a:ea typeface="Nimbus Sans"/>
                <a:cs typeface="Nimbus Sans"/>
              </a:rPr>
              <a:t>Expanded dan Flexible</a:t>
            </a:r>
          </a:p>
        </p:txBody>
      </p:sp>
      <p:sp>
        <p:nvSpPr>
          <p:cNvPr id="2" name="text-1-674">
            <a:extLst xmlns:a="http://schemas.openxmlformats.org/drawingml/2006/main">
              <a:ext uri="{FF2B5EF4-FFF2-40B4-BE49-F238E27FC236}">
                <a16:creationId xmlns:a16="http://schemas.microsoft.com/office/drawing/2014/main" id="{EBA7861B-90AF-49FD-93A9-DBE3C5E1522D}"/>
              </a:ext>
            </a:extLst>
          </p:cNvPr>
          <p:cNvSpPr>
            <a:spLocks xmlns:a="http://schemas.openxmlformats.org/drawingml/2006/main" noGrp="1"/>
          </p:cNvSpPr>
          <p:nvPr/>
        </p:nvSpPr>
        <p:spPr>
          <a:xfrm xmlns:a="http://schemas.openxmlformats.org/drawingml/2006/main">
            <a:off x="609600" y="6448425"/>
            <a:ext cx="714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125" b="0">
                <a:solidFill>
                  <a:srgbClr val="5E7182"/>
                </a:solidFill>
                <a:latin typeface="Nimbus Sans"/>
                <a:ea typeface="Nimbus Sans"/>
                <a:cs typeface="Nimbus Sans"/>
              </a:defRPr>
            </a:pPr>
            <a:r>
              <a:rPr sz="1125" b="0">
                <a:solidFill>
                  <a:srgbClr val="5E7182"/>
                </a:solidFill>
                <a:latin typeface="Nimbus Sans"/>
                <a:ea typeface="Nimbus Sans"/>
                <a:cs typeface="Nimbus Sans"/>
              </a:rPr>
              <a:t>Training Flutter Android   /   Hari 1</a:t>
            </a:r>
          </a:p>
        </p:txBody>
      </p:sp>
      <p:sp>
        <p:nvSpPr>
          <p:cNvPr id="3" name="text-2-674">
            <a:extLst xmlns:a="http://schemas.openxmlformats.org/drawingml/2006/main">
              <a:ext uri="{FF2B5EF4-FFF2-40B4-BE49-F238E27FC236}">
                <a16:creationId xmlns:a16="http://schemas.microsoft.com/office/drawing/2014/main" id="{233FDB4D-F431-4A3A-ABB2-AFBBAEFB5AE0}"/>
              </a:ext>
            </a:extLst>
          </p:cNvPr>
          <p:cNvSpPr>
            <a:spLocks xmlns:a="http://schemas.openxmlformats.org/drawingml/2006/main" noGrp="1"/>
          </p:cNvSpPr>
          <p:nvPr/>
        </p:nvSpPr>
        <p:spPr>
          <a:xfrm xmlns:a="http://schemas.openxmlformats.org/drawingml/2006/main">
            <a:off x="10668000" y="6448425"/>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125" b="0">
                <a:solidFill>
                  <a:srgbClr val="5E7182"/>
                </a:solidFill>
                <a:latin typeface="Nimbus Sans"/>
                <a:ea typeface="Nimbus Sans"/>
                <a:cs typeface="Nimbus Sans"/>
              </a:defRPr>
            </a:pPr>
            <a:r>
              <a:rPr sz="1125" b="0">
                <a:solidFill>
                  <a:srgbClr val="5E7182"/>
                </a:solidFill>
                <a:latin typeface="Nimbus Sans"/>
                <a:ea typeface="Nimbus Sans"/>
                <a:cs typeface="Nimbus Sans"/>
              </a:rPr>
              <a:t>19 / 44</a:t>
            </a:r>
          </a:p>
        </p:txBody>
      </p:sp>
      <p:graphicFrame>
        <p:nvGraphicFramePr>
          <p:cNvPr id="12" name=""/>
          <p:cNvGraphicFramePr/>
          <p:nvPr/>
        </p:nvGraphicFramePr>
        <p:xfrm>
          <a:off xmlns:a="http://schemas.openxmlformats.org/drawingml/2006/main" x="609600" y="1657350"/>
          <a:ext xmlns:a="http://schemas.openxmlformats.org/drawingml/2006/main" cx="10972800" cy="4114800"/>
        </p:xfrm>
        <a:graphic xmlns:a="http://schemas.openxmlformats.org/drawingml/2006/main">
          <a:graphicData uri="http://schemas.openxmlformats.org/drawingml/2006/table">
            <a:tbl>
              <a:tblPr/>
              <a:tblGrid>
                <a:gridCol w="2194560"/>
                <a:gridCol w="4389120"/>
                <a:gridCol w="4389120"/>
              </a:tblGrid>
              <a:tr h="822960">
                <a:tc>
                  <a:txBody>
                    <a:bodyPr lIns="114300" tIns="95250" rIns="114300" bIns="95250">
                      <a:noAutofit/>
                    </a:bodyPr>
                    <a:lstStyle/>
                    <a:p>
                      <a:r>
                        <a:rPr sz="1800" b="1">
                          <a:solidFill>
                            <a:srgbClr val="FFFFFF"/>
                          </a:solidFill>
                          <a:latin typeface="Nimbus Sans"/>
                          <a:ea typeface="Nimbus Sans"/>
                          <a:cs typeface="Nimbus Sans"/>
                        </a:rPr>
                        <a:t>Widget</a:t>
                      </a:r>
                    </a:p>
                  </a:txBody>
                  <a:tcPr marL="91440" marR="91440" marT="45720" marB="45720" anchor="ctr">
                    <a:solidFill>
                      <a:srgbClr val="0B3970"/>
                    </a:solidFill>
                  </a:tcPr>
                </a:tc>
                <a:tc>
                  <a:txBody>
                    <a:bodyPr lIns="114300" tIns="95250" rIns="114300" bIns="95250">
                      <a:noAutofit/>
                    </a:bodyPr>
                    <a:lstStyle/>
                    <a:p>
                      <a:r>
                        <a:rPr sz="1800" b="1">
                          <a:solidFill>
                            <a:srgbClr val="FFFFFF"/>
                          </a:solidFill>
                          <a:latin typeface="Nimbus Sans"/>
                          <a:ea typeface="Nimbus Sans"/>
                          <a:cs typeface="Nimbus Sans"/>
                        </a:rPr>
                        <a:t>Perilaku</a:t>
                      </a:r>
                    </a:p>
                  </a:txBody>
                  <a:tcPr marL="91440" marR="91440" marT="45720" marB="45720" anchor="ctr">
                    <a:solidFill>
                      <a:srgbClr val="0B3970"/>
                    </a:solidFill>
                  </a:tcPr>
                </a:tc>
                <a:tc>
                  <a:txBody>
                    <a:bodyPr lIns="114300" tIns="95250" rIns="114300" bIns="95250">
                      <a:noAutofit/>
                    </a:bodyPr>
                    <a:lstStyle/>
                    <a:p>
                      <a:r>
                        <a:rPr sz="1800" b="1">
                          <a:solidFill>
                            <a:srgbClr val="FFFFFF"/>
                          </a:solidFill>
                          <a:latin typeface="Nimbus Sans"/>
                          <a:ea typeface="Nimbus Sans"/>
                          <a:cs typeface="Nimbus Sans"/>
                        </a:rPr>
                        <a:t>Kapan dipakai</a:t>
                      </a:r>
                    </a:p>
                  </a:txBody>
                  <a:tcPr marL="91440" marR="91440" marT="45720" marB="45720" anchor="ctr">
                    <a:solidFill>
                      <a:srgbClr val="0B3970"/>
                    </a:solidFill>
                  </a:tcPr>
                </a:tc>
              </a:tr>
              <a:tr h="822960">
                <a:tc>
                  <a:txBody>
                    <a:bodyPr lIns="114300" tIns="95250" rIns="114300" bIns="95250">
                      <a:noAutofit/>
                    </a:bodyPr>
                    <a:lstStyle/>
                    <a:p>
                      <a:r>
                        <a:rPr sz="1725" b="0">
                          <a:solidFill>
                            <a:srgbClr val="172D43"/>
                          </a:solidFill>
                          <a:latin typeface="Nimbus Sans"/>
                          <a:ea typeface="Nimbus Sans"/>
                          <a:cs typeface="Nimbus Sans"/>
                        </a:rPr>
                        <a:t>Expanded</a:t>
                      </a:r>
                    </a:p>
                  </a:txBody>
                  <a:tcPr marL="91440" marR="91440" marT="45720" marB="45720" anchor="ctr">
                    <a:solidFill>
                      <a:srgbClr val="FFFFFF"/>
                    </a:solidFill>
                  </a:tcPr>
                </a:tc>
                <a:tc>
                  <a:txBody>
                    <a:bodyPr lIns="114300" tIns="95250" rIns="114300" bIns="95250">
                      <a:noAutofit/>
                    </a:bodyPr>
                    <a:lstStyle/>
                    <a:p>
                      <a:r>
                        <a:rPr sz="1725" b="0">
                          <a:solidFill>
                            <a:srgbClr val="172D43"/>
                          </a:solidFill>
                          <a:latin typeface="Nimbus Sans"/>
                          <a:ea typeface="Nimbus Sans"/>
                          <a:cs typeface="Nimbus Sans"/>
                        </a:rPr>
                        <a:t>Memaksa child mengisi alokasi</a:t>
                      </a:r>
                    </a:p>
                  </a:txBody>
                  <a:tcPr marL="91440" marR="91440" marT="45720" marB="45720" anchor="ctr">
                    <a:solidFill>
                      <a:srgbClr val="FFFFFF"/>
                    </a:solidFill>
                  </a:tcPr>
                </a:tc>
                <a:tc>
                  <a:txBody>
                    <a:bodyPr lIns="114300" tIns="95250" rIns="114300" bIns="95250">
                      <a:noAutofit/>
                    </a:bodyPr>
                    <a:lstStyle/>
                    <a:p>
                      <a:r>
                        <a:rPr sz="1725" b="0">
                          <a:solidFill>
                            <a:srgbClr val="172D43"/>
                          </a:solidFill>
                          <a:latin typeface="Nimbus Sans"/>
                          <a:ea typeface="Nimbus Sans"/>
                          <a:cs typeface="Nimbus Sans"/>
                        </a:rPr>
                        <a:t>List dalam Column body</a:t>
                      </a:r>
                    </a:p>
                  </a:txBody>
                  <a:tcPr marL="91440" marR="91440" marT="45720" marB="45720" anchor="ctr">
                    <a:solidFill>
                      <a:srgbClr val="FFFFFF"/>
                    </a:solidFill>
                  </a:tcPr>
                </a:tc>
              </a:tr>
              <a:tr h="822960">
                <a:tc>
                  <a:txBody>
                    <a:bodyPr lIns="114300" tIns="95250" rIns="114300" bIns="95250">
                      <a:noAutofit/>
                    </a:bodyPr>
                    <a:lstStyle/>
                    <a:p>
                      <a:r>
                        <a:rPr sz="1725" b="0">
                          <a:solidFill>
                            <a:srgbClr val="172D43"/>
                          </a:solidFill>
                          <a:latin typeface="Nimbus Sans"/>
                          <a:ea typeface="Nimbus Sans"/>
                          <a:cs typeface="Nimbus Sans"/>
                        </a:rPr>
                        <a:t>Flexible</a:t>
                      </a:r>
                    </a:p>
                  </a:txBody>
                  <a:tcPr marL="91440" marR="91440" marT="45720" marB="45720" anchor="ctr">
                    <a:solidFill>
                      <a:srgbClr val="F0F5F9"/>
                    </a:solidFill>
                  </a:tcPr>
                </a:tc>
                <a:tc>
                  <a:txBody>
                    <a:bodyPr lIns="114300" tIns="95250" rIns="114300" bIns="95250">
                      <a:noAutofit/>
                    </a:bodyPr>
                    <a:lstStyle/>
                    <a:p>
                      <a:r>
                        <a:rPr sz="1725" b="0">
                          <a:solidFill>
                            <a:srgbClr val="172D43"/>
                          </a:solidFill>
                          <a:latin typeface="Nimbus Sans"/>
                          <a:ea typeface="Nimbus Sans"/>
                          <a:cs typeface="Nimbus Sans"/>
                        </a:rPr>
                        <a:t>Child boleh lebih kecil dari alokasi</a:t>
                      </a:r>
                    </a:p>
                  </a:txBody>
                  <a:tcPr marL="91440" marR="91440" marT="45720" marB="45720" anchor="ctr">
                    <a:solidFill>
                      <a:srgbClr val="F0F5F9"/>
                    </a:solidFill>
                  </a:tcPr>
                </a:tc>
                <a:tc>
                  <a:txBody>
                    <a:bodyPr lIns="114300" tIns="95250" rIns="114300" bIns="95250">
                      <a:noAutofit/>
                    </a:bodyPr>
                    <a:lstStyle/>
                    <a:p>
                      <a:r>
                        <a:rPr sz="1725" b="0">
                          <a:solidFill>
                            <a:srgbClr val="172D43"/>
                          </a:solidFill>
                          <a:latin typeface="Nimbus Sans"/>
                          <a:ea typeface="Nimbus Sans"/>
                          <a:cs typeface="Nimbus Sans"/>
                        </a:rPr>
                        <a:t>Teks panjang di Row</a:t>
                      </a:r>
                    </a:p>
                  </a:txBody>
                  <a:tcPr marL="91440" marR="91440" marT="45720" marB="45720" anchor="ctr">
                    <a:solidFill>
                      <a:srgbClr val="F0F5F9"/>
                    </a:solidFill>
                  </a:tcPr>
                </a:tc>
              </a:tr>
              <a:tr h="822960">
                <a:tc>
                  <a:txBody>
                    <a:bodyPr lIns="114300" tIns="95250" rIns="114300" bIns="95250">
                      <a:noAutofit/>
                    </a:bodyPr>
                    <a:lstStyle/>
                    <a:p>
                      <a:r>
                        <a:rPr sz="1725" b="0">
                          <a:solidFill>
                            <a:srgbClr val="172D43"/>
                          </a:solidFill>
                          <a:latin typeface="Nimbus Sans"/>
                          <a:ea typeface="Nimbus Sans"/>
                          <a:cs typeface="Nimbus Sans"/>
                        </a:rPr>
                        <a:t>SizedBox</a:t>
                      </a:r>
                    </a:p>
                  </a:txBody>
                  <a:tcPr marL="91440" marR="91440" marT="45720" marB="45720" anchor="ctr">
                    <a:solidFill>
                      <a:srgbClr val="FFFFFF"/>
                    </a:solidFill>
                  </a:tcPr>
                </a:tc>
                <a:tc>
                  <a:txBody>
                    <a:bodyPr lIns="114300" tIns="95250" rIns="114300" bIns="95250">
                      <a:noAutofit/>
                    </a:bodyPr>
                    <a:lstStyle/>
                    <a:p>
                      <a:r>
                        <a:rPr sz="1725" b="0">
                          <a:solidFill>
                            <a:srgbClr val="172D43"/>
                          </a:solidFill>
                          <a:latin typeface="Nimbus Sans"/>
                          <a:ea typeface="Nimbus Sans"/>
                          <a:cs typeface="Nimbus Sans"/>
                        </a:rPr>
                        <a:t>Ukuran atau jarak eksplisit</a:t>
                      </a:r>
                    </a:p>
                  </a:txBody>
                  <a:tcPr marL="91440" marR="91440" marT="45720" marB="45720" anchor="ctr">
                    <a:solidFill>
                      <a:srgbClr val="FFFFFF"/>
                    </a:solidFill>
                  </a:tcPr>
                </a:tc>
                <a:tc>
                  <a:txBody>
                    <a:bodyPr lIns="114300" tIns="95250" rIns="114300" bIns="95250">
                      <a:noAutofit/>
                    </a:bodyPr>
                    <a:lstStyle/>
                    <a:p>
                      <a:r>
                        <a:rPr sz="1725" b="0">
                          <a:solidFill>
                            <a:srgbClr val="172D43"/>
                          </a:solidFill>
                          <a:latin typeface="Nimbus Sans"/>
                          <a:ea typeface="Nimbus Sans"/>
                          <a:cs typeface="Nimbus Sans"/>
                        </a:rPr>
                        <a:t>Spacing yang terukur</a:t>
                      </a:r>
                    </a:p>
                  </a:txBody>
                  <a:tcPr marL="91440" marR="91440" marT="45720" marB="45720" anchor="ctr">
                    <a:solidFill>
                      <a:srgbClr val="FFFFFF"/>
                    </a:solidFill>
                  </a:tcPr>
                </a:tc>
              </a:tr>
              <a:tr h="822960">
                <a:tc>
                  <a:txBody>
                    <a:bodyPr lIns="114300" tIns="95250" rIns="114300" bIns="95250">
                      <a:noAutofit/>
                    </a:bodyPr>
                    <a:lstStyle/>
                    <a:p>
                      <a:r>
                        <a:rPr sz="1725" b="0">
                          <a:solidFill>
                            <a:srgbClr val="172D43"/>
                          </a:solidFill>
                          <a:latin typeface="Nimbus Sans"/>
                          <a:ea typeface="Nimbus Sans"/>
                          <a:cs typeface="Nimbus Sans"/>
                        </a:rPr>
                        <a:t>Padding</a:t>
                      </a:r>
                    </a:p>
                  </a:txBody>
                  <a:tcPr marL="91440" marR="91440" marT="45720" marB="45720" anchor="ctr">
                    <a:solidFill>
                      <a:srgbClr val="F0F5F9"/>
                    </a:solidFill>
                  </a:tcPr>
                </a:tc>
                <a:tc>
                  <a:txBody>
                    <a:bodyPr lIns="114300" tIns="95250" rIns="114300" bIns="95250">
                      <a:noAutofit/>
                    </a:bodyPr>
                    <a:lstStyle/>
                    <a:p>
                      <a:r>
                        <a:rPr sz="1725" b="0">
                          <a:solidFill>
                            <a:srgbClr val="172D43"/>
                          </a:solidFill>
                          <a:latin typeface="Nimbus Sans"/>
                          <a:ea typeface="Nimbus Sans"/>
                          <a:cs typeface="Nimbus Sans"/>
                        </a:rPr>
                        <a:t>Ruang di sekeliling child</a:t>
                      </a:r>
                    </a:p>
                  </a:txBody>
                  <a:tcPr marL="91440" marR="91440" marT="45720" marB="45720" anchor="ctr">
                    <a:solidFill>
                      <a:srgbClr val="F0F5F9"/>
                    </a:solidFill>
                  </a:tcPr>
                </a:tc>
                <a:tc>
                  <a:txBody>
                    <a:bodyPr lIns="114300" tIns="95250" rIns="114300" bIns="95250">
                      <a:noAutofit/>
                    </a:bodyPr>
                    <a:lstStyle/>
                    <a:p>
                      <a:r>
                        <a:rPr sz="1725" b="0">
                          <a:solidFill>
                            <a:srgbClr val="172D43"/>
                          </a:solidFill>
                          <a:latin typeface="Nimbus Sans"/>
                          <a:ea typeface="Nimbus Sans"/>
                          <a:cs typeface="Nimbus Sans"/>
                        </a:rPr>
                        <a:t>Tepi form dan daftar</a:t>
                      </a:r>
                    </a:p>
                  </a:txBody>
                  <a:tcPr marL="91440" marR="91440" marT="45720" marB="45720" anchor="ctr">
                    <a:solidFill>
                      <a:srgbClr val="F0F5F9"/>
                    </a:solidFill>
                  </a:tcPr>
                </a:tc>
              </a:tr>
            </a:tbl>
          </a:graphicData>
        </a:graphic>
      </p:graphicFrame>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390356532c2648ef"/>
          <a:srcRect xmlns:a="http://schemas.openxmlformats.org/drawingml/2006/main" l="4250" t="6738" r="4125" b="3546"/>
          <a:stretch xmlns:a="http://schemas.openxmlformats.org/drawingml/2006/main"/>
        </p:blipFill>
        <p:spPr>
          <a:xfrm xmlns:a="http://schemas.openxmlformats.org/drawingml/2006/main">
            <a:off x="9344025" y="219075"/>
            <a:ext cx="1428750" cy="495300"/>
          </a:xfrm>
          <a:prstGeom xmlns:a="http://schemas.openxmlformats.org/drawingml/2006/main" prst="rect">
            <a:avLst/>
          </a:prstGeom>
        </p:spPr>
      </p:pic>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ad6549d00d5340bb"/>
          <a:srcRect xmlns:a="http://schemas.openxmlformats.org/drawingml/2006/main" l="32813" t="23779" r="32813" b="23779"/>
          <a:stretch xmlns:a="http://schemas.openxmlformats.org/drawingml/2006/main"/>
        </p:blipFill>
        <p:spPr>
          <a:xfrm xmlns:a="http://schemas.openxmlformats.org/drawingml/2006/main">
            <a:off x="11163300" y="161925"/>
            <a:ext cx="371475" cy="571500"/>
          </a:xfrm>
          <a:prstGeom xmlns:a="http://schemas.openxmlformats.org/drawingml/2006/main" prst="rect">
            <a:avLst/>
          </a:prstGeom>
        </p:spPr>
      </p:pic>
    </p:spTree>
    <p:extLst>
      <p:ext uri="{BB962C8B-B14F-4D97-AF65-F5344CB8AC3E}">
        <p14:creationId xmlns:p14="http://schemas.microsoft.com/office/powerpoint/2010/main" val="170571606"/>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ext-0-48">
            <a:extLst xmlns:a="http://schemas.openxmlformats.org/drawingml/2006/main">
              <a:ext uri="{FF2B5EF4-FFF2-40B4-BE49-F238E27FC236}">
                <a16:creationId xmlns:a16="http://schemas.microsoft.com/office/drawing/2014/main" id="{43C31C23-46A4-4DE4-BE5D-7B2D529A11D9}"/>
              </a:ext>
            </a:extLst>
          </p:cNvPr>
          <p:cNvSpPr>
            <a:spLocks xmlns:a="http://schemas.openxmlformats.org/drawingml/2006/main" noGrp="1"/>
          </p:cNvSpPr>
          <p:nvPr/>
        </p:nvSpPr>
        <p:spPr>
          <a:xfrm xmlns:a="http://schemas.openxmlformats.org/drawingml/2006/main">
            <a:off x="609600" y="8953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0000"/>
              </a:lnSpc>
              <a:buNone/>
              <a:defRPr sz="3300" b="1">
                <a:solidFill>
                  <a:srgbClr val="0B3970"/>
                </a:solidFill>
                <a:latin typeface="Nimbus Sans"/>
                <a:ea typeface="Nimbus Sans"/>
                <a:cs typeface="Nimbus Sans"/>
              </a:defRPr>
            </a:pPr>
            <a:r>
              <a:rPr sz="3300" b="1">
                <a:solidFill>
                  <a:srgbClr val="0B3970"/>
                </a:solidFill>
                <a:latin typeface="Nimbus Sans"/>
                <a:ea typeface="Nimbus Sans"/>
                <a:cs typeface="Nimbus Sans"/>
              </a:rPr>
              <a:t>ListView builder dan ID item</a:t>
            </a:r>
          </a:p>
        </p:txBody>
      </p:sp>
      <p:sp>
        <p:nvSpPr>
          <p:cNvPr id="2" name="text-1-674">
            <a:extLst xmlns:a="http://schemas.openxmlformats.org/drawingml/2006/main">
              <a:ext uri="{FF2B5EF4-FFF2-40B4-BE49-F238E27FC236}">
                <a16:creationId xmlns:a16="http://schemas.microsoft.com/office/drawing/2014/main" id="{78D3F61D-0F47-4D3E-AA43-E204F8BE837E}"/>
              </a:ext>
            </a:extLst>
          </p:cNvPr>
          <p:cNvSpPr>
            <a:spLocks xmlns:a="http://schemas.openxmlformats.org/drawingml/2006/main" noGrp="1"/>
          </p:cNvSpPr>
          <p:nvPr/>
        </p:nvSpPr>
        <p:spPr>
          <a:xfrm xmlns:a="http://schemas.openxmlformats.org/drawingml/2006/main">
            <a:off x="609600" y="6448425"/>
            <a:ext cx="714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125" b="0">
                <a:solidFill>
                  <a:srgbClr val="5E7182"/>
                </a:solidFill>
                <a:latin typeface="Nimbus Sans"/>
                <a:ea typeface="Nimbus Sans"/>
                <a:cs typeface="Nimbus Sans"/>
              </a:defRPr>
            </a:pPr>
            <a:r>
              <a:rPr sz="1125" b="0">
                <a:solidFill>
                  <a:srgbClr val="5E7182"/>
                </a:solidFill>
                <a:latin typeface="Nimbus Sans"/>
                <a:ea typeface="Nimbus Sans"/>
                <a:cs typeface="Nimbus Sans"/>
              </a:rPr>
              <a:t>Training Flutter Android   /   Hari 1</a:t>
            </a:r>
          </a:p>
        </p:txBody>
      </p:sp>
      <p:sp>
        <p:nvSpPr>
          <p:cNvPr id="3" name="text-2-674">
            <a:extLst xmlns:a="http://schemas.openxmlformats.org/drawingml/2006/main">
              <a:ext uri="{FF2B5EF4-FFF2-40B4-BE49-F238E27FC236}">
                <a16:creationId xmlns:a16="http://schemas.microsoft.com/office/drawing/2014/main" id="{8E0EA841-D40D-445F-851C-2CCF4884F403}"/>
              </a:ext>
            </a:extLst>
          </p:cNvPr>
          <p:cNvSpPr>
            <a:spLocks xmlns:a="http://schemas.openxmlformats.org/drawingml/2006/main" noGrp="1"/>
          </p:cNvSpPr>
          <p:nvPr/>
        </p:nvSpPr>
        <p:spPr>
          <a:xfrm xmlns:a="http://schemas.openxmlformats.org/drawingml/2006/main">
            <a:off x="10668000" y="6448425"/>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125" b="0">
                <a:solidFill>
                  <a:srgbClr val="5E7182"/>
                </a:solidFill>
                <a:latin typeface="Nimbus Sans"/>
                <a:ea typeface="Nimbus Sans"/>
                <a:cs typeface="Nimbus Sans"/>
              </a:defRPr>
            </a:pPr>
            <a:r>
              <a:rPr sz="1125" b="0">
                <a:solidFill>
                  <a:srgbClr val="5E7182"/>
                </a:solidFill>
                <a:latin typeface="Nimbus Sans"/>
                <a:ea typeface="Nimbus Sans"/>
                <a:cs typeface="Nimbus Sans"/>
              </a:rPr>
              <a:t>20 / 44</a:t>
            </a:r>
          </a:p>
        </p:txBody>
      </p:sp>
      <p:sp>
        <p:nvSpPr>
          <p:cNvPr id="4" name="text-3-193">
            <a:extLst xmlns:a="http://schemas.openxmlformats.org/drawingml/2006/main">
              <a:ext uri="{FF2B5EF4-FFF2-40B4-BE49-F238E27FC236}">
                <a16:creationId xmlns:a16="http://schemas.microsoft.com/office/drawing/2014/main" id="{B5A2B1CB-E215-4932-9413-06BD902B47FD}"/>
              </a:ext>
            </a:extLst>
          </p:cNvPr>
          <p:cNvSpPr>
            <a:spLocks xmlns:a="http://schemas.openxmlformats.org/drawingml/2006/main" noGrp="1"/>
          </p:cNvSpPr>
          <p:nvPr/>
        </p:nvSpPr>
        <p:spPr>
          <a:xfrm xmlns:a="http://schemas.openxmlformats.org/drawingml/2006/main">
            <a:off x="609600" y="1819275"/>
            <a:ext cx="10972800" cy="414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spcAft>
                <a:spcPts val="0"/>
              </a:spcAft>
              <a:defRPr sz="1950">
                <a:solidFill>
                  <a:srgbClr val="172D43"/>
                </a:solidFill>
                <a:latin typeface="DejaVu Sans Mono"/>
                <a:ea typeface="DejaVu Sans Mono"/>
                <a:cs typeface="DejaVu Sans Mono"/>
              </a:defRPr>
            </a:pPr>
            <a:r>
              <a:t>ListView.builder(</a:t>
            </a:r>
          </a:p>
          <a:p xmlns:a="http://schemas.openxmlformats.org/drawingml/2006/main">
            <a:pPr>
              <a:spcAft>
                <a:spcPts val="0"/>
              </a:spcAft>
              <a:defRPr sz="1950">
                <a:solidFill>
                  <a:srgbClr val="172D43"/>
                </a:solidFill>
                <a:latin typeface="DejaVu Sans Mono"/>
                <a:ea typeface="DejaVu Sans Mono"/>
                <a:cs typeface="DejaVu Sans Mono"/>
              </a:defRPr>
            </a:pPr>
            <a:r>
              <a:t>  itemCount: items.length,</a:t>
            </a:r>
          </a:p>
          <a:p xmlns:a="http://schemas.openxmlformats.org/drawingml/2006/main">
            <a:pPr>
              <a:spcAft>
                <a:spcPts val="0"/>
              </a:spcAft>
              <a:defRPr sz="1950">
                <a:solidFill>
                  <a:srgbClr val="172D43"/>
                </a:solidFill>
                <a:latin typeface="DejaVu Sans Mono"/>
                <a:ea typeface="DejaVu Sans Mono"/>
                <a:cs typeface="DejaVu Sans Mono"/>
              </a:defRPr>
            </a:pPr>
            <a:r>
              <a:t>  itemBuilder: (context, index) {</a:t>
            </a:r>
          </a:p>
          <a:p xmlns:a="http://schemas.openxmlformats.org/drawingml/2006/main">
            <a:pPr>
              <a:spcAft>
                <a:spcPts val="0"/>
              </a:spcAft>
              <a:defRPr sz="1950">
                <a:solidFill>
                  <a:srgbClr val="172D43"/>
                </a:solidFill>
                <a:latin typeface="DejaVu Sans Mono"/>
                <a:ea typeface="DejaVu Sans Mono"/>
                <a:cs typeface="DejaVu Sans Mono"/>
              </a:defRPr>
            </a:pPr>
            <a:r>
              <a:t>    </a:t>
            </a:r>
            <a:r>
              <a:rPr b="1">
                <a:solidFill>
                  <a:srgbClr val="0B3970"/>
                </a:solidFill>
              </a:rPr>
              <a:t>final</a:t>
            </a:r>
            <a:r>
              <a:t> item = items[index];</a:t>
            </a:r>
          </a:p>
          <a:p xmlns:a="http://schemas.openxmlformats.org/drawingml/2006/main">
            <a:pPr>
              <a:spcAft>
                <a:spcPts val="0"/>
              </a:spcAft>
              <a:defRPr sz="1950">
                <a:solidFill>
                  <a:srgbClr val="172D43"/>
                </a:solidFill>
                <a:latin typeface="DejaVu Sans Mono"/>
                <a:ea typeface="DejaVu Sans Mono"/>
                <a:cs typeface="DejaVu Sans Mono"/>
              </a:defRPr>
            </a:pPr>
            <a:r>
              <a:t>    </a:t>
            </a:r>
            <a:r>
              <a:rPr b="1">
                <a:solidFill>
                  <a:srgbClr val="0B3970"/>
                </a:solidFill>
              </a:rPr>
              <a:t>return</a:t>
            </a:r>
            <a:r>
              <a:t> ListTile(</a:t>
            </a:r>
          </a:p>
          <a:p xmlns:a="http://schemas.openxmlformats.org/drawingml/2006/main">
            <a:pPr>
              <a:spcAft>
                <a:spcPts val="0"/>
              </a:spcAft>
              <a:defRPr sz="1950">
                <a:solidFill>
                  <a:srgbClr val="172D43"/>
                </a:solidFill>
                <a:latin typeface="DejaVu Sans Mono"/>
                <a:ea typeface="DejaVu Sans Mono"/>
                <a:cs typeface="DejaVu Sans Mono"/>
              </a:defRPr>
            </a:pPr>
            <a:r>
              <a:t>      key: ValueKey(item.id),</a:t>
            </a:r>
          </a:p>
          <a:p xmlns:a="http://schemas.openxmlformats.org/drawingml/2006/main">
            <a:pPr>
              <a:spcAft>
                <a:spcPts val="0"/>
              </a:spcAft>
              <a:defRPr sz="1950">
                <a:solidFill>
                  <a:srgbClr val="172D43"/>
                </a:solidFill>
                <a:latin typeface="DejaVu Sans Mono"/>
                <a:ea typeface="DejaVu Sans Mono"/>
                <a:cs typeface="DejaVu Sans Mono"/>
              </a:defRPr>
            </a:pPr>
            <a:r>
              <a:t>      title: Text(item.assetCode),</a:t>
            </a:r>
          </a:p>
          <a:p xmlns:a="http://schemas.openxmlformats.org/drawingml/2006/main">
            <a:pPr>
              <a:spcAft>
                <a:spcPts val="0"/>
              </a:spcAft>
              <a:defRPr sz="1950">
                <a:solidFill>
                  <a:srgbClr val="172D43"/>
                </a:solidFill>
                <a:latin typeface="DejaVu Sans Mono"/>
                <a:ea typeface="DejaVu Sans Mono"/>
                <a:cs typeface="DejaVu Sans Mono"/>
              </a:defRPr>
            </a:pPr>
            <a:r>
              <a:t>      subtitle: Text(item.location),</a:t>
            </a:r>
          </a:p>
          <a:p xmlns:a="http://schemas.openxmlformats.org/drawingml/2006/main">
            <a:pPr>
              <a:spcAft>
                <a:spcPts val="0"/>
              </a:spcAft>
              <a:defRPr sz="1950">
                <a:solidFill>
                  <a:srgbClr val="172D43"/>
                </a:solidFill>
                <a:latin typeface="DejaVu Sans Mono"/>
                <a:ea typeface="DejaVu Sans Mono"/>
                <a:cs typeface="DejaVu Sans Mono"/>
              </a:defRPr>
            </a:pPr>
            <a:r>
              <a:t>      onTap: () =&gt; openDetail(item),</a:t>
            </a:r>
          </a:p>
          <a:p xmlns:a="http://schemas.openxmlformats.org/drawingml/2006/main">
            <a:pPr>
              <a:spcAft>
                <a:spcPts val="0"/>
              </a:spcAft>
              <a:defRPr sz="1950">
                <a:solidFill>
                  <a:srgbClr val="172D43"/>
                </a:solidFill>
                <a:latin typeface="DejaVu Sans Mono"/>
                <a:ea typeface="DejaVu Sans Mono"/>
                <a:cs typeface="DejaVu Sans Mono"/>
              </a:defRPr>
            </a:pPr>
            <a:r>
              <a:t>    );</a:t>
            </a:r>
          </a:p>
          <a:p xmlns:a="http://schemas.openxmlformats.org/drawingml/2006/main">
            <a:pPr>
              <a:spcAft>
                <a:spcPts val="0"/>
              </a:spcAft>
              <a:defRPr sz="1950">
                <a:solidFill>
                  <a:srgbClr val="172D43"/>
                </a:solidFill>
                <a:latin typeface="DejaVu Sans Mono"/>
                <a:ea typeface="DejaVu Sans Mono"/>
                <a:cs typeface="DejaVu Sans Mono"/>
              </a:defRPr>
            </a:pPr>
            <a:r>
              <a:t>  },</a:t>
            </a:r>
          </a:p>
          <a:p xmlns:a="http://schemas.openxmlformats.org/drawingml/2006/main">
            <a:pPr>
              <a:spcAft>
                <a:spcPts val="0"/>
              </a:spcAft>
              <a:defRPr sz="1950">
                <a:solidFill>
                  <a:srgbClr val="172D43"/>
                </a:solidFill>
                <a:latin typeface="DejaVu Sans Mono"/>
                <a:ea typeface="DejaVu Sans Mono"/>
                <a:cs typeface="DejaVu Sans Mono"/>
              </a:defRPr>
            </a:pPr>
            <a:r>
              <a:t>)</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2db128e459d34b4b"/>
          <a:srcRect xmlns:a="http://schemas.openxmlformats.org/drawingml/2006/main" l="4250" t="6738" r="4125" b="3546"/>
          <a:stretch xmlns:a="http://schemas.openxmlformats.org/drawingml/2006/main"/>
        </p:blipFill>
        <p:spPr>
          <a:xfrm xmlns:a="http://schemas.openxmlformats.org/drawingml/2006/main">
            <a:off x="9344025" y="219075"/>
            <a:ext cx="1428750" cy="495300"/>
          </a:xfrm>
          <a:prstGeom xmlns:a="http://schemas.openxmlformats.org/drawingml/2006/main" prst="rect">
            <a:avLst/>
          </a:prstGeom>
        </p:spPr>
      </p:pic>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0a4b417b33804b41"/>
          <a:srcRect xmlns:a="http://schemas.openxmlformats.org/drawingml/2006/main" l="32813" t="23779" r="32813" b="23779"/>
          <a:stretch xmlns:a="http://schemas.openxmlformats.org/drawingml/2006/main"/>
        </p:blipFill>
        <p:spPr>
          <a:xfrm xmlns:a="http://schemas.openxmlformats.org/drawingml/2006/main">
            <a:off x="11163300" y="161925"/>
            <a:ext cx="371475" cy="571500"/>
          </a:xfrm>
          <a:prstGeom xmlns:a="http://schemas.openxmlformats.org/drawingml/2006/main" prst="rect">
            <a:avLst/>
          </a:prstGeom>
        </p:spPr>
      </p:pic>
    </p:spTree>
    <p:extLst>
      <p:ext uri="{BB962C8B-B14F-4D97-AF65-F5344CB8AC3E}">
        <p14:creationId xmlns:p14="http://schemas.microsoft.com/office/powerpoint/2010/main" val="1357230699"/>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0-48">
            <a:extLst xmlns:a="http://schemas.openxmlformats.org/drawingml/2006/main">
              <a:ext uri="{FF2B5EF4-FFF2-40B4-BE49-F238E27FC236}">
                <a16:creationId xmlns:a16="http://schemas.microsoft.com/office/drawing/2014/main" id="{5DAEDF2E-D799-4A63-966B-527833F81A8A}"/>
              </a:ext>
            </a:extLst>
          </p:cNvPr>
          <p:cNvSpPr>
            <a:spLocks xmlns:a="http://schemas.openxmlformats.org/drawingml/2006/main" noGrp="1"/>
          </p:cNvSpPr>
          <p:nvPr/>
        </p:nvSpPr>
        <p:spPr>
          <a:xfrm xmlns:a="http://schemas.openxmlformats.org/drawingml/2006/main">
            <a:off x="609600" y="8953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0000"/>
              </a:lnSpc>
              <a:buNone/>
              <a:defRPr sz="3300" b="1">
                <a:solidFill>
                  <a:srgbClr val="0B3970"/>
                </a:solidFill>
                <a:latin typeface="Nimbus Sans"/>
                <a:ea typeface="Nimbus Sans"/>
                <a:cs typeface="Nimbus Sans"/>
              </a:defRPr>
            </a:pPr>
            <a:r>
              <a:rPr sz="3300" b="1">
                <a:solidFill>
                  <a:srgbClr val="0B3970"/>
                </a:solidFill>
                <a:latin typeface="Nimbus Sans"/>
                <a:ea typeface="Nimbus Sans"/>
                <a:cs typeface="Nimbus Sans"/>
              </a:rPr>
              <a:t>Komponen reusable</a:t>
            </a:r>
          </a:p>
        </p:txBody>
      </p:sp>
      <p:sp>
        <p:nvSpPr>
          <p:cNvPr id="2" name="text-1-674">
            <a:extLst xmlns:a="http://schemas.openxmlformats.org/drawingml/2006/main">
              <a:ext uri="{FF2B5EF4-FFF2-40B4-BE49-F238E27FC236}">
                <a16:creationId xmlns:a16="http://schemas.microsoft.com/office/drawing/2014/main" id="{056327B4-EB1F-4C32-842E-3D5DD63DC6D0}"/>
              </a:ext>
            </a:extLst>
          </p:cNvPr>
          <p:cNvSpPr>
            <a:spLocks xmlns:a="http://schemas.openxmlformats.org/drawingml/2006/main" noGrp="1"/>
          </p:cNvSpPr>
          <p:nvPr/>
        </p:nvSpPr>
        <p:spPr>
          <a:xfrm xmlns:a="http://schemas.openxmlformats.org/drawingml/2006/main">
            <a:off x="609600" y="6448425"/>
            <a:ext cx="714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125" b="0">
                <a:solidFill>
                  <a:srgbClr val="5E7182"/>
                </a:solidFill>
                <a:latin typeface="Nimbus Sans"/>
                <a:ea typeface="Nimbus Sans"/>
                <a:cs typeface="Nimbus Sans"/>
              </a:defRPr>
            </a:pPr>
            <a:r>
              <a:rPr sz="1125" b="0">
                <a:solidFill>
                  <a:srgbClr val="5E7182"/>
                </a:solidFill>
                <a:latin typeface="Nimbus Sans"/>
                <a:ea typeface="Nimbus Sans"/>
                <a:cs typeface="Nimbus Sans"/>
              </a:rPr>
              <a:t>Training Flutter Android   /   Hari 1</a:t>
            </a:r>
          </a:p>
        </p:txBody>
      </p:sp>
      <p:sp>
        <p:nvSpPr>
          <p:cNvPr id="3" name="text-2-674">
            <a:extLst xmlns:a="http://schemas.openxmlformats.org/drawingml/2006/main">
              <a:ext uri="{FF2B5EF4-FFF2-40B4-BE49-F238E27FC236}">
                <a16:creationId xmlns:a16="http://schemas.microsoft.com/office/drawing/2014/main" id="{0DCA3671-4149-4B15-90C6-9DA3A7E413DD}"/>
              </a:ext>
            </a:extLst>
          </p:cNvPr>
          <p:cNvSpPr>
            <a:spLocks xmlns:a="http://schemas.openxmlformats.org/drawingml/2006/main" noGrp="1"/>
          </p:cNvSpPr>
          <p:nvPr/>
        </p:nvSpPr>
        <p:spPr>
          <a:xfrm xmlns:a="http://schemas.openxmlformats.org/drawingml/2006/main">
            <a:off x="10668000" y="6448425"/>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125" b="0">
                <a:solidFill>
                  <a:srgbClr val="5E7182"/>
                </a:solidFill>
                <a:latin typeface="Nimbus Sans"/>
                <a:ea typeface="Nimbus Sans"/>
                <a:cs typeface="Nimbus Sans"/>
              </a:defRPr>
            </a:pPr>
            <a:r>
              <a:rPr sz="1125" b="0">
                <a:solidFill>
                  <a:srgbClr val="5E7182"/>
                </a:solidFill>
                <a:latin typeface="Nimbus Sans"/>
                <a:ea typeface="Nimbus Sans"/>
                <a:cs typeface="Nimbus Sans"/>
              </a:rPr>
              <a:t>21 / 44</a:t>
            </a:r>
          </a:p>
        </p:txBody>
      </p:sp>
      <p:sp>
        <p:nvSpPr>
          <p:cNvPr id="4" name="text-3-180">
            <a:extLst xmlns:a="http://schemas.openxmlformats.org/drawingml/2006/main">
              <a:ext uri="{FF2B5EF4-FFF2-40B4-BE49-F238E27FC236}">
                <a16:creationId xmlns:a16="http://schemas.microsoft.com/office/drawing/2014/main" id="{68531D2C-ECBD-4F32-BF70-2F988F222220}"/>
              </a:ext>
            </a:extLst>
          </p:cNvPr>
          <p:cNvSpPr>
            <a:spLocks xmlns:a="http://schemas.openxmlformats.org/drawingml/2006/main" noGrp="1"/>
          </p:cNvSpPr>
          <p:nvPr/>
        </p:nvSpPr>
        <p:spPr>
          <a:xfrm xmlns:a="http://schemas.openxmlformats.org/drawingml/2006/main">
            <a:off x="609600" y="1866900"/>
            <a:ext cx="5048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2175" b="1">
                <a:solidFill>
                  <a:srgbClr val="007DB7"/>
                </a:solidFill>
                <a:latin typeface="Nimbus Sans"/>
                <a:ea typeface="Nimbus Sans"/>
                <a:cs typeface="Nimbus Sans"/>
              </a:defRPr>
            </a:pPr>
            <a:r>
              <a:rPr sz="2175" b="1">
                <a:solidFill>
                  <a:srgbClr val="007DB7"/>
                </a:solidFill>
                <a:latin typeface="Nimbus Sans"/>
                <a:ea typeface="Nimbus Sans"/>
                <a:cs typeface="Nimbus Sans"/>
              </a:rPr>
              <a:t>Batas komponen yang jelas</a:t>
            </a:r>
          </a:p>
        </p:txBody>
      </p:sp>
      <p:sp>
        <p:nvSpPr>
          <p:cNvPr id="5" name="text-4-180">
            <a:extLst xmlns:a="http://schemas.openxmlformats.org/drawingml/2006/main">
              <a:ext uri="{FF2B5EF4-FFF2-40B4-BE49-F238E27FC236}">
                <a16:creationId xmlns:a16="http://schemas.microsoft.com/office/drawing/2014/main" id="{EEEC46C7-F2BC-4DA5-8839-EA0709014726}"/>
              </a:ext>
            </a:extLst>
          </p:cNvPr>
          <p:cNvSpPr>
            <a:spLocks xmlns:a="http://schemas.openxmlformats.org/drawingml/2006/main" noGrp="1"/>
          </p:cNvSpPr>
          <p:nvPr/>
        </p:nvSpPr>
        <p:spPr>
          <a:xfrm xmlns:a="http://schemas.openxmlformats.org/drawingml/2006/main">
            <a:off x="6477000" y="1866900"/>
            <a:ext cx="5105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2175" b="1">
                <a:solidFill>
                  <a:srgbClr val="007DB7"/>
                </a:solidFill>
                <a:latin typeface="Nimbus Sans"/>
                <a:ea typeface="Nimbus Sans"/>
                <a:cs typeface="Nimbus Sans"/>
              </a:defRPr>
            </a:pPr>
            <a:r>
              <a:rPr sz="2175" b="1">
                <a:solidFill>
                  <a:srgbClr val="007DB7"/>
                </a:solidFill>
                <a:latin typeface="Nimbus Sans"/>
                <a:ea typeface="Nimbus Sans"/>
                <a:cs typeface="Nimbus Sans"/>
              </a:rPr>
              <a:t>Pertimbangan review</a:t>
            </a:r>
          </a:p>
        </p:txBody>
      </p:sp>
      <p:sp>
        <p:nvSpPr>
          <p:cNvPr id="6" name="text-5-296">
            <a:extLst xmlns:a="http://schemas.openxmlformats.org/drawingml/2006/main">
              <a:ext uri="{FF2B5EF4-FFF2-40B4-BE49-F238E27FC236}">
                <a16:creationId xmlns:a16="http://schemas.microsoft.com/office/drawing/2014/main" id="{FC8A6188-A3E1-4F58-A4DD-401A5467800E}"/>
              </a:ext>
            </a:extLst>
          </p:cNvPr>
          <p:cNvSpPr>
            <a:spLocks xmlns:a="http://schemas.openxmlformats.org/drawingml/2006/main" noGrp="1"/>
          </p:cNvSpPr>
          <p:nvPr/>
        </p:nvSpPr>
        <p:spPr>
          <a:xfrm xmlns:a="http://schemas.openxmlformats.org/drawingml/2006/main">
            <a:off x="609600" y="2781300"/>
            <a:ext cx="4953000"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03200" indent="-101600">
              <a:spcAft>
                <a:spcPts val="1300"/>
              </a:spcAft>
              <a:buChar char="•"/>
              <a:defRPr sz="2025">
                <a:solidFill>
                  <a:srgbClr val="172D43"/>
                </a:solidFill>
                <a:latin typeface="Nimbus Sans"/>
                <a:ea typeface="Nimbus Sans"/>
                <a:cs typeface="Nimbus Sans"/>
              </a:defRPr>
            </a:pPr>
            <a:r>
              <a:rPr sz="2025">
                <a:solidFill>
                  <a:srgbClr val="172D43"/>
                </a:solidFill>
                <a:latin typeface="Nimbus Sans"/>
                <a:ea typeface="Nimbus Sans"/>
                <a:cs typeface="Nimbus Sans"/>
              </a:rPr>
              <a:t>InspectionTile menampilkan satu record</a:t>
            </a:r>
          </a:p>
          <a:p xmlns:a="http://schemas.openxmlformats.org/drawingml/2006/main">
            <a:pPr marL="203200" indent="-101600">
              <a:spcAft>
                <a:spcPts val="1300"/>
              </a:spcAft>
              <a:buChar char="•"/>
              <a:defRPr sz="2025">
                <a:solidFill>
                  <a:srgbClr val="172D43"/>
                </a:solidFill>
                <a:latin typeface="Nimbus Sans"/>
                <a:ea typeface="Nimbus Sans"/>
                <a:cs typeface="Nimbus Sans"/>
              </a:defRPr>
            </a:pPr>
            <a:r>
              <a:rPr sz="2025">
                <a:solidFill>
                  <a:srgbClr val="172D43"/>
                </a:solidFill>
                <a:latin typeface="Nimbus Sans"/>
                <a:ea typeface="Nimbus Sans"/>
                <a:cs typeface="Nimbus Sans"/>
              </a:rPr>
              <a:t>StatusLabel memetakan kondisi ke teks</a:t>
            </a:r>
          </a:p>
          <a:p xmlns:a="http://schemas.openxmlformats.org/drawingml/2006/main">
            <a:pPr marL="203200" indent="-101600">
              <a:spcAft>
                <a:spcPts val="1300"/>
              </a:spcAft>
              <a:buChar char="•"/>
              <a:defRPr sz="2025">
                <a:solidFill>
                  <a:srgbClr val="172D43"/>
                </a:solidFill>
                <a:latin typeface="Nimbus Sans"/>
                <a:ea typeface="Nimbus Sans"/>
                <a:cs typeface="Nimbus Sans"/>
              </a:defRPr>
            </a:pPr>
            <a:r>
              <a:rPr sz="2025">
                <a:solidFill>
                  <a:srgbClr val="172D43"/>
                </a:solidFill>
                <a:latin typeface="Nimbus Sans"/>
                <a:ea typeface="Nimbus Sans"/>
                <a:cs typeface="Nimbus Sans"/>
              </a:rPr>
              <a:t>Input tetap memakai komponen Material</a:t>
            </a:r>
          </a:p>
        </p:txBody>
      </p:sp>
      <p:sp>
        <p:nvSpPr>
          <p:cNvPr id="7" name="text-6-296">
            <a:extLst xmlns:a="http://schemas.openxmlformats.org/drawingml/2006/main">
              <a:ext uri="{FF2B5EF4-FFF2-40B4-BE49-F238E27FC236}">
                <a16:creationId xmlns:a16="http://schemas.microsoft.com/office/drawing/2014/main" id="{E519DD99-F10A-4803-8757-A0C8CBB6C742}"/>
              </a:ext>
            </a:extLst>
          </p:cNvPr>
          <p:cNvSpPr>
            <a:spLocks xmlns:a="http://schemas.openxmlformats.org/drawingml/2006/main" noGrp="1"/>
          </p:cNvSpPr>
          <p:nvPr/>
        </p:nvSpPr>
        <p:spPr>
          <a:xfrm xmlns:a="http://schemas.openxmlformats.org/drawingml/2006/main">
            <a:off x="6477000" y="2781300"/>
            <a:ext cx="4953000"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03200" indent="-101600">
              <a:spcAft>
                <a:spcPts val="1300"/>
              </a:spcAft>
              <a:buChar char="•"/>
              <a:defRPr sz="2025">
                <a:solidFill>
                  <a:srgbClr val="172D43"/>
                </a:solidFill>
                <a:latin typeface="Nimbus Sans"/>
                <a:ea typeface="Nimbus Sans"/>
                <a:cs typeface="Nimbus Sans"/>
              </a:defRPr>
            </a:pPr>
            <a:r>
              <a:rPr sz="2025">
                <a:solidFill>
                  <a:srgbClr val="172D43"/>
                </a:solidFill>
                <a:latin typeface="Nimbus Sans"/>
                <a:ea typeface="Nimbus Sans"/>
                <a:cs typeface="Nimbus Sans"/>
              </a:rPr>
              <a:t>Constructor menerima data yang dibutuhkan</a:t>
            </a:r>
          </a:p>
          <a:p xmlns:a="http://schemas.openxmlformats.org/drawingml/2006/main">
            <a:pPr marL="203200" indent="-101600">
              <a:spcAft>
                <a:spcPts val="1300"/>
              </a:spcAft>
              <a:buChar char="•"/>
              <a:defRPr sz="2025">
                <a:solidFill>
                  <a:srgbClr val="172D43"/>
                </a:solidFill>
                <a:latin typeface="Nimbus Sans"/>
                <a:ea typeface="Nimbus Sans"/>
                <a:cs typeface="Nimbus Sans"/>
              </a:defRPr>
            </a:pPr>
            <a:r>
              <a:rPr sz="2025">
                <a:solidFill>
                  <a:srgbClr val="172D43"/>
                </a:solidFill>
                <a:latin typeface="Nimbus Sans"/>
                <a:ea typeface="Nimbus Sans"/>
                <a:cs typeface="Nimbus Sans"/>
              </a:rPr>
              <a:t>Komponen kecil dapat dibaca dan diuji</a:t>
            </a:r>
          </a:p>
          <a:p xmlns:a="http://schemas.openxmlformats.org/drawingml/2006/main">
            <a:pPr marL="203200" indent="-101600">
              <a:spcAft>
                <a:spcPts val="1300"/>
              </a:spcAft>
              <a:buChar char="•"/>
              <a:defRPr sz="2025">
                <a:solidFill>
                  <a:srgbClr val="172D43"/>
                </a:solidFill>
                <a:latin typeface="Nimbus Sans"/>
                <a:ea typeface="Nimbus Sans"/>
                <a:cs typeface="Nimbus Sans"/>
              </a:defRPr>
            </a:pPr>
            <a:r>
              <a:rPr sz="2025">
                <a:solidFill>
                  <a:srgbClr val="172D43"/>
                </a:solidFill>
                <a:latin typeface="Nimbus Sans"/>
                <a:ea typeface="Nimbus Sans"/>
                <a:cs typeface="Nimbus Sans"/>
              </a:rPr>
              <a:t>Business rule tetap di fungsi atau layer data</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61d8bed88fb346bb"/>
          <a:srcRect xmlns:a="http://schemas.openxmlformats.org/drawingml/2006/main" l="4250" t="6738" r="4125" b="3546"/>
          <a:stretch xmlns:a="http://schemas.openxmlformats.org/drawingml/2006/main"/>
        </p:blipFill>
        <p:spPr>
          <a:xfrm xmlns:a="http://schemas.openxmlformats.org/drawingml/2006/main">
            <a:off x="9344025" y="219075"/>
            <a:ext cx="1428750" cy="495300"/>
          </a:xfrm>
          <a:prstGeom xmlns:a="http://schemas.openxmlformats.org/drawingml/2006/main" prst="rect">
            <a:avLst/>
          </a:prstGeom>
        </p:spPr>
      </p:pic>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f4c8535b12b14229"/>
          <a:srcRect xmlns:a="http://schemas.openxmlformats.org/drawingml/2006/main" l="32813" t="23779" r="32813" b="23779"/>
          <a:stretch xmlns:a="http://schemas.openxmlformats.org/drawingml/2006/main"/>
        </p:blipFill>
        <p:spPr>
          <a:xfrm xmlns:a="http://schemas.openxmlformats.org/drawingml/2006/main">
            <a:off x="11163300" y="161925"/>
            <a:ext cx="371475" cy="571500"/>
          </a:xfrm>
          <a:prstGeom xmlns:a="http://schemas.openxmlformats.org/drawingml/2006/main" prst="rect">
            <a:avLst/>
          </a:prstGeom>
        </p:spPr>
      </p:pic>
    </p:spTree>
    <p:extLst>
      <p:ext uri="{BB962C8B-B14F-4D97-AF65-F5344CB8AC3E}">
        <p14:creationId xmlns:p14="http://schemas.microsoft.com/office/powerpoint/2010/main" val="188166307"/>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ext-0-48">
            <a:extLst xmlns:a="http://schemas.openxmlformats.org/drawingml/2006/main">
              <a:ext uri="{FF2B5EF4-FFF2-40B4-BE49-F238E27FC236}">
                <a16:creationId xmlns:a16="http://schemas.microsoft.com/office/drawing/2014/main" id="{E1E9C650-4939-40FB-938E-2ACD777B44C0}"/>
              </a:ext>
            </a:extLst>
          </p:cNvPr>
          <p:cNvSpPr>
            <a:spLocks xmlns:a="http://schemas.openxmlformats.org/drawingml/2006/main" noGrp="1"/>
          </p:cNvSpPr>
          <p:nvPr/>
        </p:nvSpPr>
        <p:spPr>
          <a:xfrm xmlns:a="http://schemas.openxmlformats.org/drawingml/2006/main">
            <a:off x="609600" y="8953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0000"/>
              </a:lnSpc>
              <a:buNone/>
              <a:defRPr sz="3300" b="1">
                <a:solidFill>
                  <a:srgbClr val="0B3970"/>
                </a:solidFill>
                <a:latin typeface="Nimbus Sans"/>
                <a:ea typeface="Nimbus Sans"/>
                <a:cs typeface="Nimbus Sans"/>
              </a:defRPr>
            </a:pPr>
            <a:r>
              <a:rPr sz="3300" b="1">
                <a:solidFill>
                  <a:srgbClr val="0B3970"/>
                </a:solidFill>
                <a:latin typeface="Nimbus Sans"/>
                <a:ea typeface="Nimbus Sans"/>
                <a:cs typeface="Nimbus Sans"/>
              </a:rPr>
              <a:t>Theme dan typography aplikasi</a:t>
            </a:r>
          </a:p>
        </p:txBody>
      </p:sp>
      <p:sp>
        <p:nvSpPr>
          <p:cNvPr id="2" name="text-1-674">
            <a:extLst xmlns:a="http://schemas.openxmlformats.org/drawingml/2006/main">
              <a:ext uri="{FF2B5EF4-FFF2-40B4-BE49-F238E27FC236}">
                <a16:creationId xmlns:a16="http://schemas.microsoft.com/office/drawing/2014/main" id="{E1097157-3D29-4F2C-B5F1-75F53641E3AD}"/>
              </a:ext>
            </a:extLst>
          </p:cNvPr>
          <p:cNvSpPr>
            <a:spLocks xmlns:a="http://schemas.openxmlformats.org/drawingml/2006/main" noGrp="1"/>
          </p:cNvSpPr>
          <p:nvPr/>
        </p:nvSpPr>
        <p:spPr>
          <a:xfrm xmlns:a="http://schemas.openxmlformats.org/drawingml/2006/main">
            <a:off x="609600" y="6448425"/>
            <a:ext cx="714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125" b="0">
                <a:solidFill>
                  <a:srgbClr val="5E7182"/>
                </a:solidFill>
                <a:latin typeface="Nimbus Sans"/>
                <a:ea typeface="Nimbus Sans"/>
                <a:cs typeface="Nimbus Sans"/>
              </a:defRPr>
            </a:pPr>
            <a:r>
              <a:rPr sz="1125" b="0">
                <a:solidFill>
                  <a:srgbClr val="5E7182"/>
                </a:solidFill>
                <a:latin typeface="Nimbus Sans"/>
                <a:ea typeface="Nimbus Sans"/>
                <a:cs typeface="Nimbus Sans"/>
              </a:rPr>
              <a:t>Training Flutter Android   /   Hari 1</a:t>
            </a:r>
          </a:p>
        </p:txBody>
      </p:sp>
      <p:sp>
        <p:nvSpPr>
          <p:cNvPr id="3" name="text-2-674">
            <a:extLst xmlns:a="http://schemas.openxmlformats.org/drawingml/2006/main">
              <a:ext uri="{FF2B5EF4-FFF2-40B4-BE49-F238E27FC236}">
                <a16:creationId xmlns:a16="http://schemas.microsoft.com/office/drawing/2014/main" id="{69F4942D-1EAF-4BF5-8F19-4D28C4F0A3DE}"/>
              </a:ext>
            </a:extLst>
          </p:cNvPr>
          <p:cNvSpPr>
            <a:spLocks xmlns:a="http://schemas.openxmlformats.org/drawingml/2006/main" noGrp="1"/>
          </p:cNvSpPr>
          <p:nvPr/>
        </p:nvSpPr>
        <p:spPr>
          <a:xfrm xmlns:a="http://schemas.openxmlformats.org/drawingml/2006/main">
            <a:off x="10668000" y="6448425"/>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125" b="0">
                <a:solidFill>
                  <a:srgbClr val="5E7182"/>
                </a:solidFill>
                <a:latin typeface="Nimbus Sans"/>
                <a:ea typeface="Nimbus Sans"/>
                <a:cs typeface="Nimbus Sans"/>
              </a:defRPr>
            </a:pPr>
            <a:r>
              <a:rPr sz="1125" b="0">
                <a:solidFill>
                  <a:srgbClr val="5E7182"/>
                </a:solidFill>
                <a:latin typeface="Nimbus Sans"/>
                <a:ea typeface="Nimbus Sans"/>
                <a:cs typeface="Nimbus Sans"/>
              </a:rPr>
              <a:t>22 / 44</a:t>
            </a:r>
          </a:p>
        </p:txBody>
      </p:sp>
      <p:sp>
        <p:nvSpPr>
          <p:cNvPr id="4" name="text-3-193">
            <a:extLst xmlns:a="http://schemas.openxmlformats.org/drawingml/2006/main">
              <a:ext uri="{FF2B5EF4-FFF2-40B4-BE49-F238E27FC236}">
                <a16:creationId xmlns:a16="http://schemas.microsoft.com/office/drawing/2014/main" id="{DC356965-AE21-4567-8B62-849263027941}"/>
              </a:ext>
            </a:extLst>
          </p:cNvPr>
          <p:cNvSpPr>
            <a:spLocks xmlns:a="http://schemas.openxmlformats.org/drawingml/2006/main" noGrp="1"/>
          </p:cNvSpPr>
          <p:nvPr/>
        </p:nvSpPr>
        <p:spPr>
          <a:xfrm xmlns:a="http://schemas.openxmlformats.org/drawingml/2006/main">
            <a:off x="609600" y="1819275"/>
            <a:ext cx="10972800" cy="414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spcAft>
                <a:spcPts val="0"/>
              </a:spcAft>
              <a:defRPr sz="2100">
                <a:solidFill>
                  <a:srgbClr val="172D43"/>
                </a:solidFill>
                <a:latin typeface="DejaVu Sans Mono"/>
                <a:ea typeface="DejaVu Sans Mono"/>
                <a:cs typeface="DejaVu Sans Mono"/>
              </a:defRPr>
            </a:pPr>
            <a:r>
              <a:t>MaterialApp(</a:t>
            </a:r>
          </a:p>
          <a:p xmlns:a="http://schemas.openxmlformats.org/drawingml/2006/main">
            <a:pPr>
              <a:spcAft>
                <a:spcPts val="0"/>
              </a:spcAft>
              <a:defRPr sz="2100">
                <a:solidFill>
                  <a:srgbClr val="172D43"/>
                </a:solidFill>
                <a:latin typeface="DejaVu Sans Mono"/>
                <a:ea typeface="DejaVu Sans Mono"/>
                <a:cs typeface="DejaVu Sans Mono"/>
              </a:defRPr>
            </a:pPr>
            <a:r>
              <a:t>  theme: ThemeData(</a:t>
            </a:r>
          </a:p>
          <a:p xmlns:a="http://schemas.openxmlformats.org/drawingml/2006/main">
            <a:pPr>
              <a:spcAft>
                <a:spcPts val="0"/>
              </a:spcAft>
              <a:defRPr sz="2100">
                <a:solidFill>
                  <a:srgbClr val="172D43"/>
                </a:solidFill>
                <a:latin typeface="DejaVu Sans Mono"/>
                <a:ea typeface="DejaVu Sans Mono"/>
                <a:cs typeface="DejaVu Sans Mono"/>
              </a:defRPr>
            </a:pPr>
            <a:r>
              <a:t>    useMaterial3: true,</a:t>
            </a:r>
          </a:p>
          <a:p xmlns:a="http://schemas.openxmlformats.org/drawingml/2006/main">
            <a:pPr>
              <a:spcAft>
                <a:spcPts val="0"/>
              </a:spcAft>
              <a:defRPr sz="2100">
                <a:solidFill>
                  <a:srgbClr val="172D43"/>
                </a:solidFill>
                <a:latin typeface="DejaVu Sans Mono"/>
                <a:ea typeface="DejaVu Sans Mono"/>
                <a:cs typeface="DejaVu Sans Mono"/>
              </a:defRPr>
            </a:pPr>
            <a:r>
              <a:t>    colorScheme: ColorScheme.fromSeed(</a:t>
            </a:r>
          </a:p>
          <a:p xmlns:a="http://schemas.openxmlformats.org/drawingml/2006/main">
            <a:pPr>
              <a:spcAft>
                <a:spcPts val="0"/>
              </a:spcAft>
              <a:defRPr sz="2100">
                <a:solidFill>
                  <a:srgbClr val="172D43"/>
                </a:solidFill>
                <a:latin typeface="DejaVu Sans Mono"/>
                <a:ea typeface="DejaVu Sans Mono"/>
                <a:cs typeface="DejaVu Sans Mono"/>
              </a:defRPr>
            </a:pPr>
            <a:r>
              <a:t>      seedColor: Colors.teal,</a:t>
            </a:r>
          </a:p>
          <a:p xmlns:a="http://schemas.openxmlformats.org/drawingml/2006/main">
            <a:pPr>
              <a:spcAft>
                <a:spcPts val="0"/>
              </a:spcAft>
              <a:defRPr sz="2100">
                <a:solidFill>
                  <a:srgbClr val="172D43"/>
                </a:solidFill>
                <a:latin typeface="DejaVu Sans Mono"/>
                <a:ea typeface="DejaVu Sans Mono"/>
                <a:cs typeface="DejaVu Sans Mono"/>
              </a:defRPr>
            </a:pPr>
            <a:r>
              <a:t>    ),</a:t>
            </a:r>
          </a:p>
          <a:p xmlns:a="http://schemas.openxmlformats.org/drawingml/2006/main">
            <a:pPr>
              <a:spcAft>
                <a:spcPts val="0"/>
              </a:spcAft>
              <a:defRPr sz="2100">
                <a:solidFill>
                  <a:srgbClr val="172D43"/>
                </a:solidFill>
                <a:latin typeface="DejaVu Sans Mono"/>
                <a:ea typeface="DejaVu Sans Mono"/>
                <a:cs typeface="DejaVu Sans Mono"/>
              </a:defRPr>
            </a:pPr>
            <a:r>
              <a:t>  ),</a:t>
            </a:r>
          </a:p>
          <a:p xmlns:a="http://schemas.openxmlformats.org/drawingml/2006/main">
            <a:pPr>
              <a:spcAft>
                <a:spcPts val="0"/>
              </a:spcAft>
              <a:defRPr sz="2100">
                <a:solidFill>
                  <a:srgbClr val="172D43"/>
                </a:solidFill>
                <a:latin typeface="DejaVu Sans Mono"/>
                <a:ea typeface="DejaVu Sans Mono"/>
                <a:cs typeface="DejaVu Sans Mono"/>
              </a:defRPr>
            </a:pPr>
            <a:r>
              <a:t>  home: </a:t>
            </a:r>
            <a:r>
              <a:rPr b="1">
                <a:solidFill>
                  <a:srgbClr val="0B3970"/>
                </a:solidFill>
              </a:rPr>
              <a:t>const</a:t>
            </a:r>
            <a:r>
              <a:t> InspectionListScreen(),</a:t>
            </a:r>
          </a:p>
          <a:p xmlns:a="http://schemas.openxmlformats.org/drawingml/2006/main">
            <a:pPr>
              <a:spcAft>
                <a:spcPts val="0"/>
              </a:spcAft>
              <a:defRPr sz="2100">
                <a:solidFill>
                  <a:srgbClr val="172D43"/>
                </a:solidFill>
                <a:latin typeface="DejaVu Sans Mono"/>
                <a:ea typeface="DejaVu Sans Mono"/>
                <a:cs typeface="DejaVu Sans Mono"/>
              </a:defRPr>
            </a:pPr>
            <a:r>
              <a:t>)</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c0342aa693c64b1b"/>
          <a:srcRect xmlns:a="http://schemas.openxmlformats.org/drawingml/2006/main" l="4250" t="6738" r="4125" b="3546"/>
          <a:stretch xmlns:a="http://schemas.openxmlformats.org/drawingml/2006/main"/>
        </p:blipFill>
        <p:spPr>
          <a:xfrm xmlns:a="http://schemas.openxmlformats.org/drawingml/2006/main">
            <a:off x="9344025" y="219075"/>
            <a:ext cx="1428750" cy="495300"/>
          </a:xfrm>
          <a:prstGeom xmlns:a="http://schemas.openxmlformats.org/drawingml/2006/main" prst="rect">
            <a:avLst/>
          </a:prstGeom>
        </p:spPr>
      </p:pic>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b158502dd2394c11"/>
          <a:srcRect xmlns:a="http://schemas.openxmlformats.org/drawingml/2006/main" l="32813" t="23779" r="32813" b="23779"/>
          <a:stretch xmlns:a="http://schemas.openxmlformats.org/drawingml/2006/main"/>
        </p:blipFill>
        <p:spPr>
          <a:xfrm xmlns:a="http://schemas.openxmlformats.org/drawingml/2006/main">
            <a:off x="11163300" y="161925"/>
            <a:ext cx="371475" cy="571500"/>
          </a:xfrm>
          <a:prstGeom xmlns:a="http://schemas.openxmlformats.org/drawingml/2006/main" prst="rect">
            <a:avLst/>
          </a:prstGeom>
        </p:spPr>
      </p:pic>
    </p:spTree>
    <p:extLst>
      <p:ext uri="{BB962C8B-B14F-4D97-AF65-F5344CB8AC3E}">
        <p14:creationId xmlns:p14="http://schemas.microsoft.com/office/powerpoint/2010/main" val="991388865"/>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ext-0-48">
            <a:extLst xmlns:a="http://schemas.openxmlformats.org/drawingml/2006/main">
              <a:ext uri="{FF2B5EF4-FFF2-40B4-BE49-F238E27FC236}">
                <a16:creationId xmlns:a16="http://schemas.microsoft.com/office/drawing/2014/main" id="{9F6707D3-563D-4D14-B55B-D40C0315129F}"/>
              </a:ext>
            </a:extLst>
          </p:cNvPr>
          <p:cNvSpPr>
            <a:spLocks xmlns:a="http://schemas.openxmlformats.org/drawingml/2006/main" noGrp="1"/>
          </p:cNvSpPr>
          <p:nvPr/>
        </p:nvSpPr>
        <p:spPr>
          <a:xfrm xmlns:a="http://schemas.openxmlformats.org/drawingml/2006/main">
            <a:off x="609600" y="8953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0000"/>
              </a:lnSpc>
              <a:buNone/>
              <a:defRPr sz="3300" b="1">
                <a:solidFill>
                  <a:srgbClr val="0B3970"/>
                </a:solidFill>
                <a:latin typeface="Nimbus Sans"/>
                <a:ea typeface="Nimbus Sans"/>
                <a:cs typeface="Nimbus Sans"/>
              </a:defRPr>
            </a:pPr>
            <a:r>
              <a:rPr sz="3300" b="1">
                <a:solidFill>
                  <a:srgbClr val="0B3970"/>
                </a:solidFill>
                <a:latin typeface="Nimbus Sans"/>
                <a:ea typeface="Nimbus Sans"/>
                <a:cs typeface="Nimbus Sans"/>
              </a:rPr>
              <a:t>Responsive UI dan keyboard</a:t>
            </a:r>
          </a:p>
        </p:txBody>
      </p:sp>
      <p:sp>
        <p:nvSpPr>
          <p:cNvPr id="2" name="text-1-674">
            <a:extLst xmlns:a="http://schemas.openxmlformats.org/drawingml/2006/main">
              <a:ext uri="{FF2B5EF4-FFF2-40B4-BE49-F238E27FC236}">
                <a16:creationId xmlns:a16="http://schemas.microsoft.com/office/drawing/2014/main" id="{BC8A5C50-624C-40D4-8EFB-1A455BE8985C}"/>
              </a:ext>
            </a:extLst>
          </p:cNvPr>
          <p:cNvSpPr>
            <a:spLocks xmlns:a="http://schemas.openxmlformats.org/drawingml/2006/main" noGrp="1"/>
          </p:cNvSpPr>
          <p:nvPr/>
        </p:nvSpPr>
        <p:spPr>
          <a:xfrm xmlns:a="http://schemas.openxmlformats.org/drawingml/2006/main">
            <a:off x="609600" y="6448425"/>
            <a:ext cx="714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125" b="0">
                <a:solidFill>
                  <a:srgbClr val="5E7182"/>
                </a:solidFill>
                <a:latin typeface="Nimbus Sans"/>
                <a:ea typeface="Nimbus Sans"/>
                <a:cs typeface="Nimbus Sans"/>
              </a:defRPr>
            </a:pPr>
            <a:r>
              <a:rPr sz="1125" b="0">
                <a:solidFill>
                  <a:srgbClr val="5E7182"/>
                </a:solidFill>
                <a:latin typeface="Nimbus Sans"/>
                <a:ea typeface="Nimbus Sans"/>
                <a:cs typeface="Nimbus Sans"/>
              </a:rPr>
              <a:t>Training Flutter Android   /   Hari 1</a:t>
            </a:r>
          </a:p>
        </p:txBody>
      </p:sp>
      <p:sp>
        <p:nvSpPr>
          <p:cNvPr id="3" name="text-2-674">
            <a:extLst xmlns:a="http://schemas.openxmlformats.org/drawingml/2006/main">
              <a:ext uri="{FF2B5EF4-FFF2-40B4-BE49-F238E27FC236}">
                <a16:creationId xmlns:a16="http://schemas.microsoft.com/office/drawing/2014/main" id="{BD30442B-01D2-4D73-87ED-0911961A00A9}"/>
              </a:ext>
            </a:extLst>
          </p:cNvPr>
          <p:cNvSpPr>
            <a:spLocks xmlns:a="http://schemas.openxmlformats.org/drawingml/2006/main" noGrp="1"/>
          </p:cNvSpPr>
          <p:nvPr/>
        </p:nvSpPr>
        <p:spPr>
          <a:xfrm xmlns:a="http://schemas.openxmlformats.org/drawingml/2006/main">
            <a:off x="10668000" y="6448425"/>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125" b="0">
                <a:solidFill>
                  <a:srgbClr val="5E7182"/>
                </a:solidFill>
                <a:latin typeface="Nimbus Sans"/>
                <a:ea typeface="Nimbus Sans"/>
                <a:cs typeface="Nimbus Sans"/>
              </a:defRPr>
            </a:pPr>
            <a:r>
              <a:rPr sz="1125" b="0">
                <a:solidFill>
                  <a:srgbClr val="5E7182"/>
                </a:solidFill>
                <a:latin typeface="Nimbus Sans"/>
                <a:ea typeface="Nimbus Sans"/>
                <a:cs typeface="Nimbus Sans"/>
              </a:rPr>
              <a:t>23 / 44</a:t>
            </a:r>
          </a:p>
        </p:txBody>
      </p:sp>
      <p:sp>
        <p:nvSpPr>
          <p:cNvPr id="4" name="text-3-180">
            <a:extLst xmlns:a="http://schemas.openxmlformats.org/drawingml/2006/main">
              <a:ext uri="{FF2B5EF4-FFF2-40B4-BE49-F238E27FC236}">
                <a16:creationId xmlns:a16="http://schemas.microsoft.com/office/drawing/2014/main" id="{241E9ECD-6E5D-4A08-8071-BE2E40EF477A}"/>
              </a:ext>
            </a:extLst>
          </p:cNvPr>
          <p:cNvSpPr>
            <a:spLocks xmlns:a="http://schemas.openxmlformats.org/drawingml/2006/main" noGrp="1"/>
          </p:cNvSpPr>
          <p:nvPr/>
        </p:nvSpPr>
        <p:spPr>
          <a:xfrm xmlns:a="http://schemas.openxmlformats.org/drawingml/2006/main">
            <a:off x="609600" y="1962150"/>
            <a:ext cx="10668000" cy="411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54000" indent="-127000">
              <a:spcAft>
                <a:spcPts val="2100"/>
              </a:spcAft>
              <a:buChar char="•"/>
              <a:defRPr sz="2325">
                <a:solidFill>
                  <a:srgbClr val="172D43"/>
                </a:solidFill>
                <a:latin typeface="Nimbus Sans"/>
                <a:ea typeface="Nimbus Sans"/>
                <a:cs typeface="Nimbus Sans"/>
              </a:defRPr>
            </a:pPr>
            <a:r>
              <a:rPr sz="2325">
                <a:solidFill>
                  <a:srgbClr val="172D43"/>
                </a:solidFill>
                <a:latin typeface="Nimbus Sans"/>
                <a:ea typeface="Nimbus Sans"/>
                <a:cs typeface="Nimbus Sans"/>
              </a:rPr>
              <a:t>Layout mengikuti constraint yang tersedia</a:t>
            </a:r>
          </a:p>
          <a:p xmlns:a="http://schemas.openxmlformats.org/drawingml/2006/main">
            <a:pPr marL="254000" indent="-127000">
              <a:spcAft>
                <a:spcPts val="2100"/>
              </a:spcAft>
              <a:buChar char="•"/>
              <a:defRPr sz="2325">
                <a:solidFill>
                  <a:srgbClr val="172D43"/>
                </a:solidFill>
                <a:latin typeface="Nimbus Sans"/>
                <a:ea typeface="Nimbus Sans"/>
                <a:cs typeface="Nimbus Sans"/>
              </a:defRPr>
            </a:pPr>
            <a:r>
              <a:rPr sz="2325">
                <a:solidFill>
                  <a:srgbClr val="172D43"/>
                </a:solidFill>
                <a:latin typeface="Nimbus Sans"/>
                <a:ea typeface="Nimbus Sans"/>
                <a:cs typeface="Nimbus Sans"/>
              </a:rPr>
              <a:t>Form dan detail panjang dapat di-scroll</a:t>
            </a:r>
          </a:p>
          <a:p xmlns:a="http://schemas.openxmlformats.org/drawingml/2006/main">
            <a:pPr marL="254000" indent="-127000">
              <a:spcAft>
                <a:spcPts val="2100"/>
              </a:spcAft>
              <a:buChar char="•"/>
              <a:defRPr sz="2325">
                <a:solidFill>
                  <a:srgbClr val="172D43"/>
                </a:solidFill>
                <a:latin typeface="Nimbus Sans"/>
                <a:ea typeface="Nimbus Sans"/>
                <a:cs typeface="Nimbus Sans"/>
              </a:defRPr>
            </a:pPr>
            <a:r>
              <a:rPr sz="2325">
                <a:solidFill>
                  <a:srgbClr val="172D43"/>
                </a:solidFill>
                <a:latin typeface="Nimbus Sans"/>
                <a:ea typeface="Nimbus Sans"/>
                <a:cs typeface="Nimbus Sans"/>
              </a:rPr>
              <a:t>Landscape tetap menjaga keterbacaan</a:t>
            </a:r>
          </a:p>
          <a:p xmlns:a="http://schemas.openxmlformats.org/drawingml/2006/main">
            <a:pPr marL="254000" indent="-127000">
              <a:spcAft>
                <a:spcPts val="2100"/>
              </a:spcAft>
              <a:buChar char="•"/>
              <a:defRPr sz="2325">
                <a:solidFill>
                  <a:srgbClr val="172D43"/>
                </a:solidFill>
                <a:latin typeface="Nimbus Sans"/>
                <a:ea typeface="Nimbus Sans"/>
                <a:cs typeface="Nimbus Sans"/>
              </a:defRPr>
            </a:pPr>
            <a:r>
              <a:rPr sz="2325">
                <a:solidFill>
                  <a:srgbClr val="172D43"/>
                </a:solidFill>
                <a:latin typeface="Nimbus Sans"/>
                <a:ea typeface="Nimbus Sans"/>
                <a:cs typeface="Nimbus Sans"/>
              </a:rPr>
              <a:t>Keyboard tidak menutup akses ke field atau tombol</a:t>
            </a:r>
          </a:p>
          <a:p xmlns:a="http://schemas.openxmlformats.org/drawingml/2006/main">
            <a:pPr marL="254000" indent="-127000">
              <a:spcAft>
                <a:spcPts val="2100"/>
              </a:spcAft>
              <a:buChar char="•"/>
              <a:defRPr sz="2325">
                <a:solidFill>
                  <a:srgbClr val="172D43"/>
                </a:solidFill>
                <a:latin typeface="Nimbus Sans"/>
                <a:ea typeface="Nimbus Sans"/>
                <a:cs typeface="Nimbus Sans"/>
              </a:defRPr>
            </a:pPr>
            <a:r>
              <a:rPr sz="2325">
                <a:solidFill>
                  <a:srgbClr val="172D43"/>
                </a:solidFill>
                <a:latin typeface="Nimbus Sans"/>
                <a:ea typeface="Nimbus Sans"/>
                <a:cs typeface="Nimbus Sans"/>
              </a:rPr>
              <a:t>Teks kondisi tetap jelas ketika ukuran font naik</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3e905370a24e4d02"/>
          <a:srcRect xmlns:a="http://schemas.openxmlformats.org/drawingml/2006/main" l="4250" t="6738" r="4125" b="3546"/>
          <a:stretch xmlns:a="http://schemas.openxmlformats.org/drawingml/2006/main"/>
        </p:blipFill>
        <p:spPr>
          <a:xfrm xmlns:a="http://schemas.openxmlformats.org/drawingml/2006/main">
            <a:off x="9344025" y="219075"/>
            <a:ext cx="1428750" cy="495300"/>
          </a:xfrm>
          <a:prstGeom xmlns:a="http://schemas.openxmlformats.org/drawingml/2006/main" prst="rect">
            <a:avLst/>
          </a:prstGeom>
        </p:spPr>
      </p:pic>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1cf351e586d44e1a"/>
          <a:srcRect xmlns:a="http://schemas.openxmlformats.org/drawingml/2006/main" l="32813" t="23779" r="32813" b="23779"/>
          <a:stretch xmlns:a="http://schemas.openxmlformats.org/drawingml/2006/main"/>
        </p:blipFill>
        <p:spPr>
          <a:xfrm xmlns:a="http://schemas.openxmlformats.org/drawingml/2006/main">
            <a:off x="11163300" y="161925"/>
            <a:ext cx="371475" cy="571500"/>
          </a:xfrm>
          <a:prstGeom xmlns:a="http://schemas.openxmlformats.org/drawingml/2006/main" prst="rect">
            <a:avLst/>
          </a:prstGeom>
        </p:spPr>
      </p:pic>
    </p:spTree>
    <p:extLst>
      <p:ext uri="{BB962C8B-B14F-4D97-AF65-F5344CB8AC3E}">
        <p14:creationId xmlns:p14="http://schemas.microsoft.com/office/powerpoint/2010/main" val="1451461836"/>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0-48">
            <a:extLst xmlns:a="http://schemas.openxmlformats.org/drawingml/2006/main">
              <a:ext uri="{FF2B5EF4-FFF2-40B4-BE49-F238E27FC236}">
                <a16:creationId xmlns:a16="http://schemas.microsoft.com/office/drawing/2014/main" id="{6167228C-0A40-4B88-A32A-2505EAF3D3D8}"/>
              </a:ext>
            </a:extLst>
          </p:cNvPr>
          <p:cNvSpPr>
            <a:spLocks xmlns:a="http://schemas.openxmlformats.org/drawingml/2006/main" noGrp="1"/>
          </p:cNvSpPr>
          <p:nvPr/>
        </p:nvSpPr>
        <p:spPr>
          <a:xfrm xmlns:a="http://schemas.openxmlformats.org/drawingml/2006/main">
            <a:off x="609600" y="8953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0000"/>
              </a:lnSpc>
              <a:buNone/>
              <a:defRPr sz="3300" b="1">
                <a:solidFill>
                  <a:srgbClr val="0B3970"/>
                </a:solidFill>
                <a:latin typeface="Nimbus Sans"/>
                <a:ea typeface="Nimbus Sans"/>
                <a:cs typeface="Nimbus Sans"/>
              </a:defRPr>
            </a:pPr>
            <a:r>
              <a:rPr sz="3300" b="1">
                <a:solidFill>
                  <a:srgbClr val="0B3970"/>
                </a:solidFill>
                <a:latin typeface="Nimbus Sans"/>
                <a:ea typeface="Nimbus Sans"/>
                <a:cs typeface="Nimbus Sans"/>
              </a:rPr>
              <a:t>Asset lokal pada pubspec</a:t>
            </a:r>
          </a:p>
        </p:txBody>
      </p:sp>
      <p:sp>
        <p:nvSpPr>
          <p:cNvPr id="2" name="text-1-674">
            <a:extLst xmlns:a="http://schemas.openxmlformats.org/drawingml/2006/main">
              <a:ext uri="{FF2B5EF4-FFF2-40B4-BE49-F238E27FC236}">
                <a16:creationId xmlns:a16="http://schemas.microsoft.com/office/drawing/2014/main" id="{84D8BDEA-2C8E-43B5-9313-ABBA792EBF37}"/>
              </a:ext>
            </a:extLst>
          </p:cNvPr>
          <p:cNvSpPr>
            <a:spLocks xmlns:a="http://schemas.openxmlformats.org/drawingml/2006/main" noGrp="1"/>
          </p:cNvSpPr>
          <p:nvPr/>
        </p:nvSpPr>
        <p:spPr>
          <a:xfrm xmlns:a="http://schemas.openxmlformats.org/drawingml/2006/main">
            <a:off x="609600" y="6448425"/>
            <a:ext cx="714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125" b="0">
                <a:solidFill>
                  <a:srgbClr val="5E7182"/>
                </a:solidFill>
                <a:latin typeface="Nimbus Sans"/>
                <a:ea typeface="Nimbus Sans"/>
                <a:cs typeface="Nimbus Sans"/>
              </a:defRPr>
            </a:pPr>
            <a:r>
              <a:rPr sz="1125" b="0">
                <a:solidFill>
                  <a:srgbClr val="5E7182"/>
                </a:solidFill>
                <a:latin typeface="Nimbus Sans"/>
                <a:ea typeface="Nimbus Sans"/>
                <a:cs typeface="Nimbus Sans"/>
              </a:rPr>
              <a:t>Training Flutter Android   /   Hari 1</a:t>
            </a:r>
          </a:p>
        </p:txBody>
      </p:sp>
      <p:sp>
        <p:nvSpPr>
          <p:cNvPr id="3" name="text-2-674">
            <a:extLst xmlns:a="http://schemas.openxmlformats.org/drawingml/2006/main">
              <a:ext uri="{FF2B5EF4-FFF2-40B4-BE49-F238E27FC236}">
                <a16:creationId xmlns:a16="http://schemas.microsoft.com/office/drawing/2014/main" id="{C7F849E6-2B3D-41D9-9C01-76D29EE057D6}"/>
              </a:ext>
            </a:extLst>
          </p:cNvPr>
          <p:cNvSpPr>
            <a:spLocks xmlns:a="http://schemas.openxmlformats.org/drawingml/2006/main" noGrp="1"/>
          </p:cNvSpPr>
          <p:nvPr/>
        </p:nvSpPr>
        <p:spPr>
          <a:xfrm xmlns:a="http://schemas.openxmlformats.org/drawingml/2006/main">
            <a:off x="10668000" y="6448425"/>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125" b="0">
                <a:solidFill>
                  <a:srgbClr val="5E7182"/>
                </a:solidFill>
                <a:latin typeface="Nimbus Sans"/>
                <a:ea typeface="Nimbus Sans"/>
                <a:cs typeface="Nimbus Sans"/>
              </a:defRPr>
            </a:pPr>
            <a:r>
              <a:rPr sz="1125" b="0">
                <a:solidFill>
                  <a:srgbClr val="5E7182"/>
                </a:solidFill>
                <a:latin typeface="Nimbus Sans"/>
                <a:ea typeface="Nimbus Sans"/>
                <a:cs typeface="Nimbus Sans"/>
              </a:rPr>
              <a:t>24 / 44</a:t>
            </a:r>
          </a:p>
        </p:txBody>
      </p:sp>
      <p:sp>
        <p:nvSpPr>
          <p:cNvPr id="4" name="text-3-193">
            <a:extLst xmlns:a="http://schemas.openxmlformats.org/drawingml/2006/main">
              <a:ext uri="{FF2B5EF4-FFF2-40B4-BE49-F238E27FC236}">
                <a16:creationId xmlns:a16="http://schemas.microsoft.com/office/drawing/2014/main" id="{F1DB4618-1D2B-409A-AFA8-633C5B741BAB}"/>
              </a:ext>
            </a:extLst>
          </p:cNvPr>
          <p:cNvSpPr>
            <a:spLocks xmlns:a="http://schemas.openxmlformats.org/drawingml/2006/main" noGrp="1"/>
          </p:cNvSpPr>
          <p:nvPr/>
        </p:nvSpPr>
        <p:spPr>
          <a:xfrm xmlns:a="http://schemas.openxmlformats.org/drawingml/2006/main">
            <a:off x="609600" y="1819275"/>
            <a:ext cx="10972800" cy="414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spcAft>
                <a:spcPts val="0"/>
              </a:spcAft>
              <a:defRPr sz="2100">
                <a:solidFill>
                  <a:srgbClr val="172D43"/>
                </a:solidFill>
                <a:latin typeface="DejaVu Sans Mono"/>
                <a:ea typeface="DejaVu Sans Mono"/>
                <a:cs typeface="DejaVu Sans Mono"/>
              </a:defRPr>
            </a:pPr>
            <a:r>
              <a:t>flutter:</a:t>
            </a:r>
          </a:p>
          <a:p xmlns:a="http://schemas.openxmlformats.org/drawingml/2006/main">
            <a:pPr>
              <a:spcAft>
                <a:spcPts val="0"/>
              </a:spcAft>
              <a:defRPr sz="2100">
                <a:solidFill>
                  <a:srgbClr val="172D43"/>
                </a:solidFill>
                <a:latin typeface="DejaVu Sans Mono"/>
                <a:ea typeface="DejaVu Sans Mono"/>
                <a:cs typeface="DejaVu Sans Mono"/>
              </a:defRPr>
            </a:pPr>
            <a:r>
              <a:t>  uses-material-design: true</a:t>
            </a:r>
          </a:p>
          <a:p xmlns:a="http://schemas.openxmlformats.org/drawingml/2006/main">
            <a:pPr>
              <a:spcAft>
                <a:spcPts val="0"/>
              </a:spcAft>
              <a:defRPr sz="2100">
                <a:solidFill>
                  <a:srgbClr val="172D43"/>
                </a:solidFill>
                <a:latin typeface="DejaVu Sans Mono"/>
                <a:ea typeface="DejaVu Sans Mono"/>
                <a:cs typeface="DejaVu Sans Mono"/>
              </a:defRPr>
            </a:pPr>
            <a:r>
              <a:t>  assets:</a:t>
            </a:r>
          </a:p>
          <a:p xmlns:a="http://schemas.openxmlformats.org/drawingml/2006/main">
            <a:pPr>
              <a:spcAft>
                <a:spcPts val="0"/>
              </a:spcAft>
              <a:defRPr sz="2100">
                <a:solidFill>
                  <a:srgbClr val="172D43"/>
                </a:solidFill>
                <a:latin typeface="DejaVu Sans Mono"/>
                <a:ea typeface="DejaVu Sans Mono"/>
                <a:cs typeface="DejaVu Sans Mono"/>
              </a:defRPr>
            </a:pPr>
            <a:r>
              <a:t>    - assets/images/</a:t>
            </a:r>
          </a:p>
          <a:p xmlns:a="http://schemas.openxmlformats.org/drawingml/2006/main">
            <a:pPr>
              <a:spcAft>
                <a:spcPts val="0"/>
              </a:spcAft>
              <a:defRPr sz="2100">
                <a:solidFill>
                  <a:srgbClr val="172D43"/>
                </a:solidFill>
                <a:latin typeface="DejaVu Sans Mono"/>
                <a:ea typeface="DejaVu Sans Mono"/>
                <a:cs typeface="DejaVu Sans Mono"/>
              </a:defRPr>
            </a:pPr>
            <a:r>
              <a:t> </a:t>
            </a:r>
          </a:p>
          <a:p xmlns:a="http://schemas.openxmlformats.org/drawingml/2006/main">
            <a:pPr>
              <a:spcAft>
                <a:spcPts val="0"/>
              </a:spcAft>
              <a:defRPr sz="2100">
                <a:solidFill>
                  <a:srgbClr val="172D43"/>
                </a:solidFill>
                <a:latin typeface="DejaVu Sans Mono"/>
                <a:ea typeface="DejaVu Sans Mono"/>
                <a:cs typeface="DejaVu Sans Mono"/>
              </a:defRPr>
            </a:pPr>
            <a:r>
              <a:rPr>
                <a:solidFill>
                  <a:srgbClr val="5E7182"/>
                </a:solidFill>
              </a:rPr>
              <a:t>// Dalam widget setelah file tersedia</a:t>
            </a:r>
          </a:p>
          <a:p xmlns:a="http://schemas.openxmlformats.org/drawingml/2006/main">
            <a:pPr>
              <a:spcAft>
                <a:spcPts val="0"/>
              </a:spcAft>
              <a:defRPr sz="2100">
                <a:solidFill>
                  <a:srgbClr val="172D43"/>
                </a:solidFill>
                <a:latin typeface="DejaVu Sans Mono"/>
                <a:ea typeface="DejaVu Sans Mono"/>
                <a:cs typeface="DejaVu Sans Mono"/>
              </a:defRPr>
            </a:pPr>
            <a:r>
              <a:t>Image.asset(</a:t>
            </a:r>
          </a:p>
          <a:p xmlns:a="http://schemas.openxmlformats.org/drawingml/2006/main">
            <a:pPr>
              <a:spcAft>
                <a:spcPts val="0"/>
              </a:spcAft>
              <a:defRPr sz="2100">
                <a:solidFill>
                  <a:srgbClr val="172D43"/>
                </a:solidFill>
                <a:latin typeface="DejaVu Sans Mono"/>
                <a:ea typeface="DejaVu Sans Mono"/>
                <a:cs typeface="DejaVu Sans Mono"/>
              </a:defRPr>
            </a:pPr>
            <a:r>
              <a:t>  </a:t>
            </a:r>
            <a:r>
              <a:rPr b="0">
                <a:solidFill>
                  <a:srgbClr val="007DB7"/>
                </a:solidFill>
              </a:rPr>
              <a:t>'assets/images/equipment.png'</a:t>
            </a:r>
            <a:r>
              <a:t>,</a:t>
            </a:r>
          </a:p>
          <a:p xmlns:a="http://schemas.openxmlformats.org/drawingml/2006/main">
            <a:pPr>
              <a:spcAft>
                <a:spcPts val="0"/>
              </a:spcAft>
              <a:defRPr sz="2100">
                <a:solidFill>
                  <a:srgbClr val="172D43"/>
                </a:solidFill>
                <a:latin typeface="DejaVu Sans Mono"/>
                <a:ea typeface="DejaVu Sans Mono"/>
                <a:cs typeface="DejaVu Sans Mono"/>
              </a:defRPr>
            </a:pPr>
            <a:r>
              <a:t>  fit: BoxFit.contain,</a:t>
            </a:r>
          </a:p>
          <a:p xmlns:a="http://schemas.openxmlformats.org/drawingml/2006/main">
            <a:pPr>
              <a:spcAft>
                <a:spcPts val="0"/>
              </a:spcAft>
              <a:defRPr sz="2100">
                <a:solidFill>
                  <a:srgbClr val="172D43"/>
                </a:solidFill>
                <a:latin typeface="DejaVu Sans Mono"/>
                <a:ea typeface="DejaVu Sans Mono"/>
                <a:cs typeface="DejaVu Sans Mono"/>
              </a:defRPr>
            </a:pPr>
            <a:r>
              <a:t>)</a:t>
            </a:r>
          </a:p>
        </p:txBody>
      </p:sp>
      <p:sp>
        <p:nvSpPr>
          <p:cNvPr id="5" name="text-4-633">
            <a:extLst xmlns:a="http://schemas.openxmlformats.org/drawingml/2006/main">
              <a:ext uri="{FF2B5EF4-FFF2-40B4-BE49-F238E27FC236}">
                <a16:creationId xmlns:a16="http://schemas.microsoft.com/office/drawing/2014/main" id="{C000127F-A772-4D53-974E-78A55028C213}"/>
              </a:ext>
            </a:extLst>
          </p:cNvPr>
          <p:cNvSpPr>
            <a:spLocks xmlns:a="http://schemas.openxmlformats.org/drawingml/2006/main" noGrp="1"/>
          </p:cNvSpPr>
          <p:nvPr/>
        </p:nvSpPr>
        <p:spPr>
          <a:xfrm xmlns:a="http://schemas.openxmlformats.org/drawingml/2006/main">
            <a:off x="609600" y="6029325"/>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800" b="1">
                <a:solidFill>
                  <a:srgbClr val="007DB7"/>
                </a:solidFill>
                <a:latin typeface="Nimbus Sans"/>
                <a:ea typeface="Nimbus Sans"/>
                <a:cs typeface="Nimbus Sans"/>
              </a:defRPr>
            </a:pPr>
            <a:r>
              <a:rPr sz="1800" b="1">
                <a:solidFill>
                  <a:srgbClr val="007DB7"/>
                </a:solidFill>
                <a:latin typeface="Nimbus Sans"/>
                <a:ea typeface="Nimbus Sans"/>
                <a:cs typeface="Nimbus Sans"/>
              </a:rPr>
              <a:t>Contoh asset bersifat opsional. File harus tersedia di lokasi yang benar.</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f9b1ad63b19b4e5c"/>
          <a:srcRect xmlns:a="http://schemas.openxmlformats.org/drawingml/2006/main" l="4250" t="6738" r="4125" b="3546"/>
          <a:stretch xmlns:a="http://schemas.openxmlformats.org/drawingml/2006/main"/>
        </p:blipFill>
        <p:spPr>
          <a:xfrm xmlns:a="http://schemas.openxmlformats.org/drawingml/2006/main">
            <a:off x="9344025" y="219075"/>
            <a:ext cx="1428750" cy="495300"/>
          </a:xfrm>
          <a:prstGeom xmlns:a="http://schemas.openxmlformats.org/drawingml/2006/main" prst="rect">
            <a:avLst/>
          </a:prstGeom>
        </p:spPr>
      </p:pic>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84eb44280fd240bf"/>
          <a:srcRect xmlns:a="http://schemas.openxmlformats.org/drawingml/2006/main" l="32813" t="23779" r="32813" b="23779"/>
          <a:stretch xmlns:a="http://schemas.openxmlformats.org/drawingml/2006/main"/>
        </p:blipFill>
        <p:spPr>
          <a:xfrm xmlns:a="http://schemas.openxmlformats.org/drawingml/2006/main">
            <a:off x="11163300" y="161925"/>
            <a:ext cx="371475" cy="571500"/>
          </a:xfrm>
          <a:prstGeom xmlns:a="http://schemas.openxmlformats.org/drawingml/2006/main" prst="rect">
            <a:avLst/>
          </a:prstGeom>
        </p:spPr>
      </p:pic>
    </p:spTree>
    <p:extLst>
      <p:ext uri="{BB962C8B-B14F-4D97-AF65-F5344CB8AC3E}">
        <p14:creationId xmlns:p14="http://schemas.microsoft.com/office/powerpoint/2010/main" val="24957145"/>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0-48">
            <a:extLst xmlns:a="http://schemas.openxmlformats.org/drawingml/2006/main">
              <a:ext uri="{FF2B5EF4-FFF2-40B4-BE49-F238E27FC236}">
                <a16:creationId xmlns:a16="http://schemas.microsoft.com/office/drawing/2014/main" id="{FF5EC2F1-7A7A-466C-82DD-94F55A3DC901}"/>
              </a:ext>
            </a:extLst>
          </p:cNvPr>
          <p:cNvSpPr>
            <a:spLocks xmlns:a="http://schemas.openxmlformats.org/drawingml/2006/main" noGrp="1"/>
          </p:cNvSpPr>
          <p:nvPr/>
        </p:nvSpPr>
        <p:spPr>
          <a:xfrm xmlns:a="http://schemas.openxmlformats.org/drawingml/2006/main">
            <a:off x="609600" y="8953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0000"/>
              </a:lnSpc>
              <a:buNone/>
              <a:defRPr sz="3300" b="1">
                <a:solidFill>
                  <a:srgbClr val="0B3970"/>
                </a:solidFill>
                <a:latin typeface="Nimbus Sans"/>
                <a:ea typeface="Nimbus Sans"/>
                <a:cs typeface="Nimbus Sans"/>
              </a:defRPr>
            </a:pPr>
            <a:r>
              <a:rPr sz="3300" b="1">
                <a:solidFill>
                  <a:srgbClr val="0B3970"/>
                </a:solidFill>
                <a:latin typeface="Nimbus Sans"/>
                <a:ea typeface="Nimbus Sans"/>
                <a:cs typeface="Nimbus Sans"/>
              </a:rPr>
              <a:t>Praktik 2 daftar dan detail</a:t>
            </a:r>
          </a:p>
        </p:txBody>
      </p:sp>
      <p:sp>
        <p:nvSpPr>
          <p:cNvPr id="2" name="text-1-674">
            <a:extLst xmlns:a="http://schemas.openxmlformats.org/drawingml/2006/main">
              <a:ext uri="{FF2B5EF4-FFF2-40B4-BE49-F238E27FC236}">
                <a16:creationId xmlns:a16="http://schemas.microsoft.com/office/drawing/2014/main" id="{7FB08290-C006-47D9-9E19-CEC4C10984E1}"/>
              </a:ext>
            </a:extLst>
          </p:cNvPr>
          <p:cNvSpPr>
            <a:spLocks xmlns:a="http://schemas.openxmlformats.org/drawingml/2006/main" noGrp="1"/>
          </p:cNvSpPr>
          <p:nvPr/>
        </p:nvSpPr>
        <p:spPr>
          <a:xfrm xmlns:a="http://schemas.openxmlformats.org/drawingml/2006/main">
            <a:off x="609600" y="6448425"/>
            <a:ext cx="714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125" b="0">
                <a:solidFill>
                  <a:srgbClr val="5E7182"/>
                </a:solidFill>
                <a:latin typeface="Nimbus Sans"/>
                <a:ea typeface="Nimbus Sans"/>
                <a:cs typeface="Nimbus Sans"/>
              </a:defRPr>
            </a:pPr>
            <a:r>
              <a:rPr sz="1125" b="0">
                <a:solidFill>
                  <a:srgbClr val="5E7182"/>
                </a:solidFill>
                <a:latin typeface="Nimbus Sans"/>
                <a:ea typeface="Nimbus Sans"/>
                <a:cs typeface="Nimbus Sans"/>
              </a:rPr>
              <a:t>Training Flutter Android   /   Hari 1</a:t>
            </a:r>
          </a:p>
        </p:txBody>
      </p:sp>
      <p:sp>
        <p:nvSpPr>
          <p:cNvPr id="3" name="text-2-674">
            <a:extLst xmlns:a="http://schemas.openxmlformats.org/drawingml/2006/main">
              <a:ext uri="{FF2B5EF4-FFF2-40B4-BE49-F238E27FC236}">
                <a16:creationId xmlns:a16="http://schemas.microsoft.com/office/drawing/2014/main" id="{497CB4DB-2FDE-419F-A59C-873AAA873ABB}"/>
              </a:ext>
            </a:extLst>
          </p:cNvPr>
          <p:cNvSpPr>
            <a:spLocks xmlns:a="http://schemas.openxmlformats.org/drawingml/2006/main" noGrp="1"/>
          </p:cNvSpPr>
          <p:nvPr/>
        </p:nvSpPr>
        <p:spPr>
          <a:xfrm xmlns:a="http://schemas.openxmlformats.org/drawingml/2006/main">
            <a:off x="10668000" y="6448425"/>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125" b="0">
                <a:solidFill>
                  <a:srgbClr val="5E7182"/>
                </a:solidFill>
                <a:latin typeface="Nimbus Sans"/>
                <a:ea typeface="Nimbus Sans"/>
                <a:cs typeface="Nimbus Sans"/>
              </a:defRPr>
            </a:pPr>
            <a:r>
              <a:rPr sz="1125" b="0">
                <a:solidFill>
                  <a:srgbClr val="5E7182"/>
                </a:solidFill>
                <a:latin typeface="Nimbus Sans"/>
                <a:ea typeface="Nimbus Sans"/>
                <a:cs typeface="Nimbus Sans"/>
              </a:rPr>
              <a:t>25 / 44</a:t>
            </a:r>
          </a:p>
        </p:txBody>
      </p:sp>
      <p:sp>
        <p:nvSpPr>
          <p:cNvPr id="4" name="text-3-174">
            <a:extLst xmlns:a="http://schemas.openxmlformats.org/drawingml/2006/main">
              <a:ext uri="{FF2B5EF4-FFF2-40B4-BE49-F238E27FC236}">
                <a16:creationId xmlns:a16="http://schemas.microsoft.com/office/drawing/2014/main" id="{AACA3B9E-AF32-4CE9-8605-07C647493818}"/>
              </a:ext>
            </a:extLst>
          </p:cNvPr>
          <p:cNvSpPr>
            <a:spLocks xmlns:a="http://schemas.openxmlformats.org/drawingml/2006/main" noGrp="1"/>
          </p:cNvSpPr>
          <p:nvPr/>
        </p:nvSpPr>
        <p:spPr>
          <a:xfrm xmlns:a="http://schemas.openxmlformats.org/drawingml/2006/main">
            <a:off x="609600" y="185737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2400" b="1">
                <a:solidFill>
                  <a:srgbClr val="007DB7"/>
                </a:solidFill>
                <a:latin typeface="Nimbus Sans"/>
                <a:ea typeface="Nimbus Sans"/>
                <a:cs typeface="Nimbus Sans"/>
              </a:defRPr>
            </a:pPr>
            <a:r>
              <a:rPr sz="2400" b="1">
                <a:solidFill>
                  <a:srgbClr val="007DB7"/>
                </a:solidFill>
                <a:latin typeface="Nimbus Sans"/>
                <a:ea typeface="Nimbus Sans"/>
                <a:cs typeface="Nimbus Sans"/>
              </a:rPr>
              <a:t>Daftar dan detail terbaca pada layar sempit</a:t>
            </a:r>
          </a:p>
        </p:txBody>
      </p:sp>
      <p:sp>
        <p:nvSpPr>
          <p:cNvPr id="5" name="text-4-292">
            <a:extLst xmlns:a="http://schemas.openxmlformats.org/drawingml/2006/main">
              <a:ext uri="{FF2B5EF4-FFF2-40B4-BE49-F238E27FC236}">
                <a16:creationId xmlns:a16="http://schemas.microsoft.com/office/drawing/2014/main" id="{F57C5A2F-85A4-4617-8689-B3CC81C2A371}"/>
              </a:ext>
            </a:extLst>
          </p:cNvPr>
          <p:cNvSpPr>
            <a:spLocks xmlns:a="http://schemas.openxmlformats.org/drawingml/2006/main" noGrp="1"/>
          </p:cNvSpPr>
          <p:nvPr/>
        </p:nvSpPr>
        <p:spPr>
          <a:xfrm xmlns:a="http://schemas.openxmlformats.org/drawingml/2006/main">
            <a:off x="609600" y="2809875"/>
            <a:ext cx="10572750"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14300">
              <a:spcAft>
                <a:spcPts val="1800"/>
              </a:spcAft>
              <a:buChar char="•"/>
              <a:defRPr sz="2175">
                <a:solidFill>
                  <a:srgbClr val="172D43"/>
                </a:solidFill>
                <a:latin typeface="Nimbus Sans"/>
                <a:ea typeface="Nimbus Sans"/>
                <a:cs typeface="Nimbus Sans"/>
              </a:defRPr>
            </a:pPr>
            <a:r>
              <a:rPr sz="2175">
                <a:solidFill>
                  <a:srgbClr val="172D43"/>
                </a:solidFill>
                <a:latin typeface="Nimbus Sans"/>
                <a:ea typeface="Nimbus Sans"/>
                <a:cs typeface="Nimbus Sans"/>
              </a:rPr>
              <a:t>Bangun daftar dengan ListView.builder dan key ID</a:t>
            </a:r>
          </a:p>
          <a:p xmlns:a="http://schemas.openxmlformats.org/drawingml/2006/main">
            <a:pPr marL="228600" indent="-114300">
              <a:spcAft>
                <a:spcPts val="1800"/>
              </a:spcAft>
              <a:buChar char="•"/>
              <a:defRPr sz="2175">
                <a:solidFill>
                  <a:srgbClr val="172D43"/>
                </a:solidFill>
                <a:latin typeface="Nimbus Sans"/>
                <a:ea typeface="Nimbus Sans"/>
                <a:cs typeface="Nimbus Sans"/>
              </a:defRPr>
            </a:pPr>
            <a:r>
              <a:rPr sz="2175">
                <a:solidFill>
                  <a:srgbClr val="172D43"/>
                </a:solidFill>
                <a:latin typeface="Nimbus Sans"/>
                <a:ea typeface="Nimbus Sans"/>
                <a:cs typeface="Nimbus Sans"/>
              </a:rPr>
              <a:t>Buka detail record yang dipilih</a:t>
            </a:r>
          </a:p>
          <a:p xmlns:a="http://schemas.openxmlformats.org/drawingml/2006/main">
            <a:pPr marL="228600" indent="-114300">
              <a:spcAft>
                <a:spcPts val="1800"/>
              </a:spcAft>
              <a:buChar char="•"/>
              <a:defRPr sz="2175">
                <a:solidFill>
                  <a:srgbClr val="172D43"/>
                </a:solidFill>
                <a:latin typeface="Nimbus Sans"/>
                <a:ea typeface="Nimbus Sans"/>
                <a:cs typeface="Nimbus Sans"/>
              </a:defRPr>
            </a:pPr>
            <a:r>
              <a:rPr sz="2175">
                <a:solidFill>
                  <a:srgbClr val="172D43"/>
                </a:solidFill>
                <a:latin typeface="Nimbus Sans"/>
                <a:ea typeface="Nimbus Sans"/>
                <a:cs typeface="Nimbus Sans"/>
              </a:rPr>
              <a:t>Pisahkan satu komponen yang dipakai berulang</a:t>
            </a:r>
          </a:p>
          <a:p xmlns:a="http://schemas.openxmlformats.org/drawingml/2006/main">
            <a:pPr marL="228600" indent="-114300">
              <a:spcAft>
                <a:spcPts val="1800"/>
              </a:spcAft>
              <a:buChar char="•"/>
              <a:defRPr sz="2175">
                <a:solidFill>
                  <a:srgbClr val="172D43"/>
                </a:solidFill>
                <a:latin typeface="Nimbus Sans"/>
                <a:ea typeface="Nimbus Sans"/>
                <a:cs typeface="Nimbus Sans"/>
              </a:defRPr>
            </a:pPr>
            <a:r>
              <a:rPr sz="2175">
                <a:solidFill>
                  <a:srgbClr val="172D43"/>
                </a:solidFill>
                <a:latin typeface="Nimbus Sans"/>
                <a:ea typeface="Nimbus Sans"/>
                <a:cs typeface="Nimbus Sans"/>
              </a:rPr>
              <a:t>Uji landscape, teks panjang dan constraint</a:t>
            </a:r>
          </a:p>
        </p:txBody>
      </p:sp>
      <p:sp>
        <p:nvSpPr>
          <p:cNvPr id="6" name="text-5-604">
            <a:extLst xmlns:a="http://schemas.openxmlformats.org/drawingml/2006/main">
              <a:ext uri="{FF2B5EF4-FFF2-40B4-BE49-F238E27FC236}">
                <a16:creationId xmlns:a16="http://schemas.microsoft.com/office/drawing/2014/main" id="{E918E634-2FF5-412A-8951-9D7F45AA6583}"/>
              </a:ext>
            </a:extLst>
          </p:cNvPr>
          <p:cNvSpPr>
            <a:spLocks xmlns:a="http://schemas.openxmlformats.org/drawingml/2006/main" noGrp="1"/>
          </p:cNvSpPr>
          <p:nvPr/>
        </p:nvSpPr>
        <p:spPr>
          <a:xfrm xmlns:a="http://schemas.openxmlformats.org/drawingml/2006/main">
            <a:off x="609600" y="5810250"/>
            <a:ext cx="171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650" b="1">
                <a:solidFill>
                  <a:srgbClr val="0B3970"/>
                </a:solidFill>
                <a:latin typeface="Nimbus Sans"/>
                <a:ea typeface="Nimbus Sans"/>
                <a:cs typeface="Nimbus Sans"/>
              </a:defRPr>
            </a:pPr>
            <a:r>
              <a:rPr sz="1650" b="1">
                <a:solidFill>
                  <a:srgbClr val="0B3970"/>
                </a:solidFill>
                <a:latin typeface="Nimbus Sans"/>
                <a:ea typeface="Nimbus Sans"/>
                <a:cs typeface="Nimbus Sans"/>
              </a:rPr>
              <a:t>Bukti hasil</a:t>
            </a:r>
          </a:p>
        </p:txBody>
      </p:sp>
      <p:sp>
        <p:nvSpPr>
          <p:cNvPr id="7" name="text-6-604">
            <a:extLst xmlns:a="http://schemas.openxmlformats.org/drawingml/2006/main">
              <a:ext uri="{FF2B5EF4-FFF2-40B4-BE49-F238E27FC236}">
                <a16:creationId xmlns:a16="http://schemas.microsoft.com/office/drawing/2014/main" id="{13C138BC-DF47-482A-AE11-457411D7B8C9}"/>
              </a:ext>
            </a:extLst>
          </p:cNvPr>
          <p:cNvSpPr>
            <a:spLocks xmlns:a="http://schemas.openxmlformats.org/drawingml/2006/main" noGrp="1"/>
          </p:cNvSpPr>
          <p:nvPr/>
        </p:nvSpPr>
        <p:spPr>
          <a:xfrm xmlns:a="http://schemas.openxmlformats.org/drawingml/2006/main">
            <a:off x="2419350" y="5810250"/>
            <a:ext cx="91630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725" b="0">
                <a:solidFill>
                  <a:srgbClr val="5E7182"/>
                </a:solidFill>
                <a:latin typeface="Nimbus Sans"/>
                <a:ea typeface="Nimbus Sans"/>
                <a:cs typeface="Nimbus Sans"/>
              </a:defRPr>
            </a:pPr>
            <a:r>
              <a:rPr sz="1725" b="0">
                <a:solidFill>
                  <a:srgbClr val="5E7182"/>
                </a:solidFill>
                <a:latin typeface="Nimbus Sans"/>
                <a:ea typeface="Nimbus Sans"/>
                <a:cs typeface="Nimbus Sans"/>
              </a:rPr>
              <a:t>Screenshot daftar dan detail tanpa overflow</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e0fe4e1145f146c1"/>
          <a:srcRect xmlns:a="http://schemas.openxmlformats.org/drawingml/2006/main" l="4250" t="6738" r="4125" b="3546"/>
          <a:stretch xmlns:a="http://schemas.openxmlformats.org/drawingml/2006/main"/>
        </p:blipFill>
        <p:spPr>
          <a:xfrm xmlns:a="http://schemas.openxmlformats.org/drawingml/2006/main">
            <a:off x="9344025" y="219075"/>
            <a:ext cx="1428750" cy="495300"/>
          </a:xfrm>
          <a:prstGeom xmlns:a="http://schemas.openxmlformats.org/drawingml/2006/main" prst="rect">
            <a:avLst/>
          </a:prstGeom>
        </p:spPr>
      </p:pic>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fa5a98172aa54ac2"/>
          <a:srcRect xmlns:a="http://schemas.openxmlformats.org/drawingml/2006/main" l="32813" t="23779" r="32813" b="23779"/>
          <a:stretch xmlns:a="http://schemas.openxmlformats.org/drawingml/2006/main"/>
        </p:blipFill>
        <p:spPr>
          <a:xfrm xmlns:a="http://schemas.openxmlformats.org/drawingml/2006/main">
            <a:off x="11163300" y="161925"/>
            <a:ext cx="371475" cy="571500"/>
          </a:xfrm>
          <a:prstGeom xmlns:a="http://schemas.openxmlformats.org/drawingml/2006/main" prst="rect">
            <a:avLst/>
          </a:prstGeom>
        </p:spPr>
      </p:pic>
    </p:spTree>
    <p:extLst>
      <p:ext uri="{BB962C8B-B14F-4D97-AF65-F5344CB8AC3E}">
        <p14:creationId xmlns:p14="http://schemas.microsoft.com/office/powerpoint/2010/main" val="473332119"/>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ext-0-48">
            <a:extLst xmlns:a="http://schemas.openxmlformats.org/drawingml/2006/main">
              <a:ext uri="{FF2B5EF4-FFF2-40B4-BE49-F238E27FC236}">
                <a16:creationId xmlns:a16="http://schemas.microsoft.com/office/drawing/2014/main" id="{ACCD6947-E093-40E1-933D-482EC5BAFC7D}"/>
              </a:ext>
            </a:extLst>
          </p:cNvPr>
          <p:cNvSpPr>
            <a:spLocks xmlns:a="http://schemas.openxmlformats.org/drawingml/2006/main" noGrp="1"/>
          </p:cNvSpPr>
          <p:nvPr/>
        </p:nvSpPr>
        <p:spPr>
          <a:xfrm xmlns:a="http://schemas.openxmlformats.org/drawingml/2006/main">
            <a:off x="609600" y="8953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0000"/>
              </a:lnSpc>
              <a:buNone/>
              <a:defRPr sz="3300" b="1">
                <a:solidFill>
                  <a:srgbClr val="0B3970"/>
                </a:solidFill>
                <a:latin typeface="Nimbus Sans"/>
                <a:ea typeface="Nimbus Sans"/>
                <a:cs typeface="Nimbus Sans"/>
              </a:defRPr>
            </a:pPr>
            <a:r>
              <a:rPr sz="3300" b="1">
                <a:solidFill>
                  <a:srgbClr val="0B3970"/>
                </a:solidFill>
                <a:latin typeface="Nimbus Sans"/>
                <a:ea typeface="Nimbus Sans"/>
                <a:cs typeface="Nimbus Sans"/>
              </a:rPr>
              <a:t>Lifecycle State dan resource</a:t>
            </a:r>
          </a:p>
        </p:txBody>
      </p:sp>
      <p:sp>
        <p:nvSpPr>
          <p:cNvPr id="2" name="text-1-674">
            <a:extLst xmlns:a="http://schemas.openxmlformats.org/drawingml/2006/main">
              <a:ext uri="{FF2B5EF4-FFF2-40B4-BE49-F238E27FC236}">
                <a16:creationId xmlns:a16="http://schemas.microsoft.com/office/drawing/2014/main" id="{C1140BEE-6B86-49E2-81F7-F2A792B7D193}"/>
              </a:ext>
            </a:extLst>
          </p:cNvPr>
          <p:cNvSpPr>
            <a:spLocks xmlns:a="http://schemas.openxmlformats.org/drawingml/2006/main" noGrp="1"/>
          </p:cNvSpPr>
          <p:nvPr/>
        </p:nvSpPr>
        <p:spPr>
          <a:xfrm xmlns:a="http://schemas.openxmlformats.org/drawingml/2006/main">
            <a:off x="609600" y="6448425"/>
            <a:ext cx="714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125" b="0">
                <a:solidFill>
                  <a:srgbClr val="5E7182"/>
                </a:solidFill>
                <a:latin typeface="Nimbus Sans"/>
                <a:ea typeface="Nimbus Sans"/>
                <a:cs typeface="Nimbus Sans"/>
              </a:defRPr>
            </a:pPr>
            <a:r>
              <a:rPr sz="1125" b="0">
                <a:solidFill>
                  <a:srgbClr val="5E7182"/>
                </a:solidFill>
                <a:latin typeface="Nimbus Sans"/>
                <a:ea typeface="Nimbus Sans"/>
                <a:cs typeface="Nimbus Sans"/>
              </a:rPr>
              <a:t>Training Flutter Android   /   Hari 1</a:t>
            </a:r>
          </a:p>
        </p:txBody>
      </p:sp>
      <p:sp>
        <p:nvSpPr>
          <p:cNvPr id="3" name="text-2-674">
            <a:extLst xmlns:a="http://schemas.openxmlformats.org/drawingml/2006/main">
              <a:ext uri="{FF2B5EF4-FFF2-40B4-BE49-F238E27FC236}">
                <a16:creationId xmlns:a16="http://schemas.microsoft.com/office/drawing/2014/main" id="{6453C6F4-3300-4F4A-82A9-BA7C7AADFDE3}"/>
              </a:ext>
            </a:extLst>
          </p:cNvPr>
          <p:cNvSpPr>
            <a:spLocks xmlns:a="http://schemas.openxmlformats.org/drawingml/2006/main" noGrp="1"/>
          </p:cNvSpPr>
          <p:nvPr/>
        </p:nvSpPr>
        <p:spPr>
          <a:xfrm xmlns:a="http://schemas.openxmlformats.org/drawingml/2006/main">
            <a:off x="10668000" y="6448425"/>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125" b="0">
                <a:solidFill>
                  <a:srgbClr val="5E7182"/>
                </a:solidFill>
                <a:latin typeface="Nimbus Sans"/>
                <a:ea typeface="Nimbus Sans"/>
                <a:cs typeface="Nimbus Sans"/>
              </a:defRPr>
            </a:pPr>
            <a:r>
              <a:rPr sz="1125" b="0">
                <a:solidFill>
                  <a:srgbClr val="5E7182"/>
                </a:solidFill>
                <a:latin typeface="Nimbus Sans"/>
                <a:ea typeface="Nimbus Sans"/>
                <a:cs typeface="Nimbus Sans"/>
              </a:rPr>
              <a:t>26 / 44</a:t>
            </a:r>
          </a:p>
        </p:txBody>
      </p:sp>
      <p:graphicFrame>
        <p:nvGraphicFramePr>
          <p:cNvPr id="12" name=""/>
          <p:cNvGraphicFramePr/>
          <p:nvPr/>
        </p:nvGraphicFramePr>
        <p:xfrm>
          <a:off xmlns:a="http://schemas.openxmlformats.org/drawingml/2006/main" x="609600" y="1657350"/>
          <a:ext xmlns:a="http://schemas.openxmlformats.org/drawingml/2006/main" cx="10972800" cy="4114800"/>
        </p:xfrm>
        <a:graphic xmlns:a="http://schemas.openxmlformats.org/drawingml/2006/main">
          <a:graphicData uri="http://schemas.openxmlformats.org/drawingml/2006/table">
            <a:tbl>
              <a:tblPr/>
              <a:tblGrid>
                <a:gridCol w="2194560"/>
                <a:gridCol w="4389120"/>
                <a:gridCol w="4389120"/>
              </a:tblGrid>
              <a:tr h="822960">
                <a:tc>
                  <a:txBody>
                    <a:bodyPr lIns="114300" tIns="95250" rIns="114300" bIns="95250">
                      <a:noAutofit/>
                    </a:bodyPr>
                    <a:lstStyle/>
                    <a:p>
                      <a:r>
                        <a:rPr sz="1800" b="1">
                          <a:solidFill>
                            <a:srgbClr val="FFFFFF"/>
                          </a:solidFill>
                          <a:latin typeface="Nimbus Sans"/>
                          <a:ea typeface="Nimbus Sans"/>
                          <a:cs typeface="Nimbus Sans"/>
                        </a:rPr>
                        <a:t>Tahap</a:t>
                      </a:r>
                    </a:p>
                  </a:txBody>
                  <a:tcPr marL="91440" marR="91440" marT="45720" marB="45720" anchor="ctr">
                    <a:solidFill>
                      <a:srgbClr val="0B3970"/>
                    </a:solidFill>
                  </a:tcPr>
                </a:tc>
                <a:tc>
                  <a:txBody>
                    <a:bodyPr lIns="114300" tIns="95250" rIns="114300" bIns="95250">
                      <a:noAutofit/>
                    </a:bodyPr>
                    <a:lstStyle/>
                    <a:p>
                      <a:r>
                        <a:rPr sz="1800" b="1">
                          <a:solidFill>
                            <a:srgbClr val="FFFFFF"/>
                          </a:solidFill>
                          <a:latin typeface="Nimbus Sans"/>
                          <a:ea typeface="Nimbus Sans"/>
                          <a:cs typeface="Nimbus Sans"/>
                        </a:rPr>
                        <a:t>Kegunaan</a:t>
                      </a:r>
                    </a:p>
                  </a:txBody>
                  <a:tcPr marL="91440" marR="91440" marT="45720" marB="45720" anchor="ctr">
                    <a:solidFill>
                      <a:srgbClr val="0B3970"/>
                    </a:solidFill>
                  </a:tcPr>
                </a:tc>
                <a:tc>
                  <a:txBody>
                    <a:bodyPr lIns="114300" tIns="95250" rIns="114300" bIns="95250">
                      <a:noAutofit/>
                    </a:bodyPr>
                    <a:lstStyle/>
                    <a:p>
                      <a:r>
                        <a:rPr sz="1800" b="1">
                          <a:solidFill>
                            <a:srgbClr val="FFFFFF"/>
                          </a:solidFill>
                          <a:latin typeface="Nimbus Sans"/>
                          <a:ea typeface="Nimbus Sans"/>
                          <a:cs typeface="Nimbus Sans"/>
                        </a:rPr>
                        <a:t>Perhatian</a:t>
                      </a:r>
                    </a:p>
                  </a:txBody>
                  <a:tcPr marL="91440" marR="91440" marT="45720" marB="45720" anchor="ctr">
                    <a:solidFill>
                      <a:srgbClr val="0B3970"/>
                    </a:solidFill>
                  </a:tcPr>
                </a:tc>
              </a:tr>
              <a:tr h="822960">
                <a:tc>
                  <a:txBody>
                    <a:bodyPr lIns="114300" tIns="95250" rIns="114300" bIns="95250">
                      <a:noAutofit/>
                    </a:bodyPr>
                    <a:lstStyle/>
                    <a:p>
                      <a:r>
                        <a:rPr sz="1725" b="0">
                          <a:solidFill>
                            <a:srgbClr val="172D43"/>
                          </a:solidFill>
                          <a:latin typeface="Nimbus Sans"/>
                          <a:ea typeface="Nimbus Sans"/>
                          <a:cs typeface="Nimbus Sans"/>
                        </a:rPr>
                        <a:t>initState</a:t>
                      </a:r>
                    </a:p>
                  </a:txBody>
                  <a:tcPr marL="91440" marR="91440" marT="45720" marB="45720" anchor="ctr">
                    <a:solidFill>
                      <a:srgbClr val="FFFFFF"/>
                    </a:solidFill>
                  </a:tcPr>
                </a:tc>
                <a:tc>
                  <a:txBody>
                    <a:bodyPr lIns="114300" tIns="95250" rIns="114300" bIns="95250">
                      <a:noAutofit/>
                    </a:bodyPr>
                    <a:lstStyle/>
                    <a:p>
                      <a:r>
                        <a:rPr sz="1725" b="0">
                          <a:solidFill>
                            <a:srgbClr val="172D43"/>
                          </a:solidFill>
                          <a:latin typeface="Nimbus Sans"/>
                          <a:ea typeface="Nimbus Sans"/>
                          <a:cs typeface="Nimbus Sans"/>
                        </a:rPr>
                        <a:t>Setup sekali pada State baru</a:t>
                      </a:r>
                    </a:p>
                  </a:txBody>
                  <a:tcPr marL="91440" marR="91440" marT="45720" marB="45720" anchor="ctr">
                    <a:solidFill>
                      <a:srgbClr val="FFFFFF"/>
                    </a:solidFill>
                  </a:tcPr>
                </a:tc>
                <a:tc>
                  <a:txBody>
                    <a:bodyPr lIns="114300" tIns="95250" rIns="114300" bIns="95250">
                      <a:noAutofit/>
                    </a:bodyPr>
                    <a:lstStyle/>
                    <a:p>
                      <a:r>
                        <a:rPr sz="1725" b="0">
                          <a:solidFill>
                            <a:srgbClr val="172D43"/>
                          </a:solidFill>
                          <a:latin typeface="Nimbus Sans"/>
                          <a:ea typeface="Nimbus Sans"/>
                          <a:cs typeface="Nimbus Sans"/>
                        </a:rPr>
                        <a:t>Load awal berada di sini</a:t>
                      </a:r>
                    </a:p>
                  </a:txBody>
                  <a:tcPr marL="91440" marR="91440" marT="45720" marB="45720" anchor="ctr">
                    <a:solidFill>
                      <a:srgbClr val="FFFFFF"/>
                    </a:solidFill>
                  </a:tcPr>
                </a:tc>
              </a:tr>
              <a:tr h="822960">
                <a:tc>
                  <a:txBody>
                    <a:bodyPr lIns="114300" tIns="95250" rIns="114300" bIns="95250">
                      <a:noAutofit/>
                    </a:bodyPr>
                    <a:lstStyle/>
                    <a:p>
                      <a:r>
                        <a:rPr sz="1725" b="0">
                          <a:solidFill>
                            <a:srgbClr val="172D43"/>
                          </a:solidFill>
                          <a:latin typeface="Nimbus Sans"/>
                          <a:ea typeface="Nimbus Sans"/>
                          <a:cs typeface="Nimbus Sans"/>
                        </a:rPr>
                        <a:t>build</a:t>
                      </a:r>
                    </a:p>
                  </a:txBody>
                  <a:tcPr marL="91440" marR="91440" marT="45720" marB="45720" anchor="ctr">
                    <a:solidFill>
                      <a:srgbClr val="F0F5F9"/>
                    </a:solidFill>
                  </a:tcPr>
                </a:tc>
                <a:tc>
                  <a:txBody>
                    <a:bodyPr lIns="114300" tIns="95250" rIns="114300" bIns="95250">
                      <a:noAutofit/>
                    </a:bodyPr>
                    <a:lstStyle/>
                    <a:p>
                      <a:r>
                        <a:rPr sz="1725" b="0">
                          <a:solidFill>
                            <a:srgbClr val="172D43"/>
                          </a:solidFill>
                          <a:latin typeface="Nimbus Sans"/>
                          <a:ea typeface="Nimbus Sans"/>
                          <a:cs typeface="Nimbus Sans"/>
                        </a:rPr>
                        <a:t>Mendeskripsikan UI dari state</a:t>
                      </a:r>
                    </a:p>
                  </a:txBody>
                  <a:tcPr marL="91440" marR="91440" marT="45720" marB="45720" anchor="ctr">
                    <a:solidFill>
                      <a:srgbClr val="F0F5F9"/>
                    </a:solidFill>
                  </a:tcPr>
                </a:tc>
                <a:tc>
                  <a:txBody>
                    <a:bodyPr lIns="114300" tIns="95250" rIns="114300" bIns="95250">
                      <a:noAutofit/>
                    </a:bodyPr>
                    <a:lstStyle/>
                    <a:p>
                      <a:r>
                        <a:rPr sz="1725" b="0">
                          <a:solidFill>
                            <a:srgbClr val="172D43"/>
                          </a:solidFill>
                          <a:latin typeface="Nimbus Sans"/>
                          <a:ea typeface="Nimbus Sans"/>
                          <a:cs typeface="Nimbus Sans"/>
                        </a:rPr>
                        <a:t>Dapat dipanggil berulang</a:t>
                      </a:r>
                    </a:p>
                  </a:txBody>
                  <a:tcPr marL="91440" marR="91440" marT="45720" marB="45720" anchor="ctr">
                    <a:solidFill>
                      <a:srgbClr val="F0F5F9"/>
                    </a:solidFill>
                  </a:tcPr>
                </a:tc>
              </a:tr>
              <a:tr h="822960">
                <a:tc>
                  <a:txBody>
                    <a:bodyPr lIns="114300" tIns="95250" rIns="114300" bIns="95250">
                      <a:noAutofit/>
                    </a:bodyPr>
                    <a:lstStyle/>
                    <a:p>
                      <a:r>
                        <a:rPr sz="1725" b="0">
                          <a:solidFill>
                            <a:srgbClr val="172D43"/>
                          </a:solidFill>
                          <a:latin typeface="Nimbus Sans"/>
                          <a:ea typeface="Nimbus Sans"/>
                          <a:cs typeface="Nimbus Sans"/>
                        </a:rPr>
                        <a:t>dispose</a:t>
                      </a:r>
                    </a:p>
                  </a:txBody>
                  <a:tcPr marL="91440" marR="91440" marT="45720" marB="45720" anchor="ctr">
                    <a:solidFill>
                      <a:srgbClr val="FFFFFF"/>
                    </a:solidFill>
                  </a:tcPr>
                </a:tc>
                <a:tc>
                  <a:txBody>
                    <a:bodyPr lIns="114300" tIns="95250" rIns="114300" bIns="95250">
                      <a:noAutofit/>
                    </a:bodyPr>
                    <a:lstStyle/>
                    <a:p>
                      <a:r>
                        <a:rPr sz="1725" b="0">
                          <a:solidFill>
                            <a:srgbClr val="172D43"/>
                          </a:solidFill>
                          <a:latin typeface="Nimbus Sans"/>
                          <a:ea typeface="Nimbus Sans"/>
                          <a:cs typeface="Nimbus Sans"/>
                        </a:rPr>
                        <a:t>Melepas resource milik State</a:t>
                      </a:r>
                    </a:p>
                  </a:txBody>
                  <a:tcPr marL="91440" marR="91440" marT="45720" marB="45720" anchor="ctr">
                    <a:solidFill>
                      <a:srgbClr val="FFFFFF"/>
                    </a:solidFill>
                  </a:tcPr>
                </a:tc>
                <a:tc>
                  <a:txBody>
                    <a:bodyPr lIns="114300" tIns="95250" rIns="114300" bIns="95250">
                      <a:noAutofit/>
                    </a:bodyPr>
                    <a:lstStyle/>
                    <a:p>
                      <a:r>
                        <a:rPr sz="1725" b="0">
                          <a:solidFill>
                            <a:srgbClr val="172D43"/>
                          </a:solidFill>
                          <a:latin typeface="Nimbus Sans"/>
                          <a:ea typeface="Nimbus Sans"/>
                          <a:cs typeface="Nimbus Sans"/>
                        </a:rPr>
                        <a:t>Controller dan listener</a:t>
                      </a:r>
                    </a:p>
                  </a:txBody>
                  <a:tcPr marL="91440" marR="91440" marT="45720" marB="45720" anchor="ctr">
                    <a:solidFill>
                      <a:srgbClr val="FFFFFF"/>
                    </a:solidFill>
                  </a:tcPr>
                </a:tc>
              </a:tr>
              <a:tr h="822960">
                <a:tc>
                  <a:txBody>
                    <a:bodyPr lIns="114300" tIns="95250" rIns="114300" bIns="95250">
                      <a:noAutofit/>
                    </a:bodyPr>
                    <a:lstStyle/>
                    <a:p>
                      <a:r>
                        <a:rPr sz="1725" b="0">
                          <a:solidFill>
                            <a:srgbClr val="172D43"/>
                          </a:solidFill>
                          <a:latin typeface="Nimbus Sans"/>
                          <a:ea typeface="Nimbus Sans"/>
                          <a:cs typeface="Nimbus Sans"/>
                        </a:rPr>
                        <a:t>mounted</a:t>
                      </a:r>
                    </a:p>
                  </a:txBody>
                  <a:tcPr marL="91440" marR="91440" marT="45720" marB="45720" anchor="ctr">
                    <a:solidFill>
                      <a:srgbClr val="F0F5F9"/>
                    </a:solidFill>
                  </a:tcPr>
                </a:tc>
                <a:tc>
                  <a:txBody>
                    <a:bodyPr lIns="114300" tIns="95250" rIns="114300" bIns="95250">
                      <a:noAutofit/>
                    </a:bodyPr>
                    <a:lstStyle/>
                    <a:p>
                      <a:r>
                        <a:rPr sz="1725" b="0">
                          <a:solidFill>
                            <a:srgbClr val="172D43"/>
                          </a:solidFill>
                          <a:latin typeface="Nimbus Sans"/>
                          <a:ea typeface="Nimbus Sans"/>
                          <a:cs typeface="Nimbus Sans"/>
                        </a:rPr>
                        <a:t>State masih berada pada tree</a:t>
                      </a:r>
                    </a:p>
                  </a:txBody>
                  <a:tcPr marL="91440" marR="91440" marT="45720" marB="45720" anchor="ctr">
                    <a:solidFill>
                      <a:srgbClr val="F0F5F9"/>
                    </a:solidFill>
                  </a:tcPr>
                </a:tc>
                <a:tc>
                  <a:txBody>
                    <a:bodyPr lIns="114300" tIns="95250" rIns="114300" bIns="95250">
                      <a:noAutofit/>
                    </a:bodyPr>
                    <a:lstStyle/>
                    <a:p>
                      <a:r>
                        <a:rPr sz="1725" b="0">
                          <a:solidFill>
                            <a:srgbClr val="172D43"/>
                          </a:solidFill>
                          <a:latin typeface="Nimbus Sans"/>
                          <a:ea typeface="Nimbus Sans"/>
                          <a:cs typeface="Nimbus Sans"/>
                        </a:rPr>
                        <a:t>Periksa setelah await</a:t>
                      </a:r>
                    </a:p>
                  </a:txBody>
                  <a:tcPr marL="91440" marR="91440" marT="45720" marB="45720" anchor="ctr">
                    <a:solidFill>
                      <a:srgbClr val="F0F5F9"/>
                    </a:solidFill>
                  </a:tcPr>
                </a:tc>
              </a:tr>
            </a:tbl>
          </a:graphicData>
        </a:graphic>
      </p:graphicFrame>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013bc3d30bac4868"/>
          <a:srcRect xmlns:a="http://schemas.openxmlformats.org/drawingml/2006/main" l="4250" t="6738" r="4125" b="3546"/>
          <a:stretch xmlns:a="http://schemas.openxmlformats.org/drawingml/2006/main"/>
        </p:blipFill>
        <p:spPr>
          <a:xfrm xmlns:a="http://schemas.openxmlformats.org/drawingml/2006/main">
            <a:off x="9344025" y="219075"/>
            <a:ext cx="1428750" cy="495300"/>
          </a:xfrm>
          <a:prstGeom xmlns:a="http://schemas.openxmlformats.org/drawingml/2006/main" prst="rect">
            <a:avLst/>
          </a:prstGeom>
        </p:spPr>
      </p:pic>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0e7ae63adad44c96"/>
          <a:srcRect xmlns:a="http://schemas.openxmlformats.org/drawingml/2006/main" l="32813" t="23779" r="32813" b="23779"/>
          <a:stretch xmlns:a="http://schemas.openxmlformats.org/drawingml/2006/main"/>
        </p:blipFill>
        <p:spPr>
          <a:xfrm xmlns:a="http://schemas.openxmlformats.org/drawingml/2006/main">
            <a:off x="11163300" y="161925"/>
            <a:ext cx="371475" cy="571500"/>
          </a:xfrm>
          <a:prstGeom xmlns:a="http://schemas.openxmlformats.org/drawingml/2006/main" prst="rect">
            <a:avLst/>
          </a:prstGeom>
        </p:spPr>
      </p:pic>
    </p:spTree>
    <p:extLst>
      <p:ext uri="{BB962C8B-B14F-4D97-AF65-F5344CB8AC3E}">
        <p14:creationId xmlns:p14="http://schemas.microsoft.com/office/powerpoint/2010/main" val="1252643759"/>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ext-0-48">
            <a:extLst xmlns:a="http://schemas.openxmlformats.org/drawingml/2006/main">
              <a:ext uri="{FF2B5EF4-FFF2-40B4-BE49-F238E27FC236}">
                <a16:creationId xmlns:a16="http://schemas.microsoft.com/office/drawing/2014/main" id="{C9C67F94-4385-47D5-98D0-C183504BBBA0}"/>
              </a:ext>
            </a:extLst>
          </p:cNvPr>
          <p:cNvSpPr>
            <a:spLocks xmlns:a="http://schemas.openxmlformats.org/drawingml/2006/main" noGrp="1"/>
          </p:cNvSpPr>
          <p:nvPr/>
        </p:nvSpPr>
        <p:spPr>
          <a:xfrm xmlns:a="http://schemas.openxmlformats.org/drawingml/2006/main">
            <a:off x="609600" y="8953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0000"/>
              </a:lnSpc>
              <a:buNone/>
              <a:defRPr sz="3300" b="1">
                <a:solidFill>
                  <a:srgbClr val="0B3970"/>
                </a:solidFill>
                <a:latin typeface="Nimbus Sans"/>
                <a:ea typeface="Nimbus Sans"/>
                <a:cs typeface="Nimbus Sans"/>
              </a:defRPr>
            </a:pPr>
            <a:r>
              <a:rPr sz="3300" b="1">
                <a:solidFill>
                  <a:srgbClr val="0B3970"/>
                </a:solidFill>
                <a:latin typeface="Nimbus Sans"/>
                <a:ea typeface="Nimbus Sans"/>
                <a:cs typeface="Nimbus Sans"/>
              </a:rPr>
              <a:t>TextEditingController dan dispose</a:t>
            </a:r>
          </a:p>
        </p:txBody>
      </p:sp>
      <p:sp>
        <p:nvSpPr>
          <p:cNvPr id="2" name="text-1-674">
            <a:extLst xmlns:a="http://schemas.openxmlformats.org/drawingml/2006/main">
              <a:ext uri="{FF2B5EF4-FFF2-40B4-BE49-F238E27FC236}">
                <a16:creationId xmlns:a16="http://schemas.microsoft.com/office/drawing/2014/main" id="{C22C3AB0-CA12-4D0B-BB2C-285103E92BB7}"/>
              </a:ext>
            </a:extLst>
          </p:cNvPr>
          <p:cNvSpPr>
            <a:spLocks xmlns:a="http://schemas.openxmlformats.org/drawingml/2006/main" noGrp="1"/>
          </p:cNvSpPr>
          <p:nvPr/>
        </p:nvSpPr>
        <p:spPr>
          <a:xfrm xmlns:a="http://schemas.openxmlformats.org/drawingml/2006/main">
            <a:off x="609600" y="6448425"/>
            <a:ext cx="714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125" b="0">
                <a:solidFill>
                  <a:srgbClr val="5E7182"/>
                </a:solidFill>
                <a:latin typeface="Nimbus Sans"/>
                <a:ea typeface="Nimbus Sans"/>
                <a:cs typeface="Nimbus Sans"/>
              </a:defRPr>
            </a:pPr>
            <a:r>
              <a:rPr sz="1125" b="0">
                <a:solidFill>
                  <a:srgbClr val="5E7182"/>
                </a:solidFill>
                <a:latin typeface="Nimbus Sans"/>
                <a:ea typeface="Nimbus Sans"/>
                <a:cs typeface="Nimbus Sans"/>
              </a:rPr>
              <a:t>Training Flutter Android   /   Hari 1</a:t>
            </a:r>
          </a:p>
        </p:txBody>
      </p:sp>
      <p:sp>
        <p:nvSpPr>
          <p:cNvPr id="3" name="text-2-674">
            <a:extLst xmlns:a="http://schemas.openxmlformats.org/drawingml/2006/main">
              <a:ext uri="{FF2B5EF4-FFF2-40B4-BE49-F238E27FC236}">
                <a16:creationId xmlns:a16="http://schemas.microsoft.com/office/drawing/2014/main" id="{FF3E81D2-86DF-4DD9-BDD9-7592A5AFC63F}"/>
              </a:ext>
            </a:extLst>
          </p:cNvPr>
          <p:cNvSpPr>
            <a:spLocks xmlns:a="http://schemas.openxmlformats.org/drawingml/2006/main" noGrp="1"/>
          </p:cNvSpPr>
          <p:nvPr/>
        </p:nvSpPr>
        <p:spPr>
          <a:xfrm xmlns:a="http://schemas.openxmlformats.org/drawingml/2006/main">
            <a:off x="10668000" y="6448425"/>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125" b="0">
                <a:solidFill>
                  <a:srgbClr val="5E7182"/>
                </a:solidFill>
                <a:latin typeface="Nimbus Sans"/>
                <a:ea typeface="Nimbus Sans"/>
                <a:cs typeface="Nimbus Sans"/>
              </a:defRPr>
            </a:pPr>
            <a:r>
              <a:rPr sz="1125" b="0">
                <a:solidFill>
                  <a:srgbClr val="5E7182"/>
                </a:solidFill>
                <a:latin typeface="Nimbus Sans"/>
                <a:ea typeface="Nimbus Sans"/>
                <a:cs typeface="Nimbus Sans"/>
              </a:rPr>
              <a:t>27 / 44</a:t>
            </a:r>
          </a:p>
        </p:txBody>
      </p:sp>
      <p:sp>
        <p:nvSpPr>
          <p:cNvPr id="4" name="text-3-193">
            <a:extLst xmlns:a="http://schemas.openxmlformats.org/drawingml/2006/main">
              <a:ext uri="{FF2B5EF4-FFF2-40B4-BE49-F238E27FC236}">
                <a16:creationId xmlns:a16="http://schemas.microsoft.com/office/drawing/2014/main" id="{FE66A6C6-4811-464A-849E-6612153B2FB7}"/>
              </a:ext>
            </a:extLst>
          </p:cNvPr>
          <p:cNvSpPr>
            <a:spLocks xmlns:a="http://schemas.openxmlformats.org/drawingml/2006/main" noGrp="1"/>
          </p:cNvSpPr>
          <p:nvPr/>
        </p:nvSpPr>
        <p:spPr>
          <a:xfrm xmlns:a="http://schemas.openxmlformats.org/drawingml/2006/main">
            <a:off x="609600" y="1819275"/>
            <a:ext cx="10972800" cy="414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spcAft>
                <a:spcPts val="0"/>
              </a:spcAft>
              <a:defRPr sz="2100">
                <a:solidFill>
                  <a:srgbClr val="172D43"/>
                </a:solidFill>
                <a:latin typeface="DejaVu Sans Mono"/>
                <a:ea typeface="DejaVu Sans Mono"/>
                <a:cs typeface="DejaVu Sans Mono"/>
              </a:defRPr>
            </a:pPr>
            <a:r>
              <a:rPr b="1">
                <a:solidFill>
                  <a:srgbClr val="0B3970"/>
                </a:solidFill>
              </a:rPr>
              <a:t>final</a:t>
            </a:r>
            <a:r>
              <a:t> assetController = TextEditingController();</a:t>
            </a:r>
          </a:p>
          <a:p xmlns:a="http://schemas.openxmlformats.org/drawingml/2006/main">
            <a:pPr>
              <a:spcAft>
                <a:spcPts val="0"/>
              </a:spcAft>
              <a:defRPr sz="2100">
                <a:solidFill>
                  <a:srgbClr val="172D43"/>
                </a:solidFill>
                <a:latin typeface="DejaVu Sans Mono"/>
                <a:ea typeface="DejaVu Sans Mono"/>
                <a:cs typeface="DejaVu Sans Mono"/>
              </a:defRPr>
            </a:pPr>
            <a:r>
              <a:t> </a:t>
            </a:r>
          </a:p>
          <a:p xmlns:a="http://schemas.openxmlformats.org/drawingml/2006/main">
            <a:pPr>
              <a:spcAft>
                <a:spcPts val="0"/>
              </a:spcAft>
              <a:defRPr sz="2100">
                <a:solidFill>
                  <a:srgbClr val="172D43"/>
                </a:solidFill>
                <a:latin typeface="DejaVu Sans Mono"/>
                <a:ea typeface="DejaVu Sans Mono"/>
                <a:cs typeface="DejaVu Sans Mono"/>
              </a:defRPr>
            </a:pPr>
            <a:r>
              <a:t>@override</a:t>
            </a:r>
          </a:p>
          <a:p xmlns:a="http://schemas.openxmlformats.org/drawingml/2006/main">
            <a:pPr>
              <a:spcAft>
                <a:spcPts val="0"/>
              </a:spcAft>
              <a:defRPr sz="2100">
                <a:solidFill>
                  <a:srgbClr val="172D43"/>
                </a:solidFill>
                <a:latin typeface="DejaVu Sans Mono"/>
                <a:ea typeface="DejaVu Sans Mono"/>
                <a:cs typeface="DejaVu Sans Mono"/>
              </a:defRPr>
            </a:pPr>
            <a:r>
              <a:rPr b="1">
                <a:solidFill>
                  <a:srgbClr val="0B3970"/>
                </a:solidFill>
              </a:rPr>
              <a:t>void</a:t>
            </a:r>
            <a:r>
              <a:t> dispose() {</a:t>
            </a:r>
          </a:p>
          <a:p xmlns:a="http://schemas.openxmlformats.org/drawingml/2006/main">
            <a:pPr>
              <a:spcAft>
                <a:spcPts val="0"/>
              </a:spcAft>
              <a:defRPr sz="2100">
                <a:solidFill>
                  <a:srgbClr val="172D43"/>
                </a:solidFill>
                <a:latin typeface="DejaVu Sans Mono"/>
                <a:ea typeface="DejaVu Sans Mono"/>
                <a:cs typeface="DejaVu Sans Mono"/>
              </a:defRPr>
            </a:pPr>
            <a:r>
              <a:t>  assetController.dispose();</a:t>
            </a:r>
          </a:p>
          <a:p xmlns:a="http://schemas.openxmlformats.org/drawingml/2006/main">
            <a:pPr>
              <a:spcAft>
                <a:spcPts val="0"/>
              </a:spcAft>
              <a:defRPr sz="2100">
                <a:solidFill>
                  <a:srgbClr val="172D43"/>
                </a:solidFill>
                <a:latin typeface="DejaVu Sans Mono"/>
                <a:ea typeface="DejaVu Sans Mono"/>
                <a:cs typeface="DejaVu Sans Mono"/>
              </a:defRPr>
            </a:pPr>
            <a:r>
              <a:t>  super.dispose();</a:t>
            </a:r>
          </a:p>
          <a:p xmlns:a="http://schemas.openxmlformats.org/drawingml/2006/main">
            <a:pPr>
              <a:spcAft>
                <a:spcPts val="0"/>
              </a:spcAft>
              <a:defRPr sz="2100">
                <a:solidFill>
                  <a:srgbClr val="172D43"/>
                </a:solidFill>
                <a:latin typeface="DejaVu Sans Mono"/>
                <a:ea typeface="DejaVu Sans Mono"/>
                <a:cs typeface="DejaVu Sans Mono"/>
              </a:defRPr>
            </a:pPr>
            <a:r>
              <a:t>}</a:t>
            </a:r>
          </a:p>
          <a:p xmlns:a="http://schemas.openxmlformats.org/drawingml/2006/main">
            <a:pPr>
              <a:spcAft>
                <a:spcPts val="0"/>
              </a:spcAft>
              <a:defRPr sz="2100">
                <a:solidFill>
                  <a:srgbClr val="172D43"/>
                </a:solidFill>
                <a:latin typeface="DejaVu Sans Mono"/>
                <a:ea typeface="DejaVu Sans Mono"/>
                <a:cs typeface="DejaVu Sans Mono"/>
              </a:defRPr>
            </a:pPr>
            <a:r>
              <a:t> </a:t>
            </a:r>
          </a:p>
          <a:p xmlns:a="http://schemas.openxmlformats.org/drawingml/2006/main">
            <a:pPr>
              <a:spcAft>
                <a:spcPts val="0"/>
              </a:spcAft>
              <a:defRPr sz="2100">
                <a:solidFill>
                  <a:srgbClr val="172D43"/>
                </a:solidFill>
                <a:latin typeface="DejaVu Sans Mono"/>
                <a:ea typeface="DejaVu Sans Mono"/>
                <a:cs typeface="DejaVu Sans Mono"/>
              </a:defRPr>
            </a:pPr>
            <a:r>
              <a:rPr>
                <a:solidFill>
                  <a:srgbClr val="5E7182"/>
                </a:solidFill>
              </a:rPr>
              <a:t>// Controller merupakan field di State form</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e0a1f539c9554909"/>
          <a:srcRect xmlns:a="http://schemas.openxmlformats.org/drawingml/2006/main" l="4250" t="6738" r="4125" b="3546"/>
          <a:stretch xmlns:a="http://schemas.openxmlformats.org/drawingml/2006/main"/>
        </p:blipFill>
        <p:spPr>
          <a:xfrm xmlns:a="http://schemas.openxmlformats.org/drawingml/2006/main">
            <a:off x="9344025" y="219075"/>
            <a:ext cx="1428750" cy="495300"/>
          </a:xfrm>
          <a:prstGeom xmlns:a="http://schemas.openxmlformats.org/drawingml/2006/main" prst="rect">
            <a:avLst/>
          </a:prstGeom>
        </p:spPr>
      </p:pic>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efbc48dbee254b25"/>
          <a:srcRect xmlns:a="http://schemas.openxmlformats.org/drawingml/2006/main" l="32813" t="23779" r="32813" b="23779"/>
          <a:stretch xmlns:a="http://schemas.openxmlformats.org/drawingml/2006/main"/>
        </p:blipFill>
        <p:spPr>
          <a:xfrm xmlns:a="http://schemas.openxmlformats.org/drawingml/2006/main">
            <a:off x="11163300" y="161925"/>
            <a:ext cx="371475" cy="571500"/>
          </a:xfrm>
          <a:prstGeom xmlns:a="http://schemas.openxmlformats.org/drawingml/2006/main" prst="rect">
            <a:avLst/>
          </a:prstGeom>
        </p:spPr>
      </p:pic>
    </p:spTree>
    <p:extLst>
      <p:ext uri="{BB962C8B-B14F-4D97-AF65-F5344CB8AC3E}">
        <p14:creationId xmlns:p14="http://schemas.microsoft.com/office/powerpoint/2010/main" val="1722243167"/>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text-0-48">
            <a:extLst xmlns:a="http://schemas.openxmlformats.org/drawingml/2006/main">
              <a:ext uri="{FF2B5EF4-FFF2-40B4-BE49-F238E27FC236}">
                <a16:creationId xmlns:a16="http://schemas.microsoft.com/office/drawing/2014/main" id="{52A66C36-DC57-4BA3-84EA-C64F0AB189EC}"/>
              </a:ext>
            </a:extLst>
          </p:cNvPr>
          <p:cNvSpPr>
            <a:spLocks xmlns:a="http://schemas.openxmlformats.org/drawingml/2006/main" noGrp="1"/>
          </p:cNvSpPr>
          <p:nvPr/>
        </p:nvSpPr>
        <p:spPr>
          <a:xfrm xmlns:a="http://schemas.openxmlformats.org/drawingml/2006/main">
            <a:off x="609600" y="8953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0000"/>
              </a:lnSpc>
              <a:buNone/>
              <a:defRPr sz="3300" b="1">
                <a:solidFill>
                  <a:srgbClr val="0B3970"/>
                </a:solidFill>
                <a:latin typeface="Nimbus Sans"/>
                <a:ea typeface="Nimbus Sans"/>
                <a:cs typeface="Nimbus Sans"/>
              </a:defRPr>
            </a:pPr>
            <a:r>
              <a:rPr sz="3300" b="1">
                <a:solidFill>
                  <a:srgbClr val="0B3970"/>
                </a:solidFill>
                <a:latin typeface="Nimbus Sans"/>
                <a:ea typeface="Nimbus Sans"/>
                <a:cs typeface="Nimbus Sans"/>
              </a:rPr>
              <a:t>State pada daftar inspeksi</a:t>
            </a:r>
          </a:p>
        </p:txBody>
      </p:sp>
      <p:sp>
        <p:nvSpPr>
          <p:cNvPr id="2" name="text-1-674">
            <a:extLst xmlns:a="http://schemas.openxmlformats.org/drawingml/2006/main">
              <a:ext uri="{FF2B5EF4-FFF2-40B4-BE49-F238E27FC236}">
                <a16:creationId xmlns:a16="http://schemas.microsoft.com/office/drawing/2014/main" id="{EFB2E119-315C-49C7-AE57-49905AE36456}"/>
              </a:ext>
            </a:extLst>
          </p:cNvPr>
          <p:cNvSpPr>
            <a:spLocks xmlns:a="http://schemas.openxmlformats.org/drawingml/2006/main" noGrp="1"/>
          </p:cNvSpPr>
          <p:nvPr/>
        </p:nvSpPr>
        <p:spPr>
          <a:xfrm xmlns:a="http://schemas.openxmlformats.org/drawingml/2006/main">
            <a:off x="609600" y="6448425"/>
            <a:ext cx="714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125" b="0">
                <a:solidFill>
                  <a:srgbClr val="5E7182"/>
                </a:solidFill>
                <a:latin typeface="Nimbus Sans"/>
                <a:ea typeface="Nimbus Sans"/>
                <a:cs typeface="Nimbus Sans"/>
              </a:defRPr>
            </a:pPr>
            <a:r>
              <a:rPr sz="1125" b="0">
                <a:solidFill>
                  <a:srgbClr val="5E7182"/>
                </a:solidFill>
                <a:latin typeface="Nimbus Sans"/>
                <a:ea typeface="Nimbus Sans"/>
                <a:cs typeface="Nimbus Sans"/>
              </a:rPr>
              <a:t>Training Flutter Android   /   Hari 1</a:t>
            </a:r>
          </a:p>
        </p:txBody>
      </p:sp>
      <p:sp>
        <p:nvSpPr>
          <p:cNvPr id="3" name="text-2-674">
            <a:extLst xmlns:a="http://schemas.openxmlformats.org/drawingml/2006/main">
              <a:ext uri="{FF2B5EF4-FFF2-40B4-BE49-F238E27FC236}">
                <a16:creationId xmlns:a16="http://schemas.microsoft.com/office/drawing/2014/main" id="{430C63CF-8C7C-46FE-9A9D-D943C083E84D}"/>
              </a:ext>
            </a:extLst>
          </p:cNvPr>
          <p:cNvSpPr>
            <a:spLocks xmlns:a="http://schemas.openxmlformats.org/drawingml/2006/main" noGrp="1"/>
          </p:cNvSpPr>
          <p:nvPr/>
        </p:nvSpPr>
        <p:spPr>
          <a:xfrm xmlns:a="http://schemas.openxmlformats.org/drawingml/2006/main">
            <a:off x="10668000" y="6448425"/>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125" b="0">
                <a:solidFill>
                  <a:srgbClr val="5E7182"/>
                </a:solidFill>
                <a:latin typeface="Nimbus Sans"/>
                <a:ea typeface="Nimbus Sans"/>
                <a:cs typeface="Nimbus Sans"/>
              </a:defRPr>
            </a:pPr>
            <a:r>
              <a:rPr sz="1125" b="0">
                <a:solidFill>
                  <a:srgbClr val="5E7182"/>
                </a:solidFill>
                <a:latin typeface="Nimbus Sans"/>
                <a:ea typeface="Nimbus Sans"/>
                <a:cs typeface="Nimbus Sans"/>
              </a:rPr>
              <a:t>28 / 44</a:t>
            </a:r>
          </a:p>
        </p:txBody>
      </p:sp>
      <p:sp>
        <p:nvSpPr>
          <p:cNvPr id="4" name="">
            <a:extLst xmlns:a="http://schemas.openxmlformats.org/drawingml/2006/main">
              <a:ext uri="{FF2B5EF4-FFF2-40B4-BE49-F238E27FC236}">
                <a16:creationId xmlns:a16="http://schemas.microsoft.com/office/drawing/2014/main" id="{523F1D2F-CEA4-425B-8E40-D932C59F85B0}"/>
              </a:ext>
            </a:extLst>
          </p:cNvPr>
          <p:cNvSpPr>
            <a:spLocks xmlns:a="http://schemas.openxmlformats.org/drawingml/2006/main" noGrp="1"/>
          </p:cNvSpPr>
          <p:nvPr/>
        </p:nvSpPr>
        <p:spPr>
          <a:xfrm xmlns:a="http://schemas.openxmlformats.org/drawingml/2006/main">
            <a:off x="3238500" y="3467100"/>
            <a:ext cx="857250" cy="9525"/>
          </a:xfrm>
          <a:prstGeom xmlns:a="http://schemas.openxmlformats.org/drawingml/2006/main" prst="line">
            <a:avLst/>
          </a:prstGeom>
          <a:solidFill xmlns:a="http://schemas.openxmlformats.org/drawingml/2006/main">
            <a:srgbClr val="007DB7"/>
          </a:solidFill>
          <a:ln xmlns:a="http://schemas.openxmlformats.org/drawingml/2006/main" w="14288">
            <a:solidFill>
              <a:srgbClr val="007DB7"/>
            </a:solidFill>
          </a:ln>
        </p:spPr>
      </p:sp>
      <p:sp>
        <p:nvSpPr>
          <p:cNvPr id="5" name="">
            <a:extLst xmlns:a="http://schemas.openxmlformats.org/drawingml/2006/main">
              <a:ext uri="{FF2B5EF4-FFF2-40B4-BE49-F238E27FC236}">
                <a16:creationId xmlns:a16="http://schemas.microsoft.com/office/drawing/2014/main" id="{09E3F722-389A-4F15-BD6B-77C7BFDF071C}"/>
              </a:ext>
            </a:extLst>
          </p:cNvPr>
          <p:cNvSpPr>
            <a:spLocks xmlns:a="http://schemas.openxmlformats.org/drawingml/2006/main" noGrp="1"/>
          </p:cNvSpPr>
          <p:nvPr/>
        </p:nvSpPr>
        <p:spPr>
          <a:xfrm xmlns:a="http://schemas.openxmlformats.org/drawingml/2006/main">
            <a:off x="4095750" y="2362200"/>
            <a:ext cx="9525" cy="2209800"/>
          </a:xfrm>
          <a:prstGeom xmlns:a="http://schemas.openxmlformats.org/drawingml/2006/main" prst="line">
            <a:avLst/>
          </a:prstGeom>
          <a:solidFill xmlns:a="http://schemas.openxmlformats.org/drawingml/2006/main">
            <a:srgbClr val="007DB7"/>
          </a:solidFill>
          <a:ln xmlns:a="http://schemas.openxmlformats.org/drawingml/2006/main" w="14288">
            <a:solidFill>
              <a:srgbClr val="007DB7"/>
            </a:solidFill>
          </a:ln>
        </p:spPr>
      </p:sp>
      <p:sp>
        <p:nvSpPr>
          <p:cNvPr id="6" name="">
            <a:extLst xmlns:a="http://schemas.openxmlformats.org/drawingml/2006/main">
              <a:ext uri="{FF2B5EF4-FFF2-40B4-BE49-F238E27FC236}">
                <a16:creationId xmlns:a16="http://schemas.microsoft.com/office/drawing/2014/main" id="{95B34A72-DD18-4634-BEE8-0BA2BE93DC4D}"/>
              </a:ext>
            </a:extLst>
          </p:cNvPr>
          <p:cNvSpPr>
            <a:spLocks xmlns:a="http://schemas.openxmlformats.org/drawingml/2006/main" noGrp="1"/>
          </p:cNvSpPr>
          <p:nvPr/>
        </p:nvSpPr>
        <p:spPr>
          <a:xfrm xmlns:a="http://schemas.openxmlformats.org/drawingml/2006/main">
            <a:off x="4095750" y="2362200"/>
            <a:ext cx="3238500" cy="9525"/>
          </a:xfrm>
          <a:prstGeom xmlns:a="http://schemas.openxmlformats.org/drawingml/2006/main" prst="line">
            <a:avLst/>
          </a:prstGeom>
          <a:solidFill xmlns:a="http://schemas.openxmlformats.org/drawingml/2006/main">
            <a:srgbClr val="007DB7"/>
          </a:solidFill>
          <a:ln xmlns:a="http://schemas.openxmlformats.org/drawingml/2006/main" w="14288">
            <a:solidFill>
              <a:srgbClr val="007DB7"/>
            </a:solidFill>
          </a:ln>
        </p:spPr>
      </p:sp>
      <p:sp>
        <p:nvSpPr>
          <p:cNvPr id="7" name="">
            <a:extLst xmlns:a="http://schemas.openxmlformats.org/drawingml/2006/main">
              <a:ext uri="{FF2B5EF4-FFF2-40B4-BE49-F238E27FC236}">
                <a16:creationId xmlns:a16="http://schemas.microsoft.com/office/drawing/2014/main" id="{1D2B397D-6DC0-4FBA-B31D-352D7C186A2C}"/>
              </a:ext>
            </a:extLst>
          </p:cNvPr>
          <p:cNvSpPr>
            <a:spLocks xmlns:a="http://schemas.openxmlformats.org/drawingml/2006/main" noGrp="1"/>
          </p:cNvSpPr>
          <p:nvPr/>
        </p:nvSpPr>
        <p:spPr>
          <a:xfrm xmlns:a="http://schemas.openxmlformats.org/drawingml/2006/main">
            <a:off x="4095750" y="3467100"/>
            <a:ext cx="3238500" cy="9525"/>
          </a:xfrm>
          <a:prstGeom xmlns:a="http://schemas.openxmlformats.org/drawingml/2006/main" prst="line">
            <a:avLst/>
          </a:prstGeom>
          <a:solidFill xmlns:a="http://schemas.openxmlformats.org/drawingml/2006/main">
            <a:srgbClr val="007DB7"/>
          </a:solidFill>
          <a:ln xmlns:a="http://schemas.openxmlformats.org/drawingml/2006/main" w="14288">
            <a:solidFill>
              <a:srgbClr val="007DB7"/>
            </a:solidFill>
          </a:ln>
        </p:spPr>
      </p:sp>
      <p:sp>
        <p:nvSpPr>
          <p:cNvPr id="8" name="">
            <a:extLst xmlns:a="http://schemas.openxmlformats.org/drawingml/2006/main">
              <a:ext uri="{FF2B5EF4-FFF2-40B4-BE49-F238E27FC236}">
                <a16:creationId xmlns:a16="http://schemas.microsoft.com/office/drawing/2014/main" id="{AB1BABE1-AD09-4080-AD13-9F26E069249D}"/>
              </a:ext>
            </a:extLst>
          </p:cNvPr>
          <p:cNvSpPr>
            <a:spLocks xmlns:a="http://schemas.openxmlformats.org/drawingml/2006/main" noGrp="1"/>
          </p:cNvSpPr>
          <p:nvPr/>
        </p:nvSpPr>
        <p:spPr>
          <a:xfrm xmlns:a="http://schemas.openxmlformats.org/drawingml/2006/main">
            <a:off x="4095750" y="4572000"/>
            <a:ext cx="3238500" cy="9525"/>
          </a:xfrm>
          <a:prstGeom xmlns:a="http://schemas.openxmlformats.org/drawingml/2006/main" prst="line">
            <a:avLst/>
          </a:prstGeom>
          <a:solidFill xmlns:a="http://schemas.openxmlformats.org/drawingml/2006/main">
            <a:srgbClr val="007DB7"/>
          </a:solidFill>
          <a:ln xmlns:a="http://schemas.openxmlformats.org/drawingml/2006/main" w="14288">
            <a:solidFill>
              <a:srgbClr val="007DB7"/>
            </a:solidFill>
          </a:ln>
        </p:spPr>
      </p:sp>
      <p:sp>
        <p:nvSpPr>
          <p:cNvPr id="9" name="text-8-326">
            <a:extLst xmlns:a="http://schemas.openxmlformats.org/drawingml/2006/main">
              <a:ext uri="{FF2B5EF4-FFF2-40B4-BE49-F238E27FC236}">
                <a16:creationId xmlns:a16="http://schemas.microsoft.com/office/drawing/2014/main" id="{C5DD3D84-C5AE-46E8-9FFD-53B7F4048286}"/>
              </a:ext>
            </a:extLst>
          </p:cNvPr>
          <p:cNvSpPr>
            <a:spLocks xmlns:a="http://schemas.openxmlformats.org/drawingml/2006/main" noGrp="1"/>
          </p:cNvSpPr>
          <p:nvPr/>
        </p:nvSpPr>
        <p:spPr>
          <a:xfrm xmlns:a="http://schemas.openxmlformats.org/drawingml/2006/main">
            <a:off x="762000" y="3105150"/>
            <a:ext cx="2476500" cy="714375"/>
          </a:xfrm>
          <a:prstGeom xmlns:a="http://schemas.openxmlformats.org/drawingml/2006/main" prst="rect">
            <a:avLst/>
          </a:prstGeom>
          <a:solidFill xmlns:a="http://schemas.openxmlformats.org/drawingml/2006/main">
            <a:srgbClr val="0B3970"/>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lnSpc>
                <a:spcPct val="112000"/>
              </a:lnSpc>
              <a:buNone/>
              <a:defRPr sz="1950" b="1">
                <a:solidFill>
                  <a:srgbClr val="FFFFFF"/>
                </a:solidFill>
                <a:latin typeface="Nimbus Sans"/>
                <a:ea typeface="Nimbus Sans"/>
                <a:cs typeface="Nimbus Sans"/>
              </a:defRPr>
            </a:pPr>
            <a:r>
              <a:rPr sz="1950" b="1">
                <a:solidFill>
                  <a:srgbClr val="FFFFFF"/>
                </a:solidFill>
                <a:latin typeface="Nimbus Sans"/>
                <a:ea typeface="Nimbus Sans"/>
                <a:cs typeface="Nimbus Sans"/>
              </a:rPr>
              <a:t>Loading</a:t>
            </a:r>
          </a:p>
        </p:txBody>
      </p:sp>
      <p:sp>
        <p:nvSpPr>
          <p:cNvPr id="10" name="text-9-210">
            <a:extLst xmlns:a="http://schemas.openxmlformats.org/drawingml/2006/main">
              <a:ext uri="{FF2B5EF4-FFF2-40B4-BE49-F238E27FC236}">
                <a16:creationId xmlns:a16="http://schemas.microsoft.com/office/drawing/2014/main" id="{61CFDD5F-C717-4304-895A-59C08A406F3F}"/>
              </a:ext>
            </a:extLst>
          </p:cNvPr>
          <p:cNvSpPr>
            <a:spLocks xmlns:a="http://schemas.openxmlformats.org/drawingml/2006/main" noGrp="1"/>
          </p:cNvSpPr>
          <p:nvPr/>
        </p:nvSpPr>
        <p:spPr>
          <a:xfrm xmlns:a="http://schemas.openxmlformats.org/drawingml/2006/main">
            <a:off x="7524750" y="2000250"/>
            <a:ext cx="3238500" cy="714375"/>
          </a:xfrm>
          <a:prstGeom xmlns:a="http://schemas.openxmlformats.org/drawingml/2006/main" prst="rect">
            <a:avLst/>
          </a:prstGeom>
          <a:solidFill xmlns:a="http://schemas.openxmlformats.org/drawingml/2006/main">
            <a:srgbClr val="0B3970"/>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lnSpc>
                <a:spcPct val="112000"/>
              </a:lnSpc>
              <a:buNone/>
              <a:defRPr sz="1950" b="1">
                <a:solidFill>
                  <a:srgbClr val="FFFFFF"/>
                </a:solidFill>
                <a:latin typeface="Nimbus Sans"/>
                <a:ea typeface="Nimbus Sans"/>
                <a:cs typeface="Nimbus Sans"/>
              </a:defRPr>
            </a:pPr>
            <a:r>
              <a:rPr sz="1950" b="1">
                <a:solidFill>
                  <a:srgbClr val="FFFFFF"/>
                </a:solidFill>
                <a:latin typeface="Nimbus Sans"/>
                <a:ea typeface="Nimbus Sans"/>
                <a:cs typeface="Nimbus Sans"/>
              </a:rPr>
              <a:t>Success</a:t>
            </a:r>
          </a:p>
        </p:txBody>
      </p:sp>
      <p:sp>
        <p:nvSpPr>
          <p:cNvPr id="11" name="text-10-326">
            <a:extLst xmlns:a="http://schemas.openxmlformats.org/drawingml/2006/main">
              <a:ext uri="{FF2B5EF4-FFF2-40B4-BE49-F238E27FC236}">
                <a16:creationId xmlns:a16="http://schemas.microsoft.com/office/drawing/2014/main" id="{E914F765-AB8E-4DDC-9FD4-26F557291385}"/>
              </a:ext>
            </a:extLst>
          </p:cNvPr>
          <p:cNvSpPr>
            <a:spLocks xmlns:a="http://schemas.openxmlformats.org/drawingml/2006/main" noGrp="1"/>
          </p:cNvSpPr>
          <p:nvPr/>
        </p:nvSpPr>
        <p:spPr>
          <a:xfrm xmlns:a="http://schemas.openxmlformats.org/drawingml/2006/main">
            <a:off x="7524750" y="3105150"/>
            <a:ext cx="3238500" cy="714375"/>
          </a:xfrm>
          <a:prstGeom xmlns:a="http://schemas.openxmlformats.org/drawingml/2006/main" prst="rect">
            <a:avLst/>
          </a:prstGeom>
          <a:solidFill xmlns:a="http://schemas.openxmlformats.org/drawingml/2006/main">
            <a:srgbClr val="0B3970"/>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lnSpc>
                <a:spcPct val="112000"/>
              </a:lnSpc>
              <a:buNone/>
              <a:defRPr sz="1950" b="1">
                <a:solidFill>
                  <a:srgbClr val="FFFFFF"/>
                </a:solidFill>
                <a:latin typeface="Nimbus Sans"/>
                <a:ea typeface="Nimbus Sans"/>
                <a:cs typeface="Nimbus Sans"/>
              </a:defRPr>
            </a:pPr>
            <a:r>
              <a:rPr sz="1950" b="1">
                <a:solidFill>
                  <a:srgbClr val="FFFFFF"/>
                </a:solidFill>
                <a:latin typeface="Nimbus Sans"/>
                <a:ea typeface="Nimbus Sans"/>
                <a:cs typeface="Nimbus Sans"/>
              </a:rPr>
              <a:t>Empty</a:t>
            </a:r>
          </a:p>
        </p:txBody>
      </p:sp>
      <p:sp>
        <p:nvSpPr>
          <p:cNvPr id="12" name="text-11-442">
            <a:extLst xmlns:a="http://schemas.openxmlformats.org/drawingml/2006/main">
              <a:ext uri="{FF2B5EF4-FFF2-40B4-BE49-F238E27FC236}">
                <a16:creationId xmlns:a16="http://schemas.microsoft.com/office/drawing/2014/main" id="{EC8AAA44-E010-45D8-8DB1-767F2AF92BAC}"/>
              </a:ext>
            </a:extLst>
          </p:cNvPr>
          <p:cNvSpPr>
            <a:spLocks xmlns:a="http://schemas.openxmlformats.org/drawingml/2006/main" noGrp="1"/>
          </p:cNvSpPr>
          <p:nvPr/>
        </p:nvSpPr>
        <p:spPr>
          <a:xfrm xmlns:a="http://schemas.openxmlformats.org/drawingml/2006/main">
            <a:off x="7524750" y="4210050"/>
            <a:ext cx="3238500" cy="714375"/>
          </a:xfrm>
          <a:prstGeom xmlns:a="http://schemas.openxmlformats.org/drawingml/2006/main" prst="rect">
            <a:avLst/>
          </a:prstGeom>
          <a:solidFill xmlns:a="http://schemas.openxmlformats.org/drawingml/2006/main">
            <a:srgbClr val="0B3970"/>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lnSpc>
                <a:spcPct val="112000"/>
              </a:lnSpc>
              <a:buNone/>
              <a:defRPr sz="1950" b="1">
                <a:solidFill>
                  <a:srgbClr val="FFFFFF"/>
                </a:solidFill>
                <a:latin typeface="Nimbus Sans"/>
                <a:ea typeface="Nimbus Sans"/>
                <a:cs typeface="Nimbus Sans"/>
              </a:defRPr>
            </a:pPr>
            <a:r>
              <a:rPr sz="1950" b="1">
                <a:solidFill>
                  <a:srgbClr val="FFFFFF"/>
                </a:solidFill>
                <a:latin typeface="Nimbus Sans"/>
                <a:ea typeface="Nimbus Sans"/>
                <a:cs typeface="Nimbus Sans"/>
              </a:rPr>
              <a:t>Error + retry</a:t>
            </a:r>
          </a:p>
        </p:txBody>
      </p:sp>
      <p:sp>
        <p:nvSpPr>
          <p:cNvPr id="13" name="text-12-201">
            <a:extLst xmlns:a="http://schemas.openxmlformats.org/drawingml/2006/main">
              <a:ext uri="{FF2B5EF4-FFF2-40B4-BE49-F238E27FC236}">
                <a16:creationId xmlns:a16="http://schemas.microsoft.com/office/drawing/2014/main" id="{D934DA6D-77CC-4960-BD3B-65DD8E8D339C}"/>
              </a:ext>
            </a:extLst>
          </p:cNvPr>
          <p:cNvSpPr>
            <a:spLocks xmlns:a="http://schemas.openxmlformats.org/drawingml/2006/main" noGrp="1"/>
          </p:cNvSpPr>
          <p:nvPr/>
        </p:nvSpPr>
        <p:spPr>
          <a:xfrm xmlns:a="http://schemas.openxmlformats.org/drawingml/2006/main">
            <a:off x="4667250" y="1914525"/>
            <a:ext cx="238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2000"/>
              </a:lnSpc>
              <a:buNone/>
              <a:defRPr sz="1725" b="0">
                <a:solidFill>
                  <a:srgbClr val="007DB7"/>
                </a:solidFill>
                <a:latin typeface="Nimbus Sans"/>
                <a:ea typeface="Nimbus Sans"/>
                <a:cs typeface="Nimbus Sans"/>
              </a:defRPr>
            </a:pPr>
            <a:r>
              <a:rPr sz="1725" b="0">
                <a:solidFill>
                  <a:srgbClr val="007DB7"/>
                </a:solidFill>
                <a:latin typeface="Nimbus Sans"/>
                <a:ea typeface="Nimbus Sans"/>
                <a:cs typeface="Nimbus Sans"/>
              </a:rPr>
              <a:t>Data tersedia</a:t>
            </a:r>
          </a:p>
        </p:txBody>
      </p:sp>
      <p:sp>
        <p:nvSpPr>
          <p:cNvPr id="14" name="text-13-317">
            <a:extLst xmlns:a="http://schemas.openxmlformats.org/drawingml/2006/main">
              <a:ext uri="{FF2B5EF4-FFF2-40B4-BE49-F238E27FC236}">
                <a16:creationId xmlns:a16="http://schemas.microsoft.com/office/drawing/2014/main" id="{624D4E4D-CD50-4D56-A17B-92A5B3BFA97C}"/>
              </a:ext>
            </a:extLst>
          </p:cNvPr>
          <p:cNvSpPr>
            <a:spLocks xmlns:a="http://schemas.openxmlformats.org/drawingml/2006/main" noGrp="1"/>
          </p:cNvSpPr>
          <p:nvPr/>
        </p:nvSpPr>
        <p:spPr>
          <a:xfrm xmlns:a="http://schemas.openxmlformats.org/drawingml/2006/main">
            <a:off x="4667250" y="3019425"/>
            <a:ext cx="238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2000"/>
              </a:lnSpc>
              <a:buNone/>
              <a:defRPr sz="1725" b="0">
                <a:solidFill>
                  <a:srgbClr val="007DB7"/>
                </a:solidFill>
                <a:latin typeface="Nimbus Sans"/>
                <a:ea typeface="Nimbus Sans"/>
                <a:cs typeface="Nimbus Sans"/>
              </a:defRPr>
            </a:pPr>
            <a:r>
              <a:rPr sz="1725" b="0">
                <a:solidFill>
                  <a:srgbClr val="007DB7"/>
                </a:solidFill>
                <a:latin typeface="Nimbus Sans"/>
                <a:ea typeface="Nimbus Sans"/>
                <a:cs typeface="Nimbus Sans"/>
              </a:rPr>
              <a:t>Hasil kosong</a:t>
            </a:r>
          </a:p>
        </p:txBody>
      </p:sp>
      <p:sp>
        <p:nvSpPr>
          <p:cNvPr id="15" name="text-14-433">
            <a:extLst xmlns:a="http://schemas.openxmlformats.org/drawingml/2006/main">
              <a:ext uri="{FF2B5EF4-FFF2-40B4-BE49-F238E27FC236}">
                <a16:creationId xmlns:a16="http://schemas.microsoft.com/office/drawing/2014/main" id="{BBDA8AE1-5080-4198-AB22-042806D0F41A}"/>
              </a:ext>
            </a:extLst>
          </p:cNvPr>
          <p:cNvSpPr>
            <a:spLocks xmlns:a="http://schemas.openxmlformats.org/drawingml/2006/main" noGrp="1"/>
          </p:cNvSpPr>
          <p:nvPr/>
        </p:nvSpPr>
        <p:spPr>
          <a:xfrm xmlns:a="http://schemas.openxmlformats.org/drawingml/2006/main">
            <a:off x="4667250" y="4124325"/>
            <a:ext cx="238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2000"/>
              </a:lnSpc>
              <a:buNone/>
              <a:defRPr sz="1725" b="0">
                <a:solidFill>
                  <a:srgbClr val="007DB7"/>
                </a:solidFill>
                <a:latin typeface="Nimbus Sans"/>
                <a:ea typeface="Nimbus Sans"/>
                <a:cs typeface="Nimbus Sans"/>
              </a:defRPr>
            </a:pPr>
            <a:r>
              <a:rPr sz="1725" b="0">
                <a:solidFill>
                  <a:srgbClr val="007DB7"/>
                </a:solidFill>
                <a:latin typeface="Nimbus Sans"/>
                <a:ea typeface="Nimbus Sans"/>
                <a:cs typeface="Nimbus Sans"/>
              </a:rPr>
              <a:t>Request gagal</a:t>
            </a:r>
          </a:p>
        </p:txBody>
      </p:sp>
      <p:sp>
        <p:nvSpPr>
          <p:cNvPr id="16" name="text-15-570">
            <a:extLst xmlns:a="http://schemas.openxmlformats.org/drawingml/2006/main">
              <a:ext uri="{FF2B5EF4-FFF2-40B4-BE49-F238E27FC236}">
                <a16:creationId xmlns:a16="http://schemas.microsoft.com/office/drawing/2014/main" id="{585B615F-54F6-418B-B331-47CC5F5CED3A}"/>
              </a:ext>
            </a:extLst>
          </p:cNvPr>
          <p:cNvSpPr>
            <a:spLocks xmlns:a="http://schemas.openxmlformats.org/drawingml/2006/main" noGrp="1"/>
          </p:cNvSpPr>
          <p:nvPr/>
        </p:nvSpPr>
        <p:spPr>
          <a:xfrm xmlns:a="http://schemas.openxmlformats.org/drawingml/2006/main">
            <a:off x="762000" y="5429250"/>
            <a:ext cx="1057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2000"/>
              </a:lnSpc>
              <a:buNone/>
              <a:defRPr sz="2100" b="1">
                <a:solidFill>
                  <a:srgbClr val="007DB7"/>
                </a:solidFill>
                <a:latin typeface="Nimbus Sans"/>
                <a:ea typeface="Nimbus Sans"/>
                <a:cs typeface="Nimbus Sans"/>
              </a:defRPr>
            </a:pPr>
            <a:r>
              <a:rPr sz="2100" b="1">
                <a:solidFill>
                  <a:srgbClr val="007DB7"/>
                </a:solidFill>
                <a:latin typeface="Nimbus Sans"/>
                <a:ea typeface="Nimbus Sans"/>
                <a:cs typeface="Nimbus Sans"/>
              </a:rPr>
              <a:t>Retry kembali menjalankan loading</a:t>
            </a:r>
          </a:p>
        </p:txBody>
      </p:sp>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9c9499a9d4a74bd9"/>
          <a:srcRect xmlns:a="http://schemas.openxmlformats.org/drawingml/2006/main" l="4250" t="6738" r="4125" b="3546"/>
          <a:stretch xmlns:a="http://schemas.openxmlformats.org/drawingml/2006/main"/>
        </p:blipFill>
        <p:spPr>
          <a:xfrm xmlns:a="http://schemas.openxmlformats.org/drawingml/2006/main">
            <a:off x="9344025" y="219075"/>
            <a:ext cx="1428750" cy="495300"/>
          </a:xfrm>
          <a:prstGeom xmlns:a="http://schemas.openxmlformats.org/drawingml/2006/main" prst="rect">
            <a:avLst/>
          </a:prstGeom>
        </p:spPr>
      </p:pic>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2e71f9d66be34cad"/>
          <a:srcRect xmlns:a="http://schemas.openxmlformats.org/drawingml/2006/main" l="32813" t="23779" r="32813" b="23779"/>
          <a:stretch xmlns:a="http://schemas.openxmlformats.org/drawingml/2006/main"/>
        </p:blipFill>
        <p:spPr>
          <a:xfrm xmlns:a="http://schemas.openxmlformats.org/drawingml/2006/main">
            <a:off x="11163300" y="161925"/>
            <a:ext cx="371475" cy="571500"/>
          </a:xfrm>
          <a:prstGeom xmlns:a="http://schemas.openxmlformats.org/drawingml/2006/main" prst="rect">
            <a:avLst/>
          </a:prstGeom>
        </p:spPr>
      </p:pic>
    </p:spTree>
    <p:extLst>
      <p:ext uri="{BB962C8B-B14F-4D97-AF65-F5344CB8AC3E}">
        <p14:creationId xmlns:p14="http://schemas.microsoft.com/office/powerpoint/2010/main" val="1273475023"/>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ext-0-48">
            <a:extLst xmlns:a="http://schemas.openxmlformats.org/drawingml/2006/main">
              <a:ext uri="{FF2B5EF4-FFF2-40B4-BE49-F238E27FC236}">
                <a16:creationId xmlns:a16="http://schemas.microsoft.com/office/drawing/2014/main" id="{5F68C7BE-3242-404E-A310-1FDACC927192}"/>
              </a:ext>
            </a:extLst>
          </p:cNvPr>
          <p:cNvSpPr>
            <a:spLocks xmlns:a="http://schemas.openxmlformats.org/drawingml/2006/main" noGrp="1"/>
          </p:cNvSpPr>
          <p:nvPr/>
        </p:nvSpPr>
        <p:spPr>
          <a:xfrm xmlns:a="http://schemas.openxmlformats.org/drawingml/2006/main">
            <a:off x="609600" y="8953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0000"/>
              </a:lnSpc>
              <a:buNone/>
              <a:defRPr sz="3300" b="1">
                <a:solidFill>
                  <a:srgbClr val="0B3970"/>
                </a:solidFill>
                <a:latin typeface="Nimbus Sans"/>
                <a:ea typeface="Nimbus Sans"/>
                <a:cs typeface="Nimbus Sans"/>
              </a:defRPr>
            </a:pPr>
            <a:r>
              <a:rPr sz="3300" b="1">
                <a:solidFill>
                  <a:srgbClr val="0B3970"/>
                </a:solidFill>
                <a:latin typeface="Nimbus Sans"/>
                <a:ea typeface="Nimbus Sans"/>
                <a:cs typeface="Nimbus Sans"/>
              </a:rPr>
              <a:t>Async dan pemeriksaan mounted</a:t>
            </a:r>
          </a:p>
        </p:txBody>
      </p:sp>
      <p:sp>
        <p:nvSpPr>
          <p:cNvPr id="2" name="text-1-674">
            <a:extLst xmlns:a="http://schemas.openxmlformats.org/drawingml/2006/main">
              <a:ext uri="{FF2B5EF4-FFF2-40B4-BE49-F238E27FC236}">
                <a16:creationId xmlns:a16="http://schemas.microsoft.com/office/drawing/2014/main" id="{453132FC-503D-40B3-8E86-18DE8AD87675}"/>
              </a:ext>
            </a:extLst>
          </p:cNvPr>
          <p:cNvSpPr>
            <a:spLocks xmlns:a="http://schemas.openxmlformats.org/drawingml/2006/main" noGrp="1"/>
          </p:cNvSpPr>
          <p:nvPr/>
        </p:nvSpPr>
        <p:spPr>
          <a:xfrm xmlns:a="http://schemas.openxmlformats.org/drawingml/2006/main">
            <a:off x="609600" y="6448425"/>
            <a:ext cx="714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125" b="0">
                <a:solidFill>
                  <a:srgbClr val="5E7182"/>
                </a:solidFill>
                <a:latin typeface="Nimbus Sans"/>
                <a:ea typeface="Nimbus Sans"/>
                <a:cs typeface="Nimbus Sans"/>
              </a:defRPr>
            </a:pPr>
            <a:r>
              <a:rPr sz="1125" b="0">
                <a:solidFill>
                  <a:srgbClr val="5E7182"/>
                </a:solidFill>
                <a:latin typeface="Nimbus Sans"/>
                <a:ea typeface="Nimbus Sans"/>
                <a:cs typeface="Nimbus Sans"/>
              </a:rPr>
              <a:t>Training Flutter Android   /   Hari 1</a:t>
            </a:r>
          </a:p>
        </p:txBody>
      </p:sp>
      <p:sp>
        <p:nvSpPr>
          <p:cNvPr id="3" name="text-2-674">
            <a:extLst xmlns:a="http://schemas.openxmlformats.org/drawingml/2006/main">
              <a:ext uri="{FF2B5EF4-FFF2-40B4-BE49-F238E27FC236}">
                <a16:creationId xmlns:a16="http://schemas.microsoft.com/office/drawing/2014/main" id="{FFC67C4C-3B9A-43E1-8C2D-E5E6298B9383}"/>
              </a:ext>
            </a:extLst>
          </p:cNvPr>
          <p:cNvSpPr>
            <a:spLocks xmlns:a="http://schemas.openxmlformats.org/drawingml/2006/main" noGrp="1"/>
          </p:cNvSpPr>
          <p:nvPr/>
        </p:nvSpPr>
        <p:spPr>
          <a:xfrm xmlns:a="http://schemas.openxmlformats.org/drawingml/2006/main">
            <a:off x="10668000" y="6448425"/>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125" b="0">
                <a:solidFill>
                  <a:srgbClr val="5E7182"/>
                </a:solidFill>
                <a:latin typeface="Nimbus Sans"/>
                <a:ea typeface="Nimbus Sans"/>
                <a:cs typeface="Nimbus Sans"/>
              </a:defRPr>
            </a:pPr>
            <a:r>
              <a:rPr sz="1125" b="0">
                <a:solidFill>
                  <a:srgbClr val="5E7182"/>
                </a:solidFill>
                <a:latin typeface="Nimbus Sans"/>
                <a:ea typeface="Nimbus Sans"/>
                <a:cs typeface="Nimbus Sans"/>
              </a:rPr>
              <a:t>29 / 44</a:t>
            </a:r>
          </a:p>
        </p:txBody>
      </p:sp>
      <p:sp>
        <p:nvSpPr>
          <p:cNvPr id="4" name="text-3-193">
            <a:extLst xmlns:a="http://schemas.openxmlformats.org/drawingml/2006/main">
              <a:ext uri="{FF2B5EF4-FFF2-40B4-BE49-F238E27FC236}">
                <a16:creationId xmlns:a16="http://schemas.microsoft.com/office/drawing/2014/main" id="{2560DB62-9BDF-4DBF-AD36-242D94451BAC}"/>
              </a:ext>
            </a:extLst>
          </p:cNvPr>
          <p:cNvSpPr>
            <a:spLocks xmlns:a="http://schemas.openxmlformats.org/drawingml/2006/main" noGrp="1"/>
          </p:cNvSpPr>
          <p:nvPr/>
        </p:nvSpPr>
        <p:spPr>
          <a:xfrm xmlns:a="http://schemas.openxmlformats.org/drawingml/2006/main">
            <a:off x="609600" y="1819275"/>
            <a:ext cx="10972800" cy="414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spcAft>
                <a:spcPts val="0"/>
              </a:spcAft>
              <a:defRPr sz="1650">
                <a:solidFill>
                  <a:srgbClr val="172D43"/>
                </a:solidFill>
                <a:latin typeface="DejaVu Sans Mono"/>
                <a:ea typeface="DejaVu Sans Mono"/>
                <a:cs typeface="DejaVu Sans Mono"/>
              </a:defRPr>
            </a:pPr>
            <a:r>
              <a:t>Future&lt;</a:t>
            </a:r>
            <a:r>
              <a:rPr b="1">
                <a:solidFill>
                  <a:srgbClr val="0B3970"/>
                </a:solidFill>
              </a:rPr>
              <a:t>void</a:t>
            </a:r>
            <a:r>
              <a:t>&gt; load() </a:t>
            </a:r>
            <a:r>
              <a:rPr b="1">
                <a:solidFill>
                  <a:srgbClr val="0B3970"/>
                </a:solidFill>
              </a:rPr>
              <a:t>async</a:t>
            </a:r>
            <a:r>
              <a:t> {</a:t>
            </a:r>
          </a:p>
          <a:p xmlns:a="http://schemas.openxmlformats.org/drawingml/2006/main">
            <a:pPr>
              <a:spcAft>
                <a:spcPts val="0"/>
              </a:spcAft>
              <a:defRPr sz="1650">
                <a:solidFill>
                  <a:srgbClr val="172D43"/>
                </a:solidFill>
                <a:latin typeface="DejaVu Sans Mono"/>
                <a:ea typeface="DejaVu Sans Mono"/>
                <a:cs typeface="DejaVu Sans Mono"/>
              </a:defRPr>
            </a:pPr>
            <a:r>
              <a:t>  </a:t>
            </a:r>
            <a:r>
              <a:rPr b="1">
                <a:solidFill>
                  <a:srgbClr val="0B3970"/>
                </a:solidFill>
              </a:rPr>
              <a:t>if</a:t>
            </a:r>
            <a:r>
              <a:t> (isLoading) </a:t>
            </a:r>
            <a:r>
              <a:rPr b="1">
                <a:solidFill>
                  <a:srgbClr val="0B3970"/>
                </a:solidFill>
              </a:rPr>
              <a:t>return</a:t>
            </a:r>
            <a:r>
              <a:t>;</a:t>
            </a:r>
          </a:p>
          <a:p xmlns:a="http://schemas.openxmlformats.org/drawingml/2006/main">
            <a:pPr>
              <a:spcAft>
                <a:spcPts val="0"/>
              </a:spcAft>
              <a:defRPr sz="1650">
                <a:solidFill>
                  <a:srgbClr val="172D43"/>
                </a:solidFill>
                <a:latin typeface="DejaVu Sans Mono"/>
                <a:ea typeface="DejaVu Sans Mono"/>
                <a:cs typeface="DejaVu Sans Mono"/>
              </a:defRPr>
            </a:pPr>
            <a:r>
              <a:t>  setState(() { isLoading = true; errorMessage = null; });</a:t>
            </a:r>
          </a:p>
          <a:p xmlns:a="http://schemas.openxmlformats.org/drawingml/2006/main">
            <a:pPr>
              <a:spcAft>
                <a:spcPts val="0"/>
              </a:spcAft>
              <a:defRPr sz="1650">
                <a:solidFill>
                  <a:srgbClr val="172D43"/>
                </a:solidFill>
                <a:latin typeface="DejaVu Sans Mono"/>
                <a:ea typeface="DejaVu Sans Mono"/>
                <a:cs typeface="DejaVu Sans Mono"/>
              </a:defRPr>
            </a:pPr>
            <a:r>
              <a:t>  </a:t>
            </a:r>
            <a:r>
              <a:rPr b="1">
                <a:solidFill>
                  <a:srgbClr val="0B3970"/>
                </a:solidFill>
              </a:rPr>
              <a:t>try</a:t>
            </a:r>
            <a:r>
              <a:t> {</a:t>
            </a:r>
          </a:p>
          <a:p xmlns:a="http://schemas.openxmlformats.org/drawingml/2006/main">
            <a:pPr>
              <a:spcAft>
                <a:spcPts val="0"/>
              </a:spcAft>
              <a:defRPr sz="1650">
                <a:solidFill>
                  <a:srgbClr val="172D43"/>
                </a:solidFill>
                <a:latin typeface="DejaVu Sans Mono"/>
                <a:ea typeface="DejaVu Sans Mono"/>
                <a:cs typeface="DejaVu Sans Mono"/>
              </a:defRPr>
            </a:pPr>
            <a:r>
              <a:t>    </a:t>
            </a:r>
            <a:r>
              <a:rPr b="1">
                <a:solidFill>
                  <a:srgbClr val="0B3970"/>
                </a:solidFill>
              </a:rPr>
              <a:t>final</a:t>
            </a:r>
            <a:r>
              <a:t> result = </a:t>
            </a:r>
            <a:r>
              <a:rPr b="1">
                <a:solidFill>
                  <a:srgbClr val="0B3970"/>
                </a:solidFill>
              </a:rPr>
              <a:t>await</a:t>
            </a:r>
            <a:r>
              <a:t> loadDemoItems();</a:t>
            </a:r>
          </a:p>
          <a:p xmlns:a="http://schemas.openxmlformats.org/drawingml/2006/main">
            <a:pPr>
              <a:spcAft>
                <a:spcPts val="0"/>
              </a:spcAft>
              <a:defRPr sz="1650">
                <a:solidFill>
                  <a:srgbClr val="172D43"/>
                </a:solidFill>
                <a:latin typeface="DejaVu Sans Mono"/>
                <a:ea typeface="DejaVu Sans Mono"/>
                <a:cs typeface="DejaVu Sans Mono"/>
              </a:defRPr>
            </a:pPr>
            <a:r>
              <a:t>    </a:t>
            </a:r>
            <a:r>
              <a:rPr b="1">
                <a:solidFill>
                  <a:srgbClr val="0B3970"/>
                </a:solidFill>
              </a:rPr>
              <a:t>if</a:t>
            </a:r>
            <a:r>
              <a:t> (!mounted) </a:t>
            </a:r>
            <a:r>
              <a:rPr b="1">
                <a:solidFill>
                  <a:srgbClr val="0B3970"/>
                </a:solidFill>
              </a:rPr>
              <a:t>return</a:t>
            </a:r>
            <a:r>
              <a:t>;</a:t>
            </a:r>
          </a:p>
          <a:p xmlns:a="http://schemas.openxmlformats.org/drawingml/2006/main">
            <a:pPr>
              <a:spcAft>
                <a:spcPts val="0"/>
              </a:spcAft>
              <a:defRPr sz="1650">
                <a:solidFill>
                  <a:srgbClr val="172D43"/>
                </a:solidFill>
                <a:latin typeface="DejaVu Sans Mono"/>
                <a:ea typeface="DejaVu Sans Mono"/>
                <a:cs typeface="DejaVu Sans Mono"/>
              </a:defRPr>
            </a:pPr>
            <a:r>
              <a:t>    setState(() =&gt; items = result);</a:t>
            </a:r>
          </a:p>
          <a:p xmlns:a="http://schemas.openxmlformats.org/drawingml/2006/main">
            <a:pPr>
              <a:spcAft>
                <a:spcPts val="0"/>
              </a:spcAft>
              <a:defRPr sz="1650">
                <a:solidFill>
                  <a:srgbClr val="172D43"/>
                </a:solidFill>
                <a:latin typeface="DejaVu Sans Mono"/>
                <a:ea typeface="DejaVu Sans Mono"/>
                <a:cs typeface="DejaVu Sans Mono"/>
              </a:defRPr>
            </a:pPr>
            <a:r>
              <a:t>  } </a:t>
            </a:r>
            <a:r>
              <a:rPr b="1">
                <a:solidFill>
                  <a:srgbClr val="0B3970"/>
                </a:solidFill>
              </a:rPr>
              <a:t>catch</a:t>
            </a:r>
            <a:r>
              <a:t> (_) {</a:t>
            </a:r>
          </a:p>
          <a:p xmlns:a="http://schemas.openxmlformats.org/drawingml/2006/main">
            <a:pPr>
              <a:spcAft>
                <a:spcPts val="0"/>
              </a:spcAft>
              <a:defRPr sz="1650">
                <a:solidFill>
                  <a:srgbClr val="172D43"/>
                </a:solidFill>
                <a:latin typeface="DejaVu Sans Mono"/>
                <a:ea typeface="DejaVu Sans Mono"/>
                <a:cs typeface="DejaVu Sans Mono"/>
              </a:defRPr>
            </a:pPr>
            <a:r>
              <a:t>    </a:t>
            </a:r>
            <a:r>
              <a:rPr b="1">
                <a:solidFill>
                  <a:srgbClr val="0B3970"/>
                </a:solidFill>
              </a:rPr>
              <a:t>if</a:t>
            </a:r>
            <a:r>
              <a:t> (!mounted) </a:t>
            </a:r>
            <a:r>
              <a:rPr b="1">
                <a:solidFill>
                  <a:srgbClr val="0B3970"/>
                </a:solidFill>
              </a:rPr>
              <a:t>return</a:t>
            </a:r>
            <a:r>
              <a:t>;</a:t>
            </a:r>
          </a:p>
          <a:p xmlns:a="http://schemas.openxmlformats.org/drawingml/2006/main">
            <a:pPr>
              <a:spcAft>
                <a:spcPts val="0"/>
              </a:spcAft>
              <a:defRPr sz="1650">
                <a:solidFill>
                  <a:srgbClr val="172D43"/>
                </a:solidFill>
                <a:latin typeface="DejaVu Sans Mono"/>
                <a:ea typeface="DejaVu Sans Mono"/>
                <a:cs typeface="DejaVu Sans Mono"/>
              </a:defRPr>
            </a:pPr>
            <a:r>
              <a:t>    setState(() =&gt; errorMessage = </a:t>
            </a:r>
            <a:r>
              <a:rPr b="0">
                <a:solidFill>
                  <a:srgbClr val="007DB7"/>
                </a:solidFill>
              </a:rPr>
              <a:t>'Gagal memuat'</a:t>
            </a:r>
            <a:r>
              <a:t>);</a:t>
            </a:r>
          </a:p>
          <a:p xmlns:a="http://schemas.openxmlformats.org/drawingml/2006/main">
            <a:pPr>
              <a:spcAft>
                <a:spcPts val="0"/>
              </a:spcAft>
              <a:defRPr sz="1650">
                <a:solidFill>
                  <a:srgbClr val="172D43"/>
                </a:solidFill>
                <a:latin typeface="DejaVu Sans Mono"/>
                <a:ea typeface="DejaVu Sans Mono"/>
                <a:cs typeface="DejaVu Sans Mono"/>
              </a:defRPr>
            </a:pPr>
            <a:r>
              <a:t>  } </a:t>
            </a:r>
            <a:r>
              <a:rPr b="1">
                <a:solidFill>
                  <a:srgbClr val="0B3970"/>
                </a:solidFill>
              </a:rPr>
              <a:t>finally</a:t>
            </a:r>
            <a:r>
              <a:t> {</a:t>
            </a:r>
          </a:p>
          <a:p xmlns:a="http://schemas.openxmlformats.org/drawingml/2006/main">
            <a:pPr>
              <a:spcAft>
                <a:spcPts val="0"/>
              </a:spcAft>
              <a:defRPr sz="1650">
                <a:solidFill>
                  <a:srgbClr val="172D43"/>
                </a:solidFill>
                <a:latin typeface="DejaVu Sans Mono"/>
                <a:ea typeface="DejaVu Sans Mono"/>
                <a:cs typeface="DejaVu Sans Mono"/>
              </a:defRPr>
            </a:pPr>
            <a:r>
              <a:t>    </a:t>
            </a:r>
            <a:r>
              <a:rPr b="1">
                <a:solidFill>
                  <a:srgbClr val="0B3970"/>
                </a:solidFill>
              </a:rPr>
              <a:t>if</a:t>
            </a:r>
            <a:r>
              <a:t> (mounted) setState(() =&gt; isLoading = false);</a:t>
            </a:r>
          </a:p>
          <a:p xmlns:a="http://schemas.openxmlformats.org/drawingml/2006/main">
            <a:pPr>
              <a:spcAft>
                <a:spcPts val="0"/>
              </a:spcAft>
              <a:defRPr sz="1650">
                <a:solidFill>
                  <a:srgbClr val="172D43"/>
                </a:solidFill>
                <a:latin typeface="DejaVu Sans Mono"/>
                <a:ea typeface="DejaVu Sans Mono"/>
                <a:cs typeface="DejaVu Sans Mono"/>
              </a:defRPr>
            </a:pPr>
            <a:r>
              <a:t>  }</a:t>
            </a:r>
          </a:p>
          <a:p xmlns:a="http://schemas.openxmlformats.org/drawingml/2006/main">
            <a:pPr>
              <a:spcAft>
                <a:spcPts val="0"/>
              </a:spcAft>
              <a:defRPr sz="1650">
                <a:solidFill>
                  <a:srgbClr val="172D43"/>
                </a:solidFill>
                <a:latin typeface="DejaVu Sans Mono"/>
                <a:ea typeface="DejaVu Sans Mono"/>
                <a:cs typeface="DejaVu Sans Mono"/>
              </a:defRPr>
            </a:pPr>
            <a:r>
              <a:t>}</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c64caece5b1c45f8"/>
          <a:srcRect xmlns:a="http://schemas.openxmlformats.org/drawingml/2006/main" l="4250" t="6738" r="4125" b="3546"/>
          <a:stretch xmlns:a="http://schemas.openxmlformats.org/drawingml/2006/main"/>
        </p:blipFill>
        <p:spPr>
          <a:xfrm xmlns:a="http://schemas.openxmlformats.org/drawingml/2006/main">
            <a:off x="9344025" y="219075"/>
            <a:ext cx="1428750" cy="495300"/>
          </a:xfrm>
          <a:prstGeom xmlns:a="http://schemas.openxmlformats.org/drawingml/2006/main" prst="rect">
            <a:avLst/>
          </a:prstGeom>
        </p:spPr>
      </p:pic>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69ad529bc6e247fa"/>
          <a:srcRect xmlns:a="http://schemas.openxmlformats.org/drawingml/2006/main" l="32813" t="23779" r="32813" b="23779"/>
          <a:stretch xmlns:a="http://schemas.openxmlformats.org/drawingml/2006/main"/>
        </p:blipFill>
        <p:spPr>
          <a:xfrm xmlns:a="http://schemas.openxmlformats.org/drawingml/2006/main">
            <a:off x="11163300" y="161925"/>
            <a:ext cx="371475" cy="571500"/>
          </a:xfrm>
          <a:prstGeom xmlns:a="http://schemas.openxmlformats.org/drawingml/2006/main" prst="rect">
            <a:avLst/>
          </a:prstGeom>
        </p:spPr>
      </p:pic>
    </p:spTree>
    <p:extLst>
      <p:ext uri="{BB962C8B-B14F-4D97-AF65-F5344CB8AC3E}">
        <p14:creationId xmlns:p14="http://schemas.microsoft.com/office/powerpoint/2010/main" val="2006464692"/>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ext-0-48">
            <a:extLst xmlns:a="http://schemas.openxmlformats.org/drawingml/2006/main">
              <a:ext uri="{FF2B5EF4-FFF2-40B4-BE49-F238E27FC236}">
                <a16:creationId xmlns:a16="http://schemas.microsoft.com/office/drawing/2014/main" id="{7042379E-0947-4991-BB33-D75003751367}"/>
              </a:ext>
            </a:extLst>
          </p:cNvPr>
          <p:cNvSpPr>
            <a:spLocks xmlns:a="http://schemas.openxmlformats.org/drawingml/2006/main" noGrp="1"/>
          </p:cNvSpPr>
          <p:nvPr/>
        </p:nvSpPr>
        <p:spPr>
          <a:xfrm xmlns:a="http://schemas.openxmlformats.org/drawingml/2006/main">
            <a:off x="609600" y="8953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0000"/>
              </a:lnSpc>
              <a:buNone/>
              <a:defRPr sz="3300" b="1">
                <a:solidFill>
                  <a:srgbClr val="0B3970"/>
                </a:solidFill>
                <a:latin typeface="Nimbus Sans"/>
                <a:ea typeface="Nimbus Sans"/>
                <a:cs typeface="Nimbus Sans"/>
              </a:defRPr>
            </a:pPr>
            <a:r>
              <a:rPr sz="3300" b="1">
                <a:solidFill>
                  <a:srgbClr val="0B3970"/>
                </a:solidFill>
                <a:latin typeface="Nimbus Sans"/>
                <a:ea typeface="Nimbus Sans"/>
                <a:cs typeface="Nimbus Sans"/>
              </a:rPr>
              <a:t>Navigator mengembalikan hasil form</a:t>
            </a:r>
          </a:p>
        </p:txBody>
      </p:sp>
      <p:sp>
        <p:nvSpPr>
          <p:cNvPr id="2" name="text-1-674">
            <a:extLst xmlns:a="http://schemas.openxmlformats.org/drawingml/2006/main">
              <a:ext uri="{FF2B5EF4-FFF2-40B4-BE49-F238E27FC236}">
                <a16:creationId xmlns:a16="http://schemas.microsoft.com/office/drawing/2014/main" id="{E0F4DF19-C9AC-45E9-BB83-246AF95F8FB9}"/>
              </a:ext>
            </a:extLst>
          </p:cNvPr>
          <p:cNvSpPr>
            <a:spLocks xmlns:a="http://schemas.openxmlformats.org/drawingml/2006/main" noGrp="1"/>
          </p:cNvSpPr>
          <p:nvPr/>
        </p:nvSpPr>
        <p:spPr>
          <a:xfrm xmlns:a="http://schemas.openxmlformats.org/drawingml/2006/main">
            <a:off x="609600" y="6448425"/>
            <a:ext cx="714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125" b="0">
                <a:solidFill>
                  <a:srgbClr val="5E7182"/>
                </a:solidFill>
                <a:latin typeface="Nimbus Sans"/>
                <a:ea typeface="Nimbus Sans"/>
                <a:cs typeface="Nimbus Sans"/>
              </a:defRPr>
            </a:pPr>
            <a:r>
              <a:rPr sz="1125" b="0">
                <a:solidFill>
                  <a:srgbClr val="5E7182"/>
                </a:solidFill>
                <a:latin typeface="Nimbus Sans"/>
                <a:ea typeface="Nimbus Sans"/>
                <a:cs typeface="Nimbus Sans"/>
              </a:rPr>
              <a:t>Training Flutter Android   /   Hari 1</a:t>
            </a:r>
          </a:p>
        </p:txBody>
      </p:sp>
      <p:sp>
        <p:nvSpPr>
          <p:cNvPr id="3" name="text-2-674">
            <a:extLst xmlns:a="http://schemas.openxmlformats.org/drawingml/2006/main">
              <a:ext uri="{FF2B5EF4-FFF2-40B4-BE49-F238E27FC236}">
                <a16:creationId xmlns:a16="http://schemas.microsoft.com/office/drawing/2014/main" id="{600ECB43-23E2-4BD0-90D1-BFA7C5F098E1}"/>
              </a:ext>
            </a:extLst>
          </p:cNvPr>
          <p:cNvSpPr>
            <a:spLocks xmlns:a="http://schemas.openxmlformats.org/drawingml/2006/main" noGrp="1"/>
          </p:cNvSpPr>
          <p:nvPr/>
        </p:nvSpPr>
        <p:spPr>
          <a:xfrm xmlns:a="http://schemas.openxmlformats.org/drawingml/2006/main">
            <a:off x="10668000" y="6448425"/>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125" b="0">
                <a:solidFill>
                  <a:srgbClr val="5E7182"/>
                </a:solidFill>
                <a:latin typeface="Nimbus Sans"/>
                <a:ea typeface="Nimbus Sans"/>
                <a:cs typeface="Nimbus Sans"/>
              </a:defRPr>
            </a:pPr>
            <a:r>
              <a:rPr sz="1125" b="0">
                <a:solidFill>
                  <a:srgbClr val="5E7182"/>
                </a:solidFill>
                <a:latin typeface="Nimbus Sans"/>
                <a:ea typeface="Nimbus Sans"/>
                <a:cs typeface="Nimbus Sans"/>
              </a:rPr>
              <a:t>30 / 44</a:t>
            </a:r>
          </a:p>
        </p:txBody>
      </p:sp>
      <p:sp>
        <p:nvSpPr>
          <p:cNvPr id="4" name="text-3-193">
            <a:extLst xmlns:a="http://schemas.openxmlformats.org/drawingml/2006/main">
              <a:ext uri="{FF2B5EF4-FFF2-40B4-BE49-F238E27FC236}">
                <a16:creationId xmlns:a16="http://schemas.microsoft.com/office/drawing/2014/main" id="{DB381E3E-AD5C-4EAA-9ADC-DB1835AE1E91}"/>
              </a:ext>
            </a:extLst>
          </p:cNvPr>
          <p:cNvSpPr>
            <a:spLocks xmlns:a="http://schemas.openxmlformats.org/drawingml/2006/main" noGrp="1"/>
          </p:cNvSpPr>
          <p:nvPr/>
        </p:nvSpPr>
        <p:spPr>
          <a:xfrm xmlns:a="http://schemas.openxmlformats.org/drawingml/2006/main">
            <a:off x="609600" y="1819275"/>
            <a:ext cx="10972800" cy="414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spcAft>
                <a:spcPts val="0"/>
              </a:spcAft>
              <a:defRPr sz="2100">
                <a:solidFill>
                  <a:srgbClr val="172D43"/>
                </a:solidFill>
                <a:latin typeface="DejaVu Sans Mono"/>
                <a:ea typeface="DejaVu Sans Mono"/>
                <a:cs typeface="DejaVu Sans Mono"/>
              </a:defRPr>
            </a:pPr>
            <a:r>
              <a:rPr b="1">
                <a:solidFill>
                  <a:srgbClr val="0B3970"/>
                </a:solidFill>
              </a:rPr>
              <a:t>final</a:t>
            </a:r>
            <a:r>
              <a:t> created = </a:t>
            </a:r>
            <a:r>
              <a:rPr b="1">
                <a:solidFill>
                  <a:srgbClr val="0B3970"/>
                </a:solidFill>
              </a:rPr>
              <a:t>await</a:t>
            </a:r>
            <a:r>
              <a:t> Navigator.of(context)</a:t>
            </a:r>
          </a:p>
          <a:p xmlns:a="http://schemas.openxmlformats.org/drawingml/2006/main">
            <a:pPr>
              <a:spcAft>
                <a:spcPts val="0"/>
              </a:spcAft>
              <a:defRPr sz="2100">
                <a:solidFill>
                  <a:srgbClr val="172D43"/>
                </a:solidFill>
                <a:latin typeface="DejaVu Sans Mono"/>
                <a:ea typeface="DejaVu Sans Mono"/>
                <a:cs typeface="DejaVu Sans Mono"/>
              </a:defRPr>
            </a:pPr>
            <a:r>
              <a:t>    .push&lt;Inspection&gt;(</a:t>
            </a:r>
          </a:p>
          <a:p xmlns:a="http://schemas.openxmlformats.org/drawingml/2006/main">
            <a:pPr>
              <a:spcAft>
                <a:spcPts val="0"/>
              </a:spcAft>
              <a:defRPr sz="2100">
                <a:solidFill>
                  <a:srgbClr val="172D43"/>
                </a:solidFill>
                <a:latin typeface="DejaVu Sans Mono"/>
                <a:ea typeface="DejaVu Sans Mono"/>
                <a:cs typeface="DejaVu Sans Mono"/>
              </a:defRPr>
            </a:pPr>
            <a:r>
              <a:t>  MaterialPageRoute(</a:t>
            </a:r>
          </a:p>
          <a:p xmlns:a="http://schemas.openxmlformats.org/drawingml/2006/main">
            <a:pPr>
              <a:spcAft>
                <a:spcPts val="0"/>
              </a:spcAft>
              <a:defRPr sz="2100">
                <a:solidFill>
                  <a:srgbClr val="172D43"/>
                </a:solidFill>
                <a:latin typeface="DejaVu Sans Mono"/>
                <a:ea typeface="DejaVu Sans Mono"/>
                <a:cs typeface="DejaVu Sans Mono"/>
              </a:defRPr>
            </a:pPr>
            <a:r>
              <a:t>    builder: (_) =&gt; </a:t>
            </a:r>
            <a:r>
              <a:rPr b="1">
                <a:solidFill>
                  <a:srgbClr val="0B3970"/>
                </a:solidFill>
              </a:rPr>
              <a:t>const</a:t>
            </a:r>
            <a:r>
              <a:t> InspectionForm(),</a:t>
            </a:r>
          </a:p>
          <a:p xmlns:a="http://schemas.openxmlformats.org/drawingml/2006/main">
            <a:pPr>
              <a:spcAft>
                <a:spcPts val="0"/>
              </a:spcAft>
              <a:defRPr sz="2100">
                <a:solidFill>
                  <a:srgbClr val="172D43"/>
                </a:solidFill>
                <a:latin typeface="DejaVu Sans Mono"/>
                <a:ea typeface="DejaVu Sans Mono"/>
                <a:cs typeface="DejaVu Sans Mono"/>
              </a:defRPr>
            </a:pPr>
            <a:r>
              <a:t>  ),</a:t>
            </a:r>
          </a:p>
          <a:p xmlns:a="http://schemas.openxmlformats.org/drawingml/2006/main">
            <a:pPr>
              <a:spcAft>
                <a:spcPts val="0"/>
              </a:spcAft>
              <a:defRPr sz="2100">
                <a:solidFill>
                  <a:srgbClr val="172D43"/>
                </a:solidFill>
                <a:latin typeface="DejaVu Sans Mono"/>
                <a:ea typeface="DejaVu Sans Mono"/>
                <a:cs typeface="DejaVu Sans Mono"/>
              </a:defRPr>
            </a:pPr>
            <a:r>
              <a:t>);</a:t>
            </a:r>
          </a:p>
          <a:p xmlns:a="http://schemas.openxmlformats.org/drawingml/2006/main">
            <a:pPr>
              <a:spcAft>
                <a:spcPts val="0"/>
              </a:spcAft>
              <a:defRPr sz="2100">
                <a:solidFill>
                  <a:srgbClr val="172D43"/>
                </a:solidFill>
                <a:latin typeface="DejaVu Sans Mono"/>
                <a:ea typeface="DejaVu Sans Mono"/>
                <a:cs typeface="DejaVu Sans Mono"/>
              </a:defRPr>
            </a:pPr>
            <a:r>
              <a:rPr b="1">
                <a:solidFill>
                  <a:srgbClr val="0B3970"/>
                </a:solidFill>
              </a:rPr>
              <a:t>if</a:t>
            </a:r>
            <a:r>
              <a:t> (!mounted || created == null) </a:t>
            </a:r>
            <a:r>
              <a:rPr b="1">
                <a:solidFill>
                  <a:srgbClr val="0B3970"/>
                </a:solidFill>
              </a:rPr>
              <a:t>return</a:t>
            </a:r>
            <a:r>
              <a:t>;</a:t>
            </a:r>
          </a:p>
          <a:p xmlns:a="http://schemas.openxmlformats.org/drawingml/2006/main">
            <a:pPr>
              <a:spcAft>
                <a:spcPts val="0"/>
              </a:spcAft>
              <a:defRPr sz="2100">
                <a:solidFill>
                  <a:srgbClr val="172D43"/>
                </a:solidFill>
                <a:latin typeface="DejaVu Sans Mono"/>
                <a:ea typeface="DejaVu Sans Mono"/>
                <a:cs typeface="DejaVu Sans Mono"/>
              </a:defRPr>
            </a:pPr>
            <a:r>
              <a:t>setState(() =&gt; items = [created, ...items]);</a:t>
            </a:r>
          </a:p>
          <a:p xmlns:a="http://schemas.openxmlformats.org/drawingml/2006/main">
            <a:pPr>
              <a:spcAft>
                <a:spcPts val="0"/>
              </a:spcAft>
              <a:defRPr sz="2100">
                <a:solidFill>
                  <a:srgbClr val="172D43"/>
                </a:solidFill>
                <a:latin typeface="DejaVu Sans Mono"/>
                <a:ea typeface="DejaVu Sans Mono"/>
                <a:cs typeface="DejaVu Sans Mono"/>
              </a:defRPr>
            </a:pPr>
            <a:r>
              <a:t> </a:t>
            </a:r>
          </a:p>
          <a:p xmlns:a="http://schemas.openxmlformats.org/drawingml/2006/main">
            <a:pPr>
              <a:spcAft>
                <a:spcPts val="0"/>
              </a:spcAft>
              <a:defRPr sz="2100">
                <a:solidFill>
                  <a:srgbClr val="172D43"/>
                </a:solidFill>
                <a:latin typeface="DejaVu Sans Mono"/>
                <a:ea typeface="DejaVu Sans Mono"/>
                <a:cs typeface="DejaVu Sans Mono"/>
              </a:defRPr>
            </a:pPr>
            <a:r>
              <a:rPr>
                <a:solidFill>
                  <a:srgbClr val="5E7182"/>
                </a:solidFill>
              </a:rPr>
              <a:t>// Pada form valid</a:t>
            </a:r>
          </a:p>
          <a:p xmlns:a="http://schemas.openxmlformats.org/drawingml/2006/main">
            <a:pPr>
              <a:spcAft>
                <a:spcPts val="0"/>
              </a:spcAft>
              <a:defRPr sz="2100">
                <a:solidFill>
                  <a:srgbClr val="172D43"/>
                </a:solidFill>
                <a:latin typeface="DejaVu Sans Mono"/>
                <a:ea typeface="DejaVu Sans Mono"/>
                <a:cs typeface="DejaVu Sans Mono"/>
              </a:defRPr>
            </a:pPr>
            <a:r>
              <a:t>Navigator.of(context).pop(record);</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41c104c5393946f1"/>
          <a:srcRect xmlns:a="http://schemas.openxmlformats.org/drawingml/2006/main" l="4250" t="6738" r="4125" b="3546"/>
          <a:stretch xmlns:a="http://schemas.openxmlformats.org/drawingml/2006/main"/>
        </p:blipFill>
        <p:spPr>
          <a:xfrm xmlns:a="http://schemas.openxmlformats.org/drawingml/2006/main">
            <a:off x="9344025" y="219075"/>
            <a:ext cx="1428750" cy="495300"/>
          </a:xfrm>
          <a:prstGeom xmlns:a="http://schemas.openxmlformats.org/drawingml/2006/main" prst="rect">
            <a:avLst/>
          </a:prstGeom>
        </p:spPr>
      </p:pic>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74d722be4682469d"/>
          <a:srcRect xmlns:a="http://schemas.openxmlformats.org/drawingml/2006/main" l="32813" t="23779" r="32813" b="23779"/>
          <a:stretch xmlns:a="http://schemas.openxmlformats.org/drawingml/2006/main"/>
        </p:blipFill>
        <p:spPr>
          <a:xfrm xmlns:a="http://schemas.openxmlformats.org/drawingml/2006/main">
            <a:off x="11163300" y="161925"/>
            <a:ext cx="371475" cy="571500"/>
          </a:xfrm>
          <a:prstGeom xmlns:a="http://schemas.openxmlformats.org/drawingml/2006/main" prst="rect">
            <a:avLst/>
          </a:prstGeom>
        </p:spPr>
      </p:pic>
    </p:spTree>
    <p:extLst>
      <p:ext uri="{BB962C8B-B14F-4D97-AF65-F5344CB8AC3E}">
        <p14:creationId xmlns:p14="http://schemas.microsoft.com/office/powerpoint/2010/main" val="1210455016"/>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ext-0-48">
            <a:extLst xmlns:a="http://schemas.openxmlformats.org/drawingml/2006/main">
              <a:ext uri="{FF2B5EF4-FFF2-40B4-BE49-F238E27FC236}">
                <a16:creationId xmlns:a16="http://schemas.microsoft.com/office/drawing/2014/main" id="{3FFB21A0-0D92-4A85-B2C9-C17841637EE1}"/>
              </a:ext>
            </a:extLst>
          </p:cNvPr>
          <p:cNvSpPr>
            <a:spLocks xmlns:a="http://schemas.openxmlformats.org/drawingml/2006/main" noGrp="1"/>
          </p:cNvSpPr>
          <p:nvPr/>
        </p:nvSpPr>
        <p:spPr>
          <a:xfrm xmlns:a="http://schemas.openxmlformats.org/drawingml/2006/main">
            <a:off x="609600" y="8953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0000"/>
              </a:lnSpc>
              <a:buNone/>
              <a:defRPr sz="3300" b="1">
                <a:solidFill>
                  <a:srgbClr val="0B3970"/>
                </a:solidFill>
                <a:latin typeface="Nimbus Sans"/>
                <a:ea typeface="Nimbus Sans"/>
                <a:cs typeface="Nimbus Sans"/>
              </a:defRPr>
            </a:pPr>
            <a:r>
              <a:rPr sz="3300" b="1">
                <a:solidFill>
                  <a:srgbClr val="0B3970"/>
                </a:solidFill>
                <a:latin typeface="Nimbus Sans"/>
                <a:ea typeface="Nimbus Sans"/>
                <a:cs typeface="Nimbus Sans"/>
              </a:rPr>
              <a:t>Form dan field wajib</a:t>
            </a:r>
          </a:p>
        </p:txBody>
      </p:sp>
      <p:sp>
        <p:nvSpPr>
          <p:cNvPr id="2" name="text-1-674">
            <a:extLst xmlns:a="http://schemas.openxmlformats.org/drawingml/2006/main">
              <a:ext uri="{FF2B5EF4-FFF2-40B4-BE49-F238E27FC236}">
                <a16:creationId xmlns:a16="http://schemas.microsoft.com/office/drawing/2014/main" id="{3C8B7531-0A1C-49E1-BB67-4B188B9AE6AF}"/>
              </a:ext>
            </a:extLst>
          </p:cNvPr>
          <p:cNvSpPr>
            <a:spLocks xmlns:a="http://schemas.openxmlformats.org/drawingml/2006/main" noGrp="1"/>
          </p:cNvSpPr>
          <p:nvPr/>
        </p:nvSpPr>
        <p:spPr>
          <a:xfrm xmlns:a="http://schemas.openxmlformats.org/drawingml/2006/main">
            <a:off x="609600" y="6448425"/>
            <a:ext cx="714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125" b="0">
                <a:solidFill>
                  <a:srgbClr val="5E7182"/>
                </a:solidFill>
                <a:latin typeface="Nimbus Sans"/>
                <a:ea typeface="Nimbus Sans"/>
                <a:cs typeface="Nimbus Sans"/>
              </a:defRPr>
            </a:pPr>
            <a:r>
              <a:rPr sz="1125" b="0">
                <a:solidFill>
                  <a:srgbClr val="5E7182"/>
                </a:solidFill>
                <a:latin typeface="Nimbus Sans"/>
                <a:ea typeface="Nimbus Sans"/>
                <a:cs typeface="Nimbus Sans"/>
              </a:rPr>
              <a:t>Training Flutter Android   /   Hari 1</a:t>
            </a:r>
          </a:p>
        </p:txBody>
      </p:sp>
      <p:sp>
        <p:nvSpPr>
          <p:cNvPr id="3" name="text-2-674">
            <a:extLst xmlns:a="http://schemas.openxmlformats.org/drawingml/2006/main">
              <a:ext uri="{FF2B5EF4-FFF2-40B4-BE49-F238E27FC236}">
                <a16:creationId xmlns:a16="http://schemas.microsoft.com/office/drawing/2014/main" id="{349BF43D-D551-49FB-9560-F9C1A374264A}"/>
              </a:ext>
            </a:extLst>
          </p:cNvPr>
          <p:cNvSpPr>
            <a:spLocks xmlns:a="http://schemas.openxmlformats.org/drawingml/2006/main" noGrp="1"/>
          </p:cNvSpPr>
          <p:nvPr/>
        </p:nvSpPr>
        <p:spPr>
          <a:xfrm xmlns:a="http://schemas.openxmlformats.org/drawingml/2006/main">
            <a:off x="10668000" y="6448425"/>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125" b="0">
                <a:solidFill>
                  <a:srgbClr val="5E7182"/>
                </a:solidFill>
                <a:latin typeface="Nimbus Sans"/>
                <a:ea typeface="Nimbus Sans"/>
                <a:cs typeface="Nimbus Sans"/>
              </a:defRPr>
            </a:pPr>
            <a:r>
              <a:rPr sz="1125" b="0">
                <a:solidFill>
                  <a:srgbClr val="5E7182"/>
                </a:solidFill>
                <a:latin typeface="Nimbus Sans"/>
                <a:ea typeface="Nimbus Sans"/>
                <a:cs typeface="Nimbus Sans"/>
              </a:rPr>
              <a:t>31 / 44</a:t>
            </a:r>
          </a:p>
        </p:txBody>
      </p:sp>
      <p:sp>
        <p:nvSpPr>
          <p:cNvPr id="4" name="text-3-193">
            <a:extLst xmlns:a="http://schemas.openxmlformats.org/drawingml/2006/main">
              <a:ext uri="{FF2B5EF4-FFF2-40B4-BE49-F238E27FC236}">
                <a16:creationId xmlns:a16="http://schemas.microsoft.com/office/drawing/2014/main" id="{BAEA1B9E-F299-4885-B1A2-EA2270C79C7A}"/>
              </a:ext>
            </a:extLst>
          </p:cNvPr>
          <p:cNvSpPr>
            <a:spLocks xmlns:a="http://schemas.openxmlformats.org/drawingml/2006/main" noGrp="1"/>
          </p:cNvSpPr>
          <p:nvPr/>
        </p:nvSpPr>
        <p:spPr>
          <a:xfrm xmlns:a="http://schemas.openxmlformats.org/drawingml/2006/main">
            <a:off x="609600" y="1819275"/>
            <a:ext cx="10972800" cy="414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spcAft>
                <a:spcPts val="0"/>
              </a:spcAft>
              <a:defRPr sz="1950">
                <a:solidFill>
                  <a:srgbClr val="172D43"/>
                </a:solidFill>
                <a:latin typeface="DejaVu Sans Mono"/>
                <a:ea typeface="DejaVu Sans Mono"/>
                <a:cs typeface="DejaVu Sans Mono"/>
              </a:defRPr>
            </a:pPr>
            <a:r>
              <a:rPr b="1">
                <a:solidFill>
                  <a:srgbClr val="0B3970"/>
                </a:solidFill>
              </a:rPr>
              <a:t>final</a:t>
            </a:r>
            <a:r>
              <a:t> formKey = GlobalKey&lt;FormState&gt;();</a:t>
            </a:r>
          </a:p>
          <a:p xmlns:a="http://schemas.openxmlformats.org/drawingml/2006/main">
            <a:pPr>
              <a:spcAft>
                <a:spcPts val="0"/>
              </a:spcAft>
              <a:defRPr sz="1950">
                <a:solidFill>
                  <a:srgbClr val="172D43"/>
                </a:solidFill>
                <a:latin typeface="DejaVu Sans Mono"/>
                <a:ea typeface="DejaVu Sans Mono"/>
                <a:cs typeface="DejaVu Sans Mono"/>
              </a:defRPr>
            </a:pPr>
            <a:r>
              <a:t> </a:t>
            </a:r>
          </a:p>
          <a:p xmlns:a="http://schemas.openxmlformats.org/drawingml/2006/main">
            <a:pPr>
              <a:spcAft>
                <a:spcPts val="0"/>
              </a:spcAft>
              <a:defRPr sz="1950">
                <a:solidFill>
                  <a:srgbClr val="172D43"/>
                </a:solidFill>
                <a:latin typeface="DejaVu Sans Mono"/>
                <a:ea typeface="DejaVu Sans Mono"/>
                <a:cs typeface="DejaVu Sans Mono"/>
              </a:defRPr>
            </a:pPr>
            <a:r>
              <a:t>TextFormField(</a:t>
            </a:r>
          </a:p>
          <a:p xmlns:a="http://schemas.openxmlformats.org/drawingml/2006/main">
            <a:pPr>
              <a:spcAft>
                <a:spcPts val="0"/>
              </a:spcAft>
              <a:defRPr sz="1950">
                <a:solidFill>
                  <a:srgbClr val="172D43"/>
                </a:solidFill>
                <a:latin typeface="DejaVu Sans Mono"/>
                <a:ea typeface="DejaVu Sans Mono"/>
                <a:cs typeface="DejaVu Sans Mono"/>
              </a:defRPr>
            </a:pPr>
            <a:r>
              <a:t>  controller: assetController,</a:t>
            </a:r>
          </a:p>
          <a:p xmlns:a="http://schemas.openxmlformats.org/drawingml/2006/main">
            <a:pPr>
              <a:spcAft>
                <a:spcPts val="0"/>
              </a:spcAft>
              <a:defRPr sz="1950">
                <a:solidFill>
                  <a:srgbClr val="172D43"/>
                </a:solidFill>
                <a:latin typeface="DejaVu Sans Mono"/>
                <a:ea typeface="DejaVu Sans Mono"/>
                <a:cs typeface="DejaVu Sans Mono"/>
              </a:defRPr>
            </a:pPr>
            <a:r>
              <a:t>  maxLength: 30,</a:t>
            </a:r>
          </a:p>
          <a:p xmlns:a="http://schemas.openxmlformats.org/drawingml/2006/main">
            <a:pPr>
              <a:spcAft>
                <a:spcPts val="0"/>
              </a:spcAft>
              <a:defRPr sz="1950">
                <a:solidFill>
                  <a:srgbClr val="172D43"/>
                </a:solidFill>
                <a:latin typeface="DejaVu Sans Mono"/>
                <a:ea typeface="DejaVu Sans Mono"/>
                <a:cs typeface="DejaVu Sans Mono"/>
              </a:defRPr>
            </a:pPr>
            <a:r>
              <a:t>  decoration: </a:t>
            </a:r>
            <a:r>
              <a:rPr b="1">
                <a:solidFill>
                  <a:srgbClr val="0B3970"/>
                </a:solidFill>
              </a:rPr>
              <a:t>const</a:t>
            </a:r>
            <a:r>
              <a:t> InputDecoration(</a:t>
            </a:r>
          </a:p>
          <a:p xmlns:a="http://schemas.openxmlformats.org/drawingml/2006/main">
            <a:pPr>
              <a:spcAft>
                <a:spcPts val="0"/>
              </a:spcAft>
              <a:defRPr sz="1950">
                <a:solidFill>
                  <a:srgbClr val="172D43"/>
                </a:solidFill>
                <a:latin typeface="DejaVu Sans Mono"/>
                <a:ea typeface="DejaVu Sans Mono"/>
                <a:cs typeface="DejaVu Sans Mono"/>
              </a:defRPr>
            </a:pPr>
            <a:r>
              <a:t>    labelText: </a:t>
            </a:r>
            <a:r>
              <a:rPr b="0">
                <a:solidFill>
                  <a:srgbClr val="007DB7"/>
                </a:solidFill>
              </a:rPr>
              <a:t>'Kode aset'</a:t>
            </a:r>
            <a:r>
              <a:t>,</a:t>
            </a:r>
          </a:p>
          <a:p xmlns:a="http://schemas.openxmlformats.org/drawingml/2006/main">
            <a:pPr>
              <a:spcAft>
                <a:spcPts val="0"/>
              </a:spcAft>
              <a:defRPr sz="1950">
                <a:solidFill>
                  <a:srgbClr val="172D43"/>
                </a:solidFill>
                <a:latin typeface="DejaVu Sans Mono"/>
                <a:ea typeface="DejaVu Sans Mono"/>
                <a:cs typeface="DejaVu Sans Mono"/>
              </a:defRPr>
            </a:pPr>
            <a:r>
              <a:t>  ),</a:t>
            </a:r>
          </a:p>
          <a:p xmlns:a="http://schemas.openxmlformats.org/drawingml/2006/main">
            <a:pPr>
              <a:spcAft>
                <a:spcPts val="0"/>
              </a:spcAft>
              <a:defRPr sz="1950">
                <a:solidFill>
                  <a:srgbClr val="172D43"/>
                </a:solidFill>
                <a:latin typeface="DejaVu Sans Mono"/>
                <a:ea typeface="DejaVu Sans Mono"/>
                <a:cs typeface="DejaVu Sans Mono"/>
              </a:defRPr>
            </a:pPr>
            <a:r>
              <a:t>  validator: (value) =&gt;</a:t>
            </a:r>
          </a:p>
          <a:p xmlns:a="http://schemas.openxmlformats.org/drawingml/2006/main">
            <a:pPr>
              <a:spcAft>
                <a:spcPts val="0"/>
              </a:spcAft>
              <a:defRPr sz="1950">
                <a:solidFill>
                  <a:srgbClr val="172D43"/>
                </a:solidFill>
                <a:latin typeface="DejaVu Sans Mono"/>
                <a:ea typeface="DejaVu Sans Mono"/>
                <a:cs typeface="DejaVu Sans Mono"/>
              </a:defRPr>
            </a:pPr>
            <a:r>
              <a:t>    (value ?? </a:t>
            </a:r>
            <a:r>
              <a:rPr b="0">
                <a:solidFill>
                  <a:srgbClr val="007DB7"/>
                </a:solidFill>
              </a:rPr>
              <a:t>''</a:t>
            </a:r>
            <a:r>
              <a:t>).trim().isEmpty</a:t>
            </a:r>
          </a:p>
          <a:p xmlns:a="http://schemas.openxmlformats.org/drawingml/2006/main">
            <a:pPr>
              <a:spcAft>
                <a:spcPts val="0"/>
              </a:spcAft>
              <a:defRPr sz="1950">
                <a:solidFill>
                  <a:srgbClr val="172D43"/>
                </a:solidFill>
                <a:latin typeface="DejaVu Sans Mono"/>
                <a:ea typeface="DejaVu Sans Mono"/>
                <a:cs typeface="DejaVu Sans Mono"/>
              </a:defRPr>
            </a:pPr>
            <a:r>
              <a:t>      ? </a:t>
            </a:r>
            <a:r>
              <a:rPr b="0">
                <a:solidFill>
                  <a:srgbClr val="007DB7"/>
                </a:solidFill>
              </a:rPr>
              <a:t>'Kode aset wajib diisi'</a:t>
            </a:r>
            <a:r>
              <a:t> : null,</a:t>
            </a:r>
          </a:p>
          <a:p xmlns:a="http://schemas.openxmlformats.org/drawingml/2006/main">
            <a:pPr>
              <a:spcAft>
                <a:spcPts val="0"/>
              </a:spcAft>
              <a:defRPr sz="1950">
                <a:solidFill>
                  <a:srgbClr val="172D43"/>
                </a:solidFill>
                <a:latin typeface="DejaVu Sans Mono"/>
                <a:ea typeface="DejaVu Sans Mono"/>
                <a:cs typeface="DejaVu Sans Mono"/>
              </a:defRPr>
            </a:pPr>
            <a:r>
              <a:t>)</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1b319440649a408b"/>
          <a:srcRect xmlns:a="http://schemas.openxmlformats.org/drawingml/2006/main" l="4250" t="6738" r="4125" b="3546"/>
          <a:stretch xmlns:a="http://schemas.openxmlformats.org/drawingml/2006/main"/>
        </p:blipFill>
        <p:spPr>
          <a:xfrm xmlns:a="http://schemas.openxmlformats.org/drawingml/2006/main">
            <a:off x="9344025" y="219075"/>
            <a:ext cx="1428750" cy="495300"/>
          </a:xfrm>
          <a:prstGeom xmlns:a="http://schemas.openxmlformats.org/drawingml/2006/main" prst="rect">
            <a:avLst/>
          </a:prstGeom>
        </p:spPr>
      </p:pic>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9ce95f5f67fb4d2d"/>
          <a:srcRect xmlns:a="http://schemas.openxmlformats.org/drawingml/2006/main" l="32813" t="23779" r="32813" b="23779"/>
          <a:stretch xmlns:a="http://schemas.openxmlformats.org/drawingml/2006/main"/>
        </p:blipFill>
        <p:spPr>
          <a:xfrm xmlns:a="http://schemas.openxmlformats.org/drawingml/2006/main">
            <a:off x="11163300" y="161925"/>
            <a:ext cx="371475" cy="571500"/>
          </a:xfrm>
          <a:prstGeom xmlns:a="http://schemas.openxmlformats.org/drawingml/2006/main" prst="rect">
            <a:avLst/>
          </a:prstGeom>
        </p:spPr>
      </p:pic>
    </p:spTree>
    <p:extLst>
      <p:ext uri="{BB962C8B-B14F-4D97-AF65-F5344CB8AC3E}">
        <p14:creationId xmlns:p14="http://schemas.microsoft.com/office/powerpoint/2010/main" val="1193300464"/>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ext-0-48">
            <a:extLst xmlns:a="http://schemas.openxmlformats.org/drawingml/2006/main">
              <a:ext uri="{FF2B5EF4-FFF2-40B4-BE49-F238E27FC236}">
                <a16:creationId xmlns:a16="http://schemas.microsoft.com/office/drawing/2014/main" id="{5C19B8C7-2B34-41DE-8378-2140E0E3A9E9}"/>
              </a:ext>
            </a:extLst>
          </p:cNvPr>
          <p:cNvSpPr>
            <a:spLocks xmlns:a="http://schemas.openxmlformats.org/drawingml/2006/main" noGrp="1"/>
          </p:cNvSpPr>
          <p:nvPr/>
        </p:nvSpPr>
        <p:spPr>
          <a:xfrm xmlns:a="http://schemas.openxmlformats.org/drawingml/2006/main">
            <a:off x="609600" y="8953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0000"/>
              </a:lnSpc>
              <a:buNone/>
              <a:defRPr sz="3300" b="1">
                <a:solidFill>
                  <a:srgbClr val="0B3970"/>
                </a:solidFill>
                <a:latin typeface="Nimbus Sans"/>
                <a:ea typeface="Nimbus Sans"/>
                <a:cs typeface="Nimbus Sans"/>
              </a:defRPr>
            </a:pPr>
            <a:r>
              <a:rPr sz="3300" b="1">
                <a:solidFill>
                  <a:srgbClr val="0B3970"/>
                </a:solidFill>
                <a:latin typeface="Nimbus Sans"/>
                <a:ea typeface="Nimbus Sans"/>
                <a:cs typeface="Nimbus Sans"/>
              </a:rPr>
              <a:t>Aturan temuan sebagai fungsi murni</a:t>
            </a:r>
          </a:p>
        </p:txBody>
      </p:sp>
      <p:sp>
        <p:nvSpPr>
          <p:cNvPr id="2" name="text-1-674">
            <a:extLst xmlns:a="http://schemas.openxmlformats.org/drawingml/2006/main">
              <a:ext uri="{FF2B5EF4-FFF2-40B4-BE49-F238E27FC236}">
                <a16:creationId xmlns:a16="http://schemas.microsoft.com/office/drawing/2014/main" id="{5BA6169A-ADEB-4685-A73E-C7D3103A3883}"/>
              </a:ext>
            </a:extLst>
          </p:cNvPr>
          <p:cNvSpPr>
            <a:spLocks xmlns:a="http://schemas.openxmlformats.org/drawingml/2006/main" noGrp="1"/>
          </p:cNvSpPr>
          <p:nvPr/>
        </p:nvSpPr>
        <p:spPr>
          <a:xfrm xmlns:a="http://schemas.openxmlformats.org/drawingml/2006/main">
            <a:off x="609600" y="6448425"/>
            <a:ext cx="714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125" b="0">
                <a:solidFill>
                  <a:srgbClr val="5E7182"/>
                </a:solidFill>
                <a:latin typeface="Nimbus Sans"/>
                <a:ea typeface="Nimbus Sans"/>
                <a:cs typeface="Nimbus Sans"/>
              </a:defRPr>
            </a:pPr>
            <a:r>
              <a:rPr sz="1125" b="0">
                <a:solidFill>
                  <a:srgbClr val="5E7182"/>
                </a:solidFill>
                <a:latin typeface="Nimbus Sans"/>
                <a:ea typeface="Nimbus Sans"/>
                <a:cs typeface="Nimbus Sans"/>
              </a:rPr>
              <a:t>Training Flutter Android   /   Hari 1</a:t>
            </a:r>
          </a:p>
        </p:txBody>
      </p:sp>
      <p:sp>
        <p:nvSpPr>
          <p:cNvPr id="3" name="text-2-674">
            <a:extLst xmlns:a="http://schemas.openxmlformats.org/drawingml/2006/main">
              <a:ext uri="{FF2B5EF4-FFF2-40B4-BE49-F238E27FC236}">
                <a16:creationId xmlns:a16="http://schemas.microsoft.com/office/drawing/2014/main" id="{833EF382-D996-4E60-8344-A7F806E95DCB}"/>
              </a:ext>
            </a:extLst>
          </p:cNvPr>
          <p:cNvSpPr>
            <a:spLocks xmlns:a="http://schemas.openxmlformats.org/drawingml/2006/main" noGrp="1"/>
          </p:cNvSpPr>
          <p:nvPr/>
        </p:nvSpPr>
        <p:spPr>
          <a:xfrm xmlns:a="http://schemas.openxmlformats.org/drawingml/2006/main">
            <a:off x="10668000" y="6448425"/>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125" b="0">
                <a:solidFill>
                  <a:srgbClr val="5E7182"/>
                </a:solidFill>
                <a:latin typeface="Nimbus Sans"/>
                <a:ea typeface="Nimbus Sans"/>
                <a:cs typeface="Nimbus Sans"/>
              </a:defRPr>
            </a:pPr>
            <a:r>
              <a:rPr sz="1125" b="0">
                <a:solidFill>
                  <a:srgbClr val="5E7182"/>
                </a:solidFill>
                <a:latin typeface="Nimbus Sans"/>
                <a:ea typeface="Nimbus Sans"/>
                <a:cs typeface="Nimbus Sans"/>
              </a:rPr>
              <a:t>32 / 44</a:t>
            </a:r>
          </a:p>
        </p:txBody>
      </p:sp>
      <p:sp>
        <p:nvSpPr>
          <p:cNvPr id="4" name="text-3-193">
            <a:extLst xmlns:a="http://schemas.openxmlformats.org/drawingml/2006/main">
              <a:ext uri="{FF2B5EF4-FFF2-40B4-BE49-F238E27FC236}">
                <a16:creationId xmlns:a16="http://schemas.microsoft.com/office/drawing/2014/main" id="{A4F9407F-4B7A-4658-9978-845FFB2E61E5}"/>
              </a:ext>
            </a:extLst>
          </p:cNvPr>
          <p:cNvSpPr>
            <a:spLocks xmlns:a="http://schemas.openxmlformats.org/drawingml/2006/main" noGrp="1"/>
          </p:cNvSpPr>
          <p:nvPr/>
        </p:nvSpPr>
        <p:spPr>
          <a:xfrm xmlns:a="http://schemas.openxmlformats.org/drawingml/2006/main">
            <a:off x="609600" y="1819275"/>
            <a:ext cx="10972800" cy="414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spcAft>
                <a:spcPts val="0"/>
              </a:spcAft>
              <a:defRPr sz="2100">
                <a:solidFill>
                  <a:srgbClr val="172D43"/>
                </a:solidFill>
                <a:latin typeface="DejaVu Sans Mono"/>
                <a:ea typeface="DejaVu Sans Mono"/>
                <a:cs typeface="DejaVu Sans Mono"/>
              </a:defRPr>
            </a:pPr>
            <a:r>
              <a:t>String? validateNote(String condition, String raw) {</a:t>
            </a:r>
          </a:p>
          <a:p xmlns:a="http://schemas.openxmlformats.org/drawingml/2006/main">
            <a:pPr>
              <a:spcAft>
                <a:spcPts val="0"/>
              </a:spcAft>
              <a:defRPr sz="2100">
                <a:solidFill>
                  <a:srgbClr val="172D43"/>
                </a:solidFill>
                <a:latin typeface="DejaVu Sans Mono"/>
                <a:ea typeface="DejaVu Sans Mono"/>
                <a:cs typeface="DejaVu Sans Mono"/>
              </a:defRPr>
            </a:pPr>
            <a:r>
              <a:t>  </a:t>
            </a:r>
            <a:r>
              <a:rPr b="1">
                <a:solidFill>
                  <a:srgbClr val="0B3970"/>
                </a:solidFill>
              </a:rPr>
              <a:t>final</a:t>
            </a:r>
            <a:r>
              <a:t> note = raw.trim();</a:t>
            </a:r>
          </a:p>
          <a:p xmlns:a="http://schemas.openxmlformats.org/drawingml/2006/main">
            <a:pPr>
              <a:spcAft>
                <a:spcPts val="0"/>
              </a:spcAft>
              <a:defRPr sz="2100">
                <a:solidFill>
                  <a:srgbClr val="172D43"/>
                </a:solidFill>
                <a:latin typeface="DejaVu Sans Mono"/>
                <a:ea typeface="DejaVu Sans Mono"/>
                <a:cs typeface="DejaVu Sans Mono"/>
              </a:defRPr>
            </a:pPr>
            <a:r>
              <a:t>  </a:t>
            </a:r>
            <a:r>
              <a:rPr b="1">
                <a:solidFill>
                  <a:srgbClr val="0B3970"/>
                </a:solidFill>
              </a:rPr>
              <a:t>if</a:t>
            </a:r>
            <a:r>
              <a:t> (note.length &gt; 500) </a:t>
            </a:r>
            <a:r>
              <a:rPr b="1">
                <a:solidFill>
                  <a:srgbClr val="0B3970"/>
                </a:solidFill>
              </a:rPr>
              <a:t>return</a:t>
            </a:r>
            <a:r>
              <a:t> </a:t>
            </a:r>
            <a:r>
              <a:rPr b="0">
                <a:solidFill>
                  <a:srgbClr val="007DB7"/>
                </a:solidFill>
              </a:rPr>
              <a:t>'Maksimal 500 karakter'</a:t>
            </a:r>
            <a:r>
              <a:t>;</a:t>
            </a:r>
          </a:p>
          <a:p xmlns:a="http://schemas.openxmlformats.org/drawingml/2006/main">
            <a:pPr>
              <a:spcAft>
                <a:spcPts val="0"/>
              </a:spcAft>
              <a:defRPr sz="2100">
                <a:solidFill>
                  <a:srgbClr val="172D43"/>
                </a:solidFill>
                <a:latin typeface="DejaVu Sans Mono"/>
                <a:ea typeface="DejaVu Sans Mono"/>
                <a:cs typeface="DejaVu Sans Mono"/>
              </a:defRPr>
            </a:pPr>
            <a:r>
              <a:t>  </a:t>
            </a:r>
            <a:r>
              <a:rPr b="1">
                <a:solidFill>
                  <a:srgbClr val="0B3970"/>
                </a:solidFill>
              </a:rPr>
              <a:t>if</a:t>
            </a:r>
            <a:r>
              <a:t> (condition == </a:t>
            </a:r>
            <a:r>
              <a:rPr b="0">
                <a:solidFill>
                  <a:srgbClr val="007DB7"/>
                </a:solidFill>
              </a:rPr>
              <a:t>'needs_action'</a:t>
            </a:r>
            <a:r>
              <a:t> &amp;&amp; note.length &lt; 10) {</a:t>
            </a:r>
          </a:p>
          <a:p xmlns:a="http://schemas.openxmlformats.org/drawingml/2006/main">
            <a:pPr>
              <a:spcAft>
                <a:spcPts val="0"/>
              </a:spcAft>
              <a:defRPr sz="2100">
                <a:solidFill>
                  <a:srgbClr val="172D43"/>
                </a:solidFill>
                <a:latin typeface="DejaVu Sans Mono"/>
                <a:ea typeface="DejaVu Sans Mono"/>
                <a:cs typeface="DejaVu Sans Mono"/>
              </a:defRPr>
            </a:pPr>
            <a:r>
              <a:t>    </a:t>
            </a:r>
            <a:r>
              <a:rPr b="1">
                <a:solidFill>
                  <a:srgbClr val="0B3970"/>
                </a:solidFill>
              </a:rPr>
              <a:t>return</a:t>
            </a:r>
            <a:r>
              <a:t> </a:t>
            </a:r>
            <a:r>
              <a:rPr b="0">
                <a:solidFill>
                  <a:srgbClr val="007DB7"/>
                </a:solidFill>
              </a:rPr>
              <a:t>'Catatan temuan minimal 10 karakter'</a:t>
            </a:r>
            <a:r>
              <a:t>;</a:t>
            </a:r>
          </a:p>
          <a:p xmlns:a="http://schemas.openxmlformats.org/drawingml/2006/main">
            <a:pPr>
              <a:spcAft>
                <a:spcPts val="0"/>
              </a:spcAft>
              <a:defRPr sz="2100">
                <a:solidFill>
                  <a:srgbClr val="172D43"/>
                </a:solidFill>
                <a:latin typeface="DejaVu Sans Mono"/>
                <a:ea typeface="DejaVu Sans Mono"/>
                <a:cs typeface="DejaVu Sans Mono"/>
              </a:defRPr>
            </a:pPr>
            <a:r>
              <a:t>  }</a:t>
            </a:r>
          </a:p>
          <a:p xmlns:a="http://schemas.openxmlformats.org/drawingml/2006/main">
            <a:pPr>
              <a:spcAft>
                <a:spcPts val="0"/>
              </a:spcAft>
              <a:defRPr sz="2100">
                <a:solidFill>
                  <a:srgbClr val="172D43"/>
                </a:solidFill>
                <a:latin typeface="DejaVu Sans Mono"/>
                <a:ea typeface="DejaVu Sans Mono"/>
                <a:cs typeface="DejaVu Sans Mono"/>
              </a:defRPr>
            </a:pPr>
            <a:r>
              <a:t>  </a:t>
            </a:r>
            <a:r>
              <a:rPr b="1">
                <a:solidFill>
                  <a:srgbClr val="0B3970"/>
                </a:solidFill>
              </a:rPr>
              <a:t>return</a:t>
            </a:r>
            <a:r>
              <a:t> null;</a:t>
            </a:r>
          </a:p>
          <a:p xmlns:a="http://schemas.openxmlformats.org/drawingml/2006/main">
            <a:pPr>
              <a:spcAft>
                <a:spcPts val="0"/>
              </a:spcAft>
              <a:defRPr sz="2100">
                <a:solidFill>
                  <a:srgbClr val="172D43"/>
                </a:solidFill>
                <a:latin typeface="DejaVu Sans Mono"/>
                <a:ea typeface="DejaVu Sans Mono"/>
                <a:cs typeface="DejaVu Sans Mono"/>
              </a:defRPr>
            </a:pPr>
            <a:r>
              <a:t>}</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1f00f9e1af7f4c1f"/>
          <a:srcRect xmlns:a="http://schemas.openxmlformats.org/drawingml/2006/main" l="4250" t="6738" r="4125" b="3546"/>
          <a:stretch xmlns:a="http://schemas.openxmlformats.org/drawingml/2006/main"/>
        </p:blipFill>
        <p:spPr>
          <a:xfrm xmlns:a="http://schemas.openxmlformats.org/drawingml/2006/main">
            <a:off x="9344025" y="219075"/>
            <a:ext cx="1428750" cy="495300"/>
          </a:xfrm>
          <a:prstGeom xmlns:a="http://schemas.openxmlformats.org/drawingml/2006/main" prst="rect">
            <a:avLst/>
          </a:prstGeom>
        </p:spPr>
      </p:pic>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a7bca70959974461"/>
          <a:srcRect xmlns:a="http://schemas.openxmlformats.org/drawingml/2006/main" l="32813" t="23779" r="32813" b="23779"/>
          <a:stretch xmlns:a="http://schemas.openxmlformats.org/drawingml/2006/main"/>
        </p:blipFill>
        <p:spPr>
          <a:xfrm xmlns:a="http://schemas.openxmlformats.org/drawingml/2006/main">
            <a:off x="11163300" y="161925"/>
            <a:ext cx="371475" cy="571500"/>
          </a:xfrm>
          <a:prstGeom xmlns:a="http://schemas.openxmlformats.org/drawingml/2006/main" prst="rect">
            <a:avLst/>
          </a:prstGeom>
        </p:spPr>
      </p:pic>
    </p:spTree>
    <p:extLst>
      <p:ext uri="{BB962C8B-B14F-4D97-AF65-F5344CB8AC3E}">
        <p14:creationId xmlns:p14="http://schemas.microsoft.com/office/powerpoint/2010/main" val="1374499517"/>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ext-0-48">
            <a:extLst xmlns:a="http://schemas.openxmlformats.org/drawingml/2006/main">
              <a:ext uri="{FF2B5EF4-FFF2-40B4-BE49-F238E27FC236}">
                <a16:creationId xmlns:a16="http://schemas.microsoft.com/office/drawing/2014/main" id="{27AD2372-6D61-4B85-848A-928F7B1D7ED2}"/>
              </a:ext>
            </a:extLst>
          </p:cNvPr>
          <p:cNvSpPr>
            <a:spLocks xmlns:a="http://schemas.openxmlformats.org/drawingml/2006/main" noGrp="1"/>
          </p:cNvSpPr>
          <p:nvPr/>
        </p:nvSpPr>
        <p:spPr>
          <a:xfrm xmlns:a="http://schemas.openxmlformats.org/drawingml/2006/main">
            <a:off x="609600" y="8953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0000"/>
              </a:lnSpc>
              <a:buNone/>
              <a:defRPr sz="3300" b="1">
                <a:solidFill>
                  <a:srgbClr val="0B3970"/>
                </a:solidFill>
                <a:latin typeface="Nimbus Sans"/>
                <a:ea typeface="Nimbus Sans"/>
                <a:cs typeface="Nimbus Sans"/>
              </a:defRPr>
            </a:pPr>
            <a:r>
              <a:rPr sz="3300" b="1">
                <a:solidFill>
                  <a:srgbClr val="0B3970"/>
                </a:solidFill>
                <a:latin typeface="Nimbus Sans"/>
                <a:ea typeface="Nimbus Sans"/>
                <a:cs typeface="Nimbus Sans"/>
              </a:rPr>
              <a:t>Simpan form dan pembuatan record</a:t>
            </a:r>
          </a:p>
        </p:txBody>
      </p:sp>
      <p:sp>
        <p:nvSpPr>
          <p:cNvPr id="2" name="text-1-674">
            <a:extLst xmlns:a="http://schemas.openxmlformats.org/drawingml/2006/main">
              <a:ext uri="{FF2B5EF4-FFF2-40B4-BE49-F238E27FC236}">
                <a16:creationId xmlns:a16="http://schemas.microsoft.com/office/drawing/2014/main" id="{830D11C5-7B51-45D8-ADD9-707A60140588}"/>
              </a:ext>
            </a:extLst>
          </p:cNvPr>
          <p:cNvSpPr>
            <a:spLocks xmlns:a="http://schemas.openxmlformats.org/drawingml/2006/main" noGrp="1"/>
          </p:cNvSpPr>
          <p:nvPr/>
        </p:nvSpPr>
        <p:spPr>
          <a:xfrm xmlns:a="http://schemas.openxmlformats.org/drawingml/2006/main">
            <a:off x="609600" y="6448425"/>
            <a:ext cx="714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125" b="0">
                <a:solidFill>
                  <a:srgbClr val="5E7182"/>
                </a:solidFill>
                <a:latin typeface="Nimbus Sans"/>
                <a:ea typeface="Nimbus Sans"/>
                <a:cs typeface="Nimbus Sans"/>
              </a:defRPr>
            </a:pPr>
            <a:r>
              <a:rPr sz="1125" b="0">
                <a:solidFill>
                  <a:srgbClr val="5E7182"/>
                </a:solidFill>
                <a:latin typeface="Nimbus Sans"/>
                <a:ea typeface="Nimbus Sans"/>
                <a:cs typeface="Nimbus Sans"/>
              </a:rPr>
              <a:t>Training Flutter Android   /   Hari 1</a:t>
            </a:r>
          </a:p>
        </p:txBody>
      </p:sp>
      <p:sp>
        <p:nvSpPr>
          <p:cNvPr id="3" name="text-2-674">
            <a:extLst xmlns:a="http://schemas.openxmlformats.org/drawingml/2006/main">
              <a:ext uri="{FF2B5EF4-FFF2-40B4-BE49-F238E27FC236}">
                <a16:creationId xmlns:a16="http://schemas.microsoft.com/office/drawing/2014/main" id="{24D2E571-4010-4CE9-A2E3-40E5CFFA57F4}"/>
              </a:ext>
            </a:extLst>
          </p:cNvPr>
          <p:cNvSpPr>
            <a:spLocks xmlns:a="http://schemas.openxmlformats.org/drawingml/2006/main" noGrp="1"/>
          </p:cNvSpPr>
          <p:nvPr/>
        </p:nvSpPr>
        <p:spPr>
          <a:xfrm xmlns:a="http://schemas.openxmlformats.org/drawingml/2006/main">
            <a:off x="10668000" y="6448425"/>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125" b="0">
                <a:solidFill>
                  <a:srgbClr val="5E7182"/>
                </a:solidFill>
                <a:latin typeface="Nimbus Sans"/>
                <a:ea typeface="Nimbus Sans"/>
                <a:cs typeface="Nimbus Sans"/>
              </a:defRPr>
            </a:pPr>
            <a:r>
              <a:rPr sz="1125" b="0">
                <a:solidFill>
                  <a:srgbClr val="5E7182"/>
                </a:solidFill>
                <a:latin typeface="Nimbus Sans"/>
                <a:ea typeface="Nimbus Sans"/>
                <a:cs typeface="Nimbus Sans"/>
              </a:rPr>
              <a:t>33 / 44</a:t>
            </a:r>
          </a:p>
        </p:txBody>
      </p:sp>
      <p:sp>
        <p:nvSpPr>
          <p:cNvPr id="4" name="text-3-193">
            <a:extLst xmlns:a="http://schemas.openxmlformats.org/drawingml/2006/main">
              <a:ext uri="{FF2B5EF4-FFF2-40B4-BE49-F238E27FC236}">
                <a16:creationId xmlns:a16="http://schemas.microsoft.com/office/drawing/2014/main" id="{9FE7BA1A-AEB5-4B7C-97B1-77953998C11F}"/>
              </a:ext>
            </a:extLst>
          </p:cNvPr>
          <p:cNvSpPr>
            <a:spLocks xmlns:a="http://schemas.openxmlformats.org/drawingml/2006/main" noGrp="1"/>
          </p:cNvSpPr>
          <p:nvPr/>
        </p:nvSpPr>
        <p:spPr>
          <a:xfrm xmlns:a="http://schemas.openxmlformats.org/drawingml/2006/main">
            <a:off x="609600" y="1819275"/>
            <a:ext cx="10972800" cy="414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spcAft>
                <a:spcPts val="0"/>
              </a:spcAft>
              <a:defRPr sz="2100">
                <a:solidFill>
                  <a:srgbClr val="172D43"/>
                </a:solidFill>
                <a:latin typeface="DejaVu Sans Mono"/>
                <a:ea typeface="DejaVu Sans Mono"/>
                <a:cs typeface="DejaVu Sans Mono"/>
              </a:defRPr>
            </a:pPr>
            <a:r>
              <a:rPr b="1">
                <a:solidFill>
                  <a:srgbClr val="0B3970"/>
                </a:solidFill>
              </a:rPr>
              <a:t>if</a:t>
            </a:r>
            <a:r>
              <a:t> (!formKey.currentState!.validate()) </a:t>
            </a:r>
            <a:r>
              <a:rPr b="1">
                <a:solidFill>
                  <a:srgbClr val="0B3970"/>
                </a:solidFill>
              </a:rPr>
              <a:t>return</a:t>
            </a:r>
            <a:r>
              <a:t>;</a:t>
            </a:r>
          </a:p>
          <a:p xmlns:a="http://schemas.openxmlformats.org/drawingml/2006/main">
            <a:pPr>
              <a:spcAft>
                <a:spcPts val="0"/>
              </a:spcAft>
              <a:defRPr sz="2100">
                <a:solidFill>
                  <a:srgbClr val="172D43"/>
                </a:solidFill>
                <a:latin typeface="DejaVu Sans Mono"/>
                <a:ea typeface="DejaVu Sans Mono"/>
                <a:cs typeface="DejaVu Sans Mono"/>
              </a:defRPr>
            </a:pPr>
            <a:r>
              <a:rPr b="1">
                <a:solidFill>
                  <a:srgbClr val="0B3970"/>
                </a:solidFill>
              </a:rPr>
              <a:t>final</a:t>
            </a:r>
            <a:r>
              <a:t> now = DateTime.now().toUtc();</a:t>
            </a:r>
          </a:p>
          <a:p xmlns:a="http://schemas.openxmlformats.org/drawingml/2006/main">
            <a:pPr>
              <a:spcAft>
                <a:spcPts val="0"/>
              </a:spcAft>
              <a:defRPr sz="2100">
                <a:solidFill>
                  <a:srgbClr val="172D43"/>
                </a:solidFill>
                <a:latin typeface="DejaVu Sans Mono"/>
                <a:ea typeface="DejaVu Sans Mono"/>
                <a:cs typeface="DejaVu Sans Mono"/>
              </a:defRPr>
            </a:pPr>
            <a:r>
              <a:rPr b="1">
                <a:solidFill>
                  <a:srgbClr val="0B3970"/>
                </a:solidFill>
              </a:rPr>
              <a:t>final</a:t>
            </a:r>
            <a:r>
              <a:t> record = Inspection(</a:t>
            </a:r>
          </a:p>
          <a:p xmlns:a="http://schemas.openxmlformats.org/drawingml/2006/main">
            <a:pPr>
              <a:spcAft>
                <a:spcPts val="0"/>
              </a:spcAft>
              <a:defRPr sz="2100">
                <a:solidFill>
                  <a:srgbClr val="172D43"/>
                </a:solidFill>
                <a:latin typeface="DejaVu Sans Mono"/>
                <a:ea typeface="DejaVu Sans Mono"/>
                <a:cs typeface="DejaVu Sans Mono"/>
              </a:defRPr>
            </a:pPr>
            <a:r>
              <a:t>  id: </a:t>
            </a:r>
            <a:r>
              <a:rPr b="0">
                <a:solidFill>
                  <a:srgbClr val="007DB7"/>
                </a:solidFill>
              </a:rPr>
              <a:t>'local-${now.microsecondsSinceEpoch}'</a:t>
            </a:r>
            <a:r>
              <a:t>,</a:t>
            </a:r>
          </a:p>
          <a:p xmlns:a="http://schemas.openxmlformats.org/drawingml/2006/main">
            <a:pPr>
              <a:spcAft>
                <a:spcPts val="0"/>
              </a:spcAft>
              <a:defRPr sz="2100">
                <a:solidFill>
                  <a:srgbClr val="172D43"/>
                </a:solidFill>
                <a:latin typeface="DejaVu Sans Mono"/>
                <a:ea typeface="DejaVu Sans Mono"/>
                <a:cs typeface="DejaVu Sans Mono"/>
              </a:defRPr>
            </a:pPr>
            <a:r>
              <a:t>  assetCode: assetController.text.trim(),</a:t>
            </a:r>
          </a:p>
          <a:p xmlns:a="http://schemas.openxmlformats.org/drawingml/2006/main">
            <a:pPr>
              <a:spcAft>
                <a:spcPts val="0"/>
              </a:spcAft>
              <a:defRPr sz="2100">
                <a:solidFill>
                  <a:srgbClr val="172D43"/>
                </a:solidFill>
                <a:latin typeface="DejaVu Sans Mono"/>
                <a:ea typeface="DejaVu Sans Mono"/>
                <a:cs typeface="DejaVu Sans Mono"/>
              </a:defRPr>
            </a:pPr>
            <a:r>
              <a:t>  location: locationController.text.trim(),</a:t>
            </a:r>
          </a:p>
          <a:p xmlns:a="http://schemas.openxmlformats.org/drawingml/2006/main">
            <a:pPr>
              <a:spcAft>
                <a:spcPts val="0"/>
              </a:spcAft>
              <a:defRPr sz="2100">
                <a:solidFill>
                  <a:srgbClr val="172D43"/>
                </a:solidFill>
                <a:latin typeface="DejaVu Sans Mono"/>
                <a:ea typeface="DejaVu Sans Mono"/>
                <a:cs typeface="DejaVu Sans Mono"/>
              </a:defRPr>
            </a:pPr>
            <a:r>
              <a:t>  condition: condition,</a:t>
            </a:r>
          </a:p>
          <a:p xmlns:a="http://schemas.openxmlformats.org/drawingml/2006/main">
            <a:pPr>
              <a:spcAft>
                <a:spcPts val="0"/>
              </a:spcAft>
              <a:defRPr sz="2100">
                <a:solidFill>
                  <a:srgbClr val="172D43"/>
                </a:solidFill>
                <a:latin typeface="DejaVu Sans Mono"/>
                <a:ea typeface="DejaVu Sans Mono"/>
                <a:cs typeface="DejaVu Sans Mono"/>
              </a:defRPr>
            </a:pPr>
            <a:r>
              <a:t>  note: noteController.text.trim(),</a:t>
            </a:r>
          </a:p>
          <a:p xmlns:a="http://schemas.openxmlformats.org/drawingml/2006/main">
            <a:pPr>
              <a:spcAft>
                <a:spcPts val="0"/>
              </a:spcAft>
              <a:defRPr sz="2100">
                <a:solidFill>
                  <a:srgbClr val="172D43"/>
                </a:solidFill>
                <a:latin typeface="DejaVu Sans Mono"/>
                <a:ea typeface="DejaVu Sans Mono"/>
                <a:cs typeface="DejaVu Sans Mono"/>
              </a:defRPr>
            </a:pPr>
            <a:r>
              <a:t>  createdAt: now,</a:t>
            </a:r>
          </a:p>
          <a:p xmlns:a="http://schemas.openxmlformats.org/drawingml/2006/main">
            <a:pPr>
              <a:spcAft>
                <a:spcPts val="0"/>
              </a:spcAft>
              <a:defRPr sz="2100">
                <a:solidFill>
                  <a:srgbClr val="172D43"/>
                </a:solidFill>
                <a:latin typeface="DejaVu Sans Mono"/>
                <a:ea typeface="DejaVu Sans Mono"/>
                <a:cs typeface="DejaVu Sans Mono"/>
              </a:defRPr>
            </a:pPr>
            <a:r>
              <a:t>);</a:t>
            </a:r>
          </a:p>
          <a:p xmlns:a="http://schemas.openxmlformats.org/drawingml/2006/main">
            <a:pPr>
              <a:spcAft>
                <a:spcPts val="0"/>
              </a:spcAft>
              <a:defRPr sz="2100">
                <a:solidFill>
                  <a:srgbClr val="172D43"/>
                </a:solidFill>
                <a:latin typeface="DejaVu Sans Mono"/>
                <a:ea typeface="DejaVu Sans Mono"/>
                <a:cs typeface="DejaVu Sans Mono"/>
              </a:defRPr>
            </a:pPr>
            <a:r>
              <a:t>Navigator.of(context).pop(record);</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db1cae07036340b6"/>
          <a:srcRect xmlns:a="http://schemas.openxmlformats.org/drawingml/2006/main" l="4250" t="6738" r="4125" b="3546"/>
          <a:stretch xmlns:a="http://schemas.openxmlformats.org/drawingml/2006/main"/>
        </p:blipFill>
        <p:spPr>
          <a:xfrm xmlns:a="http://schemas.openxmlformats.org/drawingml/2006/main">
            <a:off x="9344025" y="219075"/>
            <a:ext cx="1428750" cy="495300"/>
          </a:xfrm>
          <a:prstGeom xmlns:a="http://schemas.openxmlformats.org/drawingml/2006/main" prst="rect">
            <a:avLst/>
          </a:prstGeom>
        </p:spPr>
      </p:pic>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bba31c17e6ce42ad"/>
          <a:srcRect xmlns:a="http://schemas.openxmlformats.org/drawingml/2006/main" l="32813" t="23779" r="32813" b="23779"/>
          <a:stretch xmlns:a="http://schemas.openxmlformats.org/drawingml/2006/main"/>
        </p:blipFill>
        <p:spPr>
          <a:xfrm xmlns:a="http://schemas.openxmlformats.org/drawingml/2006/main">
            <a:off x="11163300" y="161925"/>
            <a:ext cx="371475" cy="571500"/>
          </a:xfrm>
          <a:prstGeom xmlns:a="http://schemas.openxmlformats.org/drawingml/2006/main" prst="rect">
            <a:avLst/>
          </a:prstGeom>
        </p:spPr>
      </p:pic>
    </p:spTree>
    <p:extLst>
      <p:ext uri="{BB962C8B-B14F-4D97-AF65-F5344CB8AC3E}">
        <p14:creationId xmlns:p14="http://schemas.microsoft.com/office/powerpoint/2010/main" val="1298363318"/>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0-48">
            <a:extLst xmlns:a="http://schemas.openxmlformats.org/drawingml/2006/main">
              <a:ext uri="{FF2B5EF4-FFF2-40B4-BE49-F238E27FC236}">
                <a16:creationId xmlns:a16="http://schemas.microsoft.com/office/drawing/2014/main" id="{2259434B-8989-40B6-889A-79ACC556A0F2}"/>
              </a:ext>
            </a:extLst>
          </p:cNvPr>
          <p:cNvSpPr>
            <a:spLocks xmlns:a="http://schemas.openxmlformats.org/drawingml/2006/main" noGrp="1"/>
          </p:cNvSpPr>
          <p:nvPr/>
        </p:nvSpPr>
        <p:spPr>
          <a:xfrm xmlns:a="http://schemas.openxmlformats.org/drawingml/2006/main">
            <a:off x="609600" y="8953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0000"/>
              </a:lnSpc>
              <a:buNone/>
              <a:defRPr sz="3300" b="1">
                <a:solidFill>
                  <a:srgbClr val="0B3970"/>
                </a:solidFill>
                <a:latin typeface="Nimbus Sans"/>
                <a:ea typeface="Nimbus Sans"/>
                <a:cs typeface="Nimbus Sans"/>
              </a:defRPr>
            </a:pPr>
            <a:r>
              <a:rPr sz="3300" b="1">
                <a:solidFill>
                  <a:srgbClr val="0B3970"/>
                </a:solidFill>
                <a:latin typeface="Nimbus Sans"/>
                <a:ea typeface="Nimbus Sans"/>
                <a:cs typeface="Nimbus Sans"/>
              </a:rPr>
              <a:t>Praktik 3 form dan navigation</a:t>
            </a:r>
          </a:p>
        </p:txBody>
      </p:sp>
      <p:sp>
        <p:nvSpPr>
          <p:cNvPr id="2" name="text-1-674">
            <a:extLst xmlns:a="http://schemas.openxmlformats.org/drawingml/2006/main">
              <a:ext uri="{FF2B5EF4-FFF2-40B4-BE49-F238E27FC236}">
                <a16:creationId xmlns:a16="http://schemas.microsoft.com/office/drawing/2014/main" id="{1DE3B374-29AE-4779-8558-9AA77CB8026D}"/>
              </a:ext>
            </a:extLst>
          </p:cNvPr>
          <p:cNvSpPr>
            <a:spLocks xmlns:a="http://schemas.openxmlformats.org/drawingml/2006/main" noGrp="1"/>
          </p:cNvSpPr>
          <p:nvPr/>
        </p:nvSpPr>
        <p:spPr>
          <a:xfrm xmlns:a="http://schemas.openxmlformats.org/drawingml/2006/main">
            <a:off x="609600" y="6448425"/>
            <a:ext cx="714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125" b="0">
                <a:solidFill>
                  <a:srgbClr val="5E7182"/>
                </a:solidFill>
                <a:latin typeface="Nimbus Sans"/>
                <a:ea typeface="Nimbus Sans"/>
                <a:cs typeface="Nimbus Sans"/>
              </a:defRPr>
            </a:pPr>
            <a:r>
              <a:rPr sz="1125" b="0">
                <a:solidFill>
                  <a:srgbClr val="5E7182"/>
                </a:solidFill>
                <a:latin typeface="Nimbus Sans"/>
                <a:ea typeface="Nimbus Sans"/>
                <a:cs typeface="Nimbus Sans"/>
              </a:rPr>
              <a:t>Training Flutter Android   /   Hari 1</a:t>
            </a:r>
          </a:p>
        </p:txBody>
      </p:sp>
      <p:sp>
        <p:nvSpPr>
          <p:cNvPr id="3" name="text-2-674">
            <a:extLst xmlns:a="http://schemas.openxmlformats.org/drawingml/2006/main">
              <a:ext uri="{FF2B5EF4-FFF2-40B4-BE49-F238E27FC236}">
                <a16:creationId xmlns:a16="http://schemas.microsoft.com/office/drawing/2014/main" id="{D3D2D1D7-BC76-48AF-929C-13452305DDB4}"/>
              </a:ext>
            </a:extLst>
          </p:cNvPr>
          <p:cNvSpPr>
            <a:spLocks xmlns:a="http://schemas.openxmlformats.org/drawingml/2006/main" noGrp="1"/>
          </p:cNvSpPr>
          <p:nvPr/>
        </p:nvSpPr>
        <p:spPr>
          <a:xfrm xmlns:a="http://schemas.openxmlformats.org/drawingml/2006/main">
            <a:off x="10668000" y="6448425"/>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125" b="0">
                <a:solidFill>
                  <a:srgbClr val="5E7182"/>
                </a:solidFill>
                <a:latin typeface="Nimbus Sans"/>
                <a:ea typeface="Nimbus Sans"/>
                <a:cs typeface="Nimbus Sans"/>
              </a:defRPr>
            </a:pPr>
            <a:r>
              <a:rPr sz="1125" b="0">
                <a:solidFill>
                  <a:srgbClr val="5E7182"/>
                </a:solidFill>
                <a:latin typeface="Nimbus Sans"/>
                <a:ea typeface="Nimbus Sans"/>
                <a:cs typeface="Nimbus Sans"/>
              </a:rPr>
              <a:t>34 / 44</a:t>
            </a:r>
          </a:p>
        </p:txBody>
      </p:sp>
      <p:sp>
        <p:nvSpPr>
          <p:cNvPr id="4" name="text-3-174">
            <a:extLst xmlns:a="http://schemas.openxmlformats.org/drawingml/2006/main">
              <a:ext uri="{FF2B5EF4-FFF2-40B4-BE49-F238E27FC236}">
                <a16:creationId xmlns:a16="http://schemas.microsoft.com/office/drawing/2014/main" id="{13309FBE-00E8-4737-BA6E-E0D6CD325D13}"/>
              </a:ext>
            </a:extLst>
          </p:cNvPr>
          <p:cNvSpPr>
            <a:spLocks xmlns:a="http://schemas.openxmlformats.org/drawingml/2006/main" noGrp="1"/>
          </p:cNvSpPr>
          <p:nvPr/>
        </p:nvSpPr>
        <p:spPr>
          <a:xfrm xmlns:a="http://schemas.openxmlformats.org/drawingml/2006/main">
            <a:off x="609600" y="185737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2400" b="1">
                <a:solidFill>
                  <a:srgbClr val="007DB7"/>
                </a:solidFill>
                <a:latin typeface="Nimbus Sans"/>
                <a:ea typeface="Nimbus Sans"/>
                <a:cs typeface="Nimbus Sans"/>
              </a:defRPr>
            </a:pPr>
            <a:r>
              <a:rPr sz="2400" b="1">
                <a:solidFill>
                  <a:srgbClr val="007DB7"/>
                </a:solidFill>
                <a:latin typeface="Nimbus Sans"/>
                <a:ea typeface="Nimbus Sans"/>
                <a:cs typeface="Nimbus Sans"/>
              </a:rPr>
              <a:t>Form valid menghasilkan satu record baru</a:t>
            </a:r>
          </a:p>
        </p:txBody>
      </p:sp>
      <p:sp>
        <p:nvSpPr>
          <p:cNvPr id="5" name="text-4-292">
            <a:extLst xmlns:a="http://schemas.openxmlformats.org/drawingml/2006/main">
              <a:ext uri="{FF2B5EF4-FFF2-40B4-BE49-F238E27FC236}">
                <a16:creationId xmlns:a16="http://schemas.microsoft.com/office/drawing/2014/main" id="{F9621730-5965-4ACB-AF70-0F0B4B83FE43}"/>
              </a:ext>
            </a:extLst>
          </p:cNvPr>
          <p:cNvSpPr>
            <a:spLocks xmlns:a="http://schemas.openxmlformats.org/drawingml/2006/main" noGrp="1"/>
          </p:cNvSpPr>
          <p:nvPr/>
        </p:nvSpPr>
        <p:spPr>
          <a:xfrm xmlns:a="http://schemas.openxmlformats.org/drawingml/2006/main">
            <a:off x="609600" y="2809875"/>
            <a:ext cx="10572750"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14300">
              <a:spcAft>
                <a:spcPts val="1800"/>
              </a:spcAft>
              <a:buChar char="•"/>
              <a:defRPr sz="2175">
                <a:solidFill>
                  <a:srgbClr val="172D43"/>
                </a:solidFill>
                <a:latin typeface="Nimbus Sans"/>
                <a:ea typeface="Nimbus Sans"/>
                <a:cs typeface="Nimbus Sans"/>
              </a:defRPr>
            </a:pPr>
            <a:r>
              <a:rPr sz="2175">
                <a:solidFill>
                  <a:srgbClr val="172D43"/>
                </a:solidFill>
                <a:latin typeface="Nimbus Sans"/>
                <a:ea typeface="Nimbus Sans"/>
                <a:cs typeface="Nimbus Sans"/>
              </a:rPr>
              <a:t>Tambahkan kode aset, lokasi, kondisi dan catatan</a:t>
            </a:r>
          </a:p>
          <a:p xmlns:a="http://schemas.openxmlformats.org/drawingml/2006/main">
            <a:pPr marL="228600" indent="-114300">
              <a:spcAft>
                <a:spcPts val="1800"/>
              </a:spcAft>
              <a:buChar char="•"/>
              <a:defRPr sz="2175">
                <a:solidFill>
                  <a:srgbClr val="172D43"/>
                </a:solidFill>
                <a:latin typeface="Nimbus Sans"/>
                <a:ea typeface="Nimbus Sans"/>
                <a:cs typeface="Nimbus Sans"/>
              </a:defRPr>
            </a:pPr>
            <a:r>
              <a:rPr sz="2175">
                <a:solidFill>
                  <a:srgbClr val="172D43"/>
                </a:solidFill>
                <a:latin typeface="Nimbus Sans"/>
                <a:ea typeface="Nimbus Sans"/>
                <a:cs typeface="Nimbus Sans"/>
              </a:rPr>
              <a:t>Terapkan validasi wajib dan aturan temuan</a:t>
            </a:r>
          </a:p>
          <a:p xmlns:a="http://schemas.openxmlformats.org/drawingml/2006/main">
            <a:pPr marL="228600" indent="-114300">
              <a:spcAft>
                <a:spcPts val="1800"/>
              </a:spcAft>
              <a:buChar char="•"/>
              <a:defRPr sz="2175">
                <a:solidFill>
                  <a:srgbClr val="172D43"/>
                </a:solidFill>
                <a:latin typeface="Nimbus Sans"/>
                <a:ea typeface="Nimbus Sans"/>
                <a:cs typeface="Nimbus Sans"/>
              </a:defRPr>
            </a:pPr>
            <a:r>
              <a:rPr sz="2175">
                <a:solidFill>
                  <a:srgbClr val="172D43"/>
                </a:solidFill>
                <a:latin typeface="Nimbus Sans"/>
                <a:ea typeface="Nimbus Sans"/>
                <a:cs typeface="Nimbus Sans"/>
              </a:rPr>
              <a:t>Kembalikan record ke daftar melalui Navigator</a:t>
            </a:r>
          </a:p>
          <a:p xmlns:a="http://schemas.openxmlformats.org/drawingml/2006/main">
            <a:pPr marL="228600" indent="-114300">
              <a:spcAft>
                <a:spcPts val="1800"/>
              </a:spcAft>
              <a:buChar char="•"/>
              <a:defRPr sz="2175">
                <a:solidFill>
                  <a:srgbClr val="172D43"/>
                </a:solidFill>
                <a:latin typeface="Nimbus Sans"/>
                <a:ea typeface="Nimbus Sans"/>
                <a:cs typeface="Nimbus Sans"/>
              </a:defRPr>
            </a:pPr>
            <a:r>
              <a:rPr sz="2175">
                <a:solidFill>
                  <a:srgbClr val="172D43"/>
                </a:solidFill>
                <a:latin typeface="Nimbus Sans"/>
                <a:ea typeface="Nimbus Sans"/>
                <a:cs typeface="Nimbus Sans"/>
              </a:rPr>
              <a:t>Uji input spasi, catatan pendek, save dan cancel</a:t>
            </a:r>
          </a:p>
        </p:txBody>
      </p:sp>
      <p:sp>
        <p:nvSpPr>
          <p:cNvPr id="6" name="text-5-604">
            <a:extLst xmlns:a="http://schemas.openxmlformats.org/drawingml/2006/main">
              <a:ext uri="{FF2B5EF4-FFF2-40B4-BE49-F238E27FC236}">
                <a16:creationId xmlns:a16="http://schemas.microsoft.com/office/drawing/2014/main" id="{F92C25D7-5FBB-44BA-AE59-E372DAB2C8F1}"/>
              </a:ext>
            </a:extLst>
          </p:cNvPr>
          <p:cNvSpPr>
            <a:spLocks xmlns:a="http://schemas.openxmlformats.org/drawingml/2006/main" noGrp="1"/>
          </p:cNvSpPr>
          <p:nvPr/>
        </p:nvSpPr>
        <p:spPr>
          <a:xfrm xmlns:a="http://schemas.openxmlformats.org/drawingml/2006/main">
            <a:off x="609600" y="5810250"/>
            <a:ext cx="171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650" b="1">
                <a:solidFill>
                  <a:srgbClr val="0B3970"/>
                </a:solidFill>
                <a:latin typeface="Nimbus Sans"/>
                <a:ea typeface="Nimbus Sans"/>
                <a:cs typeface="Nimbus Sans"/>
              </a:defRPr>
            </a:pPr>
            <a:r>
              <a:rPr sz="1650" b="1">
                <a:solidFill>
                  <a:srgbClr val="0B3970"/>
                </a:solidFill>
                <a:latin typeface="Nimbus Sans"/>
                <a:ea typeface="Nimbus Sans"/>
                <a:cs typeface="Nimbus Sans"/>
              </a:rPr>
              <a:t>Bukti hasil</a:t>
            </a:r>
          </a:p>
        </p:txBody>
      </p:sp>
      <p:sp>
        <p:nvSpPr>
          <p:cNvPr id="7" name="text-6-604">
            <a:extLst xmlns:a="http://schemas.openxmlformats.org/drawingml/2006/main">
              <a:ext uri="{FF2B5EF4-FFF2-40B4-BE49-F238E27FC236}">
                <a16:creationId xmlns:a16="http://schemas.microsoft.com/office/drawing/2014/main" id="{FD1BD84A-F8E6-4E58-913A-B4029D04FAA6}"/>
              </a:ext>
            </a:extLst>
          </p:cNvPr>
          <p:cNvSpPr>
            <a:spLocks xmlns:a="http://schemas.openxmlformats.org/drawingml/2006/main" noGrp="1"/>
          </p:cNvSpPr>
          <p:nvPr/>
        </p:nvSpPr>
        <p:spPr>
          <a:xfrm xmlns:a="http://schemas.openxmlformats.org/drawingml/2006/main">
            <a:off x="2419350" y="5810250"/>
            <a:ext cx="91630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725" b="0">
                <a:solidFill>
                  <a:srgbClr val="5E7182"/>
                </a:solidFill>
                <a:latin typeface="Nimbus Sans"/>
                <a:ea typeface="Nimbus Sans"/>
                <a:cs typeface="Nimbus Sans"/>
              </a:defRPr>
            </a:pPr>
            <a:r>
              <a:rPr sz="1725" b="0">
                <a:solidFill>
                  <a:srgbClr val="5E7182"/>
                </a:solidFill>
                <a:latin typeface="Nimbus Sans"/>
                <a:ea typeface="Nimbus Sans"/>
                <a:cs typeface="Nimbus Sans"/>
              </a:rPr>
              <a:t>Form invalid tetap terbuka, record valid muncul sekali</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178328d1ab37478e"/>
          <a:srcRect xmlns:a="http://schemas.openxmlformats.org/drawingml/2006/main" l="4250" t="6738" r="4125" b="3546"/>
          <a:stretch xmlns:a="http://schemas.openxmlformats.org/drawingml/2006/main"/>
        </p:blipFill>
        <p:spPr>
          <a:xfrm xmlns:a="http://schemas.openxmlformats.org/drawingml/2006/main">
            <a:off x="9344025" y="219075"/>
            <a:ext cx="1428750" cy="495300"/>
          </a:xfrm>
          <a:prstGeom xmlns:a="http://schemas.openxmlformats.org/drawingml/2006/main" prst="rect">
            <a:avLst/>
          </a:prstGeom>
        </p:spPr>
      </p:pic>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e300622d29f949d9"/>
          <a:srcRect xmlns:a="http://schemas.openxmlformats.org/drawingml/2006/main" l="32813" t="23779" r="32813" b="23779"/>
          <a:stretch xmlns:a="http://schemas.openxmlformats.org/drawingml/2006/main"/>
        </p:blipFill>
        <p:spPr>
          <a:xfrm xmlns:a="http://schemas.openxmlformats.org/drawingml/2006/main">
            <a:off x="11163300" y="161925"/>
            <a:ext cx="371475" cy="571500"/>
          </a:xfrm>
          <a:prstGeom xmlns:a="http://schemas.openxmlformats.org/drawingml/2006/main" prst="rect">
            <a:avLst/>
          </a:prstGeom>
        </p:spPr>
      </p:pic>
    </p:spTree>
    <p:extLst>
      <p:ext uri="{BB962C8B-B14F-4D97-AF65-F5344CB8AC3E}">
        <p14:creationId xmlns:p14="http://schemas.microsoft.com/office/powerpoint/2010/main" val="164715050"/>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ext-0-48">
            <a:extLst xmlns:a="http://schemas.openxmlformats.org/drawingml/2006/main">
              <a:ext uri="{FF2B5EF4-FFF2-40B4-BE49-F238E27FC236}">
                <a16:creationId xmlns:a16="http://schemas.microsoft.com/office/drawing/2014/main" id="{83744C70-5F0E-43AC-A626-0CA64E0E7808}"/>
              </a:ext>
            </a:extLst>
          </p:cNvPr>
          <p:cNvSpPr>
            <a:spLocks xmlns:a="http://schemas.openxmlformats.org/drawingml/2006/main" noGrp="1"/>
          </p:cNvSpPr>
          <p:nvPr/>
        </p:nvSpPr>
        <p:spPr>
          <a:xfrm xmlns:a="http://schemas.openxmlformats.org/drawingml/2006/main">
            <a:off x="609600" y="8953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0000"/>
              </a:lnSpc>
              <a:buNone/>
              <a:defRPr sz="3300" b="1">
                <a:solidFill>
                  <a:srgbClr val="0B3970"/>
                </a:solidFill>
                <a:latin typeface="Nimbus Sans"/>
                <a:ea typeface="Nimbus Sans"/>
                <a:cs typeface="Nimbus Sans"/>
              </a:defRPr>
            </a:pPr>
            <a:r>
              <a:rPr sz="3300" b="1">
                <a:solidFill>
                  <a:srgbClr val="0B3970"/>
                </a:solidFill>
                <a:latin typeface="Nimbus Sans"/>
                <a:ea typeface="Nimbus Sans"/>
                <a:cs typeface="Nimbus Sans"/>
              </a:rPr>
              <a:t>Debugging dengan Inspector dan breakpoint</a:t>
            </a:r>
          </a:p>
        </p:txBody>
      </p:sp>
      <p:sp>
        <p:nvSpPr>
          <p:cNvPr id="2" name="text-1-674">
            <a:extLst xmlns:a="http://schemas.openxmlformats.org/drawingml/2006/main">
              <a:ext uri="{FF2B5EF4-FFF2-40B4-BE49-F238E27FC236}">
                <a16:creationId xmlns:a16="http://schemas.microsoft.com/office/drawing/2014/main" id="{88F722FC-3B08-467D-8D02-7A7A2908C71F}"/>
              </a:ext>
            </a:extLst>
          </p:cNvPr>
          <p:cNvSpPr>
            <a:spLocks xmlns:a="http://schemas.openxmlformats.org/drawingml/2006/main" noGrp="1"/>
          </p:cNvSpPr>
          <p:nvPr/>
        </p:nvSpPr>
        <p:spPr>
          <a:xfrm xmlns:a="http://schemas.openxmlformats.org/drawingml/2006/main">
            <a:off x="609600" y="6448425"/>
            <a:ext cx="714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125" b="0">
                <a:solidFill>
                  <a:srgbClr val="5E7182"/>
                </a:solidFill>
                <a:latin typeface="Nimbus Sans"/>
                <a:ea typeface="Nimbus Sans"/>
                <a:cs typeface="Nimbus Sans"/>
              </a:defRPr>
            </a:pPr>
            <a:r>
              <a:rPr sz="1125" b="0">
                <a:solidFill>
                  <a:srgbClr val="5E7182"/>
                </a:solidFill>
                <a:latin typeface="Nimbus Sans"/>
                <a:ea typeface="Nimbus Sans"/>
                <a:cs typeface="Nimbus Sans"/>
              </a:rPr>
              <a:t>Training Flutter Android   /   Hari 1</a:t>
            </a:r>
          </a:p>
        </p:txBody>
      </p:sp>
      <p:sp>
        <p:nvSpPr>
          <p:cNvPr id="3" name="text-2-674">
            <a:extLst xmlns:a="http://schemas.openxmlformats.org/drawingml/2006/main">
              <a:ext uri="{FF2B5EF4-FFF2-40B4-BE49-F238E27FC236}">
                <a16:creationId xmlns:a16="http://schemas.microsoft.com/office/drawing/2014/main" id="{C5B5EDDE-592D-4856-9ECA-904AF7BDBEB0}"/>
              </a:ext>
            </a:extLst>
          </p:cNvPr>
          <p:cNvSpPr>
            <a:spLocks xmlns:a="http://schemas.openxmlformats.org/drawingml/2006/main" noGrp="1"/>
          </p:cNvSpPr>
          <p:nvPr/>
        </p:nvSpPr>
        <p:spPr>
          <a:xfrm xmlns:a="http://schemas.openxmlformats.org/drawingml/2006/main">
            <a:off x="10668000" y="6448425"/>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125" b="0">
                <a:solidFill>
                  <a:srgbClr val="5E7182"/>
                </a:solidFill>
                <a:latin typeface="Nimbus Sans"/>
                <a:ea typeface="Nimbus Sans"/>
                <a:cs typeface="Nimbus Sans"/>
              </a:defRPr>
            </a:pPr>
            <a:r>
              <a:rPr sz="1125" b="0">
                <a:solidFill>
                  <a:srgbClr val="5E7182"/>
                </a:solidFill>
                <a:latin typeface="Nimbus Sans"/>
                <a:ea typeface="Nimbus Sans"/>
                <a:cs typeface="Nimbus Sans"/>
              </a:rPr>
              <a:t>35 / 44</a:t>
            </a:r>
          </a:p>
        </p:txBody>
      </p:sp>
      <p:sp>
        <p:nvSpPr>
          <p:cNvPr id="4" name="text-3-180">
            <a:extLst xmlns:a="http://schemas.openxmlformats.org/drawingml/2006/main">
              <a:ext uri="{FF2B5EF4-FFF2-40B4-BE49-F238E27FC236}">
                <a16:creationId xmlns:a16="http://schemas.microsoft.com/office/drawing/2014/main" id="{1EA8611F-9A37-4EAB-AB24-0BCAABA22B74}"/>
              </a:ext>
            </a:extLst>
          </p:cNvPr>
          <p:cNvSpPr>
            <a:spLocks xmlns:a="http://schemas.openxmlformats.org/drawingml/2006/main" noGrp="1"/>
          </p:cNvSpPr>
          <p:nvPr/>
        </p:nvSpPr>
        <p:spPr>
          <a:xfrm xmlns:a="http://schemas.openxmlformats.org/drawingml/2006/main">
            <a:off x="609600" y="1962150"/>
            <a:ext cx="10668000" cy="411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54000" indent="-127000">
              <a:spcAft>
                <a:spcPts val="2100"/>
              </a:spcAft>
              <a:buChar char="•"/>
              <a:defRPr sz="2325">
                <a:solidFill>
                  <a:srgbClr val="172D43"/>
                </a:solidFill>
                <a:latin typeface="Nimbus Sans"/>
                <a:ea typeface="Nimbus Sans"/>
                <a:cs typeface="Nimbus Sans"/>
              </a:defRPr>
            </a:pPr>
            <a:r>
              <a:rPr sz="2325">
                <a:solidFill>
                  <a:srgbClr val="172D43"/>
                </a:solidFill>
                <a:latin typeface="Nimbus Sans"/>
                <a:ea typeface="Nimbus Sans"/>
                <a:cs typeface="Nimbus Sans"/>
              </a:rPr>
              <a:t>Inspector menunjukkan widget tree serta ukuran</a:t>
            </a:r>
          </a:p>
          <a:p xmlns:a="http://schemas.openxmlformats.org/drawingml/2006/main">
            <a:pPr marL="254000" indent="-127000">
              <a:spcAft>
                <a:spcPts val="2100"/>
              </a:spcAft>
              <a:buChar char="•"/>
              <a:defRPr sz="2325">
                <a:solidFill>
                  <a:srgbClr val="172D43"/>
                </a:solidFill>
                <a:latin typeface="Nimbus Sans"/>
                <a:ea typeface="Nimbus Sans"/>
                <a:cs typeface="Nimbus Sans"/>
              </a:defRPr>
            </a:pPr>
            <a:r>
              <a:rPr sz="2325">
                <a:solidFill>
                  <a:srgbClr val="172D43"/>
                </a:solidFill>
                <a:latin typeface="Nimbus Sans"/>
                <a:ea typeface="Nimbus Sans"/>
                <a:cs typeface="Nimbus Sans"/>
              </a:rPr>
              <a:t>Breakpoint pada validator menunjukkan input aktual</a:t>
            </a:r>
          </a:p>
          <a:p xmlns:a="http://schemas.openxmlformats.org/drawingml/2006/main">
            <a:pPr marL="254000" indent="-127000">
              <a:spcAft>
                <a:spcPts val="2100"/>
              </a:spcAft>
              <a:buChar char="•"/>
              <a:defRPr sz="2325">
                <a:solidFill>
                  <a:srgbClr val="172D43"/>
                </a:solidFill>
                <a:latin typeface="Nimbus Sans"/>
                <a:ea typeface="Nimbus Sans"/>
                <a:cs typeface="Nimbus Sans"/>
              </a:defRPr>
            </a:pPr>
            <a:r>
              <a:rPr sz="2325">
                <a:solidFill>
                  <a:srgbClr val="172D43"/>
                </a:solidFill>
                <a:latin typeface="Nimbus Sans"/>
                <a:ea typeface="Nimbus Sans"/>
                <a:cs typeface="Nimbus Sans"/>
              </a:rPr>
              <a:t>Breakpoint pada pop dan penerimaan hasil menunjukkan aliran data</a:t>
            </a:r>
          </a:p>
          <a:p xmlns:a="http://schemas.openxmlformats.org/drawingml/2006/main">
            <a:pPr marL="254000" indent="-127000">
              <a:spcAft>
                <a:spcPts val="2100"/>
              </a:spcAft>
              <a:buChar char="•"/>
              <a:defRPr sz="2325">
                <a:solidFill>
                  <a:srgbClr val="172D43"/>
                </a:solidFill>
                <a:latin typeface="Nimbus Sans"/>
                <a:ea typeface="Nimbus Sans"/>
                <a:cs typeface="Nimbus Sans"/>
              </a:defRPr>
            </a:pPr>
            <a:r>
              <a:rPr sz="2325">
                <a:solidFill>
                  <a:srgbClr val="172D43"/>
                </a:solidFill>
                <a:latin typeface="Nimbus Sans"/>
                <a:ea typeface="Nimbus Sans"/>
                <a:cs typeface="Nimbus Sans"/>
              </a:rPr>
              <a:t>Log mencatat langkah dan state yang relevan</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b723bcba218c4ccc"/>
          <a:srcRect xmlns:a="http://schemas.openxmlformats.org/drawingml/2006/main" l="4250" t="6738" r="4125" b="3546"/>
          <a:stretch xmlns:a="http://schemas.openxmlformats.org/drawingml/2006/main"/>
        </p:blipFill>
        <p:spPr>
          <a:xfrm xmlns:a="http://schemas.openxmlformats.org/drawingml/2006/main">
            <a:off x="9344025" y="219075"/>
            <a:ext cx="1428750" cy="495300"/>
          </a:xfrm>
          <a:prstGeom xmlns:a="http://schemas.openxmlformats.org/drawingml/2006/main" prst="rect">
            <a:avLst/>
          </a:prstGeom>
        </p:spPr>
      </p:pic>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6ec7c199931e4cb0"/>
          <a:srcRect xmlns:a="http://schemas.openxmlformats.org/drawingml/2006/main" l="32813" t="23779" r="32813" b="23779"/>
          <a:stretch xmlns:a="http://schemas.openxmlformats.org/drawingml/2006/main"/>
        </p:blipFill>
        <p:spPr>
          <a:xfrm xmlns:a="http://schemas.openxmlformats.org/drawingml/2006/main">
            <a:off x="11163300" y="161925"/>
            <a:ext cx="371475" cy="571500"/>
          </a:xfrm>
          <a:prstGeom xmlns:a="http://schemas.openxmlformats.org/drawingml/2006/main" prst="rect">
            <a:avLst/>
          </a:prstGeom>
        </p:spPr>
      </p:pic>
    </p:spTree>
    <p:extLst>
      <p:ext uri="{BB962C8B-B14F-4D97-AF65-F5344CB8AC3E}">
        <p14:creationId xmlns:p14="http://schemas.microsoft.com/office/powerpoint/2010/main" val="700211161"/>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ext-0-48">
            <a:extLst xmlns:a="http://schemas.openxmlformats.org/drawingml/2006/main">
              <a:ext uri="{FF2B5EF4-FFF2-40B4-BE49-F238E27FC236}">
                <a16:creationId xmlns:a16="http://schemas.microsoft.com/office/drawing/2014/main" id="{588C51A8-0498-4A1C-B43C-7BEE9445CCDD}"/>
              </a:ext>
            </a:extLst>
          </p:cNvPr>
          <p:cNvSpPr>
            <a:spLocks xmlns:a="http://schemas.openxmlformats.org/drawingml/2006/main" noGrp="1"/>
          </p:cNvSpPr>
          <p:nvPr/>
        </p:nvSpPr>
        <p:spPr>
          <a:xfrm xmlns:a="http://schemas.openxmlformats.org/drawingml/2006/main">
            <a:off x="609600" y="8953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0000"/>
              </a:lnSpc>
              <a:buNone/>
              <a:defRPr sz="3300" b="1">
                <a:solidFill>
                  <a:srgbClr val="0B3970"/>
                </a:solidFill>
                <a:latin typeface="Nimbus Sans"/>
                <a:ea typeface="Nimbus Sans"/>
                <a:cs typeface="Nimbus Sans"/>
              </a:defRPr>
            </a:pPr>
            <a:r>
              <a:rPr sz="3300" b="1">
                <a:solidFill>
                  <a:srgbClr val="0B3970"/>
                </a:solidFill>
                <a:latin typeface="Nimbus Sans"/>
                <a:ea typeface="Nimbus Sans"/>
                <a:cs typeface="Nimbus Sans"/>
              </a:rPr>
              <a:t>Gejala layout dan penyebab</a:t>
            </a:r>
          </a:p>
        </p:txBody>
      </p:sp>
      <p:sp>
        <p:nvSpPr>
          <p:cNvPr id="2" name="text-1-674">
            <a:extLst xmlns:a="http://schemas.openxmlformats.org/drawingml/2006/main">
              <a:ext uri="{FF2B5EF4-FFF2-40B4-BE49-F238E27FC236}">
                <a16:creationId xmlns:a16="http://schemas.microsoft.com/office/drawing/2014/main" id="{777B68F3-421A-4D9B-B9B3-0FD6C16EED1C}"/>
              </a:ext>
            </a:extLst>
          </p:cNvPr>
          <p:cNvSpPr>
            <a:spLocks xmlns:a="http://schemas.openxmlformats.org/drawingml/2006/main" noGrp="1"/>
          </p:cNvSpPr>
          <p:nvPr/>
        </p:nvSpPr>
        <p:spPr>
          <a:xfrm xmlns:a="http://schemas.openxmlformats.org/drawingml/2006/main">
            <a:off x="609600" y="6448425"/>
            <a:ext cx="714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125" b="0">
                <a:solidFill>
                  <a:srgbClr val="5E7182"/>
                </a:solidFill>
                <a:latin typeface="Nimbus Sans"/>
                <a:ea typeface="Nimbus Sans"/>
                <a:cs typeface="Nimbus Sans"/>
              </a:defRPr>
            </a:pPr>
            <a:r>
              <a:rPr sz="1125" b="0">
                <a:solidFill>
                  <a:srgbClr val="5E7182"/>
                </a:solidFill>
                <a:latin typeface="Nimbus Sans"/>
                <a:ea typeface="Nimbus Sans"/>
                <a:cs typeface="Nimbus Sans"/>
              </a:rPr>
              <a:t>Training Flutter Android   /   Hari 1</a:t>
            </a:r>
          </a:p>
        </p:txBody>
      </p:sp>
      <p:sp>
        <p:nvSpPr>
          <p:cNvPr id="3" name="text-2-674">
            <a:extLst xmlns:a="http://schemas.openxmlformats.org/drawingml/2006/main">
              <a:ext uri="{FF2B5EF4-FFF2-40B4-BE49-F238E27FC236}">
                <a16:creationId xmlns:a16="http://schemas.microsoft.com/office/drawing/2014/main" id="{2EE47773-943F-44DF-998E-789B48794CAB}"/>
              </a:ext>
            </a:extLst>
          </p:cNvPr>
          <p:cNvSpPr>
            <a:spLocks xmlns:a="http://schemas.openxmlformats.org/drawingml/2006/main" noGrp="1"/>
          </p:cNvSpPr>
          <p:nvPr/>
        </p:nvSpPr>
        <p:spPr>
          <a:xfrm xmlns:a="http://schemas.openxmlformats.org/drawingml/2006/main">
            <a:off x="10668000" y="6448425"/>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125" b="0">
                <a:solidFill>
                  <a:srgbClr val="5E7182"/>
                </a:solidFill>
                <a:latin typeface="Nimbus Sans"/>
                <a:ea typeface="Nimbus Sans"/>
                <a:cs typeface="Nimbus Sans"/>
              </a:defRPr>
            </a:pPr>
            <a:r>
              <a:rPr sz="1125" b="0">
                <a:solidFill>
                  <a:srgbClr val="5E7182"/>
                </a:solidFill>
                <a:latin typeface="Nimbus Sans"/>
                <a:ea typeface="Nimbus Sans"/>
                <a:cs typeface="Nimbus Sans"/>
              </a:rPr>
              <a:t>36 / 44</a:t>
            </a:r>
          </a:p>
        </p:txBody>
      </p:sp>
      <p:graphicFrame>
        <p:nvGraphicFramePr>
          <p:cNvPr id="12" name=""/>
          <p:cNvGraphicFramePr/>
          <p:nvPr/>
        </p:nvGraphicFramePr>
        <p:xfrm>
          <a:off xmlns:a="http://schemas.openxmlformats.org/drawingml/2006/main" x="609600" y="1657350"/>
          <a:ext xmlns:a="http://schemas.openxmlformats.org/drawingml/2006/main" cx="10972800" cy="4114800"/>
        </p:xfrm>
        <a:graphic xmlns:a="http://schemas.openxmlformats.org/drawingml/2006/main">
          <a:graphicData uri="http://schemas.openxmlformats.org/drawingml/2006/table">
            <a:tbl>
              <a:tblPr/>
              <a:tblGrid>
                <a:gridCol w="2691442"/>
                <a:gridCol w="4140679"/>
                <a:gridCol w="4140679"/>
              </a:tblGrid>
              <a:tr h="822960">
                <a:tc>
                  <a:txBody>
                    <a:bodyPr lIns="114300" tIns="95250" rIns="114300" bIns="95250">
                      <a:noAutofit/>
                    </a:bodyPr>
                    <a:lstStyle/>
                    <a:p>
                      <a:r>
                        <a:rPr sz="1800" b="1">
                          <a:solidFill>
                            <a:srgbClr val="FFFFFF"/>
                          </a:solidFill>
                          <a:latin typeface="Nimbus Sans"/>
                          <a:ea typeface="Nimbus Sans"/>
                          <a:cs typeface="Nimbus Sans"/>
                        </a:rPr>
                        <a:t>Gejala</a:t>
                      </a:r>
                    </a:p>
                  </a:txBody>
                  <a:tcPr marL="91440" marR="91440" marT="45720" marB="45720" anchor="ctr">
                    <a:solidFill>
                      <a:srgbClr val="0B3970"/>
                    </a:solidFill>
                  </a:tcPr>
                </a:tc>
                <a:tc>
                  <a:txBody>
                    <a:bodyPr lIns="114300" tIns="95250" rIns="114300" bIns="95250">
                      <a:noAutofit/>
                    </a:bodyPr>
                    <a:lstStyle/>
                    <a:p>
                      <a:r>
                        <a:rPr sz="1800" b="1">
                          <a:solidFill>
                            <a:srgbClr val="FFFFFF"/>
                          </a:solidFill>
                          <a:latin typeface="Nimbus Sans"/>
                          <a:ea typeface="Nimbus Sans"/>
                          <a:cs typeface="Nimbus Sans"/>
                        </a:rPr>
                        <a:t>Pemeriksaan</a:t>
                      </a:r>
                    </a:p>
                  </a:txBody>
                  <a:tcPr marL="91440" marR="91440" marT="45720" marB="45720" anchor="ctr">
                    <a:solidFill>
                      <a:srgbClr val="0B3970"/>
                    </a:solidFill>
                  </a:tcPr>
                </a:tc>
                <a:tc>
                  <a:txBody>
                    <a:bodyPr lIns="114300" tIns="95250" rIns="114300" bIns="95250">
                      <a:noAutofit/>
                    </a:bodyPr>
                    <a:lstStyle/>
                    <a:p>
                      <a:r>
                        <a:rPr sz="1800" b="1">
                          <a:solidFill>
                            <a:srgbClr val="FFFFFF"/>
                          </a:solidFill>
                          <a:latin typeface="Nimbus Sans"/>
                          <a:ea typeface="Nimbus Sans"/>
                          <a:cs typeface="Nimbus Sans"/>
                        </a:rPr>
                        <a:t>Perbaikan</a:t>
                      </a:r>
                    </a:p>
                  </a:txBody>
                  <a:tcPr marL="91440" marR="91440" marT="45720" marB="45720" anchor="ctr">
                    <a:solidFill>
                      <a:srgbClr val="0B3970"/>
                    </a:solidFill>
                  </a:tcPr>
                </a:tc>
              </a:tr>
              <a:tr h="822960">
                <a:tc>
                  <a:txBody>
                    <a:bodyPr lIns="114300" tIns="95250" rIns="114300" bIns="95250">
                      <a:noAutofit/>
                    </a:bodyPr>
                    <a:lstStyle/>
                    <a:p>
                      <a:r>
                        <a:rPr sz="1725" b="0">
                          <a:solidFill>
                            <a:srgbClr val="172D43"/>
                          </a:solidFill>
                          <a:latin typeface="Nimbus Sans"/>
                          <a:ea typeface="Nimbus Sans"/>
                          <a:cs typeface="Nimbus Sans"/>
                        </a:rPr>
                        <a:t>RenderFlex overflow</a:t>
                      </a:r>
                    </a:p>
                  </a:txBody>
                  <a:tcPr marL="91440" marR="91440" marT="45720" marB="45720" anchor="ctr">
                    <a:solidFill>
                      <a:srgbClr val="FFFFFF"/>
                    </a:solidFill>
                  </a:tcPr>
                </a:tc>
                <a:tc>
                  <a:txBody>
                    <a:bodyPr lIns="114300" tIns="95250" rIns="114300" bIns="95250">
                      <a:noAutofit/>
                    </a:bodyPr>
                    <a:lstStyle/>
                    <a:p>
                      <a:r>
                        <a:rPr sz="1725" b="0">
                          <a:solidFill>
                            <a:srgbClr val="172D43"/>
                          </a:solidFill>
                          <a:latin typeface="Nimbus Sans"/>
                          <a:ea typeface="Nimbus Sans"/>
                          <a:cs typeface="Nimbus Sans"/>
                        </a:rPr>
                        <a:t>Row atau teks terlalu lebar</a:t>
                      </a:r>
                    </a:p>
                  </a:txBody>
                  <a:tcPr marL="91440" marR="91440" marT="45720" marB="45720" anchor="ctr">
                    <a:solidFill>
                      <a:srgbClr val="FFFFFF"/>
                    </a:solidFill>
                  </a:tcPr>
                </a:tc>
                <a:tc>
                  <a:txBody>
                    <a:bodyPr lIns="114300" tIns="95250" rIns="114300" bIns="95250">
                      <a:noAutofit/>
                    </a:bodyPr>
                    <a:lstStyle/>
                    <a:p>
                      <a:r>
                        <a:rPr sz="1725" b="0">
                          <a:solidFill>
                            <a:srgbClr val="172D43"/>
                          </a:solidFill>
                          <a:latin typeface="Nimbus Sans"/>
                          <a:ea typeface="Nimbus Sans"/>
                          <a:cs typeface="Nimbus Sans"/>
                        </a:rPr>
                        <a:t>Flexible atau komposisi baru</a:t>
                      </a:r>
                    </a:p>
                  </a:txBody>
                  <a:tcPr marL="91440" marR="91440" marT="45720" marB="45720" anchor="ctr">
                    <a:solidFill>
                      <a:srgbClr val="FFFFFF"/>
                    </a:solidFill>
                  </a:tcPr>
                </a:tc>
              </a:tr>
              <a:tr h="822960">
                <a:tc>
                  <a:txBody>
                    <a:bodyPr lIns="114300" tIns="95250" rIns="114300" bIns="95250">
                      <a:noAutofit/>
                    </a:bodyPr>
                    <a:lstStyle/>
                    <a:p>
                      <a:r>
                        <a:rPr sz="1725" b="0">
                          <a:solidFill>
                            <a:srgbClr val="172D43"/>
                          </a:solidFill>
                          <a:latin typeface="Nimbus Sans"/>
                          <a:ea typeface="Nimbus Sans"/>
                          <a:cs typeface="Nimbus Sans"/>
                        </a:rPr>
                        <a:t>Viewport unbounded</a:t>
                      </a:r>
                    </a:p>
                  </a:txBody>
                  <a:tcPr marL="91440" marR="91440" marT="45720" marB="45720" anchor="ctr">
                    <a:solidFill>
                      <a:srgbClr val="F0F5F9"/>
                    </a:solidFill>
                  </a:tcPr>
                </a:tc>
                <a:tc>
                  <a:txBody>
                    <a:bodyPr lIns="114300" tIns="95250" rIns="114300" bIns="95250">
                      <a:noAutofit/>
                    </a:bodyPr>
                    <a:lstStyle/>
                    <a:p>
                      <a:r>
                        <a:rPr sz="1725" b="0">
                          <a:solidFill>
                            <a:srgbClr val="172D43"/>
                          </a:solidFill>
                          <a:latin typeface="Nimbus Sans"/>
                          <a:ea typeface="Nimbus Sans"/>
                          <a:cs typeface="Nimbus Sans"/>
                        </a:rPr>
                        <a:t>List tidak mempunyai batas tinggi</a:t>
                      </a:r>
                    </a:p>
                  </a:txBody>
                  <a:tcPr marL="91440" marR="91440" marT="45720" marB="45720" anchor="ctr">
                    <a:solidFill>
                      <a:srgbClr val="F0F5F9"/>
                    </a:solidFill>
                  </a:tcPr>
                </a:tc>
                <a:tc>
                  <a:txBody>
                    <a:bodyPr lIns="114300" tIns="95250" rIns="114300" bIns="95250">
                      <a:noAutofit/>
                    </a:bodyPr>
                    <a:lstStyle/>
                    <a:p>
                      <a:r>
                        <a:rPr sz="1725" b="0">
                          <a:solidFill>
                            <a:srgbClr val="172D43"/>
                          </a:solidFill>
                          <a:latin typeface="Nimbus Sans"/>
                          <a:ea typeface="Nimbus Sans"/>
                          <a:cs typeface="Nimbus Sans"/>
                        </a:rPr>
                        <a:t>Expanded pada parent tepat</a:t>
                      </a:r>
                    </a:p>
                  </a:txBody>
                  <a:tcPr marL="91440" marR="91440" marT="45720" marB="45720" anchor="ctr">
                    <a:solidFill>
                      <a:srgbClr val="F0F5F9"/>
                    </a:solidFill>
                  </a:tcPr>
                </a:tc>
              </a:tr>
              <a:tr h="822960">
                <a:tc>
                  <a:txBody>
                    <a:bodyPr lIns="114300" tIns="95250" rIns="114300" bIns="95250">
                      <a:noAutofit/>
                    </a:bodyPr>
                    <a:lstStyle/>
                    <a:p>
                      <a:r>
                        <a:rPr sz="1725" b="0">
                          <a:solidFill>
                            <a:srgbClr val="172D43"/>
                          </a:solidFill>
                          <a:latin typeface="Nimbus Sans"/>
                          <a:ea typeface="Nimbus Sans"/>
                          <a:cs typeface="Nimbus Sans"/>
                        </a:rPr>
                        <a:t>Form ter-reset</a:t>
                      </a:r>
                    </a:p>
                  </a:txBody>
                  <a:tcPr marL="91440" marR="91440" marT="45720" marB="45720" anchor="ctr">
                    <a:solidFill>
                      <a:srgbClr val="FFFFFF"/>
                    </a:solidFill>
                  </a:tcPr>
                </a:tc>
                <a:tc>
                  <a:txBody>
                    <a:bodyPr lIns="114300" tIns="95250" rIns="114300" bIns="95250">
                      <a:noAutofit/>
                    </a:bodyPr>
                    <a:lstStyle/>
                    <a:p>
                      <a:r>
                        <a:rPr sz="1725" b="0">
                          <a:solidFill>
                            <a:srgbClr val="172D43"/>
                          </a:solidFill>
                          <a:latin typeface="Nimbus Sans"/>
                          <a:ea typeface="Nimbus Sans"/>
                          <a:cs typeface="Nimbus Sans"/>
                        </a:rPr>
                        <a:t>Controller baru pada build</a:t>
                      </a:r>
                    </a:p>
                  </a:txBody>
                  <a:tcPr marL="91440" marR="91440" marT="45720" marB="45720" anchor="ctr">
                    <a:solidFill>
                      <a:srgbClr val="FFFFFF"/>
                    </a:solidFill>
                  </a:tcPr>
                </a:tc>
                <a:tc>
                  <a:txBody>
                    <a:bodyPr lIns="114300" tIns="95250" rIns="114300" bIns="95250">
                      <a:noAutofit/>
                    </a:bodyPr>
                    <a:lstStyle/>
                    <a:p>
                      <a:r>
                        <a:rPr sz="1725" b="0">
                          <a:solidFill>
                            <a:srgbClr val="172D43"/>
                          </a:solidFill>
                          <a:latin typeface="Nimbus Sans"/>
                          <a:ea typeface="Nimbus Sans"/>
                          <a:cs typeface="Nimbus Sans"/>
                        </a:rPr>
                        <a:t>Controller menjadi field State</a:t>
                      </a:r>
                    </a:p>
                  </a:txBody>
                  <a:tcPr marL="91440" marR="91440" marT="45720" marB="45720" anchor="ctr">
                    <a:solidFill>
                      <a:srgbClr val="FFFFFF"/>
                    </a:solidFill>
                  </a:tcPr>
                </a:tc>
              </a:tr>
              <a:tr h="822960">
                <a:tc>
                  <a:txBody>
                    <a:bodyPr lIns="114300" tIns="95250" rIns="114300" bIns="95250">
                      <a:noAutofit/>
                    </a:bodyPr>
                    <a:lstStyle/>
                    <a:p>
                      <a:r>
                        <a:rPr sz="1725" b="0">
                          <a:solidFill>
                            <a:srgbClr val="172D43"/>
                          </a:solidFill>
                          <a:latin typeface="Nimbus Sans"/>
                          <a:ea typeface="Nimbus Sans"/>
                          <a:cs typeface="Nimbus Sans"/>
                        </a:rPr>
                        <a:t>setState after dispose</a:t>
                      </a:r>
                    </a:p>
                  </a:txBody>
                  <a:tcPr marL="91440" marR="91440" marT="45720" marB="45720" anchor="ctr">
                    <a:solidFill>
                      <a:srgbClr val="F0F5F9"/>
                    </a:solidFill>
                  </a:tcPr>
                </a:tc>
                <a:tc>
                  <a:txBody>
                    <a:bodyPr lIns="114300" tIns="95250" rIns="114300" bIns="95250">
                      <a:noAutofit/>
                    </a:bodyPr>
                    <a:lstStyle/>
                    <a:p>
                      <a:r>
                        <a:rPr sz="1725" b="0">
                          <a:solidFill>
                            <a:srgbClr val="172D43"/>
                          </a:solidFill>
                          <a:latin typeface="Nimbus Sans"/>
                          <a:ea typeface="Nimbus Sans"/>
                          <a:cs typeface="Nimbus Sans"/>
                        </a:rPr>
                        <a:t>Async selesai setelah halaman ditutup</a:t>
                      </a:r>
                    </a:p>
                  </a:txBody>
                  <a:tcPr marL="91440" marR="91440" marT="45720" marB="45720" anchor="ctr">
                    <a:solidFill>
                      <a:srgbClr val="F0F5F9"/>
                    </a:solidFill>
                  </a:tcPr>
                </a:tc>
                <a:tc>
                  <a:txBody>
                    <a:bodyPr lIns="114300" tIns="95250" rIns="114300" bIns="95250">
                      <a:noAutofit/>
                    </a:bodyPr>
                    <a:lstStyle/>
                    <a:p>
                      <a:r>
                        <a:rPr sz="1725" b="0">
                          <a:solidFill>
                            <a:srgbClr val="172D43"/>
                          </a:solidFill>
                          <a:latin typeface="Nimbus Sans"/>
                          <a:ea typeface="Nimbus Sans"/>
                          <a:cs typeface="Nimbus Sans"/>
                        </a:rPr>
                        <a:t>Guard mounted dan lifecycle</a:t>
                      </a:r>
                    </a:p>
                  </a:txBody>
                  <a:tcPr marL="91440" marR="91440" marT="45720" marB="45720" anchor="ctr">
                    <a:solidFill>
                      <a:srgbClr val="F0F5F9"/>
                    </a:solidFill>
                  </a:tcPr>
                </a:tc>
              </a:tr>
            </a:tbl>
          </a:graphicData>
        </a:graphic>
      </p:graphicFrame>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5ddd754301f34a5c"/>
          <a:srcRect xmlns:a="http://schemas.openxmlformats.org/drawingml/2006/main" l="4250" t="6738" r="4125" b="3546"/>
          <a:stretch xmlns:a="http://schemas.openxmlformats.org/drawingml/2006/main"/>
        </p:blipFill>
        <p:spPr>
          <a:xfrm xmlns:a="http://schemas.openxmlformats.org/drawingml/2006/main">
            <a:off x="9344025" y="219075"/>
            <a:ext cx="1428750" cy="495300"/>
          </a:xfrm>
          <a:prstGeom xmlns:a="http://schemas.openxmlformats.org/drawingml/2006/main" prst="rect">
            <a:avLst/>
          </a:prstGeom>
        </p:spPr>
      </p:pic>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a87ebadcaa074150"/>
          <a:srcRect xmlns:a="http://schemas.openxmlformats.org/drawingml/2006/main" l="32813" t="23779" r="32813" b="23779"/>
          <a:stretch xmlns:a="http://schemas.openxmlformats.org/drawingml/2006/main"/>
        </p:blipFill>
        <p:spPr>
          <a:xfrm xmlns:a="http://schemas.openxmlformats.org/drawingml/2006/main">
            <a:off x="11163300" y="161925"/>
            <a:ext cx="371475" cy="571500"/>
          </a:xfrm>
          <a:prstGeom xmlns:a="http://schemas.openxmlformats.org/drawingml/2006/main" prst="rect">
            <a:avLst/>
          </a:prstGeom>
        </p:spPr>
      </p:pic>
    </p:spTree>
    <p:extLst>
      <p:ext uri="{BB962C8B-B14F-4D97-AF65-F5344CB8AC3E}">
        <p14:creationId xmlns:p14="http://schemas.microsoft.com/office/powerpoint/2010/main" val="123948110"/>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ext-0-48">
            <a:extLst xmlns:a="http://schemas.openxmlformats.org/drawingml/2006/main">
              <a:ext uri="{FF2B5EF4-FFF2-40B4-BE49-F238E27FC236}">
                <a16:creationId xmlns:a16="http://schemas.microsoft.com/office/drawing/2014/main" id="{60073013-9DD9-4331-8743-5EC75A2056B8}"/>
              </a:ext>
            </a:extLst>
          </p:cNvPr>
          <p:cNvSpPr>
            <a:spLocks xmlns:a="http://schemas.openxmlformats.org/drawingml/2006/main" noGrp="1"/>
          </p:cNvSpPr>
          <p:nvPr/>
        </p:nvSpPr>
        <p:spPr>
          <a:xfrm xmlns:a="http://schemas.openxmlformats.org/drawingml/2006/main">
            <a:off x="609600" y="8953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0000"/>
              </a:lnSpc>
              <a:buNone/>
              <a:defRPr sz="3300" b="1">
                <a:solidFill>
                  <a:srgbClr val="0B3970"/>
                </a:solidFill>
                <a:latin typeface="Nimbus Sans"/>
                <a:ea typeface="Nimbus Sans"/>
                <a:cs typeface="Nimbus Sans"/>
              </a:defRPr>
            </a:pPr>
            <a:r>
              <a:rPr sz="3300" b="1">
                <a:solidFill>
                  <a:srgbClr val="0B3970"/>
                </a:solidFill>
                <a:latin typeface="Nimbus Sans"/>
                <a:ea typeface="Nimbus Sans"/>
                <a:cs typeface="Nimbus Sans"/>
              </a:rPr>
              <a:t>Keterbacaan dan akses input</a:t>
            </a:r>
          </a:p>
        </p:txBody>
      </p:sp>
      <p:sp>
        <p:nvSpPr>
          <p:cNvPr id="2" name="text-1-674">
            <a:extLst xmlns:a="http://schemas.openxmlformats.org/drawingml/2006/main">
              <a:ext uri="{FF2B5EF4-FFF2-40B4-BE49-F238E27FC236}">
                <a16:creationId xmlns:a16="http://schemas.microsoft.com/office/drawing/2014/main" id="{35426518-CB7F-4B0C-B848-426C35F83E8F}"/>
              </a:ext>
            </a:extLst>
          </p:cNvPr>
          <p:cNvSpPr>
            <a:spLocks xmlns:a="http://schemas.openxmlformats.org/drawingml/2006/main" noGrp="1"/>
          </p:cNvSpPr>
          <p:nvPr/>
        </p:nvSpPr>
        <p:spPr>
          <a:xfrm xmlns:a="http://schemas.openxmlformats.org/drawingml/2006/main">
            <a:off x="609600" y="6448425"/>
            <a:ext cx="714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125" b="0">
                <a:solidFill>
                  <a:srgbClr val="5E7182"/>
                </a:solidFill>
                <a:latin typeface="Nimbus Sans"/>
                <a:ea typeface="Nimbus Sans"/>
                <a:cs typeface="Nimbus Sans"/>
              </a:defRPr>
            </a:pPr>
            <a:r>
              <a:rPr sz="1125" b="0">
                <a:solidFill>
                  <a:srgbClr val="5E7182"/>
                </a:solidFill>
                <a:latin typeface="Nimbus Sans"/>
                <a:ea typeface="Nimbus Sans"/>
                <a:cs typeface="Nimbus Sans"/>
              </a:rPr>
              <a:t>Training Flutter Android   /   Hari 1</a:t>
            </a:r>
          </a:p>
        </p:txBody>
      </p:sp>
      <p:sp>
        <p:nvSpPr>
          <p:cNvPr id="3" name="text-2-674">
            <a:extLst xmlns:a="http://schemas.openxmlformats.org/drawingml/2006/main">
              <a:ext uri="{FF2B5EF4-FFF2-40B4-BE49-F238E27FC236}">
                <a16:creationId xmlns:a16="http://schemas.microsoft.com/office/drawing/2014/main" id="{34CA7D3F-F660-429B-8836-500DE8922F30}"/>
              </a:ext>
            </a:extLst>
          </p:cNvPr>
          <p:cNvSpPr>
            <a:spLocks xmlns:a="http://schemas.openxmlformats.org/drawingml/2006/main" noGrp="1"/>
          </p:cNvSpPr>
          <p:nvPr/>
        </p:nvSpPr>
        <p:spPr>
          <a:xfrm xmlns:a="http://schemas.openxmlformats.org/drawingml/2006/main">
            <a:off x="10668000" y="6448425"/>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125" b="0">
                <a:solidFill>
                  <a:srgbClr val="5E7182"/>
                </a:solidFill>
                <a:latin typeface="Nimbus Sans"/>
                <a:ea typeface="Nimbus Sans"/>
                <a:cs typeface="Nimbus Sans"/>
              </a:defRPr>
            </a:pPr>
            <a:r>
              <a:rPr sz="1125" b="0">
                <a:solidFill>
                  <a:srgbClr val="5E7182"/>
                </a:solidFill>
                <a:latin typeface="Nimbus Sans"/>
                <a:ea typeface="Nimbus Sans"/>
                <a:cs typeface="Nimbus Sans"/>
              </a:rPr>
              <a:t>37 / 44</a:t>
            </a:r>
          </a:p>
        </p:txBody>
      </p:sp>
      <p:sp>
        <p:nvSpPr>
          <p:cNvPr id="4" name="text-3-180">
            <a:extLst xmlns:a="http://schemas.openxmlformats.org/drawingml/2006/main">
              <a:ext uri="{FF2B5EF4-FFF2-40B4-BE49-F238E27FC236}">
                <a16:creationId xmlns:a16="http://schemas.microsoft.com/office/drawing/2014/main" id="{6A7EE6E2-16FE-471A-9075-7C7AA1D3B609}"/>
              </a:ext>
            </a:extLst>
          </p:cNvPr>
          <p:cNvSpPr>
            <a:spLocks xmlns:a="http://schemas.openxmlformats.org/drawingml/2006/main" noGrp="1"/>
          </p:cNvSpPr>
          <p:nvPr/>
        </p:nvSpPr>
        <p:spPr>
          <a:xfrm xmlns:a="http://schemas.openxmlformats.org/drawingml/2006/main">
            <a:off x="609600" y="1962150"/>
            <a:ext cx="10668000" cy="411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54000" indent="-127000">
              <a:spcAft>
                <a:spcPts val="2100"/>
              </a:spcAft>
              <a:buChar char="•"/>
              <a:defRPr sz="2325">
                <a:solidFill>
                  <a:srgbClr val="172D43"/>
                </a:solidFill>
                <a:latin typeface="Nimbus Sans"/>
                <a:ea typeface="Nimbus Sans"/>
                <a:cs typeface="Nimbus Sans"/>
              </a:defRPr>
            </a:pPr>
            <a:r>
              <a:rPr sz="2325">
                <a:solidFill>
                  <a:srgbClr val="172D43"/>
                </a:solidFill>
                <a:latin typeface="Nimbus Sans"/>
                <a:ea typeface="Nimbus Sans"/>
                <a:cs typeface="Nimbus Sans"/>
              </a:rPr>
              <a:t>Label menjelaskan isi setiap field</a:t>
            </a:r>
          </a:p>
          <a:p xmlns:a="http://schemas.openxmlformats.org/drawingml/2006/main">
            <a:pPr marL="254000" indent="-127000">
              <a:spcAft>
                <a:spcPts val="2100"/>
              </a:spcAft>
              <a:buChar char="•"/>
              <a:defRPr sz="2325">
                <a:solidFill>
                  <a:srgbClr val="172D43"/>
                </a:solidFill>
                <a:latin typeface="Nimbus Sans"/>
                <a:ea typeface="Nimbus Sans"/>
                <a:cs typeface="Nimbus Sans"/>
              </a:defRPr>
            </a:pPr>
            <a:r>
              <a:rPr sz="2325">
                <a:solidFill>
                  <a:srgbClr val="172D43"/>
                </a:solidFill>
                <a:latin typeface="Nimbus Sans"/>
                <a:ea typeface="Nimbus Sans"/>
                <a:cs typeface="Nimbus Sans"/>
              </a:rPr>
              <a:t>Status memakai teks selain warna</a:t>
            </a:r>
          </a:p>
          <a:p xmlns:a="http://schemas.openxmlformats.org/drawingml/2006/main">
            <a:pPr marL="254000" indent="-127000">
              <a:spcAft>
                <a:spcPts val="2100"/>
              </a:spcAft>
              <a:buChar char="•"/>
              <a:defRPr sz="2325">
                <a:solidFill>
                  <a:srgbClr val="172D43"/>
                </a:solidFill>
                <a:latin typeface="Nimbus Sans"/>
                <a:ea typeface="Nimbus Sans"/>
                <a:cs typeface="Nimbus Sans"/>
              </a:defRPr>
            </a:pPr>
            <a:r>
              <a:rPr sz="2325">
                <a:solidFill>
                  <a:srgbClr val="172D43"/>
                </a:solidFill>
                <a:latin typeface="Nimbus Sans"/>
                <a:ea typeface="Nimbus Sans"/>
                <a:cs typeface="Nimbus Sans"/>
              </a:rPr>
              <a:t>Detail panjang dan form dapat di-scroll</a:t>
            </a:r>
          </a:p>
          <a:p xmlns:a="http://schemas.openxmlformats.org/drawingml/2006/main">
            <a:pPr marL="254000" indent="-127000">
              <a:spcAft>
                <a:spcPts val="2100"/>
              </a:spcAft>
              <a:buChar char="•"/>
              <a:defRPr sz="2325">
                <a:solidFill>
                  <a:srgbClr val="172D43"/>
                </a:solidFill>
                <a:latin typeface="Nimbus Sans"/>
                <a:ea typeface="Nimbus Sans"/>
                <a:cs typeface="Nimbus Sans"/>
              </a:defRPr>
            </a:pPr>
            <a:r>
              <a:rPr sz="2325">
                <a:solidFill>
                  <a:srgbClr val="172D43"/>
                </a:solidFill>
                <a:latin typeface="Nimbus Sans"/>
                <a:ea typeface="Nimbus Sans"/>
                <a:cs typeface="Nimbus Sans"/>
              </a:rPr>
              <a:t>Keyboard dan landscape tetap memberi akses tombol</a:t>
            </a:r>
          </a:p>
          <a:p xmlns:a="http://schemas.openxmlformats.org/drawingml/2006/main">
            <a:pPr marL="254000" indent="-127000">
              <a:spcAft>
                <a:spcPts val="2100"/>
              </a:spcAft>
              <a:buChar char="•"/>
              <a:defRPr sz="2325">
                <a:solidFill>
                  <a:srgbClr val="172D43"/>
                </a:solidFill>
                <a:latin typeface="Nimbus Sans"/>
                <a:ea typeface="Nimbus Sans"/>
                <a:cs typeface="Nimbus Sans"/>
              </a:defRPr>
            </a:pPr>
            <a:r>
              <a:rPr sz="2325">
                <a:solidFill>
                  <a:srgbClr val="172D43"/>
                </a:solidFill>
                <a:latin typeface="Nimbus Sans"/>
                <a:ea typeface="Nimbus Sans"/>
                <a:cs typeface="Nimbus Sans"/>
              </a:rPr>
              <a:t>Error memberi pesan serta tindakan berikutnya</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325c18fd189f4484"/>
          <a:srcRect xmlns:a="http://schemas.openxmlformats.org/drawingml/2006/main" l="4250" t="6738" r="4125" b="3546"/>
          <a:stretch xmlns:a="http://schemas.openxmlformats.org/drawingml/2006/main"/>
        </p:blipFill>
        <p:spPr>
          <a:xfrm xmlns:a="http://schemas.openxmlformats.org/drawingml/2006/main">
            <a:off x="9344025" y="219075"/>
            <a:ext cx="1428750" cy="495300"/>
          </a:xfrm>
          <a:prstGeom xmlns:a="http://schemas.openxmlformats.org/drawingml/2006/main" prst="rect">
            <a:avLst/>
          </a:prstGeom>
        </p:spPr>
      </p:pic>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7ba3b21f7677409f"/>
          <a:srcRect xmlns:a="http://schemas.openxmlformats.org/drawingml/2006/main" l="32813" t="23779" r="32813" b="23779"/>
          <a:stretch xmlns:a="http://schemas.openxmlformats.org/drawingml/2006/main"/>
        </p:blipFill>
        <p:spPr>
          <a:xfrm xmlns:a="http://schemas.openxmlformats.org/drawingml/2006/main">
            <a:off x="11163300" y="161925"/>
            <a:ext cx="371475" cy="571500"/>
          </a:xfrm>
          <a:prstGeom xmlns:a="http://schemas.openxmlformats.org/drawingml/2006/main" prst="rect">
            <a:avLst/>
          </a:prstGeom>
        </p:spPr>
      </p:pic>
    </p:spTree>
    <p:extLst>
      <p:ext uri="{BB962C8B-B14F-4D97-AF65-F5344CB8AC3E}">
        <p14:creationId xmlns:p14="http://schemas.microsoft.com/office/powerpoint/2010/main" val="321871483"/>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0-48">
            <a:extLst xmlns:a="http://schemas.openxmlformats.org/drawingml/2006/main">
              <a:ext uri="{FF2B5EF4-FFF2-40B4-BE49-F238E27FC236}">
                <a16:creationId xmlns:a16="http://schemas.microsoft.com/office/drawing/2014/main" id="{1413D0EC-3783-487A-AD68-2E11906960C3}"/>
              </a:ext>
            </a:extLst>
          </p:cNvPr>
          <p:cNvSpPr>
            <a:spLocks xmlns:a="http://schemas.openxmlformats.org/drawingml/2006/main" noGrp="1"/>
          </p:cNvSpPr>
          <p:nvPr/>
        </p:nvSpPr>
        <p:spPr>
          <a:xfrm xmlns:a="http://schemas.openxmlformats.org/drawingml/2006/main">
            <a:off x="609600" y="8953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0000"/>
              </a:lnSpc>
              <a:buNone/>
              <a:defRPr sz="3300" b="1">
                <a:solidFill>
                  <a:srgbClr val="0B3970"/>
                </a:solidFill>
                <a:latin typeface="Nimbus Sans"/>
                <a:ea typeface="Nimbus Sans"/>
                <a:cs typeface="Nimbus Sans"/>
              </a:defRPr>
            </a:pPr>
            <a:r>
              <a:rPr sz="3300" b="1">
                <a:solidFill>
                  <a:srgbClr val="0B3970"/>
                </a:solidFill>
                <a:latin typeface="Nimbus Sans"/>
                <a:ea typeface="Nimbus Sans"/>
                <a:cs typeface="Nimbus Sans"/>
              </a:rPr>
              <a:t>Review pemilik state</a:t>
            </a:r>
          </a:p>
        </p:txBody>
      </p:sp>
      <p:sp>
        <p:nvSpPr>
          <p:cNvPr id="2" name="text-1-674">
            <a:extLst xmlns:a="http://schemas.openxmlformats.org/drawingml/2006/main">
              <a:ext uri="{FF2B5EF4-FFF2-40B4-BE49-F238E27FC236}">
                <a16:creationId xmlns:a16="http://schemas.microsoft.com/office/drawing/2014/main" id="{EF5E17F1-537D-47F3-9C02-F9BC84491E97}"/>
              </a:ext>
            </a:extLst>
          </p:cNvPr>
          <p:cNvSpPr>
            <a:spLocks xmlns:a="http://schemas.openxmlformats.org/drawingml/2006/main" noGrp="1"/>
          </p:cNvSpPr>
          <p:nvPr/>
        </p:nvSpPr>
        <p:spPr>
          <a:xfrm xmlns:a="http://schemas.openxmlformats.org/drawingml/2006/main">
            <a:off x="609600" y="6448425"/>
            <a:ext cx="714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125" b="0">
                <a:solidFill>
                  <a:srgbClr val="5E7182"/>
                </a:solidFill>
                <a:latin typeface="Nimbus Sans"/>
                <a:ea typeface="Nimbus Sans"/>
                <a:cs typeface="Nimbus Sans"/>
              </a:defRPr>
            </a:pPr>
            <a:r>
              <a:rPr sz="1125" b="0">
                <a:solidFill>
                  <a:srgbClr val="5E7182"/>
                </a:solidFill>
                <a:latin typeface="Nimbus Sans"/>
                <a:ea typeface="Nimbus Sans"/>
                <a:cs typeface="Nimbus Sans"/>
              </a:rPr>
              <a:t>Training Flutter Android   /   Hari 1</a:t>
            </a:r>
          </a:p>
        </p:txBody>
      </p:sp>
      <p:sp>
        <p:nvSpPr>
          <p:cNvPr id="3" name="text-2-674">
            <a:extLst xmlns:a="http://schemas.openxmlformats.org/drawingml/2006/main">
              <a:ext uri="{FF2B5EF4-FFF2-40B4-BE49-F238E27FC236}">
                <a16:creationId xmlns:a16="http://schemas.microsoft.com/office/drawing/2014/main" id="{7C380D1E-2164-45DC-BA8A-D39650AF04F9}"/>
              </a:ext>
            </a:extLst>
          </p:cNvPr>
          <p:cNvSpPr>
            <a:spLocks xmlns:a="http://schemas.openxmlformats.org/drawingml/2006/main" noGrp="1"/>
          </p:cNvSpPr>
          <p:nvPr/>
        </p:nvSpPr>
        <p:spPr>
          <a:xfrm xmlns:a="http://schemas.openxmlformats.org/drawingml/2006/main">
            <a:off x="10668000" y="6448425"/>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125" b="0">
                <a:solidFill>
                  <a:srgbClr val="5E7182"/>
                </a:solidFill>
                <a:latin typeface="Nimbus Sans"/>
                <a:ea typeface="Nimbus Sans"/>
                <a:cs typeface="Nimbus Sans"/>
              </a:defRPr>
            </a:pPr>
            <a:r>
              <a:rPr sz="1125" b="0">
                <a:solidFill>
                  <a:srgbClr val="5E7182"/>
                </a:solidFill>
                <a:latin typeface="Nimbus Sans"/>
                <a:ea typeface="Nimbus Sans"/>
                <a:cs typeface="Nimbus Sans"/>
              </a:rPr>
              <a:t>38 / 44</a:t>
            </a:r>
          </a:p>
        </p:txBody>
      </p:sp>
      <p:sp>
        <p:nvSpPr>
          <p:cNvPr id="4" name="text-3-180">
            <a:extLst xmlns:a="http://schemas.openxmlformats.org/drawingml/2006/main">
              <a:ext uri="{FF2B5EF4-FFF2-40B4-BE49-F238E27FC236}">
                <a16:creationId xmlns:a16="http://schemas.microsoft.com/office/drawing/2014/main" id="{9B31C90F-49E2-400F-BDB6-897DFED87DF2}"/>
              </a:ext>
            </a:extLst>
          </p:cNvPr>
          <p:cNvSpPr>
            <a:spLocks xmlns:a="http://schemas.openxmlformats.org/drawingml/2006/main" noGrp="1"/>
          </p:cNvSpPr>
          <p:nvPr/>
        </p:nvSpPr>
        <p:spPr>
          <a:xfrm xmlns:a="http://schemas.openxmlformats.org/drawingml/2006/main">
            <a:off x="609600" y="1866900"/>
            <a:ext cx="5048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2175" b="1">
                <a:solidFill>
                  <a:srgbClr val="007DB7"/>
                </a:solidFill>
                <a:latin typeface="Nimbus Sans"/>
                <a:ea typeface="Nimbus Sans"/>
                <a:cs typeface="Nimbus Sans"/>
              </a:defRPr>
            </a:pPr>
            <a:r>
              <a:rPr sz="2175" b="1">
                <a:solidFill>
                  <a:srgbClr val="007DB7"/>
                </a:solidFill>
                <a:latin typeface="Nimbus Sans"/>
                <a:ea typeface="Nimbus Sans"/>
                <a:cs typeface="Nimbus Sans"/>
              </a:rPr>
              <a:t>Pertanyaan reviewer</a:t>
            </a:r>
          </a:p>
        </p:txBody>
      </p:sp>
      <p:sp>
        <p:nvSpPr>
          <p:cNvPr id="5" name="text-4-180">
            <a:extLst xmlns:a="http://schemas.openxmlformats.org/drawingml/2006/main">
              <a:ext uri="{FF2B5EF4-FFF2-40B4-BE49-F238E27FC236}">
                <a16:creationId xmlns:a16="http://schemas.microsoft.com/office/drawing/2014/main" id="{93DDCE11-3420-4D75-95BE-8DBC94B454B6}"/>
              </a:ext>
            </a:extLst>
          </p:cNvPr>
          <p:cNvSpPr>
            <a:spLocks xmlns:a="http://schemas.openxmlformats.org/drawingml/2006/main" noGrp="1"/>
          </p:cNvSpPr>
          <p:nvPr/>
        </p:nvSpPr>
        <p:spPr>
          <a:xfrm xmlns:a="http://schemas.openxmlformats.org/drawingml/2006/main">
            <a:off x="6477000" y="1866900"/>
            <a:ext cx="5105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2175" b="1">
                <a:solidFill>
                  <a:srgbClr val="007DB7"/>
                </a:solidFill>
                <a:latin typeface="Nimbus Sans"/>
                <a:ea typeface="Nimbus Sans"/>
                <a:cs typeface="Nimbus Sans"/>
              </a:defRPr>
            </a:pPr>
            <a:r>
              <a:rPr sz="2175" b="1">
                <a:solidFill>
                  <a:srgbClr val="007DB7"/>
                </a:solidFill>
                <a:latin typeface="Nimbus Sans"/>
                <a:ea typeface="Nimbus Sans"/>
                <a:cs typeface="Nimbus Sans"/>
              </a:rPr>
              <a:t>Bukti pada kode</a:t>
            </a:r>
          </a:p>
        </p:txBody>
      </p:sp>
      <p:sp>
        <p:nvSpPr>
          <p:cNvPr id="6" name="text-5-296">
            <a:extLst xmlns:a="http://schemas.openxmlformats.org/drawingml/2006/main">
              <a:ext uri="{FF2B5EF4-FFF2-40B4-BE49-F238E27FC236}">
                <a16:creationId xmlns:a16="http://schemas.microsoft.com/office/drawing/2014/main" id="{997E67D9-580E-45F6-A75C-D292B3785CF0}"/>
              </a:ext>
            </a:extLst>
          </p:cNvPr>
          <p:cNvSpPr>
            <a:spLocks xmlns:a="http://schemas.openxmlformats.org/drawingml/2006/main" noGrp="1"/>
          </p:cNvSpPr>
          <p:nvPr/>
        </p:nvSpPr>
        <p:spPr>
          <a:xfrm xmlns:a="http://schemas.openxmlformats.org/drawingml/2006/main">
            <a:off x="609600" y="2781300"/>
            <a:ext cx="4953000"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03200" indent="-101600">
              <a:spcAft>
                <a:spcPts val="1300"/>
              </a:spcAft>
              <a:buChar char="•"/>
              <a:defRPr sz="2025">
                <a:solidFill>
                  <a:srgbClr val="172D43"/>
                </a:solidFill>
                <a:latin typeface="Nimbus Sans"/>
                <a:ea typeface="Nimbus Sans"/>
                <a:cs typeface="Nimbus Sans"/>
              </a:defRPr>
            </a:pPr>
            <a:r>
              <a:rPr sz="2025">
                <a:solidFill>
                  <a:srgbClr val="172D43"/>
                </a:solidFill>
                <a:latin typeface="Nimbus Sans"/>
                <a:ea typeface="Nimbus Sans"/>
                <a:cs typeface="Nimbus Sans"/>
              </a:rPr>
              <a:t>Siapa pemilik daftar?</a:t>
            </a:r>
          </a:p>
          <a:p xmlns:a="http://schemas.openxmlformats.org/drawingml/2006/main">
            <a:pPr marL="203200" indent="-101600">
              <a:spcAft>
                <a:spcPts val="1300"/>
              </a:spcAft>
              <a:buChar char="•"/>
              <a:defRPr sz="2025">
                <a:solidFill>
                  <a:srgbClr val="172D43"/>
                </a:solidFill>
                <a:latin typeface="Nimbus Sans"/>
                <a:ea typeface="Nimbus Sans"/>
                <a:cs typeface="Nimbus Sans"/>
              </a:defRPr>
            </a:pPr>
            <a:r>
              <a:rPr sz="2025">
                <a:solidFill>
                  <a:srgbClr val="172D43"/>
                </a:solidFill>
                <a:latin typeface="Nimbus Sans"/>
                <a:ea typeface="Nimbus Sans"/>
                <a:cs typeface="Nimbus Sans"/>
              </a:rPr>
              <a:t>Siapa pemilik controller teks?</a:t>
            </a:r>
          </a:p>
          <a:p xmlns:a="http://schemas.openxmlformats.org/drawingml/2006/main">
            <a:pPr marL="203200" indent="-101600">
              <a:spcAft>
                <a:spcPts val="1300"/>
              </a:spcAft>
              <a:buChar char="•"/>
              <a:defRPr sz="2025">
                <a:solidFill>
                  <a:srgbClr val="172D43"/>
                </a:solidFill>
                <a:latin typeface="Nimbus Sans"/>
                <a:ea typeface="Nimbus Sans"/>
                <a:cs typeface="Nimbus Sans"/>
              </a:defRPr>
            </a:pPr>
            <a:r>
              <a:rPr sz="2025">
                <a:solidFill>
                  <a:srgbClr val="172D43"/>
                </a:solidFill>
                <a:latin typeface="Nimbus Sans"/>
                <a:ea typeface="Nimbus Sans"/>
                <a:cs typeface="Nimbus Sans"/>
              </a:rPr>
              <a:t>Di mana record baru ditambahkan?</a:t>
            </a:r>
          </a:p>
          <a:p xmlns:a="http://schemas.openxmlformats.org/drawingml/2006/main">
            <a:pPr marL="203200" indent="-101600">
              <a:spcAft>
                <a:spcPts val="1300"/>
              </a:spcAft>
              <a:buChar char="•"/>
              <a:defRPr sz="2025">
                <a:solidFill>
                  <a:srgbClr val="172D43"/>
                </a:solidFill>
                <a:latin typeface="Nimbus Sans"/>
                <a:ea typeface="Nimbus Sans"/>
                <a:cs typeface="Nimbus Sans"/>
              </a:defRPr>
            </a:pPr>
            <a:r>
              <a:rPr sz="2025">
                <a:solidFill>
                  <a:srgbClr val="172D43"/>
                </a:solidFill>
                <a:latin typeface="Nimbus Sans"/>
                <a:ea typeface="Nimbus Sans"/>
                <a:cs typeface="Nimbus Sans"/>
              </a:rPr>
              <a:t>Kapan resource dilepas?</a:t>
            </a:r>
          </a:p>
        </p:txBody>
      </p:sp>
      <p:sp>
        <p:nvSpPr>
          <p:cNvPr id="7" name="text-6-296">
            <a:extLst xmlns:a="http://schemas.openxmlformats.org/drawingml/2006/main">
              <a:ext uri="{FF2B5EF4-FFF2-40B4-BE49-F238E27FC236}">
                <a16:creationId xmlns:a16="http://schemas.microsoft.com/office/drawing/2014/main" id="{32C0D229-43C3-4DC8-A27D-BD05B03129C9}"/>
              </a:ext>
            </a:extLst>
          </p:cNvPr>
          <p:cNvSpPr>
            <a:spLocks xmlns:a="http://schemas.openxmlformats.org/drawingml/2006/main" noGrp="1"/>
          </p:cNvSpPr>
          <p:nvPr/>
        </p:nvSpPr>
        <p:spPr>
          <a:xfrm xmlns:a="http://schemas.openxmlformats.org/drawingml/2006/main">
            <a:off x="6477000" y="2781300"/>
            <a:ext cx="4953000"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03200" indent="-101600">
              <a:spcAft>
                <a:spcPts val="1300"/>
              </a:spcAft>
              <a:buChar char="•"/>
              <a:defRPr sz="2025">
                <a:solidFill>
                  <a:srgbClr val="172D43"/>
                </a:solidFill>
                <a:latin typeface="Nimbus Sans"/>
                <a:ea typeface="Nimbus Sans"/>
                <a:cs typeface="Nimbus Sans"/>
              </a:defRPr>
            </a:pPr>
            <a:r>
              <a:rPr sz="2025">
                <a:solidFill>
                  <a:srgbClr val="172D43"/>
                </a:solidFill>
                <a:latin typeface="Nimbus Sans"/>
                <a:ea typeface="Nimbus Sans"/>
                <a:cs typeface="Nimbus Sans"/>
              </a:rPr>
              <a:t>Mutation list pada satu tempat</a:t>
            </a:r>
          </a:p>
          <a:p xmlns:a="http://schemas.openxmlformats.org/drawingml/2006/main">
            <a:pPr marL="203200" indent="-101600">
              <a:spcAft>
                <a:spcPts val="1300"/>
              </a:spcAft>
              <a:buChar char="•"/>
              <a:defRPr sz="2025">
                <a:solidFill>
                  <a:srgbClr val="172D43"/>
                </a:solidFill>
                <a:latin typeface="Nimbus Sans"/>
                <a:ea typeface="Nimbus Sans"/>
                <a:cs typeface="Nimbus Sans"/>
              </a:defRPr>
            </a:pPr>
            <a:r>
              <a:rPr sz="2025">
                <a:solidFill>
                  <a:srgbClr val="172D43"/>
                </a:solidFill>
                <a:latin typeface="Nimbus Sans"/>
                <a:ea typeface="Nimbus Sans"/>
                <a:cs typeface="Nimbus Sans"/>
              </a:rPr>
              <a:t>Form mengembalikan hasil</a:t>
            </a:r>
          </a:p>
          <a:p xmlns:a="http://schemas.openxmlformats.org/drawingml/2006/main">
            <a:pPr marL="203200" indent="-101600">
              <a:spcAft>
                <a:spcPts val="1300"/>
              </a:spcAft>
              <a:buChar char="•"/>
              <a:defRPr sz="2025">
                <a:solidFill>
                  <a:srgbClr val="172D43"/>
                </a:solidFill>
                <a:latin typeface="Nimbus Sans"/>
                <a:ea typeface="Nimbus Sans"/>
                <a:cs typeface="Nimbus Sans"/>
              </a:defRPr>
            </a:pPr>
            <a:r>
              <a:rPr sz="2025">
                <a:solidFill>
                  <a:srgbClr val="172D43"/>
                </a:solidFill>
                <a:latin typeface="Nimbus Sans"/>
                <a:ea typeface="Nimbus Sans"/>
                <a:cs typeface="Nimbus Sans"/>
              </a:rPr>
              <a:t>build hanya mendeskripsikan UI</a:t>
            </a:r>
          </a:p>
          <a:p xmlns:a="http://schemas.openxmlformats.org/drawingml/2006/main">
            <a:pPr marL="203200" indent="-101600">
              <a:spcAft>
                <a:spcPts val="1300"/>
              </a:spcAft>
              <a:buChar char="•"/>
              <a:defRPr sz="2025">
                <a:solidFill>
                  <a:srgbClr val="172D43"/>
                </a:solidFill>
                <a:latin typeface="Nimbus Sans"/>
                <a:ea typeface="Nimbus Sans"/>
                <a:cs typeface="Nimbus Sans"/>
              </a:defRPr>
            </a:pPr>
            <a:r>
              <a:rPr sz="2025">
                <a:solidFill>
                  <a:srgbClr val="172D43"/>
                </a:solidFill>
                <a:latin typeface="Nimbus Sans"/>
                <a:ea typeface="Nimbus Sans"/>
                <a:cs typeface="Nimbus Sans"/>
              </a:rPr>
              <a:t>dispose melepas controller</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b3c02bcf1aa2479b"/>
          <a:srcRect xmlns:a="http://schemas.openxmlformats.org/drawingml/2006/main" l="4250" t="6738" r="4125" b="3546"/>
          <a:stretch xmlns:a="http://schemas.openxmlformats.org/drawingml/2006/main"/>
        </p:blipFill>
        <p:spPr>
          <a:xfrm xmlns:a="http://schemas.openxmlformats.org/drawingml/2006/main">
            <a:off x="9344025" y="219075"/>
            <a:ext cx="1428750" cy="495300"/>
          </a:xfrm>
          <a:prstGeom xmlns:a="http://schemas.openxmlformats.org/drawingml/2006/main" prst="rect">
            <a:avLst/>
          </a:prstGeom>
        </p:spPr>
      </p:pic>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a8d4e7ff14a84a2b"/>
          <a:srcRect xmlns:a="http://schemas.openxmlformats.org/drawingml/2006/main" l="32813" t="23779" r="32813" b="23779"/>
          <a:stretch xmlns:a="http://schemas.openxmlformats.org/drawingml/2006/main"/>
        </p:blipFill>
        <p:spPr>
          <a:xfrm xmlns:a="http://schemas.openxmlformats.org/drawingml/2006/main">
            <a:off x="11163300" y="161925"/>
            <a:ext cx="371475" cy="571500"/>
          </a:xfrm>
          <a:prstGeom xmlns:a="http://schemas.openxmlformats.org/drawingml/2006/main" prst="rect">
            <a:avLst/>
          </a:prstGeom>
        </p:spPr>
      </p:pic>
    </p:spTree>
    <p:extLst>
      <p:ext uri="{BB962C8B-B14F-4D97-AF65-F5344CB8AC3E}">
        <p14:creationId xmlns:p14="http://schemas.microsoft.com/office/powerpoint/2010/main" val="518280469"/>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0-48">
            <a:extLst xmlns:a="http://schemas.openxmlformats.org/drawingml/2006/main">
              <a:ext uri="{FF2B5EF4-FFF2-40B4-BE49-F238E27FC236}">
                <a16:creationId xmlns:a16="http://schemas.microsoft.com/office/drawing/2014/main" id="{B241808A-CB89-435A-B35C-701008729866}"/>
              </a:ext>
            </a:extLst>
          </p:cNvPr>
          <p:cNvSpPr>
            <a:spLocks xmlns:a="http://schemas.openxmlformats.org/drawingml/2006/main" noGrp="1"/>
          </p:cNvSpPr>
          <p:nvPr/>
        </p:nvSpPr>
        <p:spPr>
          <a:xfrm xmlns:a="http://schemas.openxmlformats.org/drawingml/2006/main">
            <a:off x="609600" y="8953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0000"/>
              </a:lnSpc>
              <a:buNone/>
              <a:defRPr sz="3300" b="1">
                <a:solidFill>
                  <a:srgbClr val="0B3970"/>
                </a:solidFill>
                <a:latin typeface="Nimbus Sans"/>
                <a:ea typeface="Nimbus Sans"/>
                <a:cs typeface="Nimbus Sans"/>
              </a:defRPr>
            </a:pPr>
            <a:r>
              <a:rPr sz="3300" b="1">
                <a:solidFill>
                  <a:srgbClr val="0B3970"/>
                </a:solidFill>
                <a:latin typeface="Nimbus Sans"/>
                <a:ea typeface="Nimbus Sans"/>
                <a:cs typeface="Nimbus Sans"/>
              </a:rPr>
              <a:t>Praktik 4 error, empty dan UI</a:t>
            </a:r>
          </a:p>
        </p:txBody>
      </p:sp>
      <p:sp>
        <p:nvSpPr>
          <p:cNvPr id="2" name="text-1-674">
            <a:extLst xmlns:a="http://schemas.openxmlformats.org/drawingml/2006/main">
              <a:ext uri="{FF2B5EF4-FFF2-40B4-BE49-F238E27FC236}">
                <a16:creationId xmlns:a16="http://schemas.microsoft.com/office/drawing/2014/main" id="{7B5077D0-ABA3-4627-B3CC-A4F2DFCF510D}"/>
              </a:ext>
            </a:extLst>
          </p:cNvPr>
          <p:cNvSpPr>
            <a:spLocks xmlns:a="http://schemas.openxmlformats.org/drawingml/2006/main" noGrp="1"/>
          </p:cNvSpPr>
          <p:nvPr/>
        </p:nvSpPr>
        <p:spPr>
          <a:xfrm xmlns:a="http://schemas.openxmlformats.org/drawingml/2006/main">
            <a:off x="609600" y="6448425"/>
            <a:ext cx="714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125" b="0">
                <a:solidFill>
                  <a:srgbClr val="5E7182"/>
                </a:solidFill>
                <a:latin typeface="Nimbus Sans"/>
                <a:ea typeface="Nimbus Sans"/>
                <a:cs typeface="Nimbus Sans"/>
              </a:defRPr>
            </a:pPr>
            <a:r>
              <a:rPr sz="1125" b="0">
                <a:solidFill>
                  <a:srgbClr val="5E7182"/>
                </a:solidFill>
                <a:latin typeface="Nimbus Sans"/>
                <a:ea typeface="Nimbus Sans"/>
                <a:cs typeface="Nimbus Sans"/>
              </a:rPr>
              <a:t>Training Flutter Android   /   Hari 1</a:t>
            </a:r>
          </a:p>
        </p:txBody>
      </p:sp>
      <p:sp>
        <p:nvSpPr>
          <p:cNvPr id="3" name="text-2-674">
            <a:extLst xmlns:a="http://schemas.openxmlformats.org/drawingml/2006/main">
              <a:ext uri="{FF2B5EF4-FFF2-40B4-BE49-F238E27FC236}">
                <a16:creationId xmlns:a16="http://schemas.microsoft.com/office/drawing/2014/main" id="{BA405637-E543-4A72-9FC4-7E548B17FEBE}"/>
              </a:ext>
            </a:extLst>
          </p:cNvPr>
          <p:cNvSpPr>
            <a:spLocks xmlns:a="http://schemas.openxmlformats.org/drawingml/2006/main" noGrp="1"/>
          </p:cNvSpPr>
          <p:nvPr/>
        </p:nvSpPr>
        <p:spPr>
          <a:xfrm xmlns:a="http://schemas.openxmlformats.org/drawingml/2006/main">
            <a:off x="10668000" y="6448425"/>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125" b="0">
                <a:solidFill>
                  <a:srgbClr val="5E7182"/>
                </a:solidFill>
                <a:latin typeface="Nimbus Sans"/>
                <a:ea typeface="Nimbus Sans"/>
                <a:cs typeface="Nimbus Sans"/>
              </a:defRPr>
            </a:pPr>
            <a:r>
              <a:rPr sz="1125" b="0">
                <a:solidFill>
                  <a:srgbClr val="5E7182"/>
                </a:solidFill>
                <a:latin typeface="Nimbus Sans"/>
                <a:ea typeface="Nimbus Sans"/>
                <a:cs typeface="Nimbus Sans"/>
              </a:rPr>
              <a:t>39 / 44</a:t>
            </a:r>
          </a:p>
        </p:txBody>
      </p:sp>
      <p:sp>
        <p:nvSpPr>
          <p:cNvPr id="4" name="text-3-174">
            <a:extLst xmlns:a="http://schemas.openxmlformats.org/drawingml/2006/main">
              <a:ext uri="{FF2B5EF4-FFF2-40B4-BE49-F238E27FC236}">
                <a16:creationId xmlns:a16="http://schemas.microsoft.com/office/drawing/2014/main" id="{5E4E03B3-F2C0-4BB5-ADE6-3871574A3E3A}"/>
              </a:ext>
            </a:extLst>
          </p:cNvPr>
          <p:cNvSpPr>
            <a:spLocks xmlns:a="http://schemas.openxmlformats.org/drawingml/2006/main" noGrp="1"/>
          </p:cNvSpPr>
          <p:nvPr/>
        </p:nvSpPr>
        <p:spPr>
          <a:xfrm xmlns:a="http://schemas.openxmlformats.org/drawingml/2006/main">
            <a:off x="609600" y="185737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2400" b="1">
                <a:solidFill>
                  <a:srgbClr val="007DB7"/>
                </a:solidFill>
                <a:latin typeface="Nimbus Sans"/>
                <a:ea typeface="Nimbus Sans"/>
                <a:cs typeface="Nimbus Sans"/>
              </a:defRPr>
            </a:pPr>
            <a:r>
              <a:rPr sz="2400" b="1">
                <a:solidFill>
                  <a:srgbClr val="007DB7"/>
                </a:solidFill>
                <a:latin typeface="Nimbus Sans"/>
                <a:ea typeface="Nimbus Sans"/>
                <a:cs typeface="Nimbus Sans"/>
              </a:rPr>
              <a:t>Empat state dan layout sempit dapat didemonstrasikan</a:t>
            </a:r>
          </a:p>
        </p:txBody>
      </p:sp>
      <p:sp>
        <p:nvSpPr>
          <p:cNvPr id="5" name="text-4-292">
            <a:extLst xmlns:a="http://schemas.openxmlformats.org/drawingml/2006/main">
              <a:ext uri="{FF2B5EF4-FFF2-40B4-BE49-F238E27FC236}">
                <a16:creationId xmlns:a16="http://schemas.microsoft.com/office/drawing/2014/main" id="{6F133D2A-E2A3-4BB4-B2F9-344D651D7827}"/>
              </a:ext>
            </a:extLst>
          </p:cNvPr>
          <p:cNvSpPr>
            <a:spLocks xmlns:a="http://schemas.openxmlformats.org/drawingml/2006/main" noGrp="1"/>
          </p:cNvSpPr>
          <p:nvPr/>
        </p:nvSpPr>
        <p:spPr>
          <a:xfrm xmlns:a="http://schemas.openxmlformats.org/drawingml/2006/main">
            <a:off x="609600" y="2809875"/>
            <a:ext cx="10572750"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14300">
              <a:spcAft>
                <a:spcPts val="1800"/>
              </a:spcAft>
              <a:buChar char="•"/>
              <a:defRPr sz="2175">
                <a:solidFill>
                  <a:srgbClr val="172D43"/>
                </a:solidFill>
                <a:latin typeface="Nimbus Sans"/>
                <a:ea typeface="Nimbus Sans"/>
                <a:cs typeface="Nimbus Sans"/>
              </a:defRPr>
            </a:pPr>
            <a:r>
              <a:rPr sz="2175">
                <a:solidFill>
                  <a:srgbClr val="172D43"/>
                </a:solidFill>
                <a:latin typeface="Nimbus Sans"/>
                <a:ea typeface="Nimbus Sans"/>
                <a:cs typeface="Nimbus Sans"/>
              </a:rPr>
              <a:t>Tambahkan simulasi loading dan error sekali</a:t>
            </a:r>
          </a:p>
          <a:p xmlns:a="http://schemas.openxmlformats.org/drawingml/2006/main">
            <a:pPr marL="228600" indent="-114300">
              <a:spcAft>
                <a:spcPts val="1800"/>
              </a:spcAft>
              <a:buChar char="•"/>
              <a:defRPr sz="2175">
                <a:solidFill>
                  <a:srgbClr val="172D43"/>
                </a:solidFill>
                <a:latin typeface="Nimbus Sans"/>
                <a:ea typeface="Nimbus Sans"/>
                <a:cs typeface="Nimbus Sans"/>
              </a:defRPr>
            </a:pPr>
            <a:r>
              <a:rPr sz="2175">
                <a:solidFill>
                  <a:srgbClr val="172D43"/>
                </a:solidFill>
                <a:latin typeface="Nimbus Sans"/>
                <a:ea typeface="Nimbus Sans"/>
                <a:cs typeface="Nimbus Sans"/>
              </a:rPr>
              <a:t>Tampilkan empty state dengan aksi tambah</a:t>
            </a:r>
          </a:p>
          <a:p xmlns:a="http://schemas.openxmlformats.org/drawingml/2006/main">
            <a:pPr marL="228600" indent="-114300">
              <a:spcAft>
                <a:spcPts val="1800"/>
              </a:spcAft>
              <a:buChar char="•"/>
              <a:defRPr sz="2175">
                <a:solidFill>
                  <a:srgbClr val="172D43"/>
                </a:solidFill>
                <a:latin typeface="Nimbus Sans"/>
                <a:ea typeface="Nimbus Sans"/>
                <a:cs typeface="Nimbus Sans"/>
              </a:defRPr>
            </a:pPr>
            <a:r>
              <a:rPr sz="2175">
                <a:solidFill>
                  <a:srgbClr val="172D43"/>
                </a:solidFill>
                <a:latin typeface="Nimbus Sans"/>
                <a:ea typeface="Nimbus Sans"/>
                <a:cs typeface="Nimbus Sans"/>
              </a:rPr>
              <a:t>Pastikan retry memulihkan daftar</a:t>
            </a:r>
          </a:p>
          <a:p xmlns:a="http://schemas.openxmlformats.org/drawingml/2006/main">
            <a:pPr marL="228600" indent="-114300">
              <a:spcAft>
                <a:spcPts val="1800"/>
              </a:spcAft>
              <a:buChar char="•"/>
              <a:defRPr sz="2175">
                <a:solidFill>
                  <a:srgbClr val="172D43"/>
                </a:solidFill>
                <a:latin typeface="Nimbus Sans"/>
                <a:ea typeface="Nimbus Sans"/>
                <a:cs typeface="Nimbus Sans"/>
              </a:defRPr>
            </a:pPr>
            <a:r>
              <a:rPr sz="2175">
                <a:solidFill>
                  <a:srgbClr val="172D43"/>
                </a:solidFill>
                <a:latin typeface="Nimbus Sans"/>
                <a:ea typeface="Nimbus Sans"/>
                <a:cs typeface="Nimbus Sans"/>
              </a:rPr>
              <a:t>Perbaiki satu masalah layout atau lifecycle</a:t>
            </a:r>
          </a:p>
        </p:txBody>
      </p:sp>
      <p:sp>
        <p:nvSpPr>
          <p:cNvPr id="6" name="text-5-604">
            <a:extLst xmlns:a="http://schemas.openxmlformats.org/drawingml/2006/main">
              <a:ext uri="{FF2B5EF4-FFF2-40B4-BE49-F238E27FC236}">
                <a16:creationId xmlns:a16="http://schemas.microsoft.com/office/drawing/2014/main" id="{DDE71955-103F-4A0D-A7BF-44E53BF07791}"/>
              </a:ext>
            </a:extLst>
          </p:cNvPr>
          <p:cNvSpPr>
            <a:spLocks xmlns:a="http://schemas.openxmlformats.org/drawingml/2006/main" noGrp="1"/>
          </p:cNvSpPr>
          <p:nvPr/>
        </p:nvSpPr>
        <p:spPr>
          <a:xfrm xmlns:a="http://schemas.openxmlformats.org/drawingml/2006/main">
            <a:off x="609600" y="5810250"/>
            <a:ext cx="171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650" b="1">
                <a:solidFill>
                  <a:srgbClr val="0B3970"/>
                </a:solidFill>
                <a:latin typeface="Nimbus Sans"/>
                <a:ea typeface="Nimbus Sans"/>
                <a:cs typeface="Nimbus Sans"/>
              </a:defRPr>
            </a:pPr>
            <a:r>
              <a:rPr sz="1650" b="1">
                <a:solidFill>
                  <a:srgbClr val="0B3970"/>
                </a:solidFill>
                <a:latin typeface="Nimbus Sans"/>
                <a:ea typeface="Nimbus Sans"/>
                <a:cs typeface="Nimbus Sans"/>
              </a:rPr>
              <a:t>Bukti hasil</a:t>
            </a:r>
          </a:p>
        </p:txBody>
      </p:sp>
      <p:sp>
        <p:nvSpPr>
          <p:cNvPr id="7" name="text-6-604">
            <a:extLst xmlns:a="http://schemas.openxmlformats.org/drawingml/2006/main">
              <a:ext uri="{FF2B5EF4-FFF2-40B4-BE49-F238E27FC236}">
                <a16:creationId xmlns:a16="http://schemas.microsoft.com/office/drawing/2014/main" id="{AB64631D-5357-4352-8C58-65E3D15BE442}"/>
              </a:ext>
            </a:extLst>
          </p:cNvPr>
          <p:cNvSpPr>
            <a:spLocks xmlns:a="http://schemas.openxmlformats.org/drawingml/2006/main" noGrp="1"/>
          </p:cNvSpPr>
          <p:nvPr/>
        </p:nvSpPr>
        <p:spPr>
          <a:xfrm xmlns:a="http://schemas.openxmlformats.org/drawingml/2006/main">
            <a:off x="2419350" y="5810250"/>
            <a:ext cx="91630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725" b="0">
                <a:solidFill>
                  <a:srgbClr val="5E7182"/>
                </a:solidFill>
                <a:latin typeface="Nimbus Sans"/>
                <a:ea typeface="Nimbus Sans"/>
                <a:cs typeface="Nimbus Sans"/>
              </a:defRPr>
            </a:pPr>
            <a:r>
              <a:rPr sz="1725" b="0">
                <a:solidFill>
                  <a:srgbClr val="5E7182"/>
                </a:solidFill>
                <a:latin typeface="Nimbus Sans"/>
                <a:ea typeface="Nimbus Sans"/>
                <a:cs typeface="Nimbus Sans"/>
              </a:rPr>
              <a:t>Demo loading, empty, error/retry dan form dengan keyboard</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036d2781ee504a22"/>
          <a:srcRect xmlns:a="http://schemas.openxmlformats.org/drawingml/2006/main" l="4250" t="6738" r="4125" b="3546"/>
          <a:stretch xmlns:a="http://schemas.openxmlformats.org/drawingml/2006/main"/>
        </p:blipFill>
        <p:spPr>
          <a:xfrm xmlns:a="http://schemas.openxmlformats.org/drawingml/2006/main">
            <a:off x="9344025" y="219075"/>
            <a:ext cx="1428750" cy="495300"/>
          </a:xfrm>
          <a:prstGeom xmlns:a="http://schemas.openxmlformats.org/drawingml/2006/main" prst="rect">
            <a:avLst/>
          </a:prstGeom>
        </p:spPr>
      </p:pic>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e398cbd3ec4d463d"/>
          <a:srcRect xmlns:a="http://schemas.openxmlformats.org/drawingml/2006/main" l="32813" t="23779" r="32813" b="23779"/>
          <a:stretch xmlns:a="http://schemas.openxmlformats.org/drawingml/2006/main"/>
        </p:blipFill>
        <p:spPr>
          <a:xfrm xmlns:a="http://schemas.openxmlformats.org/drawingml/2006/main">
            <a:off x="11163300" y="161925"/>
            <a:ext cx="371475" cy="571500"/>
          </a:xfrm>
          <a:prstGeom xmlns:a="http://schemas.openxmlformats.org/drawingml/2006/main" prst="rect">
            <a:avLst/>
          </a:prstGeom>
        </p:spPr>
      </p:pic>
    </p:spTree>
    <p:extLst>
      <p:ext uri="{BB962C8B-B14F-4D97-AF65-F5344CB8AC3E}">
        <p14:creationId xmlns:p14="http://schemas.microsoft.com/office/powerpoint/2010/main" val="1255068557"/>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0-48">
            <a:extLst xmlns:a="http://schemas.openxmlformats.org/drawingml/2006/main">
              <a:ext uri="{FF2B5EF4-FFF2-40B4-BE49-F238E27FC236}">
                <a16:creationId xmlns:a16="http://schemas.microsoft.com/office/drawing/2014/main" id="{19F480AF-AF07-493C-BE6C-5290E8900B5C}"/>
              </a:ext>
            </a:extLst>
          </p:cNvPr>
          <p:cNvSpPr>
            <a:spLocks xmlns:a="http://schemas.openxmlformats.org/drawingml/2006/main" noGrp="1"/>
          </p:cNvSpPr>
          <p:nvPr/>
        </p:nvSpPr>
        <p:spPr>
          <a:xfrm xmlns:a="http://schemas.openxmlformats.org/drawingml/2006/main">
            <a:off x="609600" y="8953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0000"/>
              </a:lnSpc>
              <a:buNone/>
              <a:defRPr sz="3300" b="1">
                <a:solidFill>
                  <a:srgbClr val="0B3970"/>
                </a:solidFill>
                <a:latin typeface="Nimbus Sans"/>
                <a:ea typeface="Nimbus Sans"/>
                <a:cs typeface="Nimbus Sans"/>
              </a:defRPr>
            </a:pPr>
            <a:r>
              <a:rPr sz="3300" b="1">
                <a:solidFill>
                  <a:srgbClr val="0B3970"/>
                </a:solidFill>
                <a:latin typeface="Nimbus Sans"/>
                <a:ea typeface="Nimbus Sans"/>
                <a:cs typeface="Nimbus Sans"/>
              </a:rPr>
              <a:t>Checkpoint Git hari pertama</a:t>
            </a:r>
          </a:p>
        </p:txBody>
      </p:sp>
      <p:sp>
        <p:nvSpPr>
          <p:cNvPr id="2" name="text-1-674">
            <a:extLst xmlns:a="http://schemas.openxmlformats.org/drawingml/2006/main">
              <a:ext uri="{FF2B5EF4-FFF2-40B4-BE49-F238E27FC236}">
                <a16:creationId xmlns:a16="http://schemas.microsoft.com/office/drawing/2014/main" id="{0444C1FA-80EF-46DC-BF36-963985D238C6}"/>
              </a:ext>
            </a:extLst>
          </p:cNvPr>
          <p:cNvSpPr>
            <a:spLocks xmlns:a="http://schemas.openxmlformats.org/drawingml/2006/main" noGrp="1"/>
          </p:cNvSpPr>
          <p:nvPr/>
        </p:nvSpPr>
        <p:spPr>
          <a:xfrm xmlns:a="http://schemas.openxmlformats.org/drawingml/2006/main">
            <a:off x="609600" y="6448425"/>
            <a:ext cx="714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125" b="0">
                <a:solidFill>
                  <a:srgbClr val="5E7182"/>
                </a:solidFill>
                <a:latin typeface="Nimbus Sans"/>
                <a:ea typeface="Nimbus Sans"/>
                <a:cs typeface="Nimbus Sans"/>
              </a:defRPr>
            </a:pPr>
            <a:r>
              <a:rPr sz="1125" b="0">
                <a:solidFill>
                  <a:srgbClr val="5E7182"/>
                </a:solidFill>
                <a:latin typeface="Nimbus Sans"/>
                <a:ea typeface="Nimbus Sans"/>
                <a:cs typeface="Nimbus Sans"/>
              </a:rPr>
              <a:t>Training Flutter Android   /   Hari 1</a:t>
            </a:r>
          </a:p>
        </p:txBody>
      </p:sp>
      <p:sp>
        <p:nvSpPr>
          <p:cNvPr id="3" name="text-2-674">
            <a:extLst xmlns:a="http://schemas.openxmlformats.org/drawingml/2006/main">
              <a:ext uri="{FF2B5EF4-FFF2-40B4-BE49-F238E27FC236}">
                <a16:creationId xmlns:a16="http://schemas.microsoft.com/office/drawing/2014/main" id="{397ADBBA-A59F-4B67-81B6-71C8A5649034}"/>
              </a:ext>
            </a:extLst>
          </p:cNvPr>
          <p:cNvSpPr>
            <a:spLocks xmlns:a="http://schemas.openxmlformats.org/drawingml/2006/main" noGrp="1"/>
          </p:cNvSpPr>
          <p:nvPr/>
        </p:nvSpPr>
        <p:spPr>
          <a:xfrm xmlns:a="http://schemas.openxmlformats.org/drawingml/2006/main">
            <a:off x="10668000" y="6448425"/>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125" b="0">
                <a:solidFill>
                  <a:srgbClr val="5E7182"/>
                </a:solidFill>
                <a:latin typeface="Nimbus Sans"/>
                <a:ea typeface="Nimbus Sans"/>
                <a:cs typeface="Nimbus Sans"/>
              </a:defRPr>
            </a:pPr>
            <a:r>
              <a:rPr sz="1125" b="0">
                <a:solidFill>
                  <a:srgbClr val="5E7182"/>
                </a:solidFill>
                <a:latin typeface="Nimbus Sans"/>
                <a:ea typeface="Nimbus Sans"/>
                <a:cs typeface="Nimbus Sans"/>
              </a:rPr>
              <a:t>40 / 44</a:t>
            </a:r>
          </a:p>
        </p:txBody>
      </p:sp>
      <p:sp>
        <p:nvSpPr>
          <p:cNvPr id="4" name="text-3-193">
            <a:extLst xmlns:a="http://schemas.openxmlformats.org/drawingml/2006/main">
              <a:ext uri="{FF2B5EF4-FFF2-40B4-BE49-F238E27FC236}">
                <a16:creationId xmlns:a16="http://schemas.microsoft.com/office/drawing/2014/main" id="{BA7DEB32-16A6-4163-9FDE-3D3783FC5614}"/>
              </a:ext>
            </a:extLst>
          </p:cNvPr>
          <p:cNvSpPr>
            <a:spLocks xmlns:a="http://schemas.openxmlformats.org/drawingml/2006/main" noGrp="1"/>
          </p:cNvSpPr>
          <p:nvPr/>
        </p:nvSpPr>
        <p:spPr>
          <a:xfrm xmlns:a="http://schemas.openxmlformats.org/drawingml/2006/main">
            <a:off x="609600" y="1819275"/>
            <a:ext cx="10972800" cy="414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spcAft>
                <a:spcPts val="0"/>
              </a:spcAft>
              <a:defRPr sz="2100">
                <a:solidFill>
                  <a:srgbClr val="172D43"/>
                </a:solidFill>
                <a:latin typeface="DejaVu Sans Mono"/>
                <a:ea typeface="DejaVu Sans Mono"/>
                <a:cs typeface="DejaVu Sans Mono"/>
              </a:defRPr>
            </a:pPr>
            <a:r>
              <a:t>git init</a:t>
            </a:r>
          </a:p>
          <a:p xmlns:a="http://schemas.openxmlformats.org/drawingml/2006/main">
            <a:pPr>
              <a:spcAft>
                <a:spcPts val="0"/>
              </a:spcAft>
              <a:defRPr sz="2100">
                <a:solidFill>
                  <a:srgbClr val="172D43"/>
                </a:solidFill>
                <a:latin typeface="DejaVu Sans Mono"/>
                <a:ea typeface="DejaVu Sans Mono"/>
                <a:cs typeface="DejaVu Sans Mono"/>
              </a:defRPr>
            </a:pPr>
            <a:r>
              <a:t>git status</a:t>
            </a:r>
          </a:p>
          <a:p xmlns:a="http://schemas.openxmlformats.org/drawingml/2006/main">
            <a:pPr>
              <a:spcAft>
                <a:spcPts val="0"/>
              </a:spcAft>
              <a:defRPr sz="2100">
                <a:solidFill>
                  <a:srgbClr val="172D43"/>
                </a:solidFill>
                <a:latin typeface="DejaVu Sans Mono"/>
                <a:ea typeface="DejaVu Sans Mono"/>
                <a:cs typeface="DejaVu Sans Mono"/>
              </a:defRPr>
            </a:pPr>
            <a:r>
              <a:t>git add .</a:t>
            </a:r>
          </a:p>
          <a:p xmlns:a="http://schemas.openxmlformats.org/drawingml/2006/main">
            <a:pPr>
              <a:spcAft>
                <a:spcPts val="0"/>
              </a:spcAft>
              <a:defRPr sz="2100">
                <a:solidFill>
                  <a:srgbClr val="172D43"/>
                </a:solidFill>
                <a:latin typeface="DejaVu Sans Mono"/>
                <a:ea typeface="DejaVu Sans Mono"/>
                <a:cs typeface="DejaVu Sans Mono"/>
              </a:defRPr>
            </a:pPr>
            <a:r>
              <a:t>git diff --cached</a:t>
            </a:r>
          </a:p>
          <a:p xmlns:a="http://schemas.openxmlformats.org/drawingml/2006/main">
            <a:pPr>
              <a:spcAft>
                <a:spcPts val="0"/>
              </a:spcAft>
              <a:defRPr sz="2100">
                <a:solidFill>
                  <a:srgbClr val="172D43"/>
                </a:solidFill>
                <a:latin typeface="DejaVu Sans Mono"/>
                <a:ea typeface="DejaVu Sans Mono"/>
                <a:cs typeface="DejaVu Sans Mono"/>
              </a:defRPr>
            </a:pPr>
            <a:r>
              <a:t>git commit -m </a:t>
            </a:r>
            <a:r>
              <a:rPr b="0">
                <a:solidFill>
                  <a:srgbClr val="007DB7"/>
                </a:solidFill>
              </a:rPr>
              <a:t>"Complete day 1 Flutter UI and form"</a:t>
            </a:r>
          </a:p>
          <a:p xmlns:a="http://schemas.openxmlformats.org/drawingml/2006/main">
            <a:pPr>
              <a:spcAft>
                <a:spcPts val="0"/>
              </a:spcAft>
              <a:defRPr sz="2100">
                <a:solidFill>
                  <a:srgbClr val="172D43"/>
                </a:solidFill>
                <a:latin typeface="DejaVu Sans Mono"/>
                <a:ea typeface="DejaVu Sans Mono"/>
                <a:cs typeface="DejaVu Sans Mono"/>
              </a:defRPr>
            </a:pPr>
            <a:r>
              <a:t>git tag day-1</a:t>
            </a:r>
          </a:p>
        </p:txBody>
      </p:sp>
      <p:sp>
        <p:nvSpPr>
          <p:cNvPr id="5" name="text-4-633">
            <a:extLst xmlns:a="http://schemas.openxmlformats.org/drawingml/2006/main">
              <a:ext uri="{FF2B5EF4-FFF2-40B4-BE49-F238E27FC236}">
                <a16:creationId xmlns:a16="http://schemas.microsoft.com/office/drawing/2014/main" id="{20CAAD67-71A4-4C18-8E82-FF3046C0E35B}"/>
              </a:ext>
            </a:extLst>
          </p:cNvPr>
          <p:cNvSpPr>
            <a:spLocks xmlns:a="http://schemas.openxmlformats.org/drawingml/2006/main" noGrp="1"/>
          </p:cNvSpPr>
          <p:nvPr/>
        </p:nvSpPr>
        <p:spPr>
          <a:xfrm xmlns:a="http://schemas.openxmlformats.org/drawingml/2006/main">
            <a:off x="609600" y="6029325"/>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800" b="1">
                <a:solidFill>
                  <a:srgbClr val="007DB7"/>
                </a:solidFill>
                <a:latin typeface="Nimbus Sans"/>
                <a:ea typeface="Nimbus Sans"/>
                <a:cs typeface="Nimbus Sans"/>
              </a:defRPr>
            </a:pPr>
            <a:r>
              <a:rPr sz="1800" b="1">
                <a:solidFill>
                  <a:srgbClr val="007DB7"/>
                </a:solidFill>
                <a:latin typeface="Nimbus Sans"/>
                <a:ea typeface="Nimbus Sans"/>
                <a:cs typeface="Nimbus Sans"/>
              </a:rPr>
              <a:t>README mencatat SDK, device dan langkah menjalankan aplikasi</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b64a60ffe56740f0"/>
          <a:srcRect xmlns:a="http://schemas.openxmlformats.org/drawingml/2006/main" l="4250" t="6738" r="4125" b="3546"/>
          <a:stretch xmlns:a="http://schemas.openxmlformats.org/drawingml/2006/main"/>
        </p:blipFill>
        <p:spPr>
          <a:xfrm xmlns:a="http://schemas.openxmlformats.org/drawingml/2006/main">
            <a:off x="9344025" y="219075"/>
            <a:ext cx="1428750" cy="495300"/>
          </a:xfrm>
          <a:prstGeom xmlns:a="http://schemas.openxmlformats.org/drawingml/2006/main" prst="rect">
            <a:avLst/>
          </a:prstGeom>
        </p:spPr>
      </p:pic>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106ee48d1d344434"/>
          <a:srcRect xmlns:a="http://schemas.openxmlformats.org/drawingml/2006/main" l="32813" t="23779" r="32813" b="23779"/>
          <a:stretch xmlns:a="http://schemas.openxmlformats.org/drawingml/2006/main"/>
        </p:blipFill>
        <p:spPr>
          <a:xfrm xmlns:a="http://schemas.openxmlformats.org/drawingml/2006/main">
            <a:off x="11163300" y="161925"/>
            <a:ext cx="371475" cy="571500"/>
          </a:xfrm>
          <a:prstGeom xmlns:a="http://schemas.openxmlformats.org/drawingml/2006/main" prst="rect">
            <a:avLst/>
          </a:prstGeom>
        </p:spPr>
      </p:pic>
    </p:spTree>
    <p:extLst>
      <p:ext uri="{BB962C8B-B14F-4D97-AF65-F5344CB8AC3E}">
        <p14:creationId xmlns:p14="http://schemas.microsoft.com/office/powerpoint/2010/main" val="892953281"/>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ext-0-48">
            <a:extLst xmlns:a="http://schemas.openxmlformats.org/drawingml/2006/main">
              <a:ext uri="{FF2B5EF4-FFF2-40B4-BE49-F238E27FC236}">
                <a16:creationId xmlns:a16="http://schemas.microsoft.com/office/drawing/2014/main" id="{5E5EFE0E-7853-409D-AD95-D8A62929574C}"/>
              </a:ext>
            </a:extLst>
          </p:cNvPr>
          <p:cNvSpPr>
            <a:spLocks xmlns:a="http://schemas.openxmlformats.org/drawingml/2006/main" noGrp="1"/>
          </p:cNvSpPr>
          <p:nvPr/>
        </p:nvSpPr>
        <p:spPr>
          <a:xfrm xmlns:a="http://schemas.openxmlformats.org/drawingml/2006/main">
            <a:off x="609600" y="8953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0000"/>
              </a:lnSpc>
              <a:buNone/>
              <a:defRPr sz="3300" b="1">
                <a:solidFill>
                  <a:srgbClr val="0B3970"/>
                </a:solidFill>
                <a:latin typeface="Nimbus Sans"/>
                <a:ea typeface="Nimbus Sans"/>
                <a:cs typeface="Nimbus Sans"/>
              </a:defRPr>
            </a:pPr>
            <a:r>
              <a:rPr sz="3300" b="1">
                <a:solidFill>
                  <a:srgbClr val="0B3970"/>
                </a:solidFill>
                <a:latin typeface="Nimbus Sans"/>
                <a:ea typeface="Nimbus Sans"/>
                <a:cs typeface="Nimbus Sans"/>
              </a:rPr>
              <a:t>Evaluasi pemahaman hari pertama</a:t>
            </a:r>
          </a:p>
        </p:txBody>
      </p:sp>
      <p:sp>
        <p:nvSpPr>
          <p:cNvPr id="2" name="text-1-674">
            <a:extLst xmlns:a="http://schemas.openxmlformats.org/drawingml/2006/main">
              <a:ext uri="{FF2B5EF4-FFF2-40B4-BE49-F238E27FC236}">
                <a16:creationId xmlns:a16="http://schemas.microsoft.com/office/drawing/2014/main" id="{E41BA85C-A780-40BD-A683-A48AD6EC86C6}"/>
              </a:ext>
            </a:extLst>
          </p:cNvPr>
          <p:cNvSpPr>
            <a:spLocks xmlns:a="http://schemas.openxmlformats.org/drawingml/2006/main" noGrp="1"/>
          </p:cNvSpPr>
          <p:nvPr/>
        </p:nvSpPr>
        <p:spPr>
          <a:xfrm xmlns:a="http://schemas.openxmlformats.org/drawingml/2006/main">
            <a:off x="609600" y="6448425"/>
            <a:ext cx="714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125" b="0">
                <a:solidFill>
                  <a:srgbClr val="5E7182"/>
                </a:solidFill>
                <a:latin typeface="Nimbus Sans"/>
                <a:ea typeface="Nimbus Sans"/>
                <a:cs typeface="Nimbus Sans"/>
              </a:defRPr>
            </a:pPr>
            <a:r>
              <a:rPr sz="1125" b="0">
                <a:solidFill>
                  <a:srgbClr val="5E7182"/>
                </a:solidFill>
                <a:latin typeface="Nimbus Sans"/>
                <a:ea typeface="Nimbus Sans"/>
                <a:cs typeface="Nimbus Sans"/>
              </a:rPr>
              <a:t>Training Flutter Android   /   Hari 1</a:t>
            </a:r>
          </a:p>
        </p:txBody>
      </p:sp>
      <p:sp>
        <p:nvSpPr>
          <p:cNvPr id="3" name="text-2-674">
            <a:extLst xmlns:a="http://schemas.openxmlformats.org/drawingml/2006/main">
              <a:ext uri="{FF2B5EF4-FFF2-40B4-BE49-F238E27FC236}">
                <a16:creationId xmlns:a16="http://schemas.microsoft.com/office/drawing/2014/main" id="{B5368F25-C32C-49F4-92E2-7E00C84B0A0A}"/>
              </a:ext>
            </a:extLst>
          </p:cNvPr>
          <p:cNvSpPr>
            <a:spLocks xmlns:a="http://schemas.openxmlformats.org/drawingml/2006/main" noGrp="1"/>
          </p:cNvSpPr>
          <p:nvPr/>
        </p:nvSpPr>
        <p:spPr>
          <a:xfrm xmlns:a="http://schemas.openxmlformats.org/drawingml/2006/main">
            <a:off x="10668000" y="6448425"/>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125" b="0">
                <a:solidFill>
                  <a:srgbClr val="5E7182"/>
                </a:solidFill>
                <a:latin typeface="Nimbus Sans"/>
                <a:ea typeface="Nimbus Sans"/>
                <a:cs typeface="Nimbus Sans"/>
              </a:defRPr>
            </a:pPr>
            <a:r>
              <a:rPr sz="1125" b="0">
                <a:solidFill>
                  <a:srgbClr val="5E7182"/>
                </a:solidFill>
                <a:latin typeface="Nimbus Sans"/>
                <a:ea typeface="Nimbus Sans"/>
                <a:cs typeface="Nimbus Sans"/>
              </a:rPr>
              <a:t>41 / 44</a:t>
            </a:r>
          </a:p>
        </p:txBody>
      </p:sp>
      <p:sp>
        <p:nvSpPr>
          <p:cNvPr id="4" name="text-3-180">
            <a:extLst xmlns:a="http://schemas.openxmlformats.org/drawingml/2006/main">
              <a:ext uri="{FF2B5EF4-FFF2-40B4-BE49-F238E27FC236}">
                <a16:creationId xmlns:a16="http://schemas.microsoft.com/office/drawing/2014/main" id="{E94E9592-052F-4A8B-8626-5493CF3CBF6B}"/>
              </a:ext>
            </a:extLst>
          </p:cNvPr>
          <p:cNvSpPr>
            <a:spLocks xmlns:a="http://schemas.openxmlformats.org/drawingml/2006/main" noGrp="1"/>
          </p:cNvSpPr>
          <p:nvPr/>
        </p:nvSpPr>
        <p:spPr>
          <a:xfrm xmlns:a="http://schemas.openxmlformats.org/drawingml/2006/main">
            <a:off x="609600" y="1962150"/>
            <a:ext cx="10668000" cy="411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54000" indent="-127000">
              <a:spcAft>
                <a:spcPts val="2100"/>
              </a:spcAft>
              <a:buChar char="•"/>
              <a:defRPr sz="2325">
                <a:solidFill>
                  <a:srgbClr val="172D43"/>
                </a:solidFill>
                <a:latin typeface="Nimbus Sans"/>
                <a:ea typeface="Nimbus Sans"/>
                <a:cs typeface="Nimbus Sans"/>
              </a:defRPr>
            </a:pPr>
            <a:r>
              <a:rPr sz="2325">
                <a:solidFill>
                  <a:srgbClr val="172D43"/>
                </a:solidFill>
                <a:latin typeface="Nimbus Sans"/>
                <a:ea typeface="Nimbus Sans"/>
                <a:cs typeface="Nimbus Sans"/>
              </a:rPr>
              <a:t>Mengapa request tidak dijalankan dari build?</a:t>
            </a:r>
          </a:p>
          <a:p xmlns:a="http://schemas.openxmlformats.org/drawingml/2006/main">
            <a:pPr marL="254000" indent="-127000">
              <a:spcAft>
                <a:spcPts val="2100"/>
              </a:spcAft>
              <a:buChar char="•"/>
              <a:defRPr sz="2325">
                <a:solidFill>
                  <a:srgbClr val="172D43"/>
                </a:solidFill>
                <a:latin typeface="Nimbus Sans"/>
                <a:ea typeface="Nimbus Sans"/>
                <a:cs typeface="Nimbus Sans"/>
              </a:defRPr>
            </a:pPr>
            <a:r>
              <a:rPr sz="2325">
                <a:solidFill>
                  <a:srgbClr val="172D43"/>
                </a:solidFill>
                <a:latin typeface="Nimbus Sans"/>
                <a:ea typeface="Nimbus Sans"/>
                <a:cs typeface="Nimbus Sans"/>
              </a:rPr>
              <a:t>Apa perbedaan empty dan error?</a:t>
            </a:r>
          </a:p>
          <a:p xmlns:a="http://schemas.openxmlformats.org/drawingml/2006/main">
            <a:pPr marL="254000" indent="-127000">
              <a:spcAft>
                <a:spcPts val="2100"/>
              </a:spcAft>
              <a:buChar char="•"/>
              <a:defRPr sz="2325">
                <a:solidFill>
                  <a:srgbClr val="172D43"/>
                </a:solidFill>
                <a:latin typeface="Nimbus Sans"/>
                <a:ea typeface="Nimbus Sans"/>
                <a:cs typeface="Nimbus Sans"/>
              </a:defRPr>
            </a:pPr>
            <a:r>
              <a:rPr sz="2325">
                <a:solidFill>
                  <a:srgbClr val="172D43"/>
                </a:solidFill>
                <a:latin typeface="Nimbus Sans"/>
                <a:ea typeface="Nimbus Sans"/>
                <a:cs typeface="Nimbus Sans"/>
              </a:rPr>
              <a:t>Siapa pemilik mutation daftar setelah form selesai?</a:t>
            </a:r>
          </a:p>
          <a:p xmlns:a="http://schemas.openxmlformats.org/drawingml/2006/main">
            <a:pPr marL="254000" indent="-127000">
              <a:spcAft>
                <a:spcPts val="2100"/>
              </a:spcAft>
              <a:buChar char="•"/>
              <a:defRPr sz="2325">
                <a:solidFill>
                  <a:srgbClr val="172D43"/>
                </a:solidFill>
                <a:latin typeface="Nimbus Sans"/>
                <a:ea typeface="Nimbus Sans"/>
                <a:cs typeface="Nimbus Sans"/>
              </a:defRPr>
            </a:pPr>
            <a:r>
              <a:rPr sz="2325">
                <a:solidFill>
                  <a:srgbClr val="172D43"/>
                </a:solidFill>
                <a:latin typeface="Nimbus Sans"/>
                <a:ea typeface="Nimbus Sans"/>
                <a:cs typeface="Nimbus Sans"/>
              </a:rPr>
              <a:t>Mengapa mounted diperiksa setelah await?</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b923a282ecd64890"/>
          <a:srcRect xmlns:a="http://schemas.openxmlformats.org/drawingml/2006/main" l="4250" t="6738" r="4125" b="3546"/>
          <a:stretch xmlns:a="http://schemas.openxmlformats.org/drawingml/2006/main"/>
        </p:blipFill>
        <p:spPr>
          <a:xfrm xmlns:a="http://schemas.openxmlformats.org/drawingml/2006/main">
            <a:off x="9344025" y="219075"/>
            <a:ext cx="1428750" cy="495300"/>
          </a:xfrm>
          <a:prstGeom xmlns:a="http://schemas.openxmlformats.org/drawingml/2006/main" prst="rect">
            <a:avLst/>
          </a:prstGeom>
        </p:spPr>
      </p:pic>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ec7ab54c9c3b4eca"/>
          <a:srcRect xmlns:a="http://schemas.openxmlformats.org/drawingml/2006/main" l="32813" t="23779" r="32813" b="23779"/>
          <a:stretch xmlns:a="http://schemas.openxmlformats.org/drawingml/2006/main"/>
        </p:blipFill>
        <p:spPr>
          <a:xfrm xmlns:a="http://schemas.openxmlformats.org/drawingml/2006/main">
            <a:off x="11163300" y="161925"/>
            <a:ext cx="371475" cy="571500"/>
          </a:xfrm>
          <a:prstGeom xmlns:a="http://schemas.openxmlformats.org/drawingml/2006/main" prst="rect">
            <a:avLst/>
          </a:prstGeom>
        </p:spPr>
      </p:pic>
    </p:spTree>
    <p:extLst>
      <p:ext uri="{BB962C8B-B14F-4D97-AF65-F5344CB8AC3E}">
        <p14:creationId xmlns:p14="http://schemas.microsoft.com/office/powerpoint/2010/main" val="1949129750"/>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ext-0-48">
            <a:extLst xmlns:a="http://schemas.openxmlformats.org/drawingml/2006/main">
              <a:ext uri="{FF2B5EF4-FFF2-40B4-BE49-F238E27FC236}">
                <a16:creationId xmlns:a16="http://schemas.microsoft.com/office/drawing/2014/main" id="{A8EF90AE-9995-4E68-BDAA-2D145C1DF9BE}"/>
              </a:ext>
            </a:extLst>
          </p:cNvPr>
          <p:cNvSpPr>
            <a:spLocks xmlns:a="http://schemas.openxmlformats.org/drawingml/2006/main" noGrp="1"/>
          </p:cNvSpPr>
          <p:nvPr/>
        </p:nvSpPr>
        <p:spPr>
          <a:xfrm xmlns:a="http://schemas.openxmlformats.org/drawingml/2006/main">
            <a:off x="609600" y="8953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0000"/>
              </a:lnSpc>
              <a:buNone/>
              <a:defRPr sz="3300" b="1">
                <a:solidFill>
                  <a:srgbClr val="0B3970"/>
                </a:solidFill>
                <a:latin typeface="Nimbus Sans"/>
                <a:ea typeface="Nimbus Sans"/>
                <a:cs typeface="Nimbus Sans"/>
              </a:defRPr>
            </a:pPr>
            <a:r>
              <a:rPr sz="3300" b="1">
                <a:solidFill>
                  <a:srgbClr val="0B3970"/>
                </a:solidFill>
                <a:latin typeface="Nimbus Sans"/>
                <a:ea typeface="Nimbus Sans"/>
                <a:cs typeface="Nimbus Sans"/>
              </a:rPr>
              <a:t>Acceptance checkpoint day-1</a:t>
            </a:r>
          </a:p>
        </p:txBody>
      </p:sp>
      <p:sp>
        <p:nvSpPr>
          <p:cNvPr id="2" name="text-1-674">
            <a:extLst xmlns:a="http://schemas.openxmlformats.org/drawingml/2006/main">
              <a:ext uri="{FF2B5EF4-FFF2-40B4-BE49-F238E27FC236}">
                <a16:creationId xmlns:a16="http://schemas.microsoft.com/office/drawing/2014/main" id="{BF50EA1B-C52F-4231-BCE9-B29DA48003EE}"/>
              </a:ext>
            </a:extLst>
          </p:cNvPr>
          <p:cNvSpPr>
            <a:spLocks xmlns:a="http://schemas.openxmlformats.org/drawingml/2006/main" noGrp="1"/>
          </p:cNvSpPr>
          <p:nvPr/>
        </p:nvSpPr>
        <p:spPr>
          <a:xfrm xmlns:a="http://schemas.openxmlformats.org/drawingml/2006/main">
            <a:off x="609600" y="6448425"/>
            <a:ext cx="714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125" b="0">
                <a:solidFill>
                  <a:srgbClr val="5E7182"/>
                </a:solidFill>
                <a:latin typeface="Nimbus Sans"/>
                <a:ea typeface="Nimbus Sans"/>
                <a:cs typeface="Nimbus Sans"/>
              </a:defRPr>
            </a:pPr>
            <a:r>
              <a:rPr sz="1125" b="0">
                <a:solidFill>
                  <a:srgbClr val="5E7182"/>
                </a:solidFill>
                <a:latin typeface="Nimbus Sans"/>
                <a:ea typeface="Nimbus Sans"/>
                <a:cs typeface="Nimbus Sans"/>
              </a:rPr>
              <a:t>Training Flutter Android   /   Hari 1</a:t>
            </a:r>
          </a:p>
        </p:txBody>
      </p:sp>
      <p:sp>
        <p:nvSpPr>
          <p:cNvPr id="3" name="text-2-674">
            <a:extLst xmlns:a="http://schemas.openxmlformats.org/drawingml/2006/main">
              <a:ext uri="{FF2B5EF4-FFF2-40B4-BE49-F238E27FC236}">
                <a16:creationId xmlns:a16="http://schemas.microsoft.com/office/drawing/2014/main" id="{29A3B2E5-6571-4D05-B703-FC9903D09293}"/>
              </a:ext>
            </a:extLst>
          </p:cNvPr>
          <p:cNvSpPr>
            <a:spLocks xmlns:a="http://schemas.openxmlformats.org/drawingml/2006/main" noGrp="1"/>
          </p:cNvSpPr>
          <p:nvPr/>
        </p:nvSpPr>
        <p:spPr>
          <a:xfrm xmlns:a="http://schemas.openxmlformats.org/drawingml/2006/main">
            <a:off x="10668000" y="6448425"/>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125" b="0">
                <a:solidFill>
                  <a:srgbClr val="5E7182"/>
                </a:solidFill>
                <a:latin typeface="Nimbus Sans"/>
                <a:ea typeface="Nimbus Sans"/>
                <a:cs typeface="Nimbus Sans"/>
              </a:defRPr>
            </a:pPr>
            <a:r>
              <a:rPr sz="1125" b="0">
                <a:solidFill>
                  <a:srgbClr val="5E7182"/>
                </a:solidFill>
                <a:latin typeface="Nimbus Sans"/>
                <a:ea typeface="Nimbus Sans"/>
                <a:cs typeface="Nimbus Sans"/>
              </a:rPr>
              <a:t>42 / 44</a:t>
            </a:r>
          </a:p>
        </p:txBody>
      </p:sp>
      <p:graphicFrame>
        <p:nvGraphicFramePr>
          <p:cNvPr id="12" name=""/>
          <p:cNvGraphicFramePr/>
          <p:nvPr/>
        </p:nvGraphicFramePr>
        <p:xfrm>
          <a:off xmlns:a="http://schemas.openxmlformats.org/drawingml/2006/main" x="609600" y="1657350"/>
          <a:ext xmlns:a="http://schemas.openxmlformats.org/drawingml/2006/main" cx="10972800" cy="4114800"/>
        </p:xfrm>
        <a:graphic xmlns:a="http://schemas.openxmlformats.org/drawingml/2006/main">
          <a:graphicData uri="http://schemas.openxmlformats.org/drawingml/2006/table">
            <a:tbl>
              <a:tblPr/>
              <a:tblGrid>
                <a:gridCol w="4389120"/>
                <a:gridCol w="6583680"/>
              </a:tblGrid>
              <a:tr h="685800">
                <a:tc>
                  <a:txBody>
                    <a:bodyPr lIns="114300" tIns="95250" rIns="114300" bIns="95250">
                      <a:noAutofit/>
                    </a:bodyPr>
                    <a:lstStyle/>
                    <a:p>
                      <a:r>
                        <a:rPr sz="1800" b="1">
                          <a:solidFill>
                            <a:srgbClr val="FFFFFF"/>
                          </a:solidFill>
                          <a:latin typeface="Nimbus Sans"/>
                          <a:ea typeface="Nimbus Sans"/>
                          <a:cs typeface="Nimbus Sans"/>
                        </a:rPr>
                        <a:t>Skenario</a:t>
                      </a:r>
                    </a:p>
                  </a:txBody>
                  <a:tcPr marL="91440" marR="91440" marT="45720" marB="45720" anchor="ctr">
                    <a:solidFill>
                      <a:srgbClr val="0B3970"/>
                    </a:solidFill>
                  </a:tcPr>
                </a:tc>
                <a:tc>
                  <a:txBody>
                    <a:bodyPr lIns="114300" tIns="95250" rIns="114300" bIns="95250">
                      <a:noAutofit/>
                    </a:bodyPr>
                    <a:lstStyle/>
                    <a:p>
                      <a:r>
                        <a:rPr sz="1800" b="1">
                          <a:solidFill>
                            <a:srgbClr val="FFFFFF"/>
                          </a:solidFill>
                          <a:latin typeface="Nimbus Sans"/>
                          <a:ea typeface="Nimbus Sans"/>
                          <a:cs typeface="Nimbus Sans"/>
                        </a:rPr>
                        <a:t>Kriteria lulus</a:t>
                      </a:r>
                    </a:p>
                  </a:txBody>
                  <a:tcPr marL="91440" marR="91440" marT="45720" marB="45720" anchor="ctr">
                    <a:solidFill>
                      <a:srgbClr val="0B3970"/>
                    </a:solidFill>
                  </a:tcPr>
                </a:tc>
              </a:tr>
              <a:tr h="685800">
                <a:tc>
                  <a:txBody>
                    <a:bodyPr lIns="114300" tIns="95250" rIns="114300" bIns="95250">
                      <a:noAutofit/>
                    </a:bodyPr>
                    <a:lstStyle/>
                    <a:p>
                      <a:r>
                        <a:rPr sz="1725" b="0">
                          <a:solidFill>
                            <a:srgbClr val="172D43"/>
                          </a:solidFill>
                          <a:latin typeface="Nimbus Sans"/>
                          <a:ea typeface="Nimbus Sans"/>
                          <a:cs typeface="Nimbus Sans"/>
                        </a:rPr>
                        <a:t>Daftar dan detail</a:t>
                      </a:r>
                    </a:p>
                  </a:txBody>
                  <a:tcPr marL="91440" marR="91440" marT="45720" marB="45720" anchor="ctr">
                    <a:solidFill>
                      <a:srgbClr val="FFFFFF"/>
                    </a:solidFill>
                  </a:tcPr>
                </a:tc>
                <a:tc>
                  <a:txBody>
                    <a:bodyPr lIns="114300" tIns="95250" rIns="114300" bIns="95250">
                      <a:noAutofit/>
                    </a:bodyPr>
                    <a:lstStyle/>
                    <a:p>
                      <a:r>
                        <a:rPr sz="1725" b="0">
                          <a:solidFill>
                            <a:srgbClr val="172D43"/>
                          </a:solidFill>
                          <a:latin typeface="Nimbus Sans"/>
                          <a:ea typeface="Nimbus Sans"/>
                          <a:cs typeface="Nimbus Sans"/>
                        </a:rPr>
                        <a:t>Record terpilih tampil benar</a:t>
                      </a:r>
                    </a:p>
                  </a:txBody>
                  <a:tcPr marL="91440" marR="91440" marT="45720" marB="45720" anchor="ctr">
                    <a:solidFill>
                      <a:srgbClr val="FFFFFF"/>
                    </a:solidFill>
                  </a:tcPr>
                </a:tc>
              </a:tr>
              <a:tr h="685800">
                <a:tc>
                  <a:txBody>
                    <a:bodyPr lIns="114300" tIns="95250" rIns="114300" bIns="95250">
                      <a:noAutofit/>
                    </a:bodyPr>
                    <a:lstStyle/>
                    <a:p>
                      <a:r>
                        <a:rPr sz="1725" b="0">
                          <a:solidFill>
                            <a:srgbClr val="172D43"/>
                          </a:solidFill>
                          <a:latin typeface="Nimbus Sans"/>
                          <a:ea typeface="Nimbus Sans"/>
                          <a:cs typeface="Nimbus Sans"/>
                        </a:rPr>
                        <a:t>Form invalid</a:t>
                      </a:r>
                    </a:p>
                  </a:txBody>
                  <a:tcPr marL="91440" marR="91440" marT="45720" marB="45720" anchor="ctr">
                    <a:solidFill>
                      <a:srgbClr val="F0F5F9"/>
                    </a:solidFill>
                  </a:tcPr>
                </a:tc>
                <a:tc>
                  <a:txBody>
                    <a:bodyPr lIns="114300" tIns="95250" rIns="114300" bIns="95250">
                      <a:noAutofit/>
                    </a:bodyPr>
                    <a:lstStyle/>
                    <a:p>
                      <a:r>
                        <a:rPr sz="1725" b="0">
                          <a:solidFill>
                            <a:srgbClr val="172D43"/>
                          </a:solidFill>
                          <a:latin typeface="Nimbus Sans"/>
                          <a:ea typeface="Nimbus Sans"/>
                          <a:cs typeface="Nimbus Sans"/>
                        </a:rPr>
                        <a:t>Field wajib dan note temuan ditolak</a:t>
                      </a:r>
                    </a:p>
                  </a:txBody>
                  <a:tcPr marL="91440" marR="91440" marT="45720" marB="45720" anchor="ctr">
                    <a:solidFill>
                      <a:srgbClr val="F0F5F9"/>
                    </a:solidFill>
                  </a:tcPr>
                </a:tc>
              </a:tr>
              <a:tr h="685800">
                <a:tc>
                  <a:txBody>
                    <a:bodyPr lIns="114300" tIns="95250" rIns="114300" bIns="95250">
                      <a:noAutofit/>
                    </a:bodyPr>
                    <a:lstStyle/>
                    <a:p>
                      <a:r>
                        <a:rPr sz="1725" b="0">
                          <a:solidFill>
                            <a:srgbClr val="172D43"/>
                          </a:solidFill>
                          <a:latin typeface="Nimbus Sans"/>
                          <a:ea typeface="Nimbus Sans"/>
                          <a:cs typeface="Nimbus Sans"/>
                        </a:rPr>
                        <a:t>Form valid dan cancel</a:t>
                      </a:r>
                    </a:p>
                  </a:txBody>
                  <a:tcPr marL="91440" marR="91440" marT="45720" marB="45720" anchor="ctr">
                    <a:solidFill>
                      <a:srgbClr val="FFFFFF"/>
                    </a:solidFill>
                  </a:tcPr>
                </a:tc>
                <a:tc>
                  <a:txBody>
                    <a:bodyPr lIns="114300" tIns="95250" rIns="114300" bIns="95250">
                      <a:noAutofit/>
                    </a:bodyPr>
                    <a:lstStyle/>
                    <a:p>
                      <a:r>
                        <a:rPr sz="1725" b="0">
                          <a:solidFill>
                            <a:srgbClr val="172D43"/>
                          </a:solidFill>
                          <a:latin typeface="Nimbus Sans"/>
                          <a:ea typeface="Nimbus Sans"/>
                          <a:cs typeface="Nimbus Sans"/>
                        </a:rPr>
                        <a:t>Tambah sekali, cancel tanpa record</a:t>
                      </a:r>
                    </a:p>
                  </a:txBody>
                  <a:tcPr marL="91440" marR="91440" marT="45720" marB="45720" anchor="ctr">
                    <a:solidFill>
                      <a:srgbClr val="FFFFFF"/>
                    </a:solidFill>
                  </a:tcPr>
                </a:tc>
              </a:tr>
              <a:tr h="685800">
                <a:tc>
                  <a:txBody>
                    <a:bodyPr lIns="114300" tIns="95250" rIns="114300" bIns="95250">
                      <a:noAutofit/>
                    </a:bodyPr>
                    <a:lstStyle/>
                    <a:p>
                      <a:r>
                        <a:rPr sz="1725" b="0">
                          <a:solidFill>
                            <a:srgbClr val="172D43"/>
                          </a:solidFill>
                          <a:latin typeface="Nimbus Sans"/>
                          <a:ea typeface="Nimbus Sans"/>
                          <a:cs typeface="Nimbus Sans"/>
                        </a:rPr>
                        <a:t>Empty dan error</a:t>
                      </a:r>
                    </a:p>
                  </a:txBody>
                  <a:tcPr marL="91440" marR="91440" marT="45720" marB="45720" anchor="ctr">
                    <a:solidFill>
                      <a:srgbClr val="F0F5F9"/>
                    </a:solidFill>
                  </a:tcPr>
                </a:tc>
                <a:tc>
                  <a:txBody>
                    <a:bodyPr lIns="114300" tIns="95250" rIns="114300" bIns="95250">
                      <a:noAutofit/>
                    </a:bodyPr>
                    <a:lstStyle/>
                    <a:p>
                      <a:r>
                        <a:rPr sz="1725" b="0">
                          <a:solidFill>
                            <a:srgbClr val="172D43"/>
                          </a:solidFill>
                          <a:latin typeface="Nimbus Sans"/>
                          <a:ea typeface="Nimbus Sans"/>
                          <a:cs typeface="Nimbus Sans"/>
                        </a:rPr>
                        <a:t>Pesan jelas serta retry bekerja</a:t>
                      </a:r>
                    </a:p>
                  </a:txBody>
                  <a:tcPr marL="91440" marR="91440" marT="45720" marB="45720" anchor="ctr">
                    <a:solidFill>
                      <a:srgbClr val="F0F5F9"/>
                    </a:solidFill>
                  </a:tcPr>
                </a:tc>
              </a:tr>
              <a:tr h="685800">
                <a:tc>
                  <a:txBody>
                    <a:bodyPr lIns="114300" tIns="95250" rIns="114300" bIns="95250">
                      <a:noAutofit/>
                    </a:bodyPr>
                    <a:lstStyle/>
                    <a:p>
                      <a:r>
                        <a:rPr sz="1725" b="0">
                          <a:solidFill>
                            <a:srgbClr val="172D43"/>
                          </a:solidFill>
                          <a:latin typeface="Nimbus Sans"/>
                          <a:ea typeface="Nimbus Sans"/>
                          <a:cs typeface="Nimbus Sans"/>
                        </a:rPr>
                        <a:t>Layar sempit</a:t>
                      </a:r>
                    </a:p>
                  </a:txBody>
                  <a:tcPr marL="91440" marR="91440" marT="45720" marB="45720" anchor="ctr">
                    <a:solidFill>
                      <a:srgbClr val="FFFFFF"/>
                    </a:solidFill>
                  </a:tcPr>
                </a:tc>
                <a:tc>
                  <a:txBody>
                    <a:bodyPr lIns="114300" tIns="95250" rIns="114300" bIns="95250">
                      <a:noAutofit/>
                    </a:bodyPr>
                    <a:lstStyle/>
                    <a:p>
                      <a:r>
                        <a:rPr sz="1725" b="0">
                          <a:solidFill>
                            <a:srgbClr val="172D43"/>
                          </a:solidFill>
                          <a:latin typeface="Nimbus Sans"/>
                          <a:ea typeface="Nimbus Sans"/>
                          <a:cs typeface="Nimbus Sans"/>
                        </a:rPr>
                        <a:t>Tidak overflow, tombol terjangkau</a:t>
                      </a:r>
                    </a:p>
                  </a:txBody>
                  <a:tcPr marL="91440" marR="91440" marT="45720" marB="45720" anchor="ctr">
                    <a:solidFill>
                      <a:srgbClr val="FFFFFF"/>
                    </a:solidFill>
                  </a:tcPr>
                </a:tc>
              </a:tr>
            </a:tbl>
          </a:graphicData>
        </a:graphic>
      </p:graphicFrame>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ca0d6822385f4a4b"/>
          <a:srcRect xmlns:a="http://schemas.openxmlformats.org/drawingml/2006/main" l="4250" t="6738" r="4125" b="3546"/>
          <a:stretch xmlns:a="http://schemas.openxmlformats.org/drawingml/2006/main"/>
        </p:blipFill>
        <p:spPr>
          <a:xfrm xmlns:a="http://schemas.openxmlformats.org/drawingml/2006/main">
            <a:off x="9344025" y="219075"/>
            <a:ext cx="1428750" cy="495300"/>
          </a:xfrm>
          <a:prstGeom xmlns:a="http://schemas.openxmlformats.org/drawingml/2006/main" prst="rect">
            <a:avLst/>
          </a:prstGeom>
        </p:spPr>
      </p:pic>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f8dedc723e2c4f76"/>
          <a:srcRect xmlns:a="http://schemas.openxmlformats.org/drawingml/2006/main" l="32813" t="23779" r="32813" b="23779"/>
          <a:stretch xmlns:a="http://schemas.openxmlformats.org/drawingml/2006/main"/>
        </p:blipFill>
        <p:spPr>
          <a:xfrm xmlns:a="http://schemas.openxmlformats.org/drawingml/2006/main">
            <a:off x="11163300" y="161925"/>
            <a:ext cx="371475" cy="571500"/>
          </a:xfrm>
          <a:prstGeom xmlns:a="http://schemas.openxmlformats.org/drawingml/2006/main" prst="rect">
            <a:avLst/>
          </a:prstGeom>
        </p:spPr>
      </p:pic>
    </p:spTree>
    <p:extLst>
      <p:ext uri="{BB962C8B-B14F-4D97-AF65-F5344CB8AC3E}">
        <p14:creationId xmlns:p14="http://schemas.microsoft.com/office/powerpoint/2010/main" val="170490262"/>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ext-0-48">
            <a:extLst xmlns:a="http://schemas.openxmlformats.org/drawingml/2006/main">
              <a:ext uri="{FF2B5EF4-FFF2-40B4-BE49-F238E27FC236}">
                <a16:creationId xmlns:a16="http://schemas.microsoft.com/office/drawing/2014/main" id="{F83B4DF0-4D4C-4370-B84B-97425571CB91}"/>
              </a:ext>
            </a:extLst>
          </p:cNvPr>
          <p:cNvSpPr>
            <a:spLocks xmlns:a="http://schemas.openxmlformats.org/drawingml/2006/main" noGrp="1"/>
          </p:cNvSpPr>
          <p:nvPr/>
        </p:nvSpPr>
        <p:spPr>
          <a:xfrm xmlns:a="http://schemas.openxmlformats.org/drawingml/2006/main">
            <a:off x="609600" y="8953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0000"/>
              </a:lnSpc>
              <a:buNone/>
              <a:defRPr sz="3300" b="1">
                <a:solidFill>
                  <a:srgbClr val="0B3970"/>
                </a:solidFill>
                <a:latin typeface="Nimbus Sans"/>
                <a:ea typeface="Nimbus Sans"/>
                <a:cs typeface="Nimbus Sans"/>
              </a:defRPr>
            </a:pPr>
            <a:r>
              <a:rPr sz="3300" b="1">
                <a:solidFill>
                  <a:srgbClr val="0B3970"/>
                </a:solidFill>
                <a:latin typeface="Nimbus Sans"/>
                <a:ea typeface="Nimbus Sans"/>
                <a:cs typeface="Nimbus Sans"/>
              </a:rPr>
              <a:t>Handover hari pertama</a:t>
            </a:r>
          </a:p>
        </p:txBody>
      </p:sp>
      <p:sp>
        <p:nvSpPr>
          <p:cNvPr id="2" name="text-1-674">
            <a:extLst xmlns:a="http://schemas.openxmlformats.org/drawingml/2006/main">
              <a:ext uri="{FF2B5EF4-FFF2-40B4-BE49-F238E27FC236}">
                <a16:creationId xmlns:a16="http://schemas.microsoft.com/office/drawing/2014/main" id="{51B66CB7-0A14-449A-8D7D-7ED664E8A891}"/>
              </a:ext>
            </a:extLst>
          </p:cNvPr>
          <p:cNvSpPr>
            <a:spLocks xmlns:a="http://schemas.openxmlformats.org/drawingml/2006/main" noGrp="1"/>
          </p:cNvSpPr>
          <p:nvPr/>
        </p:nvSpPr>
        <p:spPr>
          <a:xfrm xmlns:a="http://schemas.openxmlformats.org/drawingml/2006/main">
            <a:off x="609600" y="6448425"/>
            <a:ext cx="714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125" b="0">
                <a:solidFill>
                  <a:srgbClr val="5E7182"/>
                </a:solidFill>
                <a:latin typeface="Nimbus Sans"/>
                <a:ea typeface="Nimbus Sans"/>
                <a:cs typeface="Nimbus Sans"/>
              </a:defRPr>
            </a:pPr>
            <a:r>
              <a:rPr sz="1125" b="0">
                <a:solidFill>
                  <a:srgbClr val="5E7182"/>
                </a:solidFill>
                <a:latin typeface="Nimbus Sans"/>
                <a:ea typeface="Nimbus Sans"/>
                <a:cs typeface="Nimbus Sans"/>
              </a:rPr>
              <a:t>Training Flutter Android   /   Hari 1</a:t>
            </a:r>
          </a:p>
        </p:txBody>
      </p:sp>
      <p:sp>
        <p:nvSpPr>
          <p:cNvPr id="3" name="text-2-674">
            <a:extLst xmlns:a="http://schemas.openxmlformats.org/drawingml/2006/main">
              <a:ext uri="{FF2B5EF4-FFF2-40B4-BE49-F238E27FC236}">
                <a16:creationId xmlns:a16="http://schemas.microsoft.com/office/drawing/2014/main" id="{A1721B4F-E4C0-41D3-B085-E2B98BA204F5}"/>
              </a:ext>
            </a:extLst>
          </p:cNvPr>
          <p:cNvSpPr>
            <a:spLocks xmlns:a="http://schemas.openxmlformats.org/drawingml/2006/main" noGrp="1"/>
          </p:cNvSpPr>
          <p:nvPr/>
        </p:nvSpPr>
        <p:spPr>
          <a:xfrm xmlns:a="http://schemas.openxmlformats.org/drawingml/2006/main">
            <a:off x="10668000" y="6448425"/>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125" b="0">
                <a:solidFill>
                  <a:srgbClr val="5E7182"/>
                </a:solidFill>
                <a:latin typeface="Nimbus Sans"/>
                <a:ea typeface="Nimbus Sans"/>
                <a:cs typeface="Nimbus Sans"/>
              </a:defRPr>
            </a:pPr>
            <a:r>
              <a:rPr sz="1125" b="0">
                <a:solidFill>
                  <a:srgbClr val="5E7182"/>
                </a:solidFill>
                <a:latin typeface="Nimbus Sans"/>
                <a:ea typeface="Nimbus Sans"/>
                <a:cs typeface="Nimbus Sans"/>
              </a:rPr>
              <a:t>43 / 44</a:t>
            </a:r>
          </a:p>
        </p:txBody>
      </p:sp>
      <p:sp>
        <p:nvSpPr>
          <p:cNvPr id="4" name="text-3-180">
            <a:extLst xmlns:a="http://schemas.openxmlformats.org/drawingml/2006/main">
              <a:ext uri="{FF2B5EF4-FFF2-40B4-BE49-F238E27FC236}">
                <a16:creationId xmlns:a16="http://schemas.microsoft.com/office/drawing/2014/main" id="{1A1BFFDB-9D21-4C62-BA58-4983CE9F0103}"/>
              </a:ext>
            </a:extLst>
          </p:cNvPr>
          <p:cNvSpPr>
            <a:spLocks xmlns:a="http://schemas.openxmlformats.org/drawingml/2006/main" noGrp="1"/>
          </p:cNvSpPr>
          <p:nvPr/>
        </p:nvSpPr>
        <p:spPr>
          <a:xfrm xmlns:a="http://schemas.openxmlformats.org/drawingml/2006/main">
            <a:off x="609600" y="1962150"/>
            <a:ext cx="10668000" cy="411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54000" indent="-127000">
              <a:spcAft>
                <a:spcPts val="2100"/>
              </a:spcAft>
              <a:buChar char="•"/>
              <a:defRPr sz="2325">
                <a:solidFill>
                  <a:srgbClr val="172D43"/>
                </a:solidFill>
                <a:latin typeface="Nimbus Sans"/>
                <a:ea typeface="Nimbus Sans"/>
                <a:cs typeface="Nimbus Sans"/>
              </a:defRPr>
            </a:pPr>
            <a:r>
              <a:rPr sz="2325">
                <a:solidFill>
                  <a:srgbClr val="172D43"/>
                </a:solidFill>
                <a:latin typeface="Nimbus Sans"/>
                <a:ea typeface="Nimbus Sans"/>
                <a:cs typeface="Nimbus Sans"/>
              </a:rPr>
              <a:t>Source dan Git tag day-1</a:t>
            </a:r>
          </a:p>
          <a:p xmlns:a="http://schemas.openxmlformats.org/drawingml/2006/main">
            <a:pPr marL="254000" indent="-127000">
              <a:spcAft>
                <a:spcPts val="2100"/>
              </a:spcAft>
              <a:buChar char="•"/>
              <a:defRPr sz="2325">
                <a:solidFill>
                  <a:srgbClr val="172D43"/>
                </a:solidFill>
                <a:latin typeface="Nimbus Sans"/>
                <a:ea typeface="Nimbus Sans"/>
                <a:cs typeface="Nimbus Sans"/>
              </a:defRPr>
            </a:pPr>
            <a:r>
              <a:rPr sz="2325">
                <a:solidFill>
                  <a:srgbClr val="172D43"/>
                </a:solidFill>
                <a:latin typeface="Nimbus Sans"/>
                <a:ea typeface="Nimbus Sans"/>
                <a:cs typeface="Nimbus Sans"/>
              </a:rPr>
              <a:t>Screenshot daftar, detail dan dua kondisi form</a:t>
            </a:r>
          </a:p>
          <a:p xmlns:a="http://schemas.openxmlformats.org/drawingml/2006/main">
            <a:pPr marL="254000" indent="-127000">
              <a:spcAft>
                <a:spcPts val="2100"/>
              </a:spcAft>
              <a:buChar char="•"/>
              <a:defRPr sz="2325">
                <a:solidFill>
                  <a:srgbClr val="172D43"/>
                </a:solidFill>
                <a:latin typeface="Nimbus Sans"/>
                <a:ea typeface="Nimbus Sans"/>
                <a:cs typeface="Nimbus Sans"/>
              </a:defRPr>
            </a:pPr>
            <a:r>
              <a:rPr sz="2325">
                <a:solidFill>
                  <a:srgbClr val="172D43"/>
                </a:solidFill>
                <a:latin typeface="Nimbus Sans"/>
                <a:ea typeface="Nimbus Sans"/>
                <a:cs typeface="Nimbus Sans"/>
              </a:rPr>
              <a:t>README run, versi SDK dan device</a:t>
            </a:r>
          </a:p>
          <a:p xmlns:a="http://schemas.openxmlformats.org/drawingml/2006/main">
            <a:pPr marL="254000" indent="-127000">
              <a:spcAft>
                <a:spcPts val="2100"/>
              </a:spcAft>
              <a:buChar char="•"/>
              <a:defRPr sz="2325">
                <a:solidFill>
                  <a:srgbClr val="172D43"/>
                </a:solidFill>
                <a:latin typeface="Nimbus Sans"/>
                <a:ea typeface="Nimbus Sans"/>
                <a:cs typeface="Nimbus Sans"/>
              </a:defRPr>
            </a:pPr>
            <a:r>
              <a:rPr sz="2325">
                <a:solidFill>
                  <a:srgbClr val="172D43"/>
                </a:solidFill>
                <a:latin typeface="Nimbus Sans"/>
                <a:ea typeface="Nimbus Sans"/>
                <a:cs typeface="Nimbus Sans"/>
              </a:rPr>
              <a:t>Catatan bug atau kendala untuk hari kedua</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21d3cb0d615a4acf"/>
          <a:srcRect xmlns:a="http://schemas.openxmlformats.org/drawingml/2006/main" l="4250" t="6738" r="4125" b="3546"/>
          <a:stretch xmlns:a="http://schemas.openxmlformats.org/drawingml/2006/main"/>
        </p:blipFill>
        <p:spPr>
          <a:xfrm xmlns:a="http://schemas.openxmlformats.org/drawingml/2006/main">
            <a:off x="9344025" y="219075"/>
            <a:ext cx="1428750" cy="495300"/>
          </a:xfrm>
          <a:prstGeom xmlns:a="http://schemas.openxmlformats.org/drawingml/2006/main" prst="rect">
            <a:avLst/>
          </a:prstGeom>
        </p:spPr>
      </p:pic>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26fbb4b1c62e417e"/>
          <a:srcRect xmlns:a="http://schemas.openxmlformats.org/drawingml/2006/main" l="32813" t="23779" r="32813" b="23779"/>
          <a:stretch xmlns:a="http://schemas.openxmlformats.org/drawingml/2006/main"/>
        </p:blipFill>
        <p:spPr>
          <a:xfrm xmlns:a="http://schemas.openxmlformats.org/drawingml/2006/main">
            <a:off x="11163300" y="161925"/>
            <a:ext cx="371475" cy="571500"/>
          </a:xfrm>
          <a:prstGeom xmlns:a="http://schemas.openxmlformats.org/drawingml/2006/main" prst="rect">
            <a:avLst/>
          </a:prstGeom>
        </p:spPr>
      </p:pic>
    </p:spTree>
    <p:extLst>
      <p:ext uri="{BB962C8B-B14F-4D97-AF65-F5344CB8AC3E}">
        <p14:creationId xmlns:p14="http://schemas.microsoft.com/office/powerpoint/2010/main" val="842465432"/>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ext-0-48">
            <a:extLst xmlns:a="http://schemas.openxmlformats.org/drawingml/2006/main">
              <a:ext uri="{FF2B5EF4-FFF2-40B4-BE49-F238E27FC236}">
                <a16:creationId xmlns:a16="http://schemas.microsoft.com/office/drawing/2014/main" id="{0FAB12E7-9A8E-4BC8-BDD6-360F1D21B417}"/>
              </a:ext>
            </a:extLst>
          </p:cNvPr>
          <p:cNvSpPr>
            <a:spLocks xmlns:a="http://schemas.openxmlformats.org/drawingml/2006/main" noGrp="1"/>
          </p:cNvSpPr>
          <p:nvPr/>
        </p:nvSpPr>
        <p:spPr>
          <a:xfrm xmlns:a="http://schemas.openxmlformats.org/drawingml/2006/main">
            <a:off x="609600" y="8953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0000"/>
              </a:lnSpc>
              <a:buNone/>
              <a:defRPr sz="3300" b="1">
                <a:solidFill>
                  <a:srgbClr val="0B3970"/>
                </a:solidFill>
                <a:latin typeface="Nimbus Sans"/>
                <a:ea typeface="Nimbus Sans"/>
                <a:cs typeface="Nimbus Sans"/>
              </a:defRPr>
            </a:pPr>
            <a:r>
              <a:rPr sz="3300" b="1">
                <a:solidFill>
                  <a:srgbClr val="0B3970"/>
                </a:solidFill>
                <a:latin typeface="Nimbus Sans"/>
                <a:ea typeface="Nimbus Sans"/>
                <a:cs typeface="Nimbus Sans"/>
              </a:rPr>
              <a:t>Referensi dan persiapan hari kedua</a:t>
            </a:r>
          </a:p>
        </p:txBody>
      </p:sp>
      <p:sp>
        <p:nvSpPr>
          <p:cNvPr id="2" name="text-1-674">
            <a:extLst xmlns:a="http://schemas.openxmlformats.org/drawingml/2006/main">
              <a:ext uri="{FF2B5EF4-FFF2-40B4-BE49-F238E27FC236}">
                <a16:creationId xmlns:a16="http://schemas.microsoft.com/office/drawing/2014/main" id="{7291D8A6-C04E-4974-9FFF-D3F8978976DE}"/>
              </a:ext>
            </a:extLst>
          </p:cNvPr>
          <p:cNvSpPr>
            <a:spLocks xmlns:a="http://schemas.openxmlformats.org/drawingml/2006/main" noGrp="1"/>
          </p:cNvSpPr>
          <p:nvPr/>
        </p:nvSpPr>
        <p:spPr>
          <a:xfrm xmlns:a="http://schemas.openxmlformats.org/drawingml/2006/main">
            <a:off x="609600" y="6448425"/>
            <a:ext cx="714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125" b="0">
                <a:solidFill>
                  <a:srgbClr val="5E7182"/>
                </a:solidFill>
                <a:latin typeface="Nimbus Sans"/>
                <a:ea typeface="Nimbus Sans"/>
                <a:cs typeface="Nimbus Sans"/>
              </a:defRPr>
            </a:pPr>
            <a:r>
              <a:rPr sz="1125" b="0">
                <a:solidFill>
                  <a:srgbClr val="5E7182"/>
                </a:solidFill>
                <a:latin typeface="Nimbus Sans"/>
                <a:ea typeface="Nimbus Sans"/>
                <a:cs typeface="Nimbus Sans"/>
              </a:rPr>
              <a:t>Training Flutter Android   /   Hari 1</a:t>
            </a:r>
          </a:p>
        </p:txBody>
      </p:sp>
      <p:sp>
        <p:nvSpPr>
          <p:cNvPr id="3" name="text-2-674">
            <a:extLst xmlns:a="http://schemas.openxmlformats.org/drawingml/2006/main">
              <a:ext uri="{FF2B5EF4-FFF2-40B4-BE49-F238E27FC236}">
                <a16:creationId xmlns:a16="http://schemas.microsoft.com/office/drawing/2014/main" id="{589800CC-7A8B-4963-B074-D1E1A5A4E015}"/>
              </a:ext>
            </a:extLst>
          </p:cNvPr>
          <p:cNvSpPr>
            <a:spLocks xmlns:a="http://schemas.openxmlformats.org/drawingml/2006/main" noGrp="1"/>
          </p:cNvSpPr>
          <p:nvPr/>
        </p:nvSpPr>
        <p:spPr>
          <a:xfrm xmlns:a="http://schemas.openxmlformats.org/drawingml/2006/main">
            <a:off x="10668000" y="6448425"/>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125" b="0">
                <a:solidFill>
                  <a:srgbClr val="5E7182"/>
                </a:solidFill>
                <a:latin typeface="Nimbus Sans"/>
                <a:ea typeface="Nimbus Sans"/>
                <a:cs typeface="Nimbus Sans"/>
              </a:defRPr>
            </a:pPr>
            <a:r>
              <a:rPr sz="1125" b="0">
                <a:solidFill>
                  <a:srgbClr val="5E7182"/>
                </a:solidFill>
                <a:latin typeface="Nimbus Sans"/>
                <a:ea typeface="Nimbus Sans"/>
                <a:cs typeface="Nimbus Sans"/>
              </a:rPr>
              <a:t>44 / 44</a:t>
            </a:r>
          </a:p>
        </p:txBody>
      </p:sp>
      <p:sp>
        <p:nvSpPr>
          <p:cNvPr id="4" name="text-3-180">
            <a:extLst xmlns:a="http://schemas.openxmlformats.org/drawingml/2006/main">
              <a:ext uri="{FF2B5EF4-FFF2-40B4-BE49-F238E27FC236}">
                <a16:creationId xmlns:a16="http://schemas.microsoft.com/office/drawing/2014/main" id="{D7772CC5-D1A3-4BFB-91E8-09C91B545DC2}"/>
              </a:ext>
            </a:extLst>
          </p:cNvPr>
          <p:cNvSpPr>
            <a:spLocks xmlns:a="http://schemas.openxmlformats.org/drawingml/2006/main" noGrp="1"/>
          </p:cNvSpPr>
          <p:nvPr/>
        </p:nvSpPr>
        <p:spPr>
          <a:xfrm xmlns:a="http://schemas.openxmlformats.org/drawingml/2006/main">
            <a:off x="609600" y="1962150"/>
            <a:ext cx="10668000" cy="411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54000" indent="-127000">
              <a:spcAft>
                <a:spcPts val="2100"/>
              </a:spcAft>
              <a:buChar char="•"/>
              <a:defRPr sz="2325">
                <a:solidFill>
                  <a:srgbClr val="172D43"/>
                </a:solidFill>
                <a:latin typeface="Nimbus Sans"/>
                <a:ea typeface="Nimbus Sans"/>
                <a:cs typeface="Nimbus Sans"/>
              </a:defRPr>
            </a:pPr>
            <a:r>
              <a:rPr sz="2325">
                <a:solidFill>
                  <a:srgbClr val="172D43"/>
                </a:solidFill>
                <a:latin typeface="Nimbus Sans"/>
                <a:ea typeface="Nimbus Sans"/>
                <a:cs typeface="Nimbus Sans"/>
              </a:rPr>
              <a:t>Dart language dan async pada dart.dev</a:t>
            </a:r>
          </a:p>
          <a:p xmlns:a="http://schemas.openxmlformats.org/drawingml/2006/main">
            <a:pPr marL="254000" indent="-127000">
              <a:spcAft>
                <a:spcPts val="2100"/>
              </a:spcAft>
              <a:buChar char="•"/>
              <a:defRPr sz="2325">
                <a:solidFill>
                  <a:srgbClr val="172D43"/>
                </a:solidFill>
                <a:latin typeface="Nimbus Sans"/>
                <a:ea typeface="Nimbus Sans"/>
                <a:cs typeface="Nimbus Sans"/>
              </a:defRPr>
            </a:pPr>
            <a:r>
              <a:rPr sz="2325">
                <a:solidFill>
                  <a:srgbClr val="172D43"/>
                </a:solidFill>
                <a:latin typeface="Nimbus Sans"/>
                <a:ea typeface="Nimbus Sans"/>
                <a:cs typeface="Nimbus Sans"/>
              </a:rPr>
              <a:t>Flutter UI, constraints dan navigation pada docs.flutter.dev</a:t>
            </a:r>
          </a:p>
          <a:p xmlns:a="http://schemas.openxmlformats.org/drawingml/2006/main">
            <a:pPr marL="254000" indent="-127000">
              <a:spcAft>
                <a:spcPts val="2100"/>
              </a:spcAft>
              <a:buChar char="•"/>
              <a:defRPr sz="2325">
                <a:solidFill>
                  <a:srgbClr val="172D43"/>
                </a:solidFill>
                <a:latin typeface="Nimbus Sans"/>
                <a:ea typeface="Nimbus Sans"/>
                <a:cs typeface="Nimbus Sans"/>
              </a:defRPr>
            </a:pPr>
            <a:r>
              <a:rPr sz="2325">
                <a:solidFill>
                  <a:srgbClr val="172D43"/>
                </a:solidFill>
                <a:latin typeface="Nimbus Sans"/>
                <a:ea typeface="Nimbus Sans"/>
                <a:cs typeface="Nimbus Sans"/>
              </a:rPr>
              <a:t>PRD serta Materi Hari 1 pada paket training</a:t>
            </a:r>
          </a:p>
          <a:p xmlns:a="http://schemas.openxmlformats.org/drawingml/2006/main">
            <a:pPr marL="254000" indent="-127000">
              <a:spcAft>
                <a:spcPts val="2100"/>
              </a:spcAft>
              <a:buChar char="•"/>
              <a:defRPr sz="2325">
                <a:solidFill>
                  <a:srgbClr val="172D43"/>
                </a:solidFill>
                <a:latin typeface="Nimbus Sans"/>
                <a:ea typeface="Nimbus Sans"/>
                <a:cs typeface="Nimbus Sans"/>
              </a:defRPr>
            </a:pPr>
            <a:r>
              <a:rPr sz="2325">
                <a:solidFill>
                  <a:srgbClr val="172D43"/>
                </a:solidFill>
                <a:latin typeface="Nimbus Sans"/>
                <a:ea typeface="Nimbus Sans"/>
                <a:cs typeface="Nimbus Sans"/>
              </a:rPr>
              <a:t>Hari berikutnya memisahkan layer dan memakai REST API</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f9c975bc61604a22"/>
          <a:srcRect xmlns:a="http://schemas.openxmlformats.org/drawingml/2006/main" l="4250" t="6738" r="4125" b="3546"/>
          <a:stretch xmlns:a="http://schemas.openxmlformats.org/drawingml/2006/main"/>
        </p:blipFill>
        <p:spPr>
          <a:xfrm xmlns:a="http://schemas.openxmlformats.org/drawingml/2006/main">
            <a:off x="9344025" y="219075"/>
            <a:ext cx="1428750" cy="495300"/>
          </a:xfrm>
          <a:prstGeom xmlns:a="http://schemas.openxmlformats.org/drawingml/2006/main" prst="rect">
            <a:avLst/>
          </a:prstGeom>
        </p:spPr>
      </p:pic>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4a5230a277d24c74"/>
          <a:srcRect xmlns:a="http://schemas.openxmlformats.org/drawingml/2006/main" l="32813" t="23779" r="32813" b="23779"/>
          <a:stretch xmlns:a="http://schemas.openxmlformats.org/drawingml/2006/main"/>
        </p:blipFill>
        <p:spPr>
          <a:xfrm xmlns:a="http://schemas.openxmlformats.org/drawingml/2006/main">
            <a:off x="11163300" y="161925"/>
            <a:ext cx="371475" cy="571500"/>
          </a:xfrm>
          <a:prstGeom xmlns:a="http://schemas.openxmlformats.org/drawingml/2006/main" prst="rect">
            <a:avLst/>
          </a:prstGeom>
        </p:spPr>
      </p:pic>
    </p:spTree>
    <p:extLst>
      <p:ext uri="{BB962C8B-B14F-4D97-AF65-F5344CB8AC3E}">
        <p14:creationId xmlns:p14="http://schemas.microsoft.com/office/powerpoint/2010/main" val="170912044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2026-10-04T02:06:05.2410000Z</dcterms:created>
  <dcterms:modified xsi:type="dcterms:W3CDTF">2026-10-04T02:06:05.2410000Z</dcterms:modified>
</coreProperties>
</file>
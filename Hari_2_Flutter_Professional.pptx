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Pembukaan. ALOKASI: 3 menit.</a:t>
            </a:r>
          </a:p>
          <a:p/>
          <a:p>
            <a:r>
              <a:t>TUJUAN: Menyepakati target teknis Hari 2.</a:t>
            </a:r>
          </a:p>
          <a:p/>
          <a:p>
            <a:r>
              <a:t>ARAHAN TRAINER: Tunjukkan bahwa backend hosted menggantikan server kelas, tetapi kontrak endpoint tetap sama.</a:t>
            </a:r>
          </a:p>
          <a:p/>
          <a:p>
            <a:r>
              <a:t>PERTANYAAN DISKUSI: Apa risiko terbesar ketika UI langsung bergantung pada detail backend?</a:t>
            </a:r>
          </a:p>
          <a:p/>
          <a:p>
            <a:r>
              <a:t>RUJUKAN: Modul Hari 2 dan PRD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08.30–08.40. ALOKASI: 10 menit.</a:t>
            </a:r>
          </a:p>
          <a:p/>
          <a:p>
            <a:r>
              <a:t>TUJUAN: Menjelaskan standar kelulusan.</a:t>
            </a:r>
          </a:p>
          <a:p/>
          <a:p>
            <a:r>
              <a:t>ARAHAN TRAINER: Minta peserta menyebut bukti untuk tiap kartu, bukan hanya fitur yang terlihat.</a:t>
            </a:r>
          </a:p>
          <a:p/>
          <a:p>
            <a:r>
              <a:t>PERTANYAAN DISKUSI: Bukti apa yang membedakan 'berfungsi' dari 'siap dilanjutkan tim'?</a:t>
            </a:r>
          </a:p>
          <a:p/>
          <a:p>
            <a:r>
              <a:t>RUJUKAN: PRD Hari 2 AC1–AC11.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08.40–08.45. ALOKASI: 5 menit.</a:t>
            </a:r>
          </a:p>
          <a:p/>
          <a:p>
            <a:r>
              <a:t>TUJUAN: Menghubungkan agenda dengan checkpoint.</a:t>
            </a:r>
          </a:p>
          <a:p/>
          <a:p>
            <a:r>
              <a:t>ARAHAN TRAINER: Tekankan bahwa teori selalu diikuti praktik dan bukti.</a:t>
            </a:r>
          </a:p>
          <a:p/>
          <a:p>
            <a:r>
              <a:t>PERTANYAAN DISKUSI: Bagian mana yang paling berisiko menghabiskan waktu?</a:t>
            </a:r>
          </a:p>
          <a:p/>
          <a:p>
            <a:r>
              <a:t>RUJUKAN: Silabus 3 Hari, jadwal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08.45–09.00. ALOKASI: 15 menit.</a:t>
            </a:r>
          </a:p>
          <a:p/>
          <a:p>
            <a:r>
              <a:t>TUJUAN: Menentukan input yang sehat untuk Hari 2.</a:t>
            </a:r>
          </a:p>
          <a:p/>
          <a:p>
            <a:r>
              <a:t>ARAHAN TRAINER: Jangan lanjut jika flow dasar day-1 masih rusak. Gunakan starter sebagai recovery.</a:t>
            </a:r>
          </a:p>
          <a:p/>
          <a:p>
            <a:r>
              <a:t>PERTANYAAN DISKUSI: Apa yang harus tetap sama setelah data lokal diganti API?</a:t>
            </a:r>
          </a:p>
          <a:p/>
          <a:p>
            <a:r>
              <a:t>RUJUKAN: Materi Hari 1 dan checkpoint day-1.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09.00–09.02. ALOKASI: 2 menit.</a:t>
            </a:r>
          </a:p>
          <a:p/>
          <a:p>
            <a:r>
              <a:t>TUJUAN: Membuka bagian arsitektur.</a:t>
            </a:r>
          </a:p>
          <a:p/>
          <a:p>
            <a:r>
              <a:t>ARAHAN TRAINER: Hubungkan konsep dengan kode proyek yang sudah ada.</a:t>
            </a:r>
          </a:p>
          <a:p/>
          <a:p>
            <a:r>
              <a:t>PERTANYAAN DISKUSI: Layer mana paling sering menjadi tempat campur-aduk?</a:t>
            </a:r>
          </a:p>
          <a:p/>
          <a:p>
            <a:r>
              <a:t>RUJUKAN: Flutter app architecture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09.02–09.15. ALOKASI: 13 menit.</a:t>
            </a:r>
          </a:p>
          <a:p/>
          <a:p>
            <a:r>
              <a:t>TUJUAN: Menjelaskan boundary dan arah dependency.</a:t>
            </a:r>
          </a:p>
          <a:p/>
          <a:p>
            <a:r>
              <a:t>ARAHAN TRAINER: Trace aksi refresh dari View hingga API lalu kembali sebagai state.</a:t>
            </a:r>
          </a:p>
          <a:p/>
          <a:p>
            <a:r>
              <a:t>PERTANYAAN DISKUSI: Apa import yang tidak boleh muncul pada file screen?</a:t>
            </a:r>
          </a:p>
          <a:p/>
          <a:p>
            <a:r>
              <a:t>RUJUKAN: Modul Hari 2: aliran tanggung jawab.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09.15–09.28. ALOKASI: 13 menit.</a:t>
            </a:r>
          </a:p>
          <a:p/>
          <a:p>
            <a:r>
              <a:t>TUJUAN: Memetakan tanggung jawab ke file.</a:t>
            </a:r>
          </a:p>
          <a:p/>
          <a:p>
            <a:r>
              <a:t>ARAHAN TRAINER: Gunakan tabel sebagai rubric review. Minta peserta menunjukkan satu pelanggaran di starter.</a:t>
            </a:r>
          </a:p>
          <a:p/>
          <a:p>
            <a:r>
              <a:t>PERTANYAAN DISKUSI: Siapa yang memutuskan kapan cache boleh dipakai?</a:t>
            </a:r>
          </a:p>
          <a:p/>
          <a:p>
            <a:r>
              <a:t>RUJUKAN: Modul Hari 2: service/repository/controller.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09.28–09.40. ALOKASI: 12 menit.</a:t>
            </a:r>
          </a:p>
          <a:p/>
          <a:p>
            <a:r>
              <a:t>TUJUAN: Menunjukkan evolusi struktur tanpa memaksa clean architecture penuh.</a:t>
            </a:r>
          </a:p>
          <a:p/>
          <a:p>
            <a:r>
              <a:t>ARAHAN TRAINER: Bandingkan dengan struktur modul; jelaskan bahwa ini opsi saat proyek bertumbuh.</a:t>
            </a:r>
          </a:p>
          <a:p/>
          <a:p>
            <a:r>
              <a:t>PERTANYAAN DISKUSI: Kapan interface hanya menambah boilerplate?</a:t>
            </a:r>
          </a:p>
          <a:p/>
          <a:p>
            <a:r>
              <a:t>RUJUKAN: Modul Hari 2; prinsip YAGNI.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09.40–09.55. ALOKASI: 15 menit.</a:t>
            </a:r>
          </a:p>
          <a:p/>
          <a:p>
            <a:r>
              <a:t>TUJUAN: Mengaitkan constructor injection dengan testability.</a:t>
            </a:r>
          </a:p>
          <a:p/>
          <a:p>
            <a:r>
              <a:t>ARAHAN TRAINER: Demo ganti implementation production menjadi fake tanpa mengubah controller.</a:t>
            </a:r>
          </a:p>
          <a:p/>
          <a:p>
            <a:r>
              <a:t>PERTANYAAN DISKUSI: Dependency mana yang paling perlu dibuat fake?</a:t>
            </a:r>
          </a:p>
          <a:p/>
          <a:p>
            <a:r>
              <a:t>RUJUKAN: Modul Hari 2: dependency melalui constructor.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09.55–10.00. ALOKASI: 5 menit.</a:t>
            </a:r>
          </a:p>
          <a:p/>
          <a:p>
            <a:r>
              <a:t>TUJUAN: Memperkenalkan mapping sesuai kompleksitas.</a:t>
            </a:r>
          </a:p>
          <a:p/>
          <a:p>
            <a:r>
              <a:t>ARAHAN TRAINER: Tunjukkan Inspection.fromJson yang sudah ada dan jelaskan kapan DTO terpisah berguna.</a:t>
            </a:r>
          </a:p>
          <a:p/>
          <a:p>
            <a:r>
              <a:t>PERTANYAAN DISKUSI: Apa dampak cast error jika dibiarkan lolos ke UI?</a:t>
            </a:r>
          </a:p>
          <a:p/>
          <a:p>
            <a:r>
              <a:t>RUJUKAN: Modul Hari 2: model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10.15–10.17. ALOKASI: 2 menit.</a:t>
            </a:r>
          </a:p>
          <a:p/>
          <a:p>
            <a:r>
              <a:t>TUJUAN: Membuka sesi API.</a:t>
            </a:r>
          </a:p>
          <a:p/>
          <a:p>
            <a:r>
              <a:t>ARAHAN TRAINER: Pastikan Swagger UI dan /health dapat diakses sebelum coding Flutter.</a:t>
            </a:r>
          </a:p>
          <a:p/>
          <a:p>
            <a:r>
              <a:t>PERTANYAAN DISKUSI: Apa yang harus disepakati sebelum endpoint diimplementasikan?</a:t>
            </a:r>
          </a:p>
          <a:p/>
          <a:p>
            <a:r>
              <a:t>RUJUKAN: PRD Hari 2: kontrak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10.17–10.30. ALOKASI: 13 menit.</a:t>
            </a:r>
          </a:p>
          <a:p/>
          <a:p>
            <a:r>
              <a:t>TUJUAN: Menjelaskan hubungan Flutter–backend–Swagger–Docker.</a:t>
            </a:r>
          </a:p>
          <a:p/>
          <a:p>
            <a:r>
              <a:t>ARAHAN TRAINER: Tekankan bahwa Docker adalah packaging/deployment; aplikasi Flutter hanya peduli kontrak dan base URL.</a:t>
            </a:r>
          </a:p>
          <a:p/>
          <a:p>
            <a:r>
              <a:t>PERTANYAAN DISKUSI: Bagian mana yang berubah ketika backend dipindah host?</a:t>
            </a:r>
          </a:p>
          <a:p/>
          <a:p>
            <a:r>
              <a:t>RUJUKAN: Modul Hari 2; handoff API hosted.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10.30–10.43. ALOKASI: 13 menit.</a:t>
            </a:r>
          </a:p>
          <a:p/>
          <a:p>
            <a:r>
              <a:t>TUJUAN: Mengajarkan cara membaca Swagger secara engineering.</a:t>
            </a:r>
          </a:p>
          <a:p/>
          <a:p>
            <a:r>
              <a:t>ARAHAN TRAINER: Buka login, list, create. Cocokkan example dengan model Dart dan validator.</a:t>
            </a:r>
          </a:p>
          <a:p/>
          <a:p>
            <a:r>
              <a:t>PERTANYAAN DISKUSI: Apa yang harus terjadi bila Swagger dan respons nyata berbeda?</a:t>
            </a:r>
          </a:p>
          <a:p/>
          <a:p>
            <a:r>
              <a:t>RUJUKAN: OpenAPI contract backend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10.43–10.53. ALOKASI: 10 menit.</a:t>
            </a:r>
          </a:p>
          <a:p/>
          <a:p>
            <a:r>
              <a:t>TUJUAN: Menyepakati kontrak endpoint.</a:t>
            </a:r>
          </a:p>
          <a:p/>
          <a:p>
            <a:r>
              <a:t>ARAHAN TRAINER: Jalankan satu request per endpoint dari Swagger UI sebelum Flutter.</a:t>
            </a:r>
          </a:p>
          <a:p/>
          <a:p>
            <a:r>
              <a:t>PERTANYAAN DISKUSI: Mengapa /health dan versi image berguna saat troubleshooting?</a:t>
            </a:r>
          </a:p>
          <a:p/>
          <a:p>
            <a:r>
              <a:t>RUJUKAN: PRD Hari 2 dan mock_api.py.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10.53–11.03. ALOKASI: 10 menit.</a:t>
            </a:r>
          </a:p>
          <a:p/>
          <a:p>
            <a:r>
              <a:t>TUJUAN: Mencegah environment leak dan URL tersebar.</a:t>
            </a:r>
          </a:p>
          <a:p/>
          <a:p>
            <a:r>
              <a:t>ARAHAN TRAINER: Tunjukkan satu command run dan fail-fast ketika define kosong.</a:t>
            </a:r>
          </a:p>
          <a:p/>
          <a:p>
            <a:r>
              <a:t>PERTANYAAN DISKUSI: Mengapa default localhost berbahaya untuk release?</a:t>
            </a:r>
          </a:p>
          <a:p/>
          <a:p>
            <a:r>
              <a:t>RUJUKAN: Modul Hari 2: alamat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11.03–11.18. ALOKASI: 15 menit.</a:t>
            </a:r>
          </a:p>
          <a:p/>
          <a:p>
            <a:r>
              <a:t>TUJUAN: Menjaga ApiClient fokus pada transport.</a:t>
            </a:r>
          </a:p>
          <a:p/>
          <a:p>
            <a:r>
              <a:t>ARAHAN TRAINER: Bandingkan dengan source hari 2. Tunjukkan http.Client injection.</a:t>
            </a:r>
          </a:p>
          <a:p/>
          <a:p>
            <a:r>
              <a:t>PERTANYAAN DISKUSI: Keputusan cache berada di layer mana?</a:t>
            </a:r>
          </a:p>
          <a:p/>
          <a:p>
            <a:r>
              <a:t>RUJUKAN: Materi Hari 2: GET/POST.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11.18–11.32. ALOKASI: 14 menit.</a:t>
            </a:r>
          </a:p>
          <a:p/>
          <a:p>
            <a:r>
              <a:t>TUJUAN: Memisahkan technical error dari keputusan UX.</a:t>
            </a:r>
          </a:p>
          <a:p/>
          <a:p>
            <a:r>
              <a:t>ARAHAN TRAINER: Minta peserta menelusuri satu status dari HTTP sampai UI.</a:t>
            </a:r>
          </a:p>
          <a:p/>
          <a:p>
            <a:r>
              <a:t>PERTANYAAN DISKUSI: Mengapa 401 tidak boleh menampilkan cache lama?</a:t>
            </a:r>
          </a:p>
          <a:p/>
          <a:p>
            <a:r>
              <a:t>RUJUKAN: Modul Hari 2: HTTP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11.32–11.43. ALOKASI: 11 menit.</a:t>
            </a:r>
          </a:p>
          <a:p/>
          <a:p>
            <a:r>
              <a:t>TUJUAN: Menjelaskan lifecycle session.</a:t>
            </a:r>
          </a:p>
          <a:p/>
          <a:p>
            <a:r>
              <a:t>ARAHAN TRAINER: Tunjukkan token sebagai detail platform, bukan state yang disebar ke widget.</a:t>
            </a:r>
          </a:p>
          <a:p/>
          <a:p>
            <a:r>
              <a:t>PERTANYAAN DISKUSI: Data apa saja yang harus dibersihkan saat logout?</a:t>
            </a:r>
          </a:p>
          <a:p/>
          <a:p>
            <a:r>
              <a:t>RUJUKAN: Modul Hari 2: secure storage/logout.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11.43–11.55. ALOKASI: 12 menit.</a:t>
            </a:r>
          </a:p>
          <a:p/>
          <a:p>
            <a:r>
              <a:t>TUJUAN: Membahas ketidakpastian POST timeout.</a:t>
            </a:r>
          </a:p>
          <a:p/>
          <a:p>
            <a:r>
              <a:t>ARAHAN TRAINER: Simulasikan delay dan minta peserta menjelaskan kemungkinan state server.</a:t>
            </a:r>
          </a:p>
          <a:p/>
          <a:p>
            <a:r>
              <a:t>PERTANYAAN DISKUSI: Kapan retry POST aman?</a:t>
            </a:r>
          </a:p>
          <a:p/>
          <a:p>
            <a:r>
              <a:t>RUJUKAN: Modul Hari 2: timeout dan duplikasi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11.55–12.00. ALOKASI: 5 menit.</a:t>
            </a:r>
          </a:p>
          <a:p/>
          <a:p>
            <a:r>
              <a:t>TUJUAN: Memberi briefing praktik sebelum istirahat/kelanjutan.</a:t>
            </a:r>
          </a:p>
          <a:p/>
          <a:p>
            <a:r>
              <a:t>ARAHAN TRAINER: Peserta bekerja berpasangan. Reviewer memeriksa status dan schema.</a:t>
            </a:r>
          </a:p>
          <a:p/>
          <a:p>
            <a:r>
              <a:t>PERTANYAAN DISKUSI: Bukti apa yang aman dibagikan?</a:t>
            </a:r>
          </a:p>
          <a:p/>
          <a:p>
            <a:r>
              <a:t>RUJUKAN: requests.http dan Swagger API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13.00–13.02. ALOKASI: 2 menit.</a:t>
            </a:r>
          </a:p>
          <a:p/>
          <a:p>
            <a:r>
              <a:t>TUJUAN: Membuka sesi state/storage.</a:t>
            </a:r>
          </a:p>
          <a:p/>
          <a:p>
            <a:r>
              <a:t>ARAHAN TRAINER: Kaitkan response API dengan kondisi UI yang dapat dilihat pengguna.</a:t>
            </a:r>
          </a:p>
          <a:p/>
          <a:p>
            <a:r>
              <a:t>PERTANYAAN DISKUSI: Apakah loading adalah bool atau bagian dari model state?</a:t>
            </a:r>
          </a:p>
          <a:p/>
          <a:p>
            <a:r>
              <a:t>RUJUKAN: Modul Hari 2: ChangeNotifier.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13.02–13.17. ALOKASI: 15 menit.</a:t>
            </a:r>
          </a:p>
          <a:p/>
          <a:p>
            <a:r>
              <a:t>TUJUAN: Menunjukkan state model yang menghilangkan kombinasi ilegal.</a:t>
            </a:r>
          </a:p>
          <a:p/>
          <a:p>
            <a:r>
              <a:t>ARAHAN TRAINER: Bandingkan dengan controller source; minta peserta menuliskan invariant tiap bool.</a:t>
            </a:r>
          </a:p>
          <a:p/>
          <a:p>
            <a:r>
              <a:t>PERTANYAAN DISKUSI: Bisakah error tampil sambil data lama tetap terlihat?</a:t>
            </a:r>
          </a:p>
          <a:p/>
          <a:p>
            <a:r>
              <a:t>RUJUKAN: Modul Hari 2: ChangeNotifier.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13.17–13.32. ALOKASI: 15 menit.</a:t>
            </a:r>
          </a:p>
          <a:p/>
          <a:p>
            <a:r>
              <a:t>TUJUAN: Menjelaskan source policy di repository.</a:t>
            </a:r>
          </a:p>
          <a:p/>
          <a:p>
            <a:r>
              <a:t>ARAHAN TRAINER: Trace success dan offline. Bedakan failure jaringan dari auth/contract.</a:t>
            </a:r>
          </a:p>
          <a:p/>
          <a:p>
            <a:r>
              <a:t>PERTANYAAN DISKUSI: Mengapa cache read-only?</a:t>
            </a:r>
          </a:p>
          <a:p/>
          <a:p>
            <a:r>
              <a:t>RUJUKAN: Modul Hari 2: cache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13.32–13.44. ALOKASI: 12 menit.</a:t>
            </a:r>
          </a:p>
          <a:p/>
          <a:p>
            <a:r>
              <a:t>TUJUAN: Membuat cache policy dapat direview.</a:t>
            </a:r>
          </a:p>
          <a:p/>
          <a:p>
            <a:r>
              <a:t>ARAHAN TRAINER: Tekankan fetchedAt dan mode read-only. Jangan menyamarkan stale data sebagai fresh.</a:t>
            </a:r>
          </a:p>
          <a:p/>
          <a:p>
            <a:r>
              <a:t>PERTANYAAN DISKUSI: Kapan 5xx boleh fallback?</a:t>
            </a:r>
          </a:p>
          <a:p/>
          <a:p>
            <a:r>
              <a:t>RUJUKAN: Modul dan PRD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13.44–13.58. ALOKASI: 14 menit.</a:t>
            </a:r>
          </a:p>
          <a:p/>
          <a:p>
            <a:r>
              <a:t>TUJUAN: Mencegah race condition dan update setelah dispose.</a:t>
            </a:r>
          </a:p>
          <a:p/>
          <a:p>
            <a:r>
              <a:t>ARAHAN TRAINER: Demo double refresh atau delayed response.</a:t>
            </a:r>
          </a:p>
          <a:p/>
          <a:p>
            <a:r>
              <a:t>PERTANYAAN DISKUSI: Bagaimana membuktikan response lama tidak menimpa response baru?</a:t>
            </a:r>
          </a:p>
          <a:p/>
          <a:p>
            <a:r>
              <a:t>RUJUKAN: Modul Hari 2: lifecycle 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13.58–14.10. ALOKASI: 12 menit.</a:t>
            </a:r>
          </a:p>
          <a:p/>
          <a:p>
            <a:r>
              <a:t>TUJUAN: Mengaitkan state ke komponen UI.</a:t>
            </a:r>
          </a:p>
          <a:p/>
          <a:p>
            <a:r>
              <a:t>ARAHAN TRAINER: Minta peserta menunjuk layar untuk tiap state. Pastikan retry tidak tersembunyi.</a:t>
            </a:r>
          </a:p>
          <a:p/>
          <a:p>
            <a:r>
              <a:t>PERTANYAAN DISKUSI: Apa perbedaan Empty dan Failure?</a:t>
            </a:r>
          </a:p>
          <a:p/>
          <a:p>
            <a:r>
              <a:t>RUJUKAN: PRD Hari 2: loading/success/empty/error.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14.10–14.25. ALOKASI: 15 menit.</a:t>
            </a:r>
          </a:p>
          <a:p/>
          <a:p>
            <a:r>
              <a:t>TUJUAN: Mencegah search/pagination yang menyesatkan.</a:t>
            </a:r>
          </a:p>
          <a:p/>
          <a:p>
            <a:r>
              <a:t>ARAHAN TRAINER: Bandingkan local filter dengan server query. Pagination tetap demo/pengayaan.</a:t>
            </a:r>
          </a:p>
          <a:p/>
          <a:p>
            <a:r>
              <a:t>PERTANYAAN DISKUSI: Apakah pencarian lokal menemukan data di halaman yang belum dimuat?</a:t>
            </a:r>
          </a:p>
          <a:p/>
          <a:p>
            <a:r>
              <a:t>RUJUKAN: Modul Hari 2: search/pagination.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14.25–14.30. ALOKASI: 5 menit.</a:t>
            </a:r>
          </a:p>
          <a:p/>
          <a:p>
            <a:r>
              <a:t>TUJUAN: Memberi briefing lab sebelum istirahat.</a:t>
            </a:r>
          </a:p>
          <a:p/>
          <a:p>
            <a:r>
              <a:t>ARAHAN TRAINER: Pasangan bertukar driver/reviewer setelah skenario offline.</a:t>
            </a:r>
          </a:p>
          <a:p/>
          <a:p>
            <a:r>
              <a:t>PERTANYAAN DISKUSI: Apa bukti cache benar-benar dibersihkan saat logout?</a:t>
            </a:r>
          </a:p>
          <a:p/>
          <a:p>
            <a:r>
              <a:t>RUJUKAN: PRD Hari 2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14.45–14.47. ALOKASI: 2 menit.</a:t>
            </a:r>
          </a:p>
          <a:p/>
          <a:p>
            <a:r>
              <a:t>TUJUAN: Membuka sesi failure handling.</a:t>
            </a:r>
          </a:p>
          <a:p/>
          <a:p>
            <a:r>
              <a:t>ARAHAN TRAINER: Gunakan fault simulation pada mock/hosted API.</a:t>
            </a:r>
          </a:p>
          <a:p/>
          <a:p>
            <a:r>
              <a:t>PERTANYAAN DISKUSI: Failure mana yang paling berbahaya bila disamarkan?</a:t>
            </a:r>
          </a:p>
          <a:p/>
          <a:p>
            <a:r>
              <a:t>RUJUKAN: Modul Hari 2: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14.47–15.02. ALOKASI: 15 menit.</a:t>
            </a:r>
          </a:p>
          <a:p/>
          <a:p>
            <a:r>
              <a:t>TUJUAN: Membuat kegagalan dapat direproduksi.</a:t>
            </a:r>
          </a:p>
          <a:p/>
          <a:p>
            <a:r>
              <a:t>ARAHAN TRAINER: Jalankan fault terarah; catat expected sebelum melihat hasil.</a:t>
            </a:r>
          </a:p>
          <a:p/>
          <a:p>
            <a:r>
              <a:t>PERTANYAAN DISKUSI: Mengapa mencampur beberapa fault membuat diagnosis lemah?</a:t>
            </a:r>
          </a:p>
          <a:p/>
          <a:p>
            <a:r>
              <a:t>RUJUKAN: mock_api.py fault flags.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15.02–15.15. ALOKASI: 13 menit.</a:t>
            </a:r>
          </a:p>
          <a:p/>
          <a:p>
            <a:r>
              <a:t>TUJUAN: Menetapkan logging yang aman dan berguna.</a:t>
            </a:r>
          </a:p>
          <a:p/>
          <a:p>
            <a:r>
              <a:t>ARAHAN TRAINER: Tunjukkan contoh request ID di Swagger/Express bila tersedia.</a:t>
            </a:r>
          </a:p>
          <a:p/>
          <a:p>
            <a:r>
              <a:t>PERTANYAAN DISKUSI: Data apa yang tidak boleh masuk log?</a:t>
            </a:r>
          </a:p>
          <a:p/>
          <a:p>
            <a:r>
              <a:t>RUJUKAN: Security baseline materi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15.15–15.30. ALOKASI: 15 menit.</a:t>
            </a:r>
          </a:p>
          <a:p/>
          <a:p>
            <a:r>
              <a:t>TUJUAN: Melatih code review berbasis smell.</a:t>
            </a:r>
          </a:p>
          <a:p/>
          <a:p>
            <a:r>
              <a:t>ARAHAN TRAINER: Setiap pasangan memilih satu smell nyata dan melakukan refactor minimum.</a:t>
            </a:r>
          </a:p>
          <a:p/>
          <a:p>
            <a:r>
              <a:t>PERTANYAAN DISKUSI: Refactor mana memberi dampak terbesar dengan perubahan terkecil?</a:t>
            </a:r>
          </a:p>
          <a:p/>
          <a:p>
            <a:r>
              <a:t>RUJUKAN: Modul Hari 2: clean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15.30–15.45. ALOKASI: 15 menit.</a:t>
            </a:r>
          </a:p>
          <a:p/>
          <a:p>
            <a:r>
              <a:t>TUJUAN: Menetapkan test sesuai risiko.</a:t>
            </a:r>
          </a:p>
          <a:p/>
          <a:p>
            <a:r>
              <a:t>ARAHAN TRAINER: Tuliskan satu test per kartu yang akan ditambahkan Hari 3.</a:t>
            </a:r>
          </a:p>
          <a:p/>
          <a:p>
            <a:r>
              <a:t>PERTANYAAN DISKUSI: Test mana paling cepat mendeteksi contract drift?</a:t>
            </a:r>
          </a:p>
          <a:p/>
          <a:p>
            <a:r>
              <a:t>RUJUKAN: Modul Hari 2 dan Hari 3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15.45–16.00. ALOKASI: 15 menit.</a:t>
            </a:r>
          </a:p>
          <a:p/>
          <a:p>
            <a:r>
              <a:t>TUJUAN: Menjalankan failure drill singkat.</a:t>
            </a:r>
          </a:p>
          <a:p/>
          <a:p>
            <a:r>
              <a:t>ARAHAN TRAINER: Trainer fokus pada evidence dan reasoning, bukan membantu menambah fitur.</a:t>
            </a:r>
          </a:p>
          <a:p/>
          <a:p>
            <a:r>
              <a:t>PERTANYAAN DISKUSI: Apakah perbaikan mencegah regresi yang sama?</a:t>
            </a:r>
          </a:p>
          <a:p/>
          <a:p>
            <a:r>
              <a:t>RUJUKAN: PRD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16.00–16.10. ALOKASI: 10 menit.</a:t>
            </a:r>
          </a:p>
          <a:p/>
          <a:p>
            <a:r>
              <a:t>TUJUAN: Menilai hasil dengan evidence.</a:t>
            </a:r>
          </a:p>
          <a:p/>
          <a:p>
            <a:r>
              <a:t>ARAHAN TRAINER: Gunakan status Lulus/Perlu perbaikan/Terhalang prasyarat.</a:t>
            </a:r>
          </a:p>
          <a:p/>
          <a:p>
            <a:r>
              <a:t>PERTANYAAN DISKUSI: Area mana belum punya bukti?</a:t>
            </a:r>
          </a:p>
          <a:p/>
          <a:p>
            <a:r>
              <a:t>RUJUKAN: PRD Hari 2 AC1–AC11.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16.10–16.20. ALOKASI: 10 menit.</a:t>
            </a:r>
          </a:p>
          <a:p/>
          <a:p>
            <a:r>
              <a:t>TUJUAN: Menyepakati handoff API hosted.</a:t>
            </a:r>
          </a:p>
          <a:p/>
          <a:p>
            <a:r>
              <a:t>ARAHAN TRAINER: Isi placeholder URL/version bersama PIC backend sebelum kelas.</a:t>
            </a:r>
          </a:p>
          <a:p/>
          <a:p>
            <a:r>
              <a:t>PERTANYAAN DISKUSI: Siapa pemilik contract drift?</a:t>
            </a:r>
          </a:p>
          <a:p/>
          <a:p>
            <a:r>
              <a:t>RUJUKAN: Dokumen handoff API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16.20–16.27. ALOKASI: 7 menit.</a:t>
            </a:r>
          </a:p>
          <a:p/>
          <a:p>
            <a:r>
              <a:t>TUJUAN: Mengukur reasoning peserta.</a:t>
            </a:r>
          </a:p>
          <a:p/>
          <a:p>
            <a:r>
              <a:t>ARAHAN TRAINER: Gunakan pertanyaan bergilir; minta contoh dari source mereka.</a:t>
            </a:r>
          </a:p>
          <a:p/>
          <a:p>
            <a:r>
              <a:t>PERTANYAAN DISKUSI: Keputusan mana yang masih belum bisa dibuktikan?</a:t>
            </a:r>
          </a:p>
          <a:p/>
          <a:p>
            <a:r>
              <a:t>RUJUKAN: Materi dan PRD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16.27–16.30. ALOKASI: 3 menit.</a:t>
            </a:r>
          </a:p>
          <a:p/>
          <a:p>
            <a:r>
              <a:t>TUJUAN: Menutup Hari 2 dengan checkpoint reproducible.</a:t>
            </a:r>
          </a:p>
          <a:p/>
          <a:p>
            <a:r>
              <a:t>ARAHAN TRAINER: Pastikan README mencatat base URL placeholder dan fallback mock.</a:t>
            </a:r>
          </a:p>
          <a:p/>
          <a:p>
            <a:r>
              <a:t>PERTANYAAN DISKUSI: Apa satu blocker yang perlu selesai sebelum Hari 3?</a:t>
            </a:r>
          </a:p>
          <a:p/>
          <a:p>
            <a:r>
              <a:t>RUJUKAN: README proyek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Cadangan. ALOKASI: 1 menit.</a:t>
            </a:r>
          </a:p>
          <a:p/>
          <a:p>
            <a:r>
              <a:t>TUJUAN: Menutup dengan rujukan yang dapat dilanjutkan.</a:t>
            </a:r>
          </a:p>
          <a:p/>
          <a:p>
            <a:r>
              <a:t>ARAHAN TRAINER: Jangan mengerjakan pengayaan sebelum acceptance inti lulus.</a:t>
            </a:r>
          </a:p>
          <a:p/>
          <a:p>
            <a:r>
              <a:t>PERTANYAAN DISKUSI: Pengayaan mana memberi nilai terbesar untuk roadmap tim?</a:t>
            </a:r>
          </a:p>
          <a:p/>
          <a:p>
            <a:r>
              <a:t>RUJUKAN: Dokumentasi resmi dan modul Hari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-cover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94360"/>
            <a:ext cx="5138928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22376"/>
            <a:ext cx="2084831" cy="734903"/>
          </a:xfrm>
          <a:prstGeom prst="rect">
            <a:avLst/>
          </a:prstGeom>
        </p:spPr>
      </p:pic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667512"/>
            <a:ext cx="37161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618488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BE7F6"/>
                </a:solidFill>
                <a:latin typeface="Aptos"/>
              </a:rPr>
              <a:t>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623560" cy="1298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Flutter Data, API
&amp; Clean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53492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FD7E9"/>
                </a:solidFill>
                <a:latin typeface="Aptos"/>
              </a:rPr>
              <a:t>Integrasi contract-first dengan Express, Swagger/OpenAPI, Docker, state, session, dan cache.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251960"/>
            <a:ext cx="148132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315968"/>
            <a:ext cx="148132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CLEAN 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67712" y="4251960"/>
            <a:ext cx="1261872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67712" y="4315968"/>
            <a:ext cx="1261872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REST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37176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37176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CACHE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74920"/>
            <a:ext cx="5358384" cy="969264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6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03520"/>
            <a:ext cx="1828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TRAINER &amp; PENULIS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577840"/>
            <a:ext cx="44805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9648" y="63459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Hasil belajar yang dapat dibuktikan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21579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Arsitektur teruji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tidak mengetahui HTTP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Dependency dapat diganti dengan fake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43000"/>
            <a:ext cx="73152" cy="2157984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4416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Kontrak API jelas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Swagger menjadi sumber kebenaran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Status dan schema tervalidasi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49039"/>
            <a:ext cx="73152" cy="215798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3950207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State dapat diprediksi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Loading, data, empty, error, cached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 ganda dicegah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3749039"/>
            <a:ext cx="73152" cy="2157984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3950207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Operasional aman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Token tidak masuk log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Environment dan cache punya kebijakan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Roadmap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7315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D6D82"/>
                </a:solidFill>
                <a:latin typeface="Aptos"/>
              </a:rPr>
              <a:t>Satu alur: contract → implementation →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1024128" cy="62179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19072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08.30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536192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700784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Architecture &amp; clean 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3872" y="1536192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673352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Refactor tanpa mengubah perilaku UI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0432" y="2157984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2414016"/>
            <a:ext cx="1024128" cy="62179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10.15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2414016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578608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OpenAPI, auth, GET &amp; POST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3872" y="2414016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2551176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Kontrak lolos di Swagger dan Flutter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0432" y="3035808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291840"/>
            <a:ext cx="1024128" cy="62179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74720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13.00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47088" y="3291840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56432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State, session &amp; cache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33872" y="3291840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429000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Restart/offline/logout dapat dijelaskan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70432" y="3913632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4169664"/>
            <a:ext cx="1024128" cy="62179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352544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14.45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7088" y="4169664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4334256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Failure engineering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3872" y="4169664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4306824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401/422/500/timeout memberi UX tepat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70432" y="4791456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8368" y="5047488"/>
            <a:ext cx="1024128" cy="62179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30368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16.00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47088" y="5047488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5212080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Review &amp; checkpoint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33872" y="5047488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71616" y="5184648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Test, bukti request, tag day-2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Baseline day-1 sebelum refactor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Harus tetap bekerja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487375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List, detail, dan form valid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Navigation tidak menduplikasi data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Empty/error state sudah terlihat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 dan TextEditingController di-dispose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4300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4300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3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1344168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Yang berubah hari 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1856232"/>
            <a:ext cx="4919472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Sumber data lokal → remote API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Data flow diberi boundary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menjadi eksplisit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Session dan cache memiliki policy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memanfaatkan dependency seam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5833872"/>
            <a:ext cx="1234440" cy="301752"/>
          </a:xfrm>
          <a:prstGeom prst="round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5897880"/>
            <a:ext cx="123444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6153912"/>
            <a:ext cx="7498079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D6D82"/>
                </a:solidFill>
                <a:latin typeface="Aptos"/>
              </a:rPr>
              <a:t>Refactor yang baik menjaga perilaku pengguna sambil memperbaiki struktur internal.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Clean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Pisahkan alasan perubahan—UI, orchestration, data policy, dan transport.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Menggambar aliran dependency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Menempatkan tanggung jawab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Membuat seam untuk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Aliran data dan arah dependency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72768"/>
            <a:ext cx="258546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73936"/>
            <a:ext cx="243916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View</a:t>
            </a:r>
          </a:p>
        </p:txBody>
      </p:sp>
      <p:sp>
        <p:nvSpPr>
          <p:cNvPr id="11" name="Chevron 10"/>
          <p:cNvSpPr/>
          <p:nvPr/>
        </p:nvSpPr>
        <p:spPr>
          <a:xfrm>
            <a:off x="3298698" y="180136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14016"/>
            <a:ext cx="258546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Render + user intent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5858" y="1572768"/>
            <a:ext cx="258546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09010" y="1773936"/>
            <a:ext cx="243916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Controller</a:t>
            </a:r>
          </a:p>
        </p:txBody>
      </p:sp>
      <p:sp>
        <p:nvSpPr>
          <p:cNvPr id="15" name="Chevron 14"/>
          <p:cNvSpPr/>
          <p:nvPr/>
        </p:nvSpPr>
        <p:spPr>
          <a:xfrm>
            <a:off x="6048756" y="180136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5858" y="2414016"/>
            <a:ext cx="258546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State + orchestration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572768"/>
            <a:ext cx="258546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9068" y="1773936"/>
            <a:ext cx="243916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Repository</a:t>
            </a:r>
          </a:p>
        </p:txBody>
      </p:sp>
      <p:sp>
        <p:nvSpPr>
          <p:cNvPr id="19" name="Chevron 18"/>
          <p:cNvSpPr/>
          <p:nvPr/>
        </p:nvSpPr>
        <p:spPr>
          <a:xfrm>
            <a:off x="8798814" y="180136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5916" y="2414016"/>
            <a:ext cx="258546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Source 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5974" y="1572768"/>
            <a:ext cx="258546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9126" y="1773936"/>
            <a:ext cx="243916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Remote / 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5974" y="2414016"/>
            <a:ext cx="258546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HTTP / cache / secure store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858768"/>
            <a:ext cx="1083564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" y="4251960"/>
            <a:ext cx="10287000" cy="5120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600" b="1">
                <a:solidFill>
                  <a:srgbClr val="10233E"/>
                </a:solidFill>
                <a:latin typeface="Aptos"/>
              </a:rPr>
              <a:t>Dependency mengarah ke dalam. </a:t>
            </a:r>
            <a:r>
              <a:rPr sz="1600" b="0">
                <a:solidFill>
                  <a:srgbClr val="5D6D82"/>
                </a:solidFill>
                <a:latin typeface="Aptos"/>
              </a:rPr>
              <a:t>Data mengalir dua arah sebagai request dan result, tetapi UI tidak mengimpor package HTTP atau storage.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80" y="5504688"/>
            <a:ext cx="2834640" cy="301752"/>
          </a:xfrm>
          <a:prstGeom prst="roundRect">
            <a:avLst/>
          </a:prstGeom>
          <a:solidFill>
            <a:srgbClr val="E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5568696"/>
            <a:ext cx="283464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E5AA7"/>
                </a:solidFill>
                <a:latin typeface="Aptos"/>
              </a:rPr>
              <a:t>CLEAN CODE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5925312"/>
            <a:ext cx="84124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Jika transport berubah dari mock ke Docker-hosted Express, View tidak ikut berubah.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Tanggung jawab: satu alasan untuk berubah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234440"/>
          <a:ext cx="92811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834640"/>
                <a:gridCol w="2880360"/>
                <a:gridCol w="2057400"/>
              </a:tblGrid>
              <a:tr h="6934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Layer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Mengetahui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Tidak mengetahui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Bukti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UI state + user intent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URL, JSON, token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Widget test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Controller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Use flow + state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HTTP status detail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State test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Repository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Remote/cache policy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Widget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Repository test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ApiClient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Endpoint + schema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UI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Contract test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Store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Persist/read/delete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Navigation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Storage test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5623560"/>
            <a:ext cx="11064240" cy="530352"/>
          </a:xfrm>
          <a:prstGeom prst="roundRect">
            <a:avLst/>
          </a:prstGeom>
          <a:solidFill>
            <a:srgbClr val="E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797296"/>
            <a:ext cx="10561320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E5AA7"/>
                </a:solidFill>
                <a:latin typeface="Aptos"/>
              </a:rPr>
              <a:t>Heuristik: nama layer harus menjelaskan keputusan yang menjadi tanggung jawabnya.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Feature slice yang tetap sederhana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43000"/>
            <a:ext cx="5102352" cy="510235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PROJECT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1764792"/>
            <a:ext cx="4700016" cy="4352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9ECF5"/>
                </a:solidFill>
                <a:latin typeface="Cascadia Mono"/>
              </a:rPr>
              <a:t>lib/
  core/
    config/app_config.dart
    failure/app_failure.dart
  features/inspection/
    data/api_client.dart
    data/inspection_repository.dart
    domain/inspection.dart
    presentation/inspection_controller.dart
    presentation/screens/
  features/session/
    session_controller.dart
    token_store.dart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143000"/>
            <a:ext cx="5623560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2453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6" y="1344168"/>
            <a:ext cx="4709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Kapan dipakai?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1856232"/>
            <a:ext cx="5148072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Tim/fitur mulai bertambah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Ownership per fitur lebih jelas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Shared core benar-benar kecil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9320" y="3584448"/>
            <a:ext cx="5623560" cy="2660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89320" y="3584448"/>
            <a:ext cx="73152" cy="266090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45352" y="378561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5352" y="385876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57416" y="3785616"/>
            <a:ext cx="47091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Jangan over-engineer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4297680"/>
            <a:ext cx="5148072" cy="1792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Hari 2 boleh mempertahankan folder layer dari buku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Interface dibuat pada dependency yang perlu diganti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Use case ditambah saat rule bisnis benar-benar tumbuh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Dependency injection = test seam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88720"/>
            <a:ext cx="6537960" cy="498348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33502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9903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810512"/>
            <a:ext cx="6135624" cy="42336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9ECF5"/>
                </a:solidFill>
                <a:latin typeface="Cascadia Mono"/>
              </a:rPr>
              <a:t>abstract interface class InspectionGateway {
  Future&lt;List&lt;Inspection&gt;&gt; list();
  Future&lt;Inspection&gt; create(CreateInspection input);
}
class InspectionController extends ChangeNotifier {
  InspectionController(this.gateway);
  final InspectionGateway gateway;
}
// production → HttpInspectionRepository
// test       → FakeInspectionGateway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34416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DEPEND ON ABSTRACTION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0064" y="1188720"/>
            <a:ext cx="423367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70064" y="1188720"/>
            <a:ext cx="73152" cy="219456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389888"/>
            <a:ext cx="3319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Nilai praktis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1901952"/>
            <a:ext cx="3758184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tanpa network/plugin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Failure dapat dipicu sengaja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Implementasi dapat diganti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70064" y="3639312"/>
            <a:ext cx="4233672" cy="2532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70064" y="3639312"/>
            <a:ext cx="73152" cy="25328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6096" y="384048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6" y="391363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840480"/>
            <a:ext cx="3319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Batas kelas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6096" y="4352544"/>
            <a:ext cx="3758184" cy="1664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semua class butuh interface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Constructor injection sudah cukup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Hindari service locator global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DTO, domain model, dan input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89888"/>
            <a:ext cx="259689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91056"/>
            <a:ext cx="245059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JSON</a:t>
            </a:r>
          </a:p>
        </p:txBody>
      </p:sp>
      <p:sp>
        <p:nvSpPr>
          <p:cNvPr id="11" name="Chevron 10"/>
          <p:cNvSpPr/>
          <p:nvPr/>
        </p:nvSpPr>
        <p:spPr>
          <a:xfrm>
            <a:off x="3264408" y="161848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31136"/>
            <a:ext cx="259689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Bentuk kontrak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1389888"/>
            <a:ext cx="259689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591056"/>
            <a:ext cx="245059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InspectionDto</a:t>
            </a:r>
          </a:p>
        </p:txBody>
      </p:sp>
      <p:sp>
        <p:nvSpPr>
          <p:cNvPr id="15" name="Chevron 14"/>
          <p:cNvSpPr/>
          <p:nvPr/>
        </p:nvSpPr>
        <p:spPr>
          <a:xfrm>
            <a:off x="6025896" y="161848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2231136"/>
            <a:ext cx="259689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Parsing +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389888"/>
            <a:ext cx="259689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1591056"/>
            <a:ext cx="245059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Inspection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8787384" y="161848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2231136"/>
            <a:ext cx="259689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Tipe bisnis stabil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44" y="1389888"/>
            <a:ext cx="259689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1591056"/>
            <a:ext cx="245059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View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4544" y="2231136"/>
            <a:ext cx="259689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Format untuk 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246120"/>
            <a:ext cx="3419856" cy="2432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246120"/>
            <a:ext cx="73152" cy="243230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112" y="34472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5204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447288"/>
            <a:ext cx="250545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Pisahkan bila…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3959352"/>
            <a:ext cx="2944368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Nama field server berubah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Domain punya enum/value object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model dipakai banyak endpoint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9976" y="3246120"/>
            <a:ext cx="3419856" cy="2432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9976" y="3246120"/>
            <a:ext cx="73152" cy="2432304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36008" y="34472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36008" y="35204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48072" y="3447288"/>
            <a:ext cx="250545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Gabungkan bila…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8" y="3959352"/>
            <a:ext cx="2944368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Proyek kecil dan schema stabil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Mapping hanya duplikasi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ada rule domain tambahan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2" y="3246120"/>
            <a:ext cx="3401568" cy="2432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19872" y="3246120"/>
            <a:ext cx="73152" cy="243230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75904" y="34472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4" y="35204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87968" y="3447288"/>
            <a:ext cx="24871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Tetap wajib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3959352"/>
            <a:ext cx="2926080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Enum memvalidasi kondisi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Tanggal dinormalisasi UTC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Missing field gagal di boundary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Contract-first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Swagger/OpenAPI menyamakan ekspektasi Flutter dan Express sebelum wiring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Membaca contract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Memilih environment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Memetakan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API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Topologi training: hosted +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72768"/>
            <a:ext cx="1691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1691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Flutter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176272"/>
            <a:ext cx="154533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D82"/>
                </a:solidFill>
                <a:latin typeface="Aptos"/>
              </a:rPr>
              <a:t>dart-define
API_BASE_URL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95144" y="2249424"/>
            <a:ext cx="539496" cy="0"/>
          </a:xfrm>
          <a:prstGeom prst="line">
            <a:avLst/>
          </a:prstGeom>
          <a:ln w="25400">
            <a:solidFill>
              <a:srgbClr val="16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1572768"/>
            <a:ext cx="1691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5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810512"/>
            <a:ext cx="1691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HTTPS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176272"/>
            <a:ext cx="154533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D82"/>
                </a:solidFill>
                <a:latin typeface="Aptos"/>
              </a:rPr>
              <a:t>Bearer + JSON
X-Request-Id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626864" y="2249424"/>
            <a:ext cx="539496" cy="0"/>
          </a:xfrm>
          <a:prstGeom prst="line">
            <a:avLst/>
          </a:prstGeom>
          <a:ln w="25400">
            <a:solidFill>
              <a:srgbClr val="16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57800" y="1572768"/>
            <a:ext cx="1691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A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1810512"/>
            <a:ext cx="1691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2176272"/>
            <a:ext cx="154533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D82"/>
                </a:solidFill>
                <a:latin typeface="Aptos"/>
              </a:rPr>
              <a:t>Express API
validated input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58584" y="2249424"/>
            <a:ext cx="539496" cy="0"/>
          </a:xfrm>
          <a:prstGeom prst="line">
            <a:avLst/>
          </a:prstGeom>
          <a:ln w="25400">
            <a:solidFill>
              <a:srgbClr val="16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89520" y="1572768"/>
            <a:ext cx="1691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9A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810512"/>
            <a:ext cx="1691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2176272"/>
            <a:ext cx="154533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D82"/>
                </a:solidFill>
                <a:latin typeface="Aptos"/>
              </a:rPr>
              <a:t>DB / memory
training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290304" y="2249424"/>
            <a:ext cx="539496" cy="0"/>
          </a:xfrm>
          <a:prstGeom prst="line">
            <a:avLst/>
          </a:prstGeom>
          <a:ln w="25400">
            <a:solidFill>
              <a:srgbClr val="16C6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921240" y="1572768"/>
            <a:ext cx="16916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1810512"/>
            <a:ext cx="1691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Swagger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392" y="2176272"/>
            <a:ext cx="1545336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D82"/>
                </a:solidFill>
                <a:latin typeface="Aptos"/>
              </a:rPr>
              <a:t>/docs
/openapi.json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" y="3749039"/>
            <a:ext cx="5285232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" y="3749039"/>
            <a:ext cx="73152" cy="2066543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9536" y="3950207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950207"/>
            <a:ext cx="43708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Jalur utama kelas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4462271"/>
            <a:ext cx="4809744" cy="11978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Hosted Express melalui HTTPS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Swagger UI untuk eksplorasi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Image Docker berversi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9632" y="3749039"/>
            <a:ext cx="5285232" cy="206654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9632" y="3749039"/>
            <a:ext cx="73152" cy="2066543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55664" y="3950207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67728" y="3950207"/>
            <a:ext cx="43708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Fallback operasional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4462271"/>
            <a:ext cx="4809744" cy="11978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Mock Python lokal tetap tersedia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Schema dan status harus sama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Dipakai jika jaringan/hosting bermasalah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API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Swagger sebagai Definition of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Request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Method + path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Auth scheme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Headers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Query/path params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Body schema + example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Success status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status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Schema per status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Pagination metadata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Timestamp + timezone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QA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operationId stabil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Example dapat dieksekusi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422 punya field errors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401 konsisten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OpenAPI versioned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989320"/>
            <a:ext cx="955548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0E5AA7"/>
                </a:solidFill>
                <a:latin typeface="Aptos"/>
              </a:rPr>
              <a:t>Rule: aplikasi tidak menebak nama field, status code, atau bentuk error.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API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Contract minimum untuk DPL Inspection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70432"/>
          <a:ext cx="11119104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3310128"/>
                <a:gridCol w="2523744"/>
                <a:gridCol w="2953512"/>
              </a:tblGrid>
              <a:tr h="7040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Operation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Success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Failure penting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POST /auth/login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username, password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200 token + user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401 invalid credential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GET /inspections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page, per_page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200 items + total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401, 500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POST /inspections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assetCode, location, condition, note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201 Inspection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401, 409, 422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GET /health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200 status + version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503 dependency down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GET /openapi.json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200 OpenAPI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30352" y="5577840"/>
            <a:ext cx="11119104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" y="5577840"/>
            <a:ext cx="73152" cy="58521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577900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85216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5779008"/>
            <a:ext cx="10204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Compatibility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6281928"/>
            <a:ext cx="10643616" cy="-2834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D6D82"/>
                </a:solidFill>
                <a:latin typeface="Aptos"/>
              </a:rPr>
              <a:t>Backend boleh berkembang; field wajib dan status yang dipakai app tidak berubah tanpa versioning/migration.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API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Environment tanpa hard-coded URL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806440" cy="507492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404104" cy="4325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class AppConfig {
  const AppConfig({required this.apiBaseUrl});
  factory AppConfig.fromEnvironment() {
    const raw = String.fromEnvironment('API_BASE_URL');
    final uri = Uri.tryParse(raw);
    if (uri == null || !uri.hasAuthority) {
      throw StateError('API_BASE_URL tidak valid');
    }
    return AppConfig(apiBaseUrl: uri);
  }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FAIL FAST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629400" y="1143000"/>
          <a:ext cx="500176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94560"/>
                <a:gridCol w="1389888"/>
              </a:tblGrid>
              <a:tr h="6675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 URL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Aturan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iOS Simulator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http://localhost:8000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debug fallback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Android Emulator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http://10.0.2.2:8000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debug fallback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Device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https://api-training…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hosted HTTPS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Release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https://api-staging…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 localhost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6629400" y="4709160"/>
            <a:ext cx="50017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4709160"/>
            <a:ext cx="73152" cy="150876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85432" y="491032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498348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4910328"/>
            <a:ext cx="408736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Command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5413248"/>
            <a:ext cx="452628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D6D82"/>
                </a:solidFill>
                <a:latin typeface="Aptos"/>
              </a:rPr>
              <a:t>flutter run --dart-define=API_BASE_URL=https://api-training.example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API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ApiClient: kecil, deterministik, dapat diuji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6629400" cy="4992624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316736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80744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92224"/>
            <a:ext cx="6227064" cy="42428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Future&lt;Inspection&gt; create(CreateInspection input) async {
  final response = await _http.post(
    baseUrl.resolve('/inspections'),
    headers: await _authorizedJsonHeaders(),
    body: jsonEncode(input.toJson()),
  ).timeout(timeout);
  return switch (response.statusCode) {
    201 =&gt; InspectionDto.decode(response.body).toDomain(),
    _ =&gt; throw ApiFailure.fromResponse(response),
  };
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1" y="1325880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TRANSPORT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170432"/>
            <a:ext cx="4169663" cy="2258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1170432"/>
            <a:ext cx="73152" cy="225856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08392" y="1371600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456" y="1371600"/>
            <a:ext cx="3255263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ApiClient boleh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1883664"/>
            <a:ext cx="3694175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Membentuk URI/header/body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Timeout + decode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response ke failure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3675887"/>
            <a:ext cx="4169663" cy="24871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3675887"/>
            <a:ext cx="73152" cy="248716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08392" y="3877055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08392" y="3950207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877055"/>
            <a:ext cx="3255263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ApiClient tidak boleh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392" y="4389119"/>
            <a:ext cx="3694175" cy="1618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Menampilkan SnackBar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Memilih cache fallback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Mengubah navigation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Menyimpan widget state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API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HTTP status → typed failure →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124712"/>
          <a:ext cx="11082528" cy="4965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48840"/>
                <a:gridCol w="3337560"/>
                <a:gridCol w="4178808"/>
              </a:tblGrid>
              <a:tr h="62064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Signal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Typed failure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Policy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UX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2064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401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unauthorized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hapus session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kembali login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064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409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conflict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jangan retry buta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jelaskan duplikasi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064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422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validation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map field errors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tetap di form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064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429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rateLimited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hormati Retry-After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coba nanti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064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5xx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server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retry terkontrol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error + retry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064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timeout/offline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network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GET boleh cache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cached/read-only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064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invalid JSON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contract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 silent fallback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format tidak valid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API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Session flow yang 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98448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Login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credential → HTTPS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298448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Validate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200 + schema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298448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Store token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secure storage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298448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Authorize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Bearer per request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298448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499616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Expire / logout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39696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clear token + cache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200400"/>
            <a:ext cx="5340096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200400"/>
            <a:ext cx="73152" cy="24688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4015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4747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401568"/>
            <a:ext cx="44256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Security 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913632"/>
            <a:ext cx="4864608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mencetak token/password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TLS untuk hosted API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Token disimpan via secure storage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401 mengakhiri session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200400"/>
            <a:ext cx="5376672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2004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4015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4747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40156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Bukan scope training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913632"/>
            <a:ext cx="4901184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Refresh token rotation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SSO/OAuth production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Certificate pinning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Audit keamanan backend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API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POST, timeout, dan idempotency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188720"/>
            <a:ext cx="331012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188720"/>
            <a:ext cx="73152" cy="448056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1389888"/>
            <a:ext cx="23957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Fakta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1901952"/>
            <a:ext cx="28346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Timeout hanya berarti client berhenti menunggu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Server mungkin sudah membuat record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Retry dapat menggandakan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33087" y="1188720"/>
            <a:ext cx="331012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33087" y="1188720"/>
            <a:ext cx="73152" cy="448056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89119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19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1183" y="1389888"/>
            <a:ext cx="23957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1901952"/>
            <a:ext cx="28346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Disable submit saat request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request ID stabil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Jangan auto-retry POST tanpa 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71816" y="1188720"/>
            <a:ext cx="331012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71816" y="1188720"/>
            <a:ext cx="73152" cy="448056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92784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784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1389888"/>
            <a:ext cx="239572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7848" y="1901952"/>
            <a:ext cx="2834640" cy="3611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Terima Idempotency-Key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Kembalikan hasil request yang sama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409 bila aturan bisnis konflik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08760" y="5833872"/>
            <a:ext cx="9189720" cy="384048"/>
          </a:xfrm>
          <a:prstGeom prst="round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00200" y="5952744"/>
            <a:ext cx="900684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Kelas inti: submit guard. Pengayaan profesional: idempotency end-to-end.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1 — contract sebelum wiring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43000"/>
            <a:ext cx="6784848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43000"/>
            <a:ext cx="73152" cy="49560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44168"/>
            <a:ext cx="587044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Langkah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56232"/>
            <a:ext cx="6309360" cy="408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Buka /docs dan catat server/version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Login benar dan salah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GET tanpa token → 401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invalid → 422 + field error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POST valid → 201 + server ID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Simpan request/response tanpa secret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143000"/>
            <a:ext cx="3986784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35240" y="1143000"/>
            <a:ext cx="73152" cy="2084831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9127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1344168"/>
            <a:ext cx="30723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Definition of 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1856232"/>
            <a:ext cx="3511296" cy="121615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Schema cocok dengan model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Status code cocok PRD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Base URL tercatat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5240" y="3465576"/>
            <a:ext cx="3986784" cy="2633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5240" y="3465576"/>
            <a:ext cx="73152" cy="263347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91272" y="3666744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2" y="3739896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3666744"/>
            <a:ext cx="30723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Fallback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1272" y="4178808"/>
            <a:ext cx="3511296" cy="1764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Jika hosted API down, jalankan mock Python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Gunakan kontrak identik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Catat blocker hosting terpisah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State &amp; data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State eksplisit membuat UI deterministik; repository membuat keputusan sumber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Memodelkan state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Mengatur cache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Menjaga lifecycle async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State eksplisit, bukan kumpulan bool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989320" cy="507492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STATE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586984" cy="4325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sealed class InspectionState { const InspectionState(); }
class Initial extends InspectionState {}
class Loading extends InspectionState {
  const Loading(this.previous);
  final List&lt;Inspection&gt; previous;
}
class Data extends InspectionState {
  const Data(this.items, {required this.source, required this.at});
}
class Failure extends InspectionState {
  const Failure(this.error, this.previous);
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21424" y="1143000"/>
            <a:ext cx="480060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21424" y="1143000"/>
            <a:ext cx="73152" cy="230428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77456" y="134416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7456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344168"/>
            <a:ext cx="3886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Masalah banyak bool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1856232"/>
            <a:ext cx="432511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loading + error bisa aktif bersamaan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empty tidak jelas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cached terselip sebagai flag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21424" y="3712463"/>
            <a:ext cx="4800600" cy="2505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21424" y="3712463"/>
            <a:ext cx="73152" cy="250545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77456" y="3913631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7456" y="3986783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913631"/>
            <a:ext cx="3886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Pilihan kelas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77456" y="4425695"/>
            <a:ext cx="4325112" cy="1636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Source saat ini boleh tetap bool sederhana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Gunakan invariant yang jelas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Sealed state adalah jalur evolusi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Repository mengorkestrasi remote dan cache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98448"/>
            <a:ext cx="2592324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99616"/>
            <a:ext cx="24460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load()</a:t>
            </a:r>
          </a:p>
        </p:txBody>
      </p:sp>
      <p:sp>
        <p:nvSpPr>
          <p:cNvPr id="11" name="Chevron 10"/>
          <p:cNvSpPr/>
          <p:nvPr/>
        </p:nvSpPr>
        <p:spPr>
          <a:xfrm>
            <a:off x="3278124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39696"/>
            <a:ext cx="2592324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user intent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5284" y="1298448"/>
            <a:ext cx="2592324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8436" y="1499616"/>
            <a:ext cx="24460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remote GET</a:t>
            </a:r>
          </a:p>
        </p:txBody>
      </p:sp>
      <p:sp>
        <p:nvSpPr>
          <p:cNvPr id="15" name="Chevron 14"/>
          <p:cNvSpPr/>
          <p:nvPr/>
        </p:nvSpPr>
        <p:spPr>
          <a:xfrm>
            <a:off x="6035040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5284" y="2139696"/>
            <a:ext cx="2592324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authoritative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298448"/>
            <a:ext cx="2592324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499616"/>
            <a:ext cx="24460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write cache</a:t>
            </a:r>
          </a:p>
        </p:txBody>
      </p:sp>
      <p:sp>
        <p:nvSpPr>
          <p:cNvPr id="19" name="Chevron 18"/>
          <p:cNvSpPr/>
          <p:nvPr/>
        </p:nvSpPr>
        <p:spPr>
          <a:xfrm>
            <a:off x="8791956" y="1527048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139696"/>
            <a:ext cx="2592324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best effort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9116" y="1298448"/>
            <a:ext cx="2592324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2268" y="1499616"/>
            <a:ext cx="24460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Data(remote)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29116" y="2139696"/>
            <a:ext cx="2592324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fresh timestamp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3090672"/>
            <a:ext cx="219456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D84A4A"/>
                </a:solidFill>
                <a:latin typeface="Aptos"/>
              </a:rPr>
              <a:t>failure network / timeout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41063" y="2907792"/>
            <a:ext cx="0" cy="777240"/>
          </a:xfrm>
          <a:prstGeom prst="line">
            <a:avLst/>
          </a:prstGeom>
          <a:ln w="25400">
            <a:solidFill>
              <a:srgbClr val="D84A4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58368" y="3749039"/>
            <a:ext cx="2592324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50207"/>
            <a:ext cx="24460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read cache</a:t>
            </a:r>
          </a:p>
        </p:txBody>
      </p:sp>
      <p:sp>
        <p:nvSpPr>
          <p:cNvPr id="28" name="Chevron 27"/>
          <p:cNvSpPr/>
          <p:nvPr/>
        </p:nvSpPr>
        <p:spPr>
          <a:xfrm>
            <a:off x="3278124" y="3977639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590287"/>
            <a:ext cx="2592324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optional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15284" y="3749039"/>
            <a:ext cx="2592324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88436" y="3950207"/>
            <a:ext cx="24460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validate schema</a:t>
            </a:r>
          </a:p>
        </p:txBody>
      </p:sp>
      <p:sp>
        <p:nvSpPr>
          <p:cNvPr id="32" name="Chevron 31"/>
          <p:cNvSpPr/>
          <p:nvPr/>
        </p:nvSpPr>
        <p:spPr>
          <a:xfrm>
            <a:off x="6035040" y="3977639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5284" y="4590287"/>
            <a:ext cx="2592324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drop corrupt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749039"/>
            <a:ext cx="2592324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3950207"/>
            <a:ext cx="24460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Data(cache)</a:t>
            </a:r>
          </a:p>
        </p:txBody>
      </p:sp>
      <p:sp>
        <p:nvSpPr>
          <p:cNvPr id="36" name="Chevron 35"/>
          <p:cNvSpPr/>
          <p:nvPr/>
        </p:nvSpPr>
        <p:spPr>
          <a:xfrm>
            <a:off x="8791956" y="3977639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4590287"/>
            <a:ext cx="2592324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with fetchedAt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29116" y="3749039"/>
            <a:ext cx="2592324" cy="71323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2268" y="3950207"/>
            <a:ext cx="244602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read-only 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9116" y="4590287"/>
            <a:ext cx="2592324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create disabled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5897880"/>
            <a:ext cx="907084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401 / validation / server contract error tidak otomatis memakai cache.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Cache policy harus tertulis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15568"/>
          <a:ext cx="11119104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240280"/>
                <a:gridCol w="2788920"/>
                <a:gridCol w="4032504"/>
              </a:tblGrid>
              <a:tr h="61950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Kondisi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Remote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Cache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Aksi UI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GET 200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authoritative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tulis + timestamp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fresh data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offline/timeout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unavailable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baca jika valid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banner cached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401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session invalid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hapus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login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422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request invalid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jangan pakai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field errors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5xx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server failure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sesuai policy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retry/cached jelas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cache corrupt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hapus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error bila remote gagal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1950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logout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—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hapus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signed out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Async lifecycle: hasil lama tidak boleh menang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3456432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70432"/>
            <a:ext cx="73152" cy="4535424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71600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Risiko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83664"/>
            <a:ext cx="2980944" cy="3666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Double tap mengirim dua request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Search lama selesai setelah query baru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 disposed saat request selesai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Refresh menimpa create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70432"/>
            <a:ext cx="3456432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70432"/>
            <a:ext cx="73152" cy="453542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83664"/>
            <a:ext cx="2980944" cy="3666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isLoading/isSubmitting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request generation ID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disposed/mounted check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cancel/debounce jika relevan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93024" y="1170432"/>
            <a:ext cx="3456432" cy="4535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93024" y="1170432"/>
            <a:ext cx="73152" cy="4535424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49056" y="1371600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49056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Ownership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1883664"/>
            <a:ext cx="2980944" cy="3666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 dibuat sekali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Listener dilepas pemilik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http.Client ditutup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Context tidak disimpan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961888"/>
            <a:ext cx="96469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Correctness dulu; cancellation dan concurrency ditambah saat use case menuntut.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UI merender state—bukan mengarang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216152"/>
            <a:ext cx="351129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16152"/>
            <a:ext cx="73152" cy="199339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41732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9047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417320"/>
            <a:ext cx="2596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Initial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20240"/>
            <a:ext cx="3035808" cy="1124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trigger load once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216152"/>
            <a:ext cx="351129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216152"/>
            <a:ext cx="73152" cy="1993392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45152" y="1417320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49047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1417320"/>
            <a:ext cx="2596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Loading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1920240"/>
            <a:ext cx="3035808" cy="1124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skeleton/progress; previous optional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11311" y="1216152"/>
            <a:ext cx="351129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11311" y="1216152"/>
            <a:ext cx="73152" cy="1993392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67343" y="1417320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67343" y="149047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7" y="1417320"/>
            <a:ext cx="2596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3" y="1920240"/>
            <a:ext cx="3035808" cy="1124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list + timestamp + source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547872"/>
            <a:ext cx="351129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547872"/>
            <a:ext cx="73152" cy="199339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60" y="374904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2219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35024" y="3749040"/>
            <a:ext cx="2596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Empty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251960"/>
            <a:ext cx="3035808" cy="1124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explain + create CTA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547872"/>
            <a:ext cx="351129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3547872"/>
            <a:ext cx="73152" cy="1993392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645152" y="3749040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45152" y="382219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57216" y="3749040"/>
            <a:ext cx="2596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Failure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5152" y="4251960"/>
            <a:ext cx="3035808" cy="1124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message + recovery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11311" y="3547872"/>
            <a:ext cx="3511296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11311" y="3547872"/>
            <a:ext cx="73152" cy="1993392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67343" y="3749040"/>
            <a:ext cx="384048" cy="384048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67343" y="382219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7" y="3749040"/>
            <a:ext cx="25968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Cached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343" y="4251960"/>
            <a:ext cx="3035808" cy="1124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visible banner + read-only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5998464"/>
            <a:ext cx="100126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Setiap state menjawab: apa yang terjadi, data apa tersedia, dan aksi apa aman.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Search, filter, dan pagination punya semantics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52144"/>
            <a:ext cx="3493008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52144"/>
            <a:ext cx="73152" cy="4553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53312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26464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53312"/>
            <a:ext cx="25786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Local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65376"/>
            <a:ext cx="3017520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Hanya data yang sudah dimuat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Cepat dan offline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Label jangan menyiratkan global 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152144"/>
            <a:ext cx="3493008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1152144"/>
            <a:ext cx="73152" cy="4553712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08576" y="1353312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8576" y="1426464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353312"/>
            <a:ext cx="25786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Server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1865376"/>
            <a:ext cx="3017520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Query menjadi kontrak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Debounce + cancellation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Error/loading per 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152144"/>
            <a:ext cx="3493008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152144"/>
            <a:ext cx="73152" cy="455371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94192" y="1353312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1426464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1353312"/>
            <a:ext cx="25786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Pagination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1865376"/>
            <a:ext cx="3017520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Cursor/page konsisten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Deduplicate by ID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Prevent request ganda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Refresh reset page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5870448"/>
            <a:ext cx="8458200" cy="365760"/>
          </a:xfrm>
          <a:prstGeom prst="round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5980176"/>
            <a:ext cx="836676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Semantics lebih penting daripada sekadar field search terlihat.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2 — state, restart, offline, logout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52144"/>
            <a:ext cx="6711696" cy="4956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52144"/>
            <a:ext cx="73152" cy="49560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53312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26464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53312"/>
            <a:ext cx="57972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Skenario berurutan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65376"/>
            <a:ext cx="6236208" cy="4087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Login → fresh list + timestamp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Restart → session dipulihkan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Stop API → refresh → cached/read-only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Start API → retry → fresh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Logout → token dan cache hilang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Login ulang → tidak memakai cache user lama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152144"/>
            <a:ext cx="4078224" cy="22494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52944" y="1152144"/>
            <a:ext cx="73152" cy="2249424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08976" y="1353312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8976" y="1426464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353312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Bukti minimum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1865376"/>
            <a:ext cx="3602736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Screen recording / screenshot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Log tanpa secret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transition dicatat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3675887"/>
            <a:ext cx="4078224" cy="24323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3675887"/>
            <a:ext cx="73152" cy="243230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08976" y="3877055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8976" y="3950207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77055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Code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6" y="4389119"/>
            <a:ext cx="3602736" cy="1563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request dari build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Repository memilih source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tidak akses storage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Failure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Sistem profesional dirancang untuk gagal dengan jelas, aman, dan dapat dipulihkan.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Menguji failure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Membuat observability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Melakukan clean-code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2  •  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Matriks fault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43000"/>
          <a:ext cx="11119104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2788920"/>
                <a:gridCol w="3703320"/>
                <a:gridCol w="3026664"/>
              </a:tblGrid>
              <a:tr h="67665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Skenario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Cara simulasi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Expected result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401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token invalid/expired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clear session → login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transition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422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note terlalu pendek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field error; form tetap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response + UI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500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--fail-list/create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message + retry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state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timeout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--delay 11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GET cache / POST uncertain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timing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offline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stop container/server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cache atau error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banner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invalid JSON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contract fault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contract failure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no crash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874519" y="6016752"/>
            <a:ext cx="84582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Uji satu fault pada satu waktu agar diagnosis tidak ambigu.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Observability tanpa membocorkan 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70432"/>
            <a:ext cx="73152" cy="4553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method + path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status + duration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request ID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failure type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environment/version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70432"/>
            <a:ext cx="73152" cy="4553712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71600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Redact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Authorization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password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token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PII/body sensitif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keystore path/password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70432"/>
            <a:ext cx="3456432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70432"/>
            <a:ext cx="73152" cy="455371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7160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Correlate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83664"/>
            <a:ext cx="2980944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X-Request-Id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client → Express log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Docker image version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timestamp UTC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user-safe error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" y="5998464"/>
            <a:ext cx="99212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Debugging menjadi kolaborasi client–backend, bukan tebak-tebakan screenshot.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CLEAN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Anti-pattern → refactor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15568"/>
          <a:ext cx="1111910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3474720"/>
                <a:gridCol w="4855464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Smell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Risiko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Refactor minimum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HTTP di widget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lifecycle + test sulit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pindah ApiClient/repository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String error acak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UX tidak konsisten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typed failure + mapper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Global mutable state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ownership kabur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constructor + owner jelas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Catch Object lalu diam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bug tersembunyi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handle known; report unknown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URL/token tersebar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env/security leak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AppConfig + TokenStore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Bool saling konflik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state ilegal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invariant/sealed state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Retry semua request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duplikasi/rate limit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retry policy per operation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CLEAN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Test portfolio untuk Hari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38144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42569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237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62656" cy="3557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JSON parse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validation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failure mapping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cache policy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38144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425696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237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62656" cy="3557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load success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+ retry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401 expire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submit guard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38144" cy="44256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425696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237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62656" cy="3557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Swagger example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status/schema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auth header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hosted + mock parity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16152" y="5797296"/>
            <a:ext cx="9738360" cy="438912"/>
          </a:xfrm>
          <a:prstGeom prst="round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925312"/>
            <a:ext cx="941832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Test boundary yang bernilai—bukan mengejar jumlah test.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3 — failure drill &amp; code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11696" cy="4974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7433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797296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pasangan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36208" cy="4105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dua fault dari matriks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Prediksi state dan UX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Jalankan fault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Perbaiki satu clean-code smell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satu test regression</a:t>
            </a:r>
          </a:p>
          <a:p>
            <a:pPr>
              <a:spcAft>
                <a:spcPts val="500"/>
              </a:spcAft>
              <a:defRPr sz="15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 dengan pasangan lain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52944" y="1143000"/>
            <a:ext cx="4078224" cy="2258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52944" y="1143000"/>
            <a:ext cx="73152" cy="225856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08976" y="13441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08976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344168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Reviewer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08976" y="1856232"/>
            <a:ext cx="360273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Boundary bersih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actionable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Secret tidak terlihat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52944" y="3675887"/>
            <a:ext cx="4078224" cy="2441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52944" y="3675887"/>
            <a:ext cx="73152" cy="24414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08976" y="3877055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08976" y="3950207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877055"/>
            <a:ext cx="316382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Stop condition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08976" y="4389119"/>
            <a:ext cx="3602736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Expected = actual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lulus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Tidak mengubah scope fitur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Definition of Done — 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30352" y="1115568"/>
          <a:ext cx="11119103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5349240"/>
                <a:gridCol w="3895344"/>
              </a:tblGrid>
              <a:tr h="62636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Area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Wajib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Bukti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Contract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login, GET, POST, 401, 422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Swagger/REST capture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Architecture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UI → controller → repository → data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source review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State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loading/data/empty/error/cached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demo states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Session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secure token + logout clear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restart/logout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Resilience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timeout/offline/retry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fault drill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Quality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format/analyze/test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clean output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2636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Git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README + lockfile + no secret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tag day-2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Handover backend ↔ Flutter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70432"/>
            <a:ext cx="3456432" cy="4626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70432"/>
            <a:ext cx="73152" cy="462686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71600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Backend menyediakan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83664"/>
            <a:ext cx="2980944" cy="3758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Base URL HTTPS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Swagger/OpenAPI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Demo credential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Image/tag Docker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Fault mode / test data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CORS/routing bila relevan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70432"/>
            <a:ext cx="3456432" cy="4626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70432"/>
            <a:ext cx="73152" cy="462686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71600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FE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Flutter menyediakan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883664"/>
            <a:ext cx="2980944" cy="3758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Client version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Environment target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Request ID/error 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Expected schema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Repro steps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 in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70432"/>
            <a:ext cx="3456432" cy="46268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70432"/>
            <a:ext cx="73152" cy="4626864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71600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44752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71600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Disepakati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883664"/>
            <a:ext cx="2980944" cy="3758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Contract version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Breaking-change policy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Ownership incident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Training uptime window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Fallback mock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Data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6016752"/>
            <a:ext cx="832104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Satu halaman handoff mencegah jam debugging lintas tim.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CHECKPOINT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Evaluasi: jelaskan keputusan, bukan hafalan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67528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130759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89888"/>
            <a:ext cx="48646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33E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92808"/>
            <a:ext cx="4892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D6D82"/>
                </a:solidFill>
                <a:latin typeface="Aptos"/>
              </a:rPr>
              <a:t>Mengapa UI tidak boleh mengetahui HTTP status?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5367528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73152" cy="130759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389888"/>
            <a:ext cx="48646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33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892808"/>
            <a:ext cx="4892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D6D82"/>
                </a:solidFill>
                <a:latin typeface="Aptos"/>
              </a:rPr>
              <a:t>Kapan GET boleh memakai cache?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761488"/>
            <a:ext cx="5367528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2761488"/>
            <a:ext cx="73152" cy="130759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62656"/>
            <a:ext cx="48646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33E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465576"/>
            <a:ext cx="4892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D6D82"/>
                </a:solidFill>
                <a:latin typeface="Aptos"/>
              </a:rPr>
              <a:t>Mengapa POST timeout tidak otomatis aman untuk retry?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61488"/>
            <a:ext cx="5367528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761488"/>
            <a:ext cx="73152" cy="130759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2962656"/>
            <a:ext cx="48646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33E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465576"/>
            <a:ext cx="4892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D6D82"/>
                </a:solidFill>
                <a:latin typeface="Aptos"/>
              </a:rPr>
              <a:t>Apa bukti Swagger dan implementasi server konsisten?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334256"/>
            <a:ext cx="5367528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334256"/>
            <a:ext cx="73152" cy="130759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535424"/>
            <a:ext cx="48646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33E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38344"/>
            <a:ext cx="4892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D6D82"/>
                </a:solidFill>
                <a:latin typeface="Aptos"/>
              </a:rPr>
              <a:t>Dependency apa yang dibuat fake untuk state test?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334256"/>
            <a:ext cx="5367528" cy="1307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4334256"/>
            <a:ext cx="73152" cy="130759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4535424"/>
            <a:ext cx="4864608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233E"/>
                </a:solidFill>
                <a:latin typeface="Aptos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5038344"/>
            <a:ext cx="4892040" cy="4389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D6D82"/>
                </a:solidFill>
                <a:latin typeface="Aptos"/>
              </a:rPr>
              <a:t>Apa yang harus dibersihkan saat 401/logout?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Checkpoint Git dan kelanjutan Hari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15568"/>
            <a:ext cx="384048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6C6E7"/>
                </a:solidFill>
                <a:latin typeface="Aptos Display"/>
              </a:rPr>
              <a:t>day-2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56816"/>
            <a:ext cx="50292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ptos"/>
              </a:rPr>
              <a:t>Commit yang dapat dijalankan ulang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15184"/>
            <a:ext cx="5394960" cy="2944368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" y="2761488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825496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QUALITY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36976"/>
            <a:ext cx="4992624" cy="21945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D9ECF5"/>
                </a:solidFill>
                <a:latin typeface="Cascadia Mono"/>
              </a:rPr>
              <a:t>dart format lib test
flutter analyze
flutter test
git add .
git commit -m "Complete day-2 API checkpoint"
git tag day-2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115568"/>
            <a:ext cx="5074920" cy="4443984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115568"/>
            <a:ext cx="73152" cy="44439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02552" y="131673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552" y="1389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14616" y="1316736"/>
            <a:ext cx="416052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Input Hari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2552" y="1828800"/>
            <a:ext cx="4599432" cy="3575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Contract API stabil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Failure dapat disimulasikan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Controller/repository dapat di-fake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Tidak ada secret di repo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Known blocker punya PIC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25328" y="6291072"/>
            <a:ext cx="868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Referensi dan scope pengayaan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15568"/>
            <a:ext cx="5358384" cy="5047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15568"/>
            <a:ext cx="73152" cy="50474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1673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389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16736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Rujukan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828800"/>
            <a:ext cx="4882896" cy="4178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docs.flutter.dev/app-architecture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docs.flutter.dev/cookbook/networking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OpenAPI Specification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flutter_secure_storage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shared_preferences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Modul + PRD Hari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15568"/>
            <a:ext cx="5394960" cy="5047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15568"/>
            <a:ext cx="73152" cy="50474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1673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8988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16736"/>
            <a:ext cx="448056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Pengayaan setelah kelas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28800"/>
            <a:ext cx="4919472" cy="4178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Generated API client dari OpenAPI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Refresh-token rotation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Offline write queue + conflict resolution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Observability SDK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Contract test di CI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Pagination/cursor penuh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